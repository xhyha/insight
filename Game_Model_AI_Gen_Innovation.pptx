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</a:rPr>
              <a:t>GAME MODEL AI GENERATION · 游戏模型AI生成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9728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游戏模型 AI 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创新方向深度梳理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聚焦3D模型生成全链路 · 6大方向 · 场景/价值/竞品/技术/创新/挑战六维拆解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1184148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30168"/>
            <a:ext cx="1184148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文本→3D模型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7420" y="3611880"/>
            <a:ext cx="1060704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7420" y="3630168"/>
            <a:ext cx="1060704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AI材质纹理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2715" y="3611880"/>
            <a:ext cx="1554480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2715" y="3630168"/>
            <a:ext cx="155448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自动Rig+Skin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1788" y="3611880"/>
            <a:ext cx="1060704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1788" y="3630168"/>
            <a:ext cx="1060704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AI动画表情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7083" y="3611880"/>
            <a:ext cx="937259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7083" y="3630168"/>
            <a:ext cx="937259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风格化生成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3611880"/>
            <a:ext cx="937259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3630168"/>
            <a:ext cx="937259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LOD优化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0788" y="3611880"/>
            <a:ext cx="813816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0788" y="3630168"/>
            <a:ext cx="813816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竞品对标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69196" y="3611880"/>
            <a:ext cx="690372" cy="402336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9196" y="3630168"/>
            <a:ext cx="690372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路线图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10561320" cy="7772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19472"/>
            <a:ext cx="102412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聚焦结论：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游戏模型AI生成的核心瓶颈是「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拓扑质量+动画就绪度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」，而非生成速度。谁解决游戏级拓扑，谁定义行业标准。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4360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出品：xhyha/insight · 数据源：各厂商官网/GitHub/Crunchbase/arXiv · 2026.06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CONTENTS · 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六大方向 · 全链路深度拆解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2646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43560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全景流程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4650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模型AI生成7阶段Pipeline + 分析框架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03120"/>
            <a:ext cx="91440" cy="65836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5798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6712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文本→3D模型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7802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生成核心：文本/草图/多视图→3D角色/道具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3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83463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8950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9864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AI材质纹理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09544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PBR全通道一键生成 + 风格化材质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6615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56615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2102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A580C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63016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自动Rig+Skin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94106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骨骼绑定+权重预测→动画就绪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29767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29767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5254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36168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AI动画表情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67258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视频→动画重定向 + 面部口型同步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02919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02919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08406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09320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风格化+LOD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40410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风格迁移 + 智能减面/性能优化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760719"/>
            <a:ext cx="10561320" cy="65836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760719"/>
            <a:ext cx="91440" cy="65836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15583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DC2626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824727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E"/>
                </a:solidFill>
                <a:latin typeface="Microsoft YaHei"/>
              </a:rPr>
              <a:t>分析+规划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6135623"/>
            <a:ext cx="84124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成熟度/开源生态/竞品评分/市场规模/落地策略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全景流程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游戏模型AI生成 · 7阶段Pipeline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① 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文本/草图
参考图/多视图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30552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68296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68296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② 3D生成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扩散/NeRF
3DGS→Mesh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75887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13632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13632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4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③ 拓扑优化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Quad重拓扑
UV展开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21224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58968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58968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④ AI材质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PBR全通道
纹理生成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66560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04304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04304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6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⑤ Rig+Skin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6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骨骼绑定
权重预测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311896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49640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9640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22792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⑥ 动画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重定向/表情
物理动画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857232" y="2670048"/>
            <a:ext cx="219456" cy="146304"/>
          </a:xfrm>
          <a:prstGeom prst="rightArrow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94976" y="1828800"/>
            <a:ext cx="1289304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94976" y="1828800"/>
            <a:ext cx="1289304" cy="731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8128" y="1993392"/>
            <a:ext cx="1143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⑦ 优化集成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8128" y="2377440"/>
            <a:ext cx="1143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LOD/减面
引擎导入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023360"/>
            <a:ext cx="10561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▎每阶段核心痛点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34340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389120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3891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语义理解不足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65429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文本描述→3D意图的精确映射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434340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4389120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43891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拓扑不达标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65429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三角面/乱流，不可动画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34340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389120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3891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UV质量差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65429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拉伸/重叠/利用率低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15400" y="434340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4389120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438912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材质不一致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465429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多通道物理属性矛盾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512064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5166359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166359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非人形Rig缺失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43153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怪物/动物无标准模板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20440" y="512064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11880" y="5166359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7639" y="5166359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动画风格单一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543153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缺乏夸张/卡通风格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5120640"/>
            <a:ext cx="2560320" cy="685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5166359"/>
            <a:ext cx="365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5166359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平台适配成本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5431536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LOD自动化程度低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全景流程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六维分析框架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691639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91639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6596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什么游戏类型？什么制作阶段？谁用？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91639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39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1848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6596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效率提升？成本降低？质量改善？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97180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154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1546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08152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竞品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2900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现有工具？成熟度？融资阶段？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718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297180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154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8152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技术路径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42900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底层架构？数据需求？计算瓶颈？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348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43484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" y="46177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1772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54456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89204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空白点在哪？差异化切入角度？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43484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434840"/>
            <a:ext cx="91440" cy="128016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46177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61772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54456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⚠ 关键挑战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892040"/>
            <a:ext cx="4114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技术瓶颈？工程化难点？用户体验？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4F46E5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</a:rPr>
              <a:t>CORE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六大技术方向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文本→3D / 材质 / Rig / 动画 / 风格化 / 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方向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文本/草图 → 3D模型生成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 · 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快速原型验证、NPC量产、角色/道具设计探索、DLC内容扩展。游戏开发中需要大量3D资产，传统流程周期长、成本高。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通用3D生成(Meshy/Luma)的拓扑质量达不到游戏标准——三角面乱流、UV拉伸、不可直接用于动画。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制作周期 -90%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门槛降低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迭代速度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周级→小时级 / 无需专业3D技能 / 秒级变体探索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Meshy.ai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1234440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速度快&lt;1min，拓扑差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Tripo3D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开源，精度有限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CSM.ai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1069848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图/视频→3D管线全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Luma 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1316736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NeRF照片级重建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2889503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Rodin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2926079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0" y="2926079"/>
            <a:ext cx="1152144" cy="14630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2889503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高质量，闭源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多视图扩散生成 → NeRF/3DGS体积重建 → Mesh提取与简化 → 拓扑优化(Quad) → UV自动展开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游戏级Quad-dominant拓扑(干净edge flow) + 模块化可定制角色(换装/换脸/体型) + 语义部件编辑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拓扑质量是生死线；Quad重拓扑算法尚不成熟；游戏引擎(Unity/UE)兼容性要求严格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0" y="5321807"/>
            <a:ext cx="72694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5340095"/>
            <a:ext cx="72694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TripoSR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31236" y="5321807"/>
            <a:ext cx="119329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1236" y="5340095"/>
            <a:ext cx="119329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DreamGaussian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34256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34256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InstantMesh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1828" y="5321807"/>
            <a:ext cx="41605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1828" y="5340095"/>
            <a:ext cx="41605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LRM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07608" y="5321807"/>
            <a:ext cx="41605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07608" y="5340095"/>
            <a:ext cx="41605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CRM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33388" y="5321807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33388" y="5340095"/>
            <a:ext cx="9601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One-2-3-45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方向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AI材质与PBR纹理生成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 · 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3D模型贴图制作、场景材质批量生成、道具纹理。需要Albedo/Normal/Roughness/Metallic/AO多通道PBR材质。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多通道材质需分别手绘，耗时且容易通道间不一致；游戏风格化(NPR)材质几乎无AI工具支持。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9488"/>
                </a:solidFill>
                <a:latin typeface="Microsoft YaHei"/>
              </a:rPr>
              <a:t>材质制作 -80%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9488"/>
                </a:solidFill>
                <a:latin typeface="Microsoft YaHei"/>
              </a:rPr>
              <a:t>通道一致性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D9488"/>
                </a:solidFill>
                <a:latin typeface="Microsoft YaHei"/>
              </a:rPr>
              <a:t>迭代灵活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小时→分钟 / 物理属性自洽 / 快速风格尝试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Adobe Substance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1481328" cy="14630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行业标准+AI辅助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Materialine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1069848" cy="14630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AI材质生成新锐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Polycam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905256" cy="14630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扫描+材质库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ArtEngine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AI去缝/变体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文本/参考图输入 → 多通道联合扩散生成 → 物理一致性约束 → Tileable/Seamless处理 → 引擎格式导出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游戏风格化PBR(NPR渲染支持) + 基于3D模型的投影纹理 + 程序化材质变体批量生成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多通道物理一致性(如Normal必须与Albedo几何对齐)是技术难点；风格化材质训练数据稀缺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5321807"/>
            <a:ext cx="119329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340095"/>
            <a:ext cx="119329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MaterialGenie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97579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97579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SyncDreamer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45152" y="5321807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5152" y="5340095"/>
            <a:ext cx="9601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ControlNet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15000" y="5321807"/>
            <a:ext cx="111556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5000" y="5340095"/>
            <a:ext cx="111556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Text2Texture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40296" y="5321807"/>
            <a:ext cx="111556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0296" y="5340095"/>
            <a:ext cx="111556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Substance 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方向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自动 Rigging + Skinning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 · 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3D模型→可动画角色。包括骨骼放置、权重绑定(LBS/DQ)、控制器生成。是模型进入动画流程的必经关卡。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现有工具仅支持人形(humanoid)角色；怪物/动物/机械等非人形角色几乎无自动Rig方案。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A580C"/>
                </a:solidFill>
                <a:latin typeface="Microsoft YaHei"/>
              </a:rPr>
              <a:t>Rig周期 -95%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A580C"/>
                </a:solidFill>
                <a:latin typeface="Microsoft YaHei"/>
              </a:rPr>
              <a:t>标准化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A580C"/>
                </a:solidFill>
                <a:latin typeface="Microsoft YaHei"/>
              </a:rPr>
              <a:t>动画就绪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天级→分钟级 / 减少人为差异 / 一键进入动画流程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Mixamo(Adobe)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1316736" cy="14630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人形Rig+动画库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AccuRIG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1152144" cy="14630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免费，人形稳定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Auto-Rig Pro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Blender半自动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Cascadeur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905256" cy="14630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AI关键帧+物理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人体拓扑识别 → 标准骨骼模板匹配 → 自动骨骼放置 → LBS/DQ权重预测网络 → 控制器自动生成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非人形角色(怪物/动物)Auto-Rig + 面部BlendShape自动生成 + 实时权重可视化交互修正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非人形拓扑多样性极大，无标准模板；权重质量直接影响动画形变质量，容错率极低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5321807"/>
            <a:ext cx="64922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340095"/>
            <a:ext cx="64922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RigNet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53512" y="5321807"/>
            <a:ext cx="119329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53512" y="5340095"/>
            <a:ext cx="119329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NeuroSkinning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6531" y="5321807"/>
            <a:ext cx="1659636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6531" y="5340095"/>
            <a:ext cx="1659636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SkinWeights(NVIDIA)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25896" y="5321807"/>
            <a:ext cx="882396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25896" y="5340095"/>
            <a:ext cx="882396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Pinocchio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18020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8020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DeepKinPose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方向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AI动画与面部表情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优先级 · 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角色动画制作、过场动画面部表情、NPC口型同步。传统动捕成本高，手工关键帧效率低。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视频→3D动画的精度和稳定性不足；面部表情缺乏情绪感知(多为中性呆板)；风格化动画支持弱。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动画效率 ×10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动捕成本 -90%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面部 ×50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手工→AI辅助 / 无需专业设备 / 音频→自动驱动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Wonder Dynamics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1399032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全自动CG角色替换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Kinetix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1152144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视频→3D动捕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NVIDIA Audio2Face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1316736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音频→面部动画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Plask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浏览器动捕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2889503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Ziva Dynamics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2926079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0" y="2926079"/>
            <a:ext cx="1069848" cy="14630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2889503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物理模拟+AI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视频2D pose estimation → 3D骨骼重建 → 跨角色重定向 → 音频→Phoneme→Viseme → 情绪推理→BlendShape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多角色交互动画提取 + 情绪感知表情(非中性) + 风格化动画(夸张/卡通) + 实时布料AI预测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视频动捕精度受遮挡/快速运动限制；情绪→表情映射缺乏标注数据；实时物理代理算力要求高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0" y="5321807"/>
            <a:ext cx="80467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5340095"/>
            <a:ext cx="80467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SMPLer-X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08960" y="5321807"/>
            <a:ext cx="64922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5340095"/>
            <a:ext cx="64922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ProHMR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67911" y="5321807"/>
            <a:ext cx="882396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67911" y="5340095"/>
            <a:ext cx="882396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SadTalker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60036" y="5321807"/>
            <a:ext cx="72694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60036" y="5340095"/>
            <a:ext cx="72694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Wav2Lip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96712" y="5321807"/>
            <a:ext cx="5715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96712" y="5340095"/>
            <a:ext cx="57150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FLAME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77940" y="5321807"/>
            <a:ext cx="80467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7940" y="5340095"/>
            <a:ext cx="80467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Ziva VFX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方向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风格化模型生成与一致性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 · 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同一资产多风格渲染（写实/卡通/二次元/低模/Low-poly）。跨品类/跨市场/跨平台适配。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3D风格迁移的视角一致性难以保持；游戏风格化训练数据稀缺；运行时风格切换几乎无方案。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一次制作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跨市场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59669"/>
                </a:solidFill>
                <a:latin typeface="Microsoft YaHei"/>
              </a:rPr>
              <a:t>玩家自定义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→多风格输出 / 风格本地化适配 / 运行时风格切换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Stable Fast Style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2D实时风格迁移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DreamFusion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740664" cy="14630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研究级3D生成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NVIDIA StyleGAN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905256" cy="14630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风格混合/插值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⚠ 暂无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0" cy="14630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3D游戏级成熟方案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风格引导的3D扩散 → 3D一致性保持约束 → NPR shader集成 → 光照自适应 → 运行时神经风格迁移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游戏专属风格训练集(二次元/赛博朋克/水墨) + 运行时风格切换(玩家自定义视觉) + 全局一致性引擎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3D一致性是多视角问题，计算量大；风格化3D数据稀缺；运行时风格切换对GPU压力大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DreamFusion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42132" y="5321807"/>
            <a:ext cx="72694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2132" y="5340095"/>
            <a:ext cx="72694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Magic3D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78808" y="5321807"/>
            <a:ext cx="804672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78808" y="5340095"/>
            <a:ext cx="80467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NeRF-Art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93208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93208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ScoreJacobi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40780" y="5321807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0780" y="5340095"/>
            <a:ext cx="960120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3DStyleNet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方向 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932688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智能LOD与性能优化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38912"/>
            <a:ext cx="1188720" cy="347472"/>
          </a:xfrm>
          <a:prstGeom prst="roundRect">
            <a:avLst>
              <a:gd name="adj" fmla="val 30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18872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优先级 · 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▎场景与痛点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190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多平台适配（手机/PC/主机/VR），包体控制，运行时性能优化。需要自动生成多级LOD并保持视觉质量。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95728"/>
            <a:ext cx="4937760" cy="18288"/>
          </a:xfrm>
          <a:prstGeom prst="rect">
            <a:avLst/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450591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DC2626"/>
                </a:solidFill>
                <a:latin typeface="Microsoft YaHei"/>
              </a:rPr>
              <a:t>⚠ 核心痛点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传统LOD工具按固定比例减面，不感知视觉重要性；动态LOD切换可能造成视觉跳变(popping)。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0156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▎价值量化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适配成本 -80%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94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94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包体减小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3621024"/>
            <a:ext cx="1508760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4" y="3639312"/>
            <a:ext cx="150876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运行性能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91363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自动多级LOD / -30%~50% / 帧率自适应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212080" cy="1874519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426464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▎竞品对标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719072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InstaLOD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55648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1755648"/>
            <a:ext cx="1399032" cy="14630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1719072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自动LOD+优化Pipeline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011679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Simplygon(MS)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048255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048255"/>
            <a:ext cx="1481328" cy="14630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011679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行业标准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304287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Unity HLOD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2340863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72400" y="2340863"/>
            <a:ext cx="987552" cy="14630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1472" y="2304287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引擎内置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2596895"/>
            <a:ext cx="13716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Polygon Cruncher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33471"/>
            <a:ext cx="1645920" cy="146304"/>
          </a:xfrm>
          <a:prstGeom prst="roundRect">
            <a:avLst>
              <a:gd name="adj" fmla="val 30000"/>
            </a:avLst>
          </a:prstGeom>
          <a:solidFill>
            <a:srgbClr val="D8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0" y="2633471"/>
            <a:ext cx="905256" cy="14630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2596895"/>
            <a:ext cx="18288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Maya/Max插件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64992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401568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▎技术路径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639312"/>
            <a:ext cx="493776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374151"/>
                </a:solidFill>
                <a:latin typeface="Microsoft YaHei"/>
              </a:rPr>
              <a:t>AI感知重要性加权减面 → 轮廓/特征保持 → UV保形与纹理烘焙 → Imposter/Billboard生成 → 动态LOD预测切换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💡 创新机会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实时动态LOD(基于玩家视角重要性) + AI预测最优LOD切换时机(消除popping) + 自动Imposter生成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370831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4425695"/>
            <a:ext cx="49377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⚠ 关键挑战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663440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AI感知减面需要可微渲染训练；实时动态LOD增加CPU/GPU调度复杂度；跨引擎标准不统一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266944"/>
            <a:ext cx="10515600" cy="347472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285231"/>
            <a:ext cx="137160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📎 关键模型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5321807"/>
            <a:ext cx="1037844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340095"/>
            <a:ext cx="10378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InstaLOD AI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42132" y="5321807"/>
            <a:ext cx="882396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2132" y="5340095"/>
            <a:ext cx="882396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Simplygon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34256" y="5321807"/>
            <a:ext cx="2048256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34256" y="5340095"/>
            <a:ext cx="2048256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NeuralMeshSimplification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2240" y="5321807"/>
            <a:ext cx="726948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340095"/>
            <a:ext cx="726948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2563EB"/>
                </a:solidFill>
                <a:latin typeface="Microsoft YaHei"/>
              </a:rPr>
              <a:t>DiffLOD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技术成熟度评估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6大方向 · 成熟度等级(TRL)与时机判断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7772400" cy="39319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1709928" cy="4572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1709928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5047488"/>
            <a:ext cx="161848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现在可用
TRL 8-9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1528" y="5029200"/>
            <a:ext cx="2176272" cy="45720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81528" y="5029200"/>
            <a:ext cx="2176272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5047488"/>
            <a:ext cx="208483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近期成熟
TRL 6-7 · 1年内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5029200"/>
            <a:ext cx="1943100" cy="457200"/>
          </a:xfrm>
          <a:prstGeom prst="roundRect">
            <a:avLst>
              <a:gd name="adj" fmla="val 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57800" y="5029200"/>
            <a:ext cx="1943100" cy="457200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047488"/>
            <a:ext cx="18516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中期突破
TRL 4-5 · 1-2年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900" y="5029200"/>
            <a:ext cx="1943100" cy="4572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900" y="5029200"/>
            <a:ext cx="19431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6620" y="5047488"/>
            <a:ext cx="185166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前沿研究
TRL 2-3 · 2-3年+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46120"/>
            <a:ext cx="457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Microsoft YaHei"/>
              </a:rPr>
              <a:t>成熟度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9344" y="1852574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9344" y="1861718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LOD优化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64792" y="2061057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64792" y="2070201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人形Auto-Rig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86584" y="2304288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6584" y="2313432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AI材质(基础)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3824" y="2547518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63824" y="2556662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AI面部动画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825496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834639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文本→3D(通用)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41064" y="2999232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4" y="3008375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程序化纹理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103473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3112617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视频→动画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95544" y="3694176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3703320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文本→3D(游戏级)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3867911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877055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非人形Rig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62372" y="3589934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62372" y="3599078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多通道PBR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0023" y="4145889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0023" y="4155033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3D风格迁移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27264" y="4389120"/>
            <a:ext cx="768096" cy="237744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27264" y="4398264"/>
            <a:ext cx="768096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>
                <a:solidFill>
                  <a:srgbClr val="FFFFFF"/>
                </a:solidFill>
                <a:latin typeface="Microsoft YaHei"/>
              </a:rPr>
              <a:t>全链路一体化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532120"/>
            <a:ext cx="77724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时间维度（现在 → 3年后）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1554480"/>
            <a:ext cx="201168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1627632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891B2"/>
                </a:solidFill>
                <a:latin typeface="Microsoft YaHei"/>
              </a:rPr>
              <a:t>▎行动建议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2011680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🟢 立即启动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LOD优化
人形Auto-Rig
→ 速赢验证ROI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2852928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🔵 Q1-Q2投入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AI材质
面部动画
→ 近期可落地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48" y="3694176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🟡 Q2-Q3攻坚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游戏级3D生成
非人形Rig
→ 核心壁垒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8048" y="4535424"/>
            <a:ext cx="18288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DC2626"/>
                </a:solidFill>
                <a:latin typeface="Microsoft YaHei"/>
              </a:rPr>
              <a:t>🔴 中长期布局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3D风格迁移
全链路平台
→ 定义未来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开源模型与工具生态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可直接利用的开源项目 · 按方向分类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14173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91440" cy="1417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9047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3D生成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5087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154533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TripoSR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178308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单图→3D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198424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&lt;0.5s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4" y="21671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Stability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4" y="236829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6.5k★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15087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54533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InstantMesh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178308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多视图→3D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198424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高质量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21671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Tencent ARC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36829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4.5k★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1304" y="15087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154533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DreamGaussian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178308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高斯泼溅3D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198424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快速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1671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CMU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236829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4.2k★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8936" y="15087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54533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LRM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78308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大型重建模型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98424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单图→3D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1671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Adobe/Yi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36829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2.0k★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16567" y="150876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1432" y="154533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One-2-3-45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178308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单图→3D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198424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多步骤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21671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HKU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236829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1.5k★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971800"/>
            <a:ext cx="10561320" cy="14173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2971800"/>
            <a:ext cx="91440" cy="1417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304495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Rig/动画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6040" y="306324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0904" y="309981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RigNet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60904" y="333756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自动骨骼绑定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35387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端到端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60904" y="37216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HKU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392277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1.2k★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33672" y="306324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8536" y="309981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NeuroSkinning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8536" y="333756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权重预测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88536" y="35387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神经网络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8536" y="37216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CAS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88536" y="392277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800★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1304" y="306324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16168" y="309981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SMPLer-X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6168" y="333756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人体姿态估计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6168" y="35387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视频→3D骨骼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16168" y="37216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HKU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16168" y="392277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1.8k★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88936" y="306324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43800" y="309981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SadTalker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333756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音频→面部动画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35387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单图说话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37216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腾讯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392277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12k★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16567" y="306324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71432" y="309981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Wav2Lip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71432" y="333756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唇形同步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71432" y="353872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音频→口型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71432" y="37216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IIIT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71432" y="392277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12k★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" y="4526280"/>
            <a:ext cx="10561320" cy="14173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22960" y="4526280"/>
            <a:ext cx="91440" cy="1417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1560" y="4599432"/>
            <a:ext cx="1371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材质/风格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606040" y="46177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60904" y="465429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FLAME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60904" y="489204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面部参数化模型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60904" y="50932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3DMM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60904" y="527608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MPI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60904" y="547725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3.5k★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33672" y="46177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88536" y="465429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ControlNet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88536" y="489204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条件控制生成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88536" y="50932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构图引导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88536" y="527608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 Stanford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88536" y="547725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32k★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861304" y="46177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916168" y="4654296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StableFastStyle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16168" y="4892040"/>
            <a:ext cx="144475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实时风格迁移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16168" y="509320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059669"/>
                </a:solidFill>
                <a:latin typeface="Microsoft YaHei"/>
              </a:rPr>
              <a:t>⚡ &lt;10ms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16168" y="5276088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B7280"/>
                </a:solidFill>
                <a:latin typeface="Microsoft YaHei"/>
              </a:rPr>
              <a:t>MIT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16168" y="5477256"/>
            <a:ext cx="1444752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C2820A"/>
                </a:solidFill>
                <a:latin typeface="Microsoft YaHei"/>
              </a:rPr>
              <a:t>3.0k★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2960" y="6099048"/>
            <a:ext cx="10561320" cy="4572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4128" y="6135624"/>
            <a:ext cx="10241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💡 策略：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以开源模型为base → 游戏场景微调 → 形成垂直壁垒。Star数≠生产可用，需大量工程化适配。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DC2626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C2626"/>
                </a:solidFill>
                <a:latin typeface="Microsoft YaHei"/>
              </a:rPr>
              <a:t>BENCHMARK &amp;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竞品对标与战略规划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竞品矩阵 / 多维评分 / 优先级 / 市场规模 / 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竞品深度对标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10家核心玩家 · 游戏模型AI生成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50876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5087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公司/工具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17320"/>
            <a:ext cx="114300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417320"/>
            <a:ext cx="114300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33172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23317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核心能力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17320"/>
            <a:ext cx="96012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9601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融资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417320"/>
            <a:ext cx="178308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417320"/>
            <a:ext cx="1783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优势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417320"/>
            <a:ext cx="1783080" cy="38404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417320"/>
            <a:ext cx="17830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819656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819656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Meshy.ai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1819656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2304" y="1819656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1819656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19656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文本/图→3D+纹理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819656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1819656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 $18M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1819656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04303" y="1819656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速度快&lt;1min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1819656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1819656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拓扑质量差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2203704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2203704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Rodin(Deemos)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2203704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32304" y="2203704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2203704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2203704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高质量3D生成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2203704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98464" y="2203704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 $20M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2203704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04303" y="2203704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生成质量高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2203704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3104" y="2203704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速度慢,闭源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2587752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2587752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CSM.ai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77440" y="2587752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2304" y="2587752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2587752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1024" y="2587752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图/视频→3D+动画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2587752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98464" y="2587752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 $14M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2587752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04303" y="2587752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视频到3D完整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2587752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33104" y="2587752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精度待提升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2971800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2971800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Luma 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77440" y="2971800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2304" y="297180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3D生成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2971800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21024" y="2971800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NeRF/3DGS重建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0" y="2971800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2971800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C $43M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49440" y="2971800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04303" y="2971800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照片级还原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2971800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33104" y="2971800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游戏拓扑缺失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3355848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3355848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Wonder Dynamics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3355848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32304" y="3355848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动画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66160" y="3355848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21024" y="3355848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视频→CG角色替换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43600" y="3355848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98464" y="3355848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A $70M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49440" y="3355848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04303" y="3355848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全自动替换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78240" y="3355848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33104" y="3355848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场景复杂度有限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" y="3739896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" y="3739896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NVIDIA Audio2Face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377440" y="3739896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32304" y="3739896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面部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566160" y="3739896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21024" y="3739896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音频→面部动画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0" y="3739896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98464" y="3739896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内部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49440" y="3739896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04303" y="3739896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质量最高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8240" y="3739896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33104" y="3739896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仅面部,NVIDIA生态绑定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4123944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" y="4123944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Adobe Substance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377440" y="4123944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432304" y="4123944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材质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566160" y="4123944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21024" y="4123944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PBR材质标准+AI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0" y="4123944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998464" y="4123944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内部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49440" y="4123944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04303" y="4123944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行业标准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78240" y="4123944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33104" y="4123944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AI功能有限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4507992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7824" y="4507992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Mixamo(Adobe)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377440" y="4507992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32304" y="4507992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Rigging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566160" y="4507992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21024" y="4507992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人形自动Rig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943600" y="4507992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98464" y="4507992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免费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949440" y="4507992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04303" y="4507992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简单快捷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778240" y="4507992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33104" y="4507992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仅人形,已停更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22960" y="4892040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7824" y="4892040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InstaLOD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377440" y="4892040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432304" y="4892040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优化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566160" y="4892040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21024" y="4892040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自动LOD+减面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943600" y="4892040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98464" y="4892040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被收购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949440" y="4892040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004303" y="4892040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引擎集成好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778240" y="4892040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33104" y="4892040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无AI感知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22960" y="5276088"/>
            <a:ext cx="150876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77824" y="5276088"/>
            <a:ext cx="141732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74151"/>
                </a:solidFill>
                <a:latin typeface="Microsoft YaHei"/>
              </a:rPr>
              <a:t>Reallusion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377440" y="5276088"/>
            <a:ext cx="114300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432304" y="5276088"/>
            <a:ext cx="105156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Rig+动画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566160" y="5276088"/>
            <a:ext cx="23317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21024" y="5276088"/>
            <a:ext cx="22402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角色管线一体化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943600" y="5276088"/>
            <a:ext cx="9601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998464" y="5276088"/>
            <a:ext cx="868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私有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949440" y="5276088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04303" y="5276088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全流程覆盖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778240" y="5276088"/>
            <a:ext cx="178308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33104" y="5276088"/>
            <a:ext cx="1691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DC2626"/>
                </a:solidFill>
                <a:latin typeface="Microsoft YaHei"/>
              </a:rPr>
              <a:t>非AI原生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" y="5733288"/>
            <a:ext cx="10561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891B2"/>
                </a:solidFill>
                <a:latin typeface="Microsoft YaHei"/>
              </a:rPr>
              <a:t>🔍 洞察：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3D生成赛道拥挤(5+家)但游戏级拓扑无人解决；Rigging仅人形；面部动画NVIDIA一家独大；材质Adobe主导但AI功能弱。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891B2"/>
                </a:solidFill>
                <a:latin typeface="Microsoft YaHei"/>
              </a:rPr>
              <a:t>竞品多维度评分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5维度雷达对标 · 质量/速度/拓扑/可控性/生态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783080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78308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463040"/>
            <a:ext cx="1700784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生成质量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463040"/>
            <a:ext cx="1700784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46304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生成速度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1700784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46304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拓扑质量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1272" y="1463040"/>
            <a:ext cx="1700784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146304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可控性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37776" y="1463040"/>
            <a:ext cx="1700784" cy="475488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7776" y="146304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生态/价格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956816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1956816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Meshy.ai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195681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95681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195681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95681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95681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195681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91272" y="195681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2" y="195681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7776" y="195681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195681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2432304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2432304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Luma 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243230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243230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243230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8264" y="243230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243230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43230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1272" y="243230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1272" y="243230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37776" y="243230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6" y="243230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2907792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2907792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Rodin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51760" y="2907792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2907792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98264" y="2907792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8264" y="2907792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2907792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2907792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91272" y="2907792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91272" y="2907792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37776" y="2907792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37776" y="2907792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3383280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3383280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Wonder Dynamics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51760" y="3383280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0" y="338328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98264" y="3383280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98264" y="338328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44768" y="3383280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4768" y="338328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☆☆☆☆☆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91272" y="3383280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91272" y="338328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37776" y="3383280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37776" y="3383280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3858768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" y="3858768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</a:rPr>
              <a:t>NVIDIA Audio2Face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51760" y="3858768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0" y="3858768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98264" y="3858768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98264" y="3858768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44768" y="3858768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44768" y="3858768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☆☆☆☆☆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91272" y="3858768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91272" y="3858768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37776" y="3858768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37776" y="3858768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" y="4334256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7824" y="4334256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</a:rPr>
              <a:t>Adobe Substance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651760" y="433425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0" y="433425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98264" y="433425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98264" y="433425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44768" y="433425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44768" y="433425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91272" y="433425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91272" y="433425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637776" y="4334256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37776" y="4334256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4809744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7824" y="4809744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Mixamo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651760" y="480974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0" y="480974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98264" y="480974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98264" y="480974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44768" y="480974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44768" y="480974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891272" y="480974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91272" y="480974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★★☆☆☆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637776" y="4809744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637776" y="4809744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5285231"/>
            <a:ext cx="1783080" cy="4754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77824" y="5285231"/>
            <a:ext cx="1691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C2820A"/>
                </a:solidFill>
                <a:latin typeface="Microsoft YaHei"/>
              </a:rPr>
              <a:t>InstaLOD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51760" y="5285231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0" y="5285231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398264" y="5285231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398264" y="5285231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★★★★★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144768" y="5285231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144768" y="5285231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★★★★☆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891272" y="5285231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91272" y="5285231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637776" y="5285231"/>
            <a:ext cx="1700784" cy="4754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37776" y="5285231"/>
            <a:ext cx="1700784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★★★☆☆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22960" y="5852159"/>
            <a:ext cx="10561320" cy="5486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24128" y="5888735"/>
            <a:ext cx="1024128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891B2"/>
                </a:solidFill>
                <a:latin typeface="Microsoft YaHei"/>
              </a:rPr>
              <a:t>🔍 核心发现：</a:t>
            </a:r>
            <a:r>
              <a:rPr sz="950" b="1">
                <a:solidFill>
                  <a:srgbClr val="DC2626"/>
                </a:solidFill>
                <a:latin typeface="Microsoft YaHei"/>
              </a:rPr>
              <a:t>无一家竞品在「拓扑质量」达到4★以上——这是全行业的共同短板，也是最大机会窗口。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Adobe Substance在可控性和生态最强，但AI功能最弱。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6大方向 · 影响力 × 技术门槛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737360"/>
            <a:ext cx="6858000" cy="3474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6858000" cy="18288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737360"/>
            <a:ext cx="18288" cy="3474720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5264" y="1755648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速赢区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高影响·低门槛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755648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战略制高点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6B7280"/>
                </a:solidFill>
                <a:latin typeface="Microsoft YaHei"/>
              </a:rPr>
              <a:t>高影响·高门槛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4901183"/>
            <a:ext cx="914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B7280"/>
                </a:solidFill>
                <a:latin typeface="Microsoft YaHei"/>
              </a:rPr>
              <a:t>补位区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低影响·低门槛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901183"/>
            <a:ext cx="9601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9AA5BC"/>
                </a:solidFill>
                <a:latin typeface="Microsoft YaHei"/>
              </a:rPr>
              <a:t>暂缓区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>
                <a:solidFill>
                  <a:srgbClr val="9AA5BC"/>
                </a:solidFill>
                <a:latin typeface="Microsoft YaHei"/>
              </a:rPr>
              <a:t>低影响·高门槛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63039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影响力（高 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39512"/>
            <a:ext cx="68580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</a:rPr>
              <a:t>技术门槛/投入（低 ← → 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96465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905609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文本→3D模型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29300" y="2730398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9300" y="2739542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AI材质PBR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1965960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3500" y="1975103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自动Rig+Skin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5100" y="213969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2148839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AI动画表情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00837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017520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风格化生成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182111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3191255"/>
            <a:ext cx="91440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LOD优化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1737360"/>
            <a:ext cx="1097280" cy="34747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0" y="1828800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▎读图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194560"/>
            <a:ext cx="914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DC2626"/>
                </a:solidFill>
                <a:latin typeface="Microsoft YaHei"/>
              </a:rPr>
              <a:t>🔴 战略制高点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文本→3D模型：
最高影响+最高门槛
→ 核心攻坚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926080"/>
            <a:ext cx="914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🟢 速赢首选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自动Rig：
高影响+低门槛
→ 立即落地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3657600"/>
            <a:ext cx="914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2820A"/>
                </a:solidFill>
                <a:latin typeface="Microsoft YaHei"/>
              </a:rPr>
              <a:t>🟡 重点投入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AI动画表情：
高影响+中门槛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4389120"/>
            <a:ext cx="91440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🔵 中长期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风格化生成：
差异化布局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市场规模与商业模式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TAM估算 · 商业模式选型 · ROI分析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▎市场规模估算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87451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2194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全球游戏3D美术外包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7451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~$50B+/年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1051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传统人工流程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24027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79"/>
            <a:ext cx="2194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AI 3D生成市场(2025)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7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~$2-5B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79"/>
            <a:ext cx="1051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CAGR 30%+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260603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06039"/>
            <a:ext cx="2194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游戏角色AI生成TAM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0603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~$3-8B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39"/>
            <a:ext cx="1051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外包替代+增量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297179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971799"/>
            <a:ext cx="2194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初始可获得(SOM)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7179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~$20-50M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971799"/>
            <a:ext cx="10515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B7280"/>
                </a:solidFill>
                <a:latin typeface="Microsoft YaHei"/>
              </a:rPr>
              <a:t>3A+中型CP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49047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▎商业模式选型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187451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87451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SaaS订阅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87451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$30-100/月/seat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874519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稳定现金流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224027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24027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API按量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24027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$0.1-1/次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240279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弹性计费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260603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260603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引擎插件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60603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Unity/UE分成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606039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生态绑定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2971799"/>
            <a:ext cx="4754880" cy="32918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297179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563EB"/>
                </a:solidFill>
                <a:latin typeface="Microsoft YaHei"/>
              </a:rPr>
              <a:t>开源+企业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971799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59669"/>
                </a:solidFill>
                <a:latin typeface="Microsoft YaHei"/>
              </a:rPr>
              <a:t>引流→变现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971799"/>
            <a:ext cx="17373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374151"/>
                </a:solidFill>
                <a:latin typeface="Microsoft YaHei"/>
              </a:rPr>
              <a:t>高客单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3840480"/>
            <a:ext cx="10561320" cy="128016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" y="3913632"/>
            <a:ext cx="10241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▎ROI估算：单个3A游戏角色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4224528"/>
            <a:ext cx="32918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33856" y="4261104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传统流程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" y="4535424"/>
            <a:ext cx="3108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成本: $5K-50K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4754880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周期: 2-4周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53128" y="4224528"/>
            <a:ext cx="32918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2856" y="4261104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AI辅助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6" y="4535424"/>
            <a:ext cx="3108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成本: $500-2K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2856" y="4754880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周期: 2-4h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82128" y="4224528"/>
            <a:ext cx="32918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91856" y="4261104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目标全链路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4535424"/>
            <a:ext cx="3108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59669"/>
                </a:solidFill>
                <a:latin typeface="Microsoft YaHei"/>
              </a:rPr>
              <a:t>成本: &lt;$500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1856" y="4754880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280"/>
                </a:solidFill>
                <a:latin typeface="Microsoft YaHei"/>
              </a:rPr>
              <a:t>周期: &lt;1h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落地策略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技术选型 · 团队配置 · 里程碑交付物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4480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▎技术选型（开源base→游戏微调）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1874519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874519"/>
            <a:ext cx="64008" cy="62179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11095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3D生成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11095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InstantMesh/TripoSR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203703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游戏级拓扑微调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551176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2551176"/>
            <a:ext cx="64008" cy="62179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587752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D9488"/>
                </a:solidFill>
                <a:latin typeface="Microsoft YaHei"/>
              </a:rPr>
              <a:t>材质生成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87752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ControlNet+SD微调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880360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PBR一致性优化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227832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3227832"/>
            <a:ext cx="64008" cy="62179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264408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Microsoft YaHei"/>
              </a:rPr>
              <a:t>自动Rig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64408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RigNet+NeuroSkinning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557016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非人形扩展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3904488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" y="3904488"/>
            <a:ext cx="64008" cy="621792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3941064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动画重定向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41064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SMPLer-X/ProHMR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233672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风格化动画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4581144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4581144"/>
            <a:ext cx="64008" cy="62179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617720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面部动画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61772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SadTalker/Wav2Lip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4910328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情绪感知增强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257800"/>
            <a:ext cx="47548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128" y="5257800"/>
            <a:ext cx="64008" cy="62179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5294376"/>
            <a:ext cx="10972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2820A"/>
                </a:solidFill>
                <a:latin typeface="Microsoft YaHei"/>
              </a:rPr>
              <a:t>LOD优化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294376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InstaLOD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586984"/>
            <a:ext cx="3566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AI感知减面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1417320"/>
            <a:ext cx="52120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49047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▎团队配置建议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1874519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1 · Q1-Q2 · 3人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1 AI研究+1 TA+1全栈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速赢：Auto-Rig+2D概念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42316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2 · Q3-Q4 · 6人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+1图形学+1产品+1测试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攻坚：3D生成+材质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97180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EA580C"/>
                </a:solidFill>
                <a:latin typeface="Microsoft YaHei"/>
              </a:rPr>
              <a:t>Phase 3 · Y2 · 10-15人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374151"/>
                </a:solidFill>
                <a:latin typeface="Microsoft YaHei"/>
              </a:rPr>
              <a:t>+引擎组+商务+社区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1">
                <a:solidFill>
                  <a:srgbClr val="059669"/>
                </a:solidFill>
                <a:latin typeface="Microsoft YaHei"/>
              </a:rPr>
              <a:t>→ 商业化：SaaS+引擎生态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7033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3776472"/>
            <a:ext cx="4754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▎关键里程碑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4096512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2512" y="4096512"/>
            <a:ext cx="54864" cy="38404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096512"/>
            <a:ext cx="548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59669"/>
                </a:solidFill>
                <a:latin typeface="Microsoft YaHei"/>
              </a:rPr>
              <a:t>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096512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3D生成Demo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096512"/>
            <a:ext cx="1920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文本→3D原型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4517136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2512" y="4517136"/>
            <a:ext cx="54864" cy="38404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517136"/>
            <a:ext cx="548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M6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517136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游戏级拓扑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4517136"/>
            <a:ext cx="1920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Quad拓扑达标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2512" y="4937760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82512" y="4937760"/>
            <a:ext cx="54864" cy="38404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937760"/>
            <a:ext cx="548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A580C"/>
                </a:solidFill>
                <a:latin typeface="Microsoft YaHei"/>
              </a:rPr>
              <a:t>M9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4937760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Rig+材质集成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937760"/>
            <a:ext cx="1920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Pipeline v0.5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2512" y="5358384"/>
            <a:ext cx="475488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82512" y="5358384"/>
            <a:ext cx="54864" cy="3840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5358384"/>
            <a:ext cx="5486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M12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5358384"/>
            <a:ext cx="201168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161B2E"/>
                </a:solidFill>
                <a:latin typeface="Microsoft YaHei"/>
              </a:rPr>
              <a:t>端到端Pipeline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358384"/>
            <a:ext cx="19202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>
                <a:solidFill>
                  <a:srgbClr val="6B7280"/>
                </a:solidFill>
                <a:latin typeface="Microsoft YaHei"/>
              </a:rPr>
              <a:t>文本→游戏角色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4F46E5"/>
                </a:solidFill>
                <a:latin typeface="Microsoft YaHei"/>
              </a:rPr>
              <a:t>12个月路线图 + 核心启示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季度排布 · 从速赢到突破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860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1B2E"/>
                </a:solidFill>
                <a:latin typeface="Microsoft YaHei"/>
              </a:rPr>
              <a:t>技术方向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6304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239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39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438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38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6370" y="146304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37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836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836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035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035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2340" y="146304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234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433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433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632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32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Q3.3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8310" y="1463040"/>
            <a:ext cx="681990" cy="274320"/>
          </a:xfrm>
          <a:prstGeom prst="rect">
            <a:avLst/>
          </a:prstGeom>
          <a:solidFill>
            <a:srgbClr val="EFF3F9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831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02290" y="1463040"/>
            <a:ext cx="681990" cy="274320"/>
          </a:xfrm>
          <a:prstGeom prst="rect">
            <a:avLst/>
          </a:prstGeom>
          <a:solidFill>
            <a:srgbClr val="F7F9FC"/>
          </a:solidFill>
          <a:ln w="508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2290" y="1463040"/>
            <a:ext cx="68199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B7280"/>
                </a:solidFill>
                <a:latin typeface="Microsoft YaHei"/>
              </a:rPr>
              <a:t>Q4.3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1755648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自动Rig+Skin(速赢)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755648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18688" y="1792224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048256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AI材质PBR生成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048256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00678" y="2084832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340864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文本→3D模型(核心)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2340864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82668" y="2377440"/>
            <a:ext cx="4737354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633472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AI动画重定向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633472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264658" y="2670048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926079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面部动画/口型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926079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6648" y="2962656"/>
            <a:ext cx="2691384" cy="1828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218687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智能LOD优化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218687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6648" y="3255263"/>
            <a:ext cx="2009394" cy="182880"/>
          </a:xfrm>
          <a:prstGeom prst="roundRect">
            <a:avLst>
              <a:gd name="adj" fmla="val 3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3511295"/>
            <a:ext cx="22860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61B2E"/>
                </a:solidFill>
                <a:latin typeface="Microsoft YaHei"/>
              </a:rPr>
              <a:t>风格化模型生成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511295"/>
            <a:ext cx="81838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0628" y="3547871"/>
            <a:ext cx="4055364" cy="18288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" y="4572000"/>
            <a:ext cx="10561320" cy="502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" y="4572000"/>
            <a:ext cx="82296" cy="5029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4599432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游戏级拓扑是生死线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4599432"/>
            <a:ext cx="7315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通用3D生成已拥挤，但Quad-dominant拓扑+干净UV+可动画的「游戏就绪」模型无人解决。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5120640"/>
            <a:ext cx="10561320" cy="502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5120640"/>
            <a:ext cx="82296" cy="5029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148072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A580C"/>
                </a:solidFill>
                <a:latin typeface="Microsoft YaHei"/>
              </a:rPr>
              <a:t>非人形Rig是蓝海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148072"/>
            <a:ext cx="7315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人形Rig已成熟(Mixamo)，但怪物/动物/机械等非人形角色Auto-Rig几乎空白。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5669279"/>
            <a:ext cx="10561320" cy="502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2960" y="5669279"/>
            <a:ext cx="82296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5696712"/>
            <a:ext cx="2743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端到端一体化是终极壁垒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5696712"/>
            <a:ext cx="7315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74151"/>
                </a:solidFill>
                <a:latin typeface="Microsoft YaHei"/>
              </a:rPr>
              <a:t>从生成→材质→Rig→动画→LOD的全链路自动化平台，是建立行业壁垒的关键。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METHODOLOGY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61B2E"/>
                </a:solidFill>
                <a:latin typeface="Microsoft YaHei"/>
              </a:rPr>
              <a:t>分析方法论与数据来源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▎分析方法论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全景盘点: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7阶段Pipeline + 每阶段痛点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方向拆解: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6大方向×6维(场景/价值/竞品/技术/创新/挑战)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成熟度评估: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TRL等级 + 时机判断(现在/近期/中期/前沿)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开源调研: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13个核心开源项目 + GitHub Star/能力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竞品对标: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10家×5维度(质量/速度/拓扑/可控/生态)评分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79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商业分析: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TAM/SAM/SOM + 4种商业模式 + ROI估算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19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落地策略: </a:t>
            </a:r>
            <a:r>
              <a:rPr sz="900" b="0">
                <a:solidFill>
                  <a:srgbClr val="374151"/>
                </a:solidFill>
                <a:latin typeface="Microsoft YaHei"/>
              </a:rPr>
              <a:t>技术选型/团队配置/4个里程碑交付物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17904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厂商官网: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Meshy.ai/Luma/Rodin/Wonder Dynamics/Kinetix/InstaLOD等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开源生态: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GitHub(TripoSR/InstantMesh/DreamGaussian/RigNet/SadTalker等)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论文: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arXiv(LRM/DreamFusion/NeuroSkinning/Magic3D/SMPLer-X等)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融资数据: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Crunchbase公开轮次(截至2025-2026)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行业报告: </a:t>
            </a:r>
            <a:r>
              <a:rPr sz="900" b="0">
                <a:solidFill>
                  <a:srgbClr val="6B7280"/>
                </a:solidFill>
                <a:latin typeface="Microsoft YaHei"/>
              </a:rPr>
              <a:t>a16z/Games One/Citi GPS/NVIDIA GTC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54879"/>
            <a:ext cx="47548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●  </a:t>
            </a:r>
            <a:r>
              <a:rPr sz="950" b="1">
                <a:solidFill>
                  <a:srgbClr val="0D9488"/>
                </a:solidFill>
                <a:latin typeface="Microsoft YaHei"/>
              </a:rPr>
              <a:t>⚠ 声明: </a:t>
            </a:r>
            <a:r>
              <a:rPr sz="900" b="0">
                <a:solidFill>
                  <a:srgbClr val="DC2626"/>
                </a:solidFill>
                <a:latin typeface="Microsoft YaHei"/>
              </a:rPr>
              <a:t>市场规模为推演估算，非精确第三方数据；技术成熟度为基于公开信息的合理判断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00" cy="3657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4F46E5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游戏模型 AI 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161B2E"/>
                </a:solidFill>
                <a:latin typeface="Microsoft YaHei"/>
              </a:rPr>
              <a:t>创新方向深度梳理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6大方向 · 从文本→3D到风格迁移 · 聚焦拓扑/Rig/动画就绪度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056132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301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F46E5"/>
                </a:solidFill>
                <a:latin typeface="Microsoft YaHei"/>
              </a:rPr>
              <a:t>▎核心结论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1005840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6大方向覆盖3D模型生成全链路，核心瓶颈是「游戏级拓扑+动画就绪度」。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059669"/>
                </a:solidFill>
                <a:latin typeface="Microsoft YaHei"/>
              </a:rPr>
              <a:t>速赢：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自动Rig+Skin(Q1)——门槛低、刚需、立即见效。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核心攻坚：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文本→3D模型(Q1-Q3)——最高影响、最高门槛，需解决拓扑质量。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1">
                <a:solidFill>
                  <a:srgbClr val="EA580C"/>
                </a:solidFill>
                <a:latin typeface="Microsoft YaHei"/>
              </a:rPr>
              <a:t>蓝海：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非人形Rig + 全链路一体化——业界最大空白。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4F46E5"/>
                </a:solidFill>
                <a:latin typeface="Microsoft YaHei"/>
              </a:rPr>
              <a:t>•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节奏：Q1速赢(Rig) → Q2攻坚(材质/3D) → Q3-Q4突破(风格化/全链路)。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游戏模型AI生成 · 创新方向深度梳理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22/22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游戏模型AI生成 · 创新方向深度梳理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