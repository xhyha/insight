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4572000" cy="3657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058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</a:rPr>
              <a:t>GAME MODEL AI GENERATION · 游戏模型AI生成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97280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61B2E"/>
                </a:solidFill>
                <a:latin typeface="Microsoft YaHei"/>
              </a:rPr>
              <a:t>游戏模型 AI 生成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61B2E"/>
                </a:solidFill>
                <a:latin typeface="Microsoft YaHei"/>
              </a:rPr>
              <a:t>创新方向深度梳理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Microsoft YaHei"/>
              </a:rPr>
              <a:t>聚焦3D模型生成全链路 · 6大方向 · 场景/价值/竞品/技术/创新/挑战六维拆解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11880"/>
            <a:ext cx="1184148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630168"/>
            <a:ext cx="11841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文本→3D模型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17420" y="3611880"/>
            <a:ext cx="1060704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7420" y="3630168"/>
            <a:ext cx="1060704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AI材质纹理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2715" y="3611880"/>
            <a:ext cx="1554480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2715" y="3630168"/>
            <a:ext cx="15544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自动Rig+Skin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1788" y="3611880"/>
            <a:ext cx="1060704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1788" y="3630168"/>
            <a:ext cx="1060704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AI动画表情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7083" y="3611880"/>
            <a:ext cx="937259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7083" y="3630168"/>
            <a:ext cx="937259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风格化生成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88936" y="3611880"/>
            <a:ext cx="937259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3630168"/>
            <a:ext cx="937259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LOD优化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0788" y="3611880"/>
            <a:ext cx="813816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0788" y="3630168"/>
            <a:ext cx="813816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891B2"/>
                </a:solidFill>
                <a:latin typeface="Microsoft YaHei"/>
              </a:rPr>
              <a:t>竞品对标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69196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69196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</a:rPr>
              <a:t>路线图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561320" cy="77724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919472"/>
            <a:ext cx="1024128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</a:rPr>
              <a:t>聚焦结论：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游戏模型AI生成的核心瓶颈是「</a:t>
            </a:r>
            <a:r>
              <a:rPr sz="1000" b="1">
                <a:solidFill>
                  <a:srgbClr val="DC2626"/>
                </a:solidFill>
                <a:latin typeface="Microsoft YaHei"/>
              </a:rPr>
              <a:t>拓扑质量+动画就绪度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」，而非生成速度。谁解决游戏级拓扑，谁定义行业标准。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94360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出品：xhyha/insight · 数据源：各厂商官网/GitHub/Crunchbase/arXiv · 2026.06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1/16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</a:rPr>
              <a:t>CONTENTS · 报告导航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六大方向 · 全链路深度拆解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91440" cy="65836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26464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D9488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435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全景流程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746504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模型AI生成7阶段Pipeline + 分析框架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03120"/>
            <a:ext cx="91440" cy="65836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167127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文本→3D模型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478024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生成核心：文本/草图/多视图→3D角色/道具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34639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834639"/>
            <a:ext cx="91440" cy="65836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889503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D9488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898647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AI材质纹理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209544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PBR全通道一键生成 + 风格化材质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566159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566159"/>
            <a:ext cx="91440" cy="65836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621023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A580C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630167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自动Rig+Skin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941063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骨骼绑定+权重预测→动画就绪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297679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297679"/>
            <a:ext cx="91440" cy="65836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352543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7C3AED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3616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AI动画表情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672583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视频→动画重定向 + 面部口型同步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029199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5029199"/>
            <a:ext cx="91440" cy="65836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084063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59669"/>
                </a:solidFill>
                <a:latin typeface="Microsoft YaHe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093207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风格化+LOD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404103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风格迁移 + 智能减面/性能优化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760719"/>
            <a:ext cx="10561320" cy="65836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0" y="5760719"/>
            <a:ext cx="91440" cy="65836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815583"/>
            <a:ext cx="822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DC2626"/>
                </a:solidFill>
                <a:latin typeface="Microsoft YaHei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824727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总结规划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6135623"/>
            <a:ext cx="84124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竞品对标/优先级矩阵/路线图/启示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2/16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01 · 全景流程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游戏模型AI生成 · 7阶段Pipeline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① 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文本/草图
参考图/多视图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0552" y="2670048"/>
            <a:ext cx="219456" cy="146304"/>
          </a:xfrm>
          <a:prstGeom prst="rightArrow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68296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68296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② 3D生成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扩散/NeRF
3DGS→Mesh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75887" y="2670048"/>
            <a:ext cx="219456" cy="146304"/>
          </a:xfrm>
          <a:prstGeom prst="rightArrow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13632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13632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6784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③ 拓扑优化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Quad重拓扑
UV展开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21224" y="2670048"/>
            <a:ext cx="219456" cy="146304"/>
          </a:xfrm>
          <a:prstGeom prst="rightArrow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58968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58968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④ AI材质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PBR全通道
纹理生成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766560" y="2670048"/>
            <a:ext cx="219456" cy="146304"/>
          </a:xfrm>
          <a:prstGeom prst="rightArrow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04304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4304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⑤ Rig+Skin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骨骼绑定
权重预测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311896" y="2670048"/>
            <a:ext cx="219456" cy="146304"/>
          </a:xfrm>
          <a:prstGeom prst="rightArrow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49640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49640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22792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⑥ 动画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2792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重定向/表情
物理动画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857232" y="2670048"/>
            <a:ext cx="219456" cy="146304"/>
          </a:xfrm>
          <a:prstGeom prst="rightArrow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094976" y="1828800"/>
            <a:ext cx="1289304" cy="18288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94976" y="1828800"/>
            <a:ext cx="1289304" cy="7315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68128" y="1993392"/>
            <a:ext cx="11430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⑦ 优化集成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8128" y="2377440"/>
            <a:ext cx="1143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LOD/减面
引擎导入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023360"/>
            <a:ext cx="10561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Microsoft YaHei"/>
              </a:rPr>
              <a:t>▎每阶段核心痛点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34340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389120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389120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语义理解不足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65429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文本描述→3D意图的精确映射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34340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4389120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4389120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拓扑不达标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77639" y="465429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三角面/乱流，不可动画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34340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389120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4389120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UV质量差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5429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拉伸/重叠/利用率低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15400" y="434340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06840" y="4389120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72600" y="4389120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材质不一致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465429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多通道物理属性矛盾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" y="512064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5166359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5166359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非人形Rig缺失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80160" y="543153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怪物/动物无标准模板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520440" y="512064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11880" y="5166359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77639" y="5166359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动画风格单一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7639" y="543153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缺乏夸张/卡通风格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17920" y="5120640"/>
            <a:ext cx="2560320" cy="6858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09360" y="5166359"/>
            <a:ext cx="365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⑦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75120" y="5166359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平台适配成本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75120" y="5431536"/>
            <a:ext cx="2011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LOD自动化程度低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3/16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01 · 全景流程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六维分析框架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91440" cy="128016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691639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91639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1848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C3AED"/>
                </a:solidFill>
                <a:latin typeface="Microsoft YaHei"/>
              </a:rPr>
              <a:t>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65960"/>
            <a:ext cx="4114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</a:rPr>
              <a:t>什么游戏类型？什么制作阶段？谁用？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91440" cy="1280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91639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39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1848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59669"/>
                </a:solidFill>
                <a:latin typeface="Microsoft YaHei"/>
              </a:rPr>
              <a:t>价值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965960"/>
            <a:ext cx="4114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</a:rPr>
              <a:t>效率提升？成本降低？质量改善？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97180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2971800"/>
            <a:ext cx="91440" cy="12801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1560" y="315468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15468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08152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</a:rPr>
              <a:t>竞品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429000"/>
            <a:ext cx="4114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</a:rPr>
              <a:t>现有工具？成熟度？融资阶段？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297180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2971800"/>
            <a:ext cx="91440" cy="128016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315468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15468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08152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技术路径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429000"/>
            <a:ext cx="4114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</a:rPr>
              <a:t>底层架构？数据需求？计算瓶颈？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43484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4434840"/>
            <a:ext cx="91440" cy="12801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1560" y="46177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1772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54456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892040"/>
            <a:ext cx="4114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</a:rPr>
              <a:t>空白点在哪？差异化切入角度？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43484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63640" y="4434840"/>
            <a:ext cx="91440" cy="128016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92240" y="46177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61772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454456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2820A"/>
                </a:solidFill>
                <a:latin typeface="Microsoft YaHei"/>
              </a:rPr>
              <a:t>⚠ 关键挑战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892040"/>
            <a:ext cx="4114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</a:rPr>
              <a:t>技术瓶颈？工程化难点？用户体验？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4/16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4F46E5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</a:rPr>
              <a:t>CORE DIRECTIONS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六大技术方向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文本→3D / 材质 / Rig / 动画 / 风格化 / 优化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5/16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方向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9326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文本/草图 → 3D模型生成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38912"/>
            <a:ext cx="1188720" cy="347472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57200"/>
            <a:ext cx="11887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优先级 · 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▎场景与痛点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19072"/>
            <a:ext cx="49377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</a:rPr>
              <a:t>快速原型验证、NPC量产、角色/道具设计探索、DLC内容扩展。游戏开发中需要大量3D资产，传统流程周期长、成本高。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2395728"/>
            <a:ext cx="4937760" cy="18288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⚠ 核心痛点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通用3D生成(Meshy/Luma)的拓扑质量达不到游戏标准——三角面乱流、UV拉伸、不可直接用于动画。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0156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▎价值量化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</a:rPr>
              <a:t>制作周期 -90%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4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</a:rPr>
              <a:t>门槛降低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</a:rPr>
              <a:t>迭代速度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91363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周级→小时级 / 无需专业3D技能 / 秒级变体探索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▎竞品对标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719072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Meshy.ai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755648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1755648"/>
            <a:ext cx="1234440" cy="1463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1907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速度快&lt;1min，拓扑差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011679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Tripo3D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48255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0" y="2048255"/>
            <a:ext cx="987552" cy="1463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91472" y="2011679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开源，精度有限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304287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CSM.ai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2340863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0" y="2340863"/>
            <a:ext cx="1069848" cy="1463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304287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图/视频→3D管线全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596895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Luma 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633471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0" y="2633471"/>
            <a:ext cx="1316736" cy="1463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596895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NeRF照片级重建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2889503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Rodin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2926079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772400" y="2926079"/>
            <a:ext cx="1152144" cy="1463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91472" y="2889503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高质量，闭源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401568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▎技术路径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4224" y="3639312"/>
            <a:ext cx="49377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多视图扩散生成 → NeRF/3DGS体积重建 → Mesh提取与简化 → 拓扑优化(Quad) → UV自动展开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游戏级Quad-dominant拓扑(干净edge flow) + 模块化可定制角色(换装/换脸/体型) + 语义部件编辑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22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⚠ 关键挑战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422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拓扑质量是生死线；Quad重拓扑算法尚不成熟；游戏引擎(Unity/UE)兼容性要求严格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6/16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方向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9326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AI材质与PBR纹理生成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38912"/>
            <a:ext cx="1188720" cy="347472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57200"/>
            <a:ext cx="11887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优先级 · 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</a:rPr>
              <a:t>▎场景与痛点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19072"/>
            <a:ext cx="49377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</a:rPr>
              <a:t>3D模型贴图制作、场景材质批量生成、道具纹理。需要Albedo/Normal/Roughness/Metallic/AO多通道PBR材质。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2395728"/>
            <a:ext cx="4937760" cy="18288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⚠ 核心痛点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多通道材质需分别手绘，耗时且容易通道间不一致；游戏风格化(NPR)材质几乎无AI工具支持。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0156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▎价值量化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D9488"/>
                </a:solidFill>
                <a:latin typeface="Microsoft YaHei"/>
              </a:rPr>
              <a:t>材质制作 -80%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4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D9488"/>
                </a:solidFill>
                <a:latin typeface="Microsoft YaHei"/>
              </a:rPr>
              <a:t>通道一致性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D9488"/>
                </a:solidFill>
                <a:latin typeface="Microsoft YaHei"/>
              </a:rPr>
              <a:t>迭代灵活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91363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小时→分钟 / 物理属性自洽 / 快速风格尝试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</a:rPr>
              <a:t>▎竞品对标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719072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Adobe Substance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755648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1755648"/>
            <a:ext cx="1481328" cy="14630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1907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行业标准+AI辅助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011679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Materialine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48255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0" y="2048255"/>
            <a:ext cx="1069848" cy="14630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91472" y="2011679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AI材质生成新锐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304287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Polycam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2340863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0" y="2340863"/>
            <a:ext cx="905256" cy="14630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304287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扫描+材质库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596895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ArtEngine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633471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0" y="2633471"/>
            <a:ext cx="987552" cy="14630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596895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AI去缝/变体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401568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▎技术路径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39312"/>
            <a:ext cx="49377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文本/参考图输入 → 多通道联合扩散生成 → 物理一致性约束 → Tileable/Seamless处理 → 引擎格式导出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游戏风格化PBR(NPR渲染支持) + 基于3D模型的投影纹理 + 程序化材质变体批量生成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⚠ 关键挑战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多通道物理一致性(如Normal必须与Albedo几何对齐)是技术难点；风格化材质训练数据稀缺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7/16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方向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9326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自动 Rigging + Skinning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38912"/>
            <a:ext cx="1188720" cy="347472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57200"/>
            <a:ext cx="11887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优先级 · 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</a:rPr>
              <a:t>▎场景与痛点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19072"/>
            <a:ext cx="49377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</a:rPr>
              <a:t>3D模型→可动画角色。包括骨骼放置、权重绑定(LBS/DQ)、控制器生成。是模型进入动画流程的必经关卡。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2395728"/>
            <a:ext cx="4937760" cy="18288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⚠ 核心痛点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现有工具仅支持人形(humanoid)角色；怪物/动物/机械等非人形角色几乎无自动Rig方案。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0156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▎价值量化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A580C"/>
                </a:solidFill>
                <a:latin typeface="Microsoft YaHei"/>
              </a:rPr>
              <a:t>Rig周期 -95%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4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A580C"/>
                </a:solidFill>
                <a:latin typeface="Microsoft YaHei"/>
              </a:rPr>
              <a:t>标准化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A580C"/>
                </a:solidFill>
                <a:latin typeface="Microsoft YaHei"/>
              </a:rPr>
              <a:t>动画就绪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91363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天级→分钟级 / 减少人为差异 / 一键进入动画流程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</a:rPr>
              <a:t>▎竞品对标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719072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Mixamo(Adobe)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755648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1755648"/>
            <a:ext cx="1316736" cy="146304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1907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人形Rig+动画库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011679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AccuRIG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48255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0" y="2048255"/>
            <a:ext cx="1152144" cy="146304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91472" y="2011679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免费，人形稳定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304287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Auto-Rig Pro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2340863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0" y="2340863"/>
            <a:ext cx="987552" cy="146304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304287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Blender半自动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596895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Cascadeur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633471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0" y="2633471"/>
            <a:ext cx="905256" cy="146304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596895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AI关键帧+物理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401568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▎技术路径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39312"/>
            <a:ext cx="49377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人体拓扑识别 → 标准骨骼模板匹配 → 自动骨骼放置 → LBS/DQ权重预测网络 → 控制器自动生成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非人形角色(怪物/动物)Auto-Rig + 面部BlendShape自动生成 + 实时权重可视化交互修正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⚠ 关键挑战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非人形拓扑多样性极大，无标准模板；权重质量直接影响动画形变质量，容错率极低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8/16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方向 #4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9326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AI动画与面部表情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38912"/>
            <a:ext cx="1188720" cy="347472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57200"/>
            <a:ext cx="11887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优先级 · 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7C3AED"/>
                </a:solidFill>
                <a:latin typeface="Microsoft YaHei"/>
              </a:rPr>
              <a:t>▎场景与痛点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19072"/>
            <a:ext cx="49377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</a:rPr>
              <a:t>角色动画制作、过场动画面部表情、NPC口型同步。传统动捕成本高，手工关键帧效率低。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2395728"/>
            <a:ext cx="4937760" cy="18288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⚠ 核心痛点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视频→3D动画的精度和稳定性不足；面部表情缺乏情绪感知(多为中性呆板)；风格化动画支持弱。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0156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▎价值量化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动画效率 ×10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4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动捕成本 -90%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面部 ×50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91363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手工→AI辅助 / 无需专业设备 / 音频→自动驱动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7C3AED"/>
                </a:solidFill>
                <a:latin typeface="Microsoft YaHei"/>
              </a:rPr>
              <a:t>▎竞品对标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719072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Wonder Dynamics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755648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1755648"/>
            <a:ext cx="1399032" cy="14630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1907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全自动CG角色替换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011679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Kinetix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48255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0" y="2048255"/>
            <a:ext cx="1152144" cy="14630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91472" y="2011679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视频→3D动捕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304287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NVIDIA Audio2Face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2340863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0" y="2340863"/>
            <a:ext cx="1316736" cy="14630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304287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音频→面部动画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596895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Plask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633471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0" y="2633471"/>
            <a:ext cx="987552" cy="14630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596895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浏览器动捕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2889503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Ziva Dynamics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2926079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772400" y="2926079"/>
            <a:ext cx="1069848" cy="14630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91472" y="2889503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物理模拟+AI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401568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▎技术路径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4224" y="3639312"/>
            <a:ext cx="49377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视频2D pose estimation → 3D骨骼重建 → 跨角色重定向 → 音频→Phoneme→Viseme → 情绪推理→BlendShape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多角色交互动画提取 + 情绪感知表情(非中性) + 风格化动画(夸张/卡通) + 实时布料AI预测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22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⚠ 关键挑战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422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视频动捕精度受遮挡/快速运动限制；情绪→表情映射缺乏标注数据；实时物理代理算力要求高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9/16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方向 #5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9326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风格化模型生成与一致性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38912"/>
            <a:ext cx="1188720" cy="347472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57200"/>
            <a:ext cx="11887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优先级 · 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Microsoft YaHei"/>
              </a:rPr>
              <a:t>▎场景与痛点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19072"/>
            <a:ext cx="49377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</a:rPr>
              <a:t>同一资产多风格渲染（写实/卡通/二次元/低模/Low-poly）。跨品类/跨市场/跨平台适配。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2395728"/>
            <a:ext cx="4937760" cy="18288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⚠ 核心痛点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3D风格迁移的视角一致性难以保持；游戏风格化训练数据稀缺；运行时风格切换几乎无方案。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0156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▎价值量化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一次制作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4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跨市场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玩家自定义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91363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→多风格输出 / 风格本地化适配 / 运行时风格切换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Microsoft YaHei"/>
              </a:rPr>
              <a:t>▎竞品对标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719072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Stable Fast Style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755648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1755648"/>
            <a:ext cx="987552" cy="14630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1907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2D实时风格迁移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011679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DreamFusion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48255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0" y="2048255"/>
            <a:ext cx="740664" cy="14630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91472" y="2011679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研究级3D生成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304287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NVIDIA StyleGAN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2340863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0" y="2340863"/>
            <a:ext cx="905256" cy="14630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304287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风格混合/插值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596895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⚠ 暂无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633471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0" y="2633471"/>
            <a:ext cx="0" cy="14630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596895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3D游戏级成熟方案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401568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▎技术路径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39312"/>
            <a:ext cx="49377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风格引导的3D扩散 → 3D一致性保持约束 → NPR shader集成 → 光照自适应 → 运行时神经风格迁移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游戏专属风格训练集(二次元/赛博朋克/水墨) + 运行时风格切换(玩家自定义视觉) + 全局一致性引擎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⚠ 关键挑战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3D一致性是多视角问题，计算量大；风格化3D数据稀缺；运行时风格切换对GPU压力大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10/16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方向 #6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9326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智能LOD与性能优化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38912"/>
            <a:ext cx="1188720" cy="347472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57200"/>
            <a:ext cx="11887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优先级 · 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▎场景与痛点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19072"/>
            <a:ext cx="49377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</a:rPr>
              <a:t>多平台适配（手机/PC/主机/VR），包体控制，运行时性能优化。需要自动生成多级LOD并保持视觉质量。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2395728"/>
            <a:ext cx="4937760" cy="18288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DC2626"/>
                </a:solidFill>
                <a:latin typeface="Microsoft YaHei"/>
              </a:rPr>
              <a:t>⚠ 核心痛点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传统LOD工具按固定比例减面，不感知视觉重要性；动态LOD切换可能造成视觉跳变(popping)。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0156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▎价值量化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适配成本 -80%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4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包体减小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3621024"/>
            <a:ext cx="150876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3639312"/>
            <a:ext cx="15087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运行性能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91363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自动多级LOD / -30%~50% / 帧率自适应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3716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26464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▎竞品对标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719072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InstaLOD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755648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1755648"/>
            <a:ext cx="1399032" cy="14630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1907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自动LOD+优化Pipeline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011679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Simplygon(MS)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48255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0" y="2048255"/>
            <a:ext cx="1481328" cy="14630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91472" y="2011679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行业标准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304287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Unity HLOD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2340863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0" y="2340863"/>
            <a:ext cx="987552" cy="14630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304287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引擎内置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596895"/>
            <a:ext cx="1371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Polygon Cruncher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633471"/>
            <a:ext cx="1645920" cy="146304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0" y="2633471"/>
            <a:ext cx="905256" cy="14630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596895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Maya/Max插件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64992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401568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▎技术路径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39312"/>
            <a:ext cx="49377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AI感知重要性加权减面 → 轮廓/特征保持 → UV保形与纹理烘焙 → Imposter/Billboard生成 → 动态LOD预测切换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💡 创新机会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实时动态LOD(基于玩家视角重要性) + AI预测最优LOD切换时机(消除popping) + 自动Imposter生成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370831"/>
            <a:ext cx="5212080" cy="822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4425695"/>
            <a:ext cx="4937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⚠ 关键挑战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46634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AI感知减面需要可微渲染训练；实时动态LOD增加CPU/GPU调度复杂度；跨引擎标准不统一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11/16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DC2626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DC2626"/>
                </a:solidFill>
                <a:latin typeface="Microsoft YaHei"/>
              </a:rPr>
              <a:t>BENCHMARK &amp;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竞品对标与规划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竞品矩阵 / 优先级 / 路线图 / 核心启示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12/16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891B2"/>
                </a:solidFill>
                <a:latin typeface="Microsoft YaHei"/>
              </a:rPr>
              <a:t>竞品深度对标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10家核心玩家 · 游戏模型AI生成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508760" cy="384048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5087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公司/工具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17320"/>
            <a:ext cx="1143000" cy="384048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417320"/>
            <a:ext cx="11430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方向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417320"/>
            <a:ext cx="2331720" cy="384048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417320"/>
            <a:ext cx="23317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核心能力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417320"/>
            <a:ext cx="960120" cy="384048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417320"/>
            <a:ext cx="960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融资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417320"/>
            <a:ext cx="1783080" cy="384048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417320"/>
            <a:ext cx="17830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优势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417320"/>
            <a:ext cx="1783080" cy="384048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635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1417320"/>
            <a:ext cx="17830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不足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1819656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1819656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Meshy.ai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1819656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32304" y="1819656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3D生成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1819656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19656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文本/图→3D+纹理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819656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98464" y="1819656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A $18M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1819656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04303" y="1819656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速度快&lt;1min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1819656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3104" y="1819656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拓扑质量差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2203704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2203704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Rodin(Deemos)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2203704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2304" y="2203704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3D生成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2203704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21024" y="2203704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高质量3D生成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2203704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98464" y="2203704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A $20M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0" y="2203704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04303" y="2203704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生成质量高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78240" y="2203704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2203704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速度慢,闭源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2587752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2587752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CSM.ai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587752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32304" y="2587752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3D生成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66160" y="2587752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21024" y="2587752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图/视频→3D+动画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0" y="2587752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98464" y="2587752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A $14M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49440" y="2587752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04303" y="2587752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视频到3D完整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778240" y="2587752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33104" y="2587752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精度待提升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2971800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2971800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Luma 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377440" y="2971800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2304" y="2971800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3D生成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66160" y="2971800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21024" y="2971800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NeRF/3DGS重建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0" y="2971800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98464" y="2971800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C $43M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949440" y="2971800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04303" y="2971800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照片级还原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778240" y="2971800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33104" y="2971800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游戏拓扑缺失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3355848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7824" y="3355848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Wonder Dynamics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3355848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432304" y="3355848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动画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66160" y="3355848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21024" y="3355848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视频→CG角色替换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943600" y="3355848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98464" y="3355848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A $70M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949440" y="3355848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04303" y="3355848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全自动替换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778240" y="3355848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33104" y="3355848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场景复杂度有限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2960" y="3739896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7824" y="3739896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NVIDIA Audio2Face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377440" y="3739896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432304" y="3739896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面部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3739896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3739896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音频→面部动画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43600" y="3739896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98464" y="3739896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内部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49440" y="3739896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004303" y="3739896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质量最高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778240" y="3739896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33104" y="3739896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仅面部,NVIDIA生态绑定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2960" y="4123944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77824" y="4123944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Adobe Substance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77440" y="4123944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32304" y="4123944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材质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566160" y="4123944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21024" y="4123944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PBR材质标准+AI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943600" y="4123944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998464" y="4123944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内部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49440" y="4123944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04303" y="4123944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行业标准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778240" y="4123944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833104" y="4123944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AI功能有限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22960" y="4507992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77824" y="4507992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Mixamo(Adobe)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77440" y="4507992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4507992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Rigging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566160" y="4507992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21024" y="4507992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人形自动Rig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943600" y="4507992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98464" y="4507992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免费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949440" y="4507992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004303" y="4507992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简单快捷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778240" y="4507992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833104" y="4507992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仅人形,已停更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22960" y="4892040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7824" y="4892040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InstaLOD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377440" y="4892040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432304" y="4892040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优化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566160" y="4892040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21024" y="4892040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自动LOD+减面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0" y="4892040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998464" y="4892040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被收购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949440" y="4892040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004303" y="4892040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引擎集成好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778240" y="4892040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833104" y="4892040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无AI感知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22960" y="5276088"/>
            <a:ext cx="150876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77824" y="5276088"/>
            <a:ext cx="1417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74151"/>
                </a:solidFill>
                <a:latin typeface="Microsoft YaHei"/>
              </a:rPr>
              <a:t>Reallusion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377440" y="5276088"/>
            <a:ext cx="114300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432304" y="5276088"/>
            <a:ext cx="10515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Rig+动画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566160" y="5276088"/>
            <a:ext cx="23317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621024" y="5276088"/>
            <a:ext cx="22402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角色管线一体化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943600" y="5276088"/>
            <a:ext cx="96012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998464" y="5276088"/>
            <a:ext cx="868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</a:rPr>
              <a:t>私有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949440" y="5276088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04303" y="5276088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全流程覆盖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778240" y="5276088"/>
            <a:ext cx="1783080" cy="3840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833104" y="5276088"/>
            <a:ext cx="16916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DC2626"/>
                </a:solidFill>
                <a:latin typeface="Microsoft YaHei"/>
              </a:rPr>
              <a:t>非AI原生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2960" y="5733288"/>
            <a:ext cx="10561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891B2"/>
                </a:solidFill>
                <a:latin typeface="Microsoft YaHei"/>
              </a:rPr>
              <a:t>🔍 洞察：</a:t>
            </a:r>
            <a:r>
              <a:rPr sz="950" b="0">
                <a:solidFill>
                  <a:srgbClr val="6B7280"/>
                </a:solidFill>
                <a:latin typeface="Microsoft YaHei"/>
              </a:rPr>
              <a:t>3D生成赛道拥挤(5+家)但游戏级拓扑无人解决；Rigging仅人形；面部动画NVIDIA一家独大；材质Adobe主导但AI功能弱。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13/16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优先级矩阵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6大方向 · 影响力 × 技术门槛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737360"/>
            <a:ext cx="6858000" cy="3474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0" y="3474720"/>
            <a:ext cx="6858000" cy="18288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29400" y="1737360"/>
            <a:ext cx="18288" cy="3474720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5264" y="1755648"/>
            <a:ext cx="914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速赢区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6B7280"/>
                </a:solidFill>
                <a:latin typeface="Microsoft YaHei"/>
              </a:rPr>
              <a:t>高影响·低门槛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755648"/>
            <a:ext cx="960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战略制高点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6B7280"/>
                </a:solidFill>
                <a:latin typeface="Microsoft YaHei"/>
              </a:rPr>
              <a:t>高影响·高门槛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4" y="4901183"/>
            <a:ext cx="914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Microsoft YaHei"/>
              </a:rPr>
              <a:t>补位区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9AA5BC"/>
                </a:solidFill>
                <a:latin typeface="Microsoft YaHei"/>
              </a:rPr>
              <a:t>低影响·低门槛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901183"/>
            <a:ext cx="960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AA5BC"/>
                </a:solidFill>
                <a:latin typeface="Microsoft YaHei"/>
              </a:rPr>
              <a:t>暂缓区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9AA5BC"/>
                </a:solidFill>
                <a:latin typeface="Microsoft YaHei"/>
              </a:rPr>
              <a:t>低影响·高门槛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463039"/>
            <a:ext cx="6858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影响力（高 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39512"/>
            <a:ext cx="6858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技术门槛/投入（低 ← → 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96465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05609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文本→3D模型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29300" y="2730398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0" y="2739542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AI材质PBR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965960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3500" y="1975103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自动Rig+Skin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15100" y="2139696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5100" y="2148839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AI动画表情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008376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3017520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风格化生成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3182111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0" y="3191255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LOD优化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1737360"/>
            <a:ext cx="1097280" cy="34747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182880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▎读图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194560"/>
            <a:ext cx="914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🔴 战略制高点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文本→3D模型：
最高影响+最高门槛
→ 核心攻坚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2926080"/>
            <a:ext cx="914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🟢 速赢首选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自动Rig：
高影响+低门槛
→ 立即落地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657600"/>
            <a:ext cx="914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C2820A"/>
                </a:solidFill>
                <a:latin typeface="Microsoft YaHei"/>
              </a:rPr>
              <a:t>🟡 重点投入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AI动画表情：
高影响+中门槛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4389120"/>
            <a:ext cx="914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🔵 中长期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风格化生成：
差异化布局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14/16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</a:rPr>
              <a:t>12个月路线图 + 核心启示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季度排布 · 从速赢到突破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技术方向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46304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239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239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438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38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6370" y="146304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637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836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2836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1035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035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2340" y="146304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234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433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433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632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632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8310" y="146304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831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02290" y="146304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02290" y="146304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1755648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自动Rig+Skin(速赢)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1755648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18688" y="1792224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048256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AI材质PBR生成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2048256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00678" y="2084832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2340864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文本→3D模型(核心)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2340864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82668" y="2377440"/>
            <a:ext cx="4737354" cy="18288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2633472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AI动画重定向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2633472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264658" y="2670048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2926079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面部动画/口型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2926079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46648" y="2962656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3218687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智能LOD优化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3218687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6648" y="3255263"/>
            <a:ext cx="2009394" cy="182880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3511295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风格化模型生成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511295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310628" y="3547871"/>
            <a:ext cx="4055364" cy="182880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22960" y="4572000"/>
            <a:ext cx="10561320" cy="502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22960" y="4572000"/>
            <a:ext cx="82296" cy="50292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599432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游戏级拓扑是生死线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4599432"/>
            <a:ext cx="7315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通用3D生成已拥挤，但Quad-dominant拓扑+干净UV+可动画的「游戏就绪」模型无人解决。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2960" y="5120640"/>
            <a:ext cx="10561320" cy="502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22960" y="5120640"/>
            <a:ext cx="82296" cy="50292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148072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非人形Rig是蓝海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5148072"/>
            <a:ext cx="7315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人形Rig已成熟(Mixamo)，但怪物/动物/机械等非人形角色Auto-Rig几乎空白。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" y="5669279"/>
            <a:ext cx="10561320" cy="502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22960" y="5669279"/>
            <a:ext cx="82296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" y="5696712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端到端一体化是终极壁垒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5696712"/>
            <a:ext cx="7315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从生成→材质→Rig→动画→LOD的全链路自动化平台，是建立行业壁垒的关键。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15/16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4572000" cy="3657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972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61B2E"/>
                </a:solidFill>
                <a:latin typeface="Microsoft YaHei"/>
              </a:rPr>
              <a:t>游戏模型 AI 生成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61B2E"/>
                </a:solidFill>
                <a:latin typeface="Microsoft YaHei"/>
              </a:rPr>
              <a:t>创新方向深度梳理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058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Microsoft YaHei"/>
              </a:rPr>
              <a:t>6大方向 · 从文本→3D到风格迁移 · 聚焦拓扑/Rig/动画就绪度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10561320" cy="1828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630168"/>
            <a:ext cx="100584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4F46E5"/>
                </a:solidFill>
                <a:latin typeface="Microsoft YaHei"/>
              </a:rPr>
              <a:t>▎核心结论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23360"/>
            <a:ext cx="1005840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</a:rPr>
              <a:t>• 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6大方向覆盖3D模型生成全链路，核心瓶颈是「游戏级拓扑+动画就绪度」。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059669"/>
                </a:solidFill>
                <a:latin typeface="Microsoft YaHei"/>
              </a:rPr>
              <a:t>速赢：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自动Rig+Skin(Q1)——门槛低、刚需、立即见效。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DC2626"/>
                </a:solidFill>
                <a:latin typeface="Microsoft YaHei"/>
              </a:rPr>
              <a:t>核心攻坚：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文本→3D模型(Q1-Q3)——最高影响、最高门槛，需解决拓扑质量。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EA580C"/>
                </a:solidFill>
                <a:latin typeface="Microsoft YaHei"/>
              </a:rPr>
              <a:t>蓝海：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非人形Rig + 全链路一体化——业界最大空白。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</a:rPr>
              <a:t>• 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节奏：Q1速赢(Rig) → Q2攻坚(材质/3D) → Q3-Q4突破(风格化/全链路)。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AA5BC"/>
                </a:solidFill>
                <a:latin typeface="Microsoft YaHei"/>
              </a:rPr>
              <a:t>xhyha/insight  |  游戏模型AI生成 · 创新方向深度梳理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16/16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游戏模型AI生成 · 创新方向深度梳理 · xhyha/insight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