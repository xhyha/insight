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41148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703320"/>
            <a:ext cx="12191695" cy="4572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ECDC4"/>
                </a:solidFill>
                <a:latin typeface="Microsoft YaHei"/>
              </a:rPr>
              <a:t>WWDC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9728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F0F4F8"/>
                </a:solidFill>
                <a:latin typeface="Microsoft YaHei"/>
              </a:rPr>
              <a:t>游戏技术洞察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9D1E8"/>
                </a:solidFill>
                <a:latin typeface="Microsoft YaHei"/>
              </a:rPr>
              <a:t>Apple 如何用 AI、Metal 4 与统一平台重新定义游戏生态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2313432" cy="384048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87368"/>
            <a:ext cx="2313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</a:rPr>
              <a:t>Game Porting Toolkit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4069080"/>
            <a:ext cx="1065276" cy="384048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4087368"/>
            <a:ext cx="1065276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ECDC4"/>
                </a:solidFill>
                <a:latin typeface="Microsoft YaHei"/>
              </a:rPr>
              <a:t>Metal 4.1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7428" y="4069080"/>
            <a:ext cx="1641348" cy="384048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 w="1270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7428" y="4087368"/>
            <a:ext cx="16413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DA9FC"/>
                </a:solidFill>
                <a:latin typeface="Microsoft YaHei"/>
              </a:rPr>
              <a:t>Apple Games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4069080"/>
            <a:ext cx="873252" cy="384048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 w="1270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4087368"/>
            <a:ext cx="87325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B400"/>
                </a:solidFill>
                <a:latin typeface="Microsoft YaHei"/>
              </a:rPr>
              <a:t>AI 移植代理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7788" y="4069080"/>
            <a:ext cx="1353312" cy="384048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 w="1270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7788" y="4087368"/>
            <a:ext cx="135331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D573"/>
                </a:solidFill>
                <a:latin typeface="Microsoft YaHei"/>
              </a:rPr>
              <a:t>MetalFX 神经升频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3980" y="4069080"/>
            <a:ext cx="1545336" cy="384048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3980" y="4087368"/>
            <a:ext cx="1545336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8C42"/>
                </a:solidFill>
                <a:latin typeface="Microsoft YaHei"/>
              </a:rPr>
              <a:t>Cyberpunk 2077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B95B0"/>
                </a:solidFill>
                <a:latin typeface="Microsoft YaHei"/>
              </a:rPr>
              <a:t>报告类型：技术洞察与产业评估报告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B95B0"/>
                </a:solidFill>
                <a:latin typeface="Microsoft YaHei"/>
              </a:rPr>
              <a:t>调研范围：WWDC26 全部 6 场游戏 Session + Metal/Graphics 生态  |  数据来源：Apple Developer 官方文档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B95B0"/>
                </a:solidFill>
                <a:latin typeface="Microsoft YaHei"/>
              </a:rPr>
              <a:t>2026.06  | 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B400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核心发现与结论概览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82296" cy="91440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640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7B61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AI 代理成为游戏移植的核心引擎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3492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Game Porting Toolkit 4 首次将开源 Agent Skills 推向 GitHub，AI 编码代理可在迁移全流程（评估→着色器→调试→调优）中自主工作，端口时间从'月'级压缩至'天'级。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76856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76856"/>
            <a:ext cx="82296" cy="9144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640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CDC4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68296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MetalFX 进入神经升频时代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53492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重新设计的时序升频器同时调用 Neural Engine 与 M5 Pro/Max 神经加速器，可从显著更低的渲染分辨率重建细节，API 兼容主流升频方案，迁移成本大幅降低。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73552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273552"/>
            <a:ext cx="82296" cy="914400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364992"/>
            <a:ext cx="640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3DA9FC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64992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Apple Games App 构建游戏社交入口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94176"/>
            <a:ext cx="53492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预装于 iOS/iPadOS/macOS 26，五大标签（首页/好友/Arcade/资料库/搜索）+ 个性化推荐 + Top Played 榜单，成为不可忽视的新分发与发现渠道。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270248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270248"/>
            <a:ext cx="82296" cy="914400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361688"/>
            <a:ext cx="640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ED573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61688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命令行 GPU 工具解放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90872"/>
            <a:ext cx="53492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macOS 27 全新 gpucapture / gpudebug 让 AI 代理无需 Xcode 即可抓帧、分析渲染管线、定位根因——图形调试首次进入自主工作流。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266944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266944"/>
            <a:ext cx="82296" cy="9144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358383"/>
            <a:ext cx="64008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8C42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58383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AAA 标杆验证可行性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687568"/>
            <a:ext cx="53492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Cyberpunk 2077 原生登陆 Mac，'For this Mac' 智能预设 + HDR 自动校准 + 头部追踪空间音频，获 2025 Mac 年度游戏，证明高端 3A 在 Apple 平台已成熟。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1280160"/>
            <a:ext cx="4572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ECDC4"/>
                </a:solidFill>
                <a:latin typeface="Microsoft YaHei"/>
              </a:rPr>
              <a:t>▎关键数据速览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169164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1801368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B400"/>
                </a:solidFill>
                <a:latin typeface="Microsoft YaHei"/>
              </a:rPr>
              <a:t>6 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2350008"/>
            <a:ext cx="2103120" cy="320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WWDC26 游戏专属 Session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169164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1801368"/>
            <a:ext cx="2286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ECDC4"/>
                </a:solidFill>
                <a:latin typeface="Microsoft YaHei"/>
              </a:rPr>
              <a:t>Metal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350008"/>
            <a:ext cx="2194560" cy="320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GPTK4 评估环境全面支持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2852928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2962656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7B61FF"/>
                </a:solidFill>
                <a:latin typeface="Microsoft YaHei"/>
              </a:rPr>
              <a:t>M5 Pro/Max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59" y="3511296"/>
            <a:ext cx="2103120" cy="320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神经加速器硬件底座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2852928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2962656"/>
            <a:ext cx="2286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3DA9FC"/>
                </a:solidFill>
                <a:latin typeface="Microsoft YaHei"/>
              </a:rPr>
              <a:t>3 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511296"/>
            <a:ext cx="2194560" cy="320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Games App 预装: iOS/iPad/macOS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4014215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4123944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ED573"/>
                </a:solidFill>
                <a:latin typeface="Microsoft YaHei"/>
              </a:rPr>
              <a:t>2 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59" y="4672583"/>
            <a:ext cx="2103120" cy="320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新 CLI 工具: gpucapture/gpudebug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64040" y="4014215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4040" y="4123944"/>
            <a:ext cx="2286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8C42"/>
                </a:solidFill>
                <a:latin typeface="Microsoft YaHei"/>
              </a:rPr>
              <a:t>3500万+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672583"/>
            <a:ext cx="2194560" cy="320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Cyberpunk 全球销量(系列)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78040" y="5257800"/>
            <a:ext cx="4572000" cy="96012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905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5330952"/>
            <a:ext cx="42976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B400"/>
                </a:solidFill>
                <a:latin typeface="Microsoft YaHei"/>
              </a:rPr>
              <a:t>★ 一句话结论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0F4F8"/>
                </a:solidFill>
                <a:latin typeface="Microsoft YaHei"/>
              </a:rPr>
              <a:t>WWDC26 是 Apple 游戏战略的转折点：AI 代理 + 神经图形 + 统一分发三位一体，让'移植难、性能差、发现难'三大顽疾首次被系统性解决。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2/24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ECDC4"/>
                </a:solidFill>
                <a:latin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目录 · 报告结构总览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73152" cy="713232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31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3DA9FC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83664"/>
            <a:ext cx="4389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WWDC26 游戏全景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12848"/>
            <a:ext cx="4434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全部 6 场游戏 Session 概览与战略定调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697480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73152" cy="713232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731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B61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52344"/>
            <a:ext cx="4389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Game Porting Toolkit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81528"/>
            <a:ext cx="4434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AI 代理技能体系与迁移工作流革命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66160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566160"/>
            <a:ext cx="73152" cy="713232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79"/>
            <a:ext cx="731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4ECDC4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21024"/>
            <a:ext cx="4389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Metal 4.1 图形技术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50208"/>
            <a:ext cx="4434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MetalFX 神经升频 · 张量 · M5 加速器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434840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34840"/>
            <a:ext cx="73152" cy="713232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731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B400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89703"/>
            <a:ext cx="4389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Apple Games App 与分发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18888"/>
            <a:ext cx="4434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一站式游戏中心与 App Store 新能力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303520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303520"/>
            <a:ext cx="73152" cy="7132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731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8C42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58383"/>
            <a:ext cx="4389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案例研究：Cyberpunk 2077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687568"/>
            <a:ext cx="4434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AAA 原生移植方法论与平台特性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852160"/>
            <a:ext cx="11338560" cy="566928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1524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7315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ED573"/>
                </a:solidFill>
                <a:latin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85216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F4F8"/>
                </a:solidFill>
                <a:latin typeface="Microsoft YaHei"/>
              </a:rPr>
              <a:t>结论与行动建议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852160"/>
            <a:ext cx="6400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C9D1E8"/>
                </a:solidFill>
                <a:latin typeface="Microsoft YaHei"/>
              </a:rPr>
              <a:t>行业影响、战略启示与落地路线图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1828800"/>
            <a:ext cx="5349240" cy="43434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011680"/>
            <a:ext cx="4937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ECDC4"/>
                </a:solidFill>
                <a:latin typeface="Microsoft YaHei"/>
              </a:rPr>
              <a:t>▎本报告涵盖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2468880"/>
            <a:ext cx="4892040" cy="50292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2468880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D1E8"/>
                </a:solidFill>
                <a:latin typeface="Microsoft YaHei"/>
              </a:rPr>
              <a:t>游戏专属 Session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468880"/>
            <a:ext cx="2286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B61FF"/>
                </a:solidFill>
                <a:latin typeface="Microsoft YaHei"/>
              </a:rPr>
              <a:t>6 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035808"/>
            <a:ext cx="4892040" cy="50292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3035808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D1E8"/>
                </a:solidFill>
                <a:latin typeface="Microsoft YaHei"/>
              </a:rPr>
              <a:t>图形/Metal 关联 Session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035808"/>
            <a:ext cx="2286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ECDC4"/>
                </a:solidFill>
                <a:latin typeface="Microsoft YaHei"/>
              </a:rPr>
              <a:t>3 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3602736"/>
            <a:ext cx="4892040" cy="50292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3602736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D1E8"/>
                </a:solidFill>
                <a:latin typeface="Microsoft YaHei"/>
              </a:rPr>
              <a:t>核心平台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602736"/>
            <a:ext cx="2286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DA9FC"/>
                </a:solidFill>
                <a:latin typeface="Microsoft YaHei"/>
              </a:rPr>
              <a:t>macOS 27 / iOS 27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9400" y="4169664"/>
            <a:ext cx="4892040" cy="50292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4169664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D1E8"/>
                </a:solidFill>
                <a:latin typeface="Microsoft YaHei"/>
              </a:rPr>
              <a:t>旗舰芯片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169664"/>
            <a:ext cx="2286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B400"/>
                </a:solidFill>
                <a:latin typeface="Microsoft YaHei"/>
              </a:rPr>
              <a:t>M5 Pro · M5 Max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4736592"/>
            <a:ext cx="4892040" cy="50292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4736592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D1E8"/>
                </a:solidFill>
                <a:latin typeface="Microsoft YaHei"/>
              </a:rPr>
              <a:t>核心技术栈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736592"/>
            <a:ext cx="2286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D573"/>
                </a:solidFill>
                <a:latin typeface="Microsoft YaHei"/>
              </a:rPr>
              <a:t>Metal 4 · GPTK 4 · MLX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5303520"/>
            <a:ext cx="4892040" cy="50292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5303520"/>
            <a:ext cx="25603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D1E8"/>
                </a:solidFill>
                <a:latin typeface="Microsoft YaHei"/>
              </a:rPr>
              <a:t>标杆案例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303520"/>
            <a:ext cx="2286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8C42"/>
                </a:solidFill>
                <a:latin typeface="Microsoft YaHei"/>
              </a:rPr>
              <a:t>Cyberpunk 2077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3/24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201168" cy="2194560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657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0" b="1">
                <a:solidFill>
                  <a:srgbClr val="3DA9FC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697480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DA9FC"/>
                </a:solidFill>
                <a:latin typeface="Microsoft YaHei"/>
              </a:rPr>
              <a:t>OVERVIEW · WWDC26 GAMING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0F4F8"/>
                </a:solidFill>
                <a:latin typeface="Microsoft YaHei"/>
              </a:rPr>
              <a:t>WWDC26 游戏全景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840480"/>
            <a:ext cx="8686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1E8"/>
                </a:solidFill>
                <a:latin typeface="Microsoft YaHei"/>
              </a:rPr>
              <a:t>Apple 在 WWDC26 释放明确信号：游戏是一等公民。6 场专属 Session + 全新 AI 移植工具 + 神经图形 + 统一 Games App，构建从'开发→迁移→图形→分发'的完整闭环。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4/24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DA9FC"/>
                </a:solidFill>
                <a:latin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WWDC26 游戏相关 Session 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DA9FC"/>
                </a:solidFill>
                <a:latin typeface="Microsoft YaHei"/>
              </a:rPr>
              <a:t>▎6 场游戏专属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09928"/>
            <a:ext cx="868680" cy="420624"/>
          </a:xfrm>
          <a:prstGeom prst="roundRect">
            <a:avLst>
              <a:gd name="adj" fmla="val 15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09928"/>
            <a:ext cx="868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0D1A"/>
                </a:solidFill>
                <a:latin typeface="Microsoft YaHei"/>
              </a:rPr>
              <a:t>356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55064"/>
            <a:ext cx="5577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Bringing Cyberpunk 2077 to 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47672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CDPR 原生移植案例 · 27:54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13432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868680" cy="420624"/>
          </a:xfrm>
          <a:prstGeom prst="roundRect">
            <a:avLst>
              <a:gd name="adj" fmla="val 15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868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0D1A"/>
                </a:solidFill>
                <a:latin typeface="Microsoft YaHei"/>
              </a:rPr>
              <a:t>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68296"/>
            <a:ext cx="5577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Speedrun your game port with agentic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60904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GPTK4 AI 代理技能 · 28:00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26664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136392"/>
            <a:ext cx="868680" cy="420624"/>
          </a:xfrm>
          <a:prstGeom prst="roundRect">
            <a:avLst>
              <a:gd name="adj" fmla="val 15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36392"/>
            <a:ext cx="868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0D1A"/>
                </a:solidFill>
                <a:latin typeface="Microsoft YaHei"/>
              </a:rPr>
              <a:t>388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81528"/>
            <a:ext cx="5577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Find &amp; fix performance issues in Metal games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74136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Metal 性能调优 · 21:01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39896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49624"/>
            <a:ext cx="868680" cy="420624"/>
          </a:xfrm>
          <a:prstGeom prst="roundRect">
            <a:avLst>
              <a:gd name="adj" fmla="val 15000"/>
            </a:avLst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49624"/>
            <a:ext cx="868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0D1A"/>
                </a:solidFill>
                <a:latin typeface="Microsoft YaHei"/>
              </a:rPr>
              <a:t>358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794760"/>
            <a:ext cx="5577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Make your game great with touch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87368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触控游戏设计 · 24:23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453128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562856"/>
            <a:ext cx="868680" cy="420624"/>
          </a:xfrm>
          <a:prstGeom prst="roundRect">
            <a:avLst>
              <a:gd name="adj" fmla="val 15000"/>
            </a:avLst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62856"/>
            <a:ext cx="868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0D1A"/>
                </a:solidFill>
                <a:latin typeface="Microsoft YaHei"/>
              </a:rPr>
              <a:t>378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507992"/>
            <a:ext cx="5577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Unlock in-game content with StoreKit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800600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StoreKit + 后台资源 · 9:59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166360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5276088"/>
            <a:ext cx="868680" cy="420624"/>
          </a:xfrm>
          <a:prstGeom prst="roundRect">
            <a:avLst>
              <a:gd name="adj" fmla="val 15000"/>
            </a:avLst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76088"/>
            <a:ext cx="8686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0D1A"/>
                </a:solidFill>
                <a:latin typeface="Microsoft YaHei"/>
              </a:rPr>
              <a:t>252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221224"/>
            <a:ext cx="5577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Design no-code games with RCP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513832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空间无代码游戏 · 18:53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1234440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ECDC4"/>
                </a:solidFill>
                <a:latin typeface="Microsoft YaHei"/>
              </a:rPr>
              <a:t>▎图形/Metal 关联 Session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1600200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1691640"/>
            <a:ext cx="822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4ECDC4"/>
                </a:solidFill>
                <a:latin typeface="Microsoft YaHei"/>
              </a:rPr>
              <a:t>359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16916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F4F8"/>
                </a:solidFill>
                <a:latin typeface="Microsoft YaHei"/>
              </a:rPr>
              <a:t>实时神经渲染管线 (Metal)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Neural Rendering 22:16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2679191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2770632"/>
            <a:ext cx="822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4ECDC4"/>
                </a:solidFill>
                <a:latin typeface="Microsoft YaHei"/>
              </a:rPr>
              <a:t>330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2770632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F4F8"/>
                </a:solidFill>
                <a:latin typeface="Microsoft YaHei"/>
              </a:rPr>
              <a:t>Metal 张量优化 ML 运算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182111"/>
            <a:ext cx="3840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Metal Tensors 16:13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3758183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3849623"/>
            <a:ext cx="822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4ECDC4"/>
                </a:solidFill>
                <a:latin typeface="Microsoft YaHei"/>
              </a:rPr>
              <a:t>222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849623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F4F8"/>
                </a:solidFill>
                <a:latin typeface="Microsoft YaHei"/>
              </a:rPr>
              <a:t>全新 MetricKit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261103"/>
            <a:ext cx="3840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含 Metal 帧率 17:43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5852160"/>
            <a:ext cx="11338560" cy="54864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524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852160"/>
            <a:ext cx="10972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DA9FC"/>
                </a:solidFill>
                <a:latin typeface="Microsoft YaHei"/>
              </a:rPr>
              <a:t>战略定调：</a:t>
            </a:r>
            <a:r>
              <a:rPr sz="1100" b="0">
                <a:solidFill>
                  <a:srgbClr val="F0F4F8"/>
                </a:solidFill>
                <a:latin typeface="Microsoft YaHei"/>
              </a:rPr>
              <a:t>Apple 正从'被动兼容游戏'转向'主动构建游戏生态'——AI 降低迁移门槛、神经硬件提升画质、Games App 解决发现难题。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5/24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201168" cy="219456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657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0" b="1">
                <a:solidFill>
                  <a:srgbClr val="7B61F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697480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B61FF"/>
                </a:solidFill>
                <a:latin typeface="Microsoft YaHei"/>
              </a:rPr>
              <a:t>GAME PORTING TOOLKIT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0F4F8"/>
                </a:solidFill>
                <a:latin typeface="Microsoft YaHei"/>
              </a:rPr>
              <a:t>Game Porting Toolkit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840480"/>
            <a:ext cx="8686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1E8"/>
                </a:solidFill>
                <a:latin typeface="Microsoft YaHei"/>
              </a:rPr>
              <a:t>WWDC26 游戏领域的头号主角。首次将开源 AI 代理技能放上 GitHub，让编码代理驱动迁移全流程：从 DirectX 到 Metal 4，从评估到调试调优——端口成本与时间被结构性压缩。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6/24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</a:rPr>
              <a:t>GPTK 4 · AGENTIC 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AI 代理成为游戏移植的核心引擎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1E8"/>
                </a:solidFill>
                <a:latin typeface="Microsoft YaHei"/>
              </a:rPr>
              <a:t>Game Porting Toolkit 4 的革命在于：把平台专家知识封装为开源 Agent Skills，让任意 AI 编码代理（如 Claude Code）都能自主完成高质量迁移。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B61FF"/>
                </a:solidFill>
                <a:latin typeface="Microsoft YaHei"/>
              </a:rPr>
              <a:t>Discover 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32918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扫描代码库 · 从评估环境抓取参考帧 · 了解开发者偏好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9164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1051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DA9FC"/>
                </a:solidFill>
                <a:latin typeface="Microsoft YaHei"/>
              </a:rPr>
              <a:t>Plan 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40280"/>
            <a:ext cx="32918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协同制定里程碑目标 · 自动映射对应专家技能到每个目标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9164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1051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D573"/>
                </a:solidFill>
                <a:latin typeface="Microsoft YaHei"/>
              </a:rPr>
              <a:t>Execute &amp; Validate 执行验证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40280"/>
            <a:ext cx="32918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代理执行变更 · 多点检查清单：启动/Metal 校验/截图对比/反模式审查/内存检查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94560"/>
            <a:ext cx="365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8B95B0"/>
                </a:solidFill>
                <a:latin typeface="Microsoft YaHe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94560"/>
            <a:ext cx="365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8B95B0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29184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B61FF"/>
                </a:solidFill>
                <a:latin typeface="Microsoft YaHei"/>
              </a:rPr>
              <a:t>▎两大技能类别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5760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67328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ECDC4"/>
                </a:solidFill>
                <a:latin typeface="Microsoft YaHei"/>
              </a:rPr>
              <a:t>🧠 专家技能 Expert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52578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注入平台知识与最佳实践，标记常见迁移反模式。涵盖窗口/帧节奏、Metal 4 资源管理、着色器管线、同步、游戏手柄、MetalFX 升频与帧插值。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5760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767328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B400"/>
                </a:solidFill>
                <a:latin typeface="Microsoft YaHei"/>
              </a:rPr>
              <a:t>🔧 工作流技能 Workflow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160520"/>
            <a:ext cx="52578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移植助手代理(Porting Assistant) 编排整套方法论，确保正确的技能在正确的时机加载，并在里程碑间记忆学习成果，无需每次重新指导。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166360"/>
            <a:ext cx="11338560" cy="960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39512"/>
            <a:ext cx="109728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</a:rPr>
              <a:t>⚡ 实战验证：</a:t>
            </a:r>
            <a:r>
              <a:rPr sz="1050" b="0">
                <a:solidFill>
                  <a:srgbClr val="F0F4F8"/>
                </a:solidFill>
                <a:latin typeface="Microsoft YaHei"/>
              </a:rPr>
              <a:t>Session 357 现场演示将微软 MiniEngine（D3D12）原生迁移到 macOS + Metal 4，并在 Godot 引擎中并行新增 Metal 4 后端——'几天内跑起来'，技能从原型引擎扩展到生产级引擎。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7/24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</a:rPr>
              <a:t>GPTK 4 · SKILL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Agent Skills 技能矩阵：覆盖迁移全链路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73152" cy="150876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窗口与帧节奏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4650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B61FF"/>
                </a:solidFill>
                <a:latin typeface="Microsoft YaHei"/>
              </a:rPr>
              <a:t>Window · Swap Chain · Presenting · metal-cpp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521208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Metal Display Link 渲染循环、direct-to-display 低延迟、drawable 生命周期管理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73152" cy="1508760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Metal 4 场景渲染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4650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DA9FC"/>
                </a:solidFill>
                <a:latin typeface="Microsoft YaHei"/>
              </a:rPr>
              <a:t>GPU 资源 · 着色器管线 · 转换器 · 同步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39112"/>
            <a:ext cx="521208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存储模式、residency set、argument buffer 偏移、D3D12→M4 屏障映射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01752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017520"/>
            <a:ext cx="73152" cy="1508760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GPU 命令行调试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3814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ED573"/>
                </a:solidFill>
                <a:latin typeface="Microsoft YaHei"/>
              </a:rPr>
              <a:t>gpucapture · gpudebug · 渲染问题排查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30752"/>
            <a:ext cx="521208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代理自主抓帧、检视管线状态/纹理/dispatch、与评估环境逐项比对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01752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73152" cy="15087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游戏手柄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3814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8C42"/>
                </a:solidFill>
                <a:latin typeface="Microsoft YaHei"/>
              </a:rPr>
              <a:t>GCController · XInput 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30752"/>
            <a:ext cx="521208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动态查询按钮布局、设备发现与断连、触控板/自适应扳机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0916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709160"/>
            <a:ext cx="73152" cy="150876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MetalFX 升频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978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ECDC4"/>
                </a:solidFill>
                <a:latin typeface="Microsoft YaHei"/>
              </a:rPr>
              <a:t>时序升频 · 帧插值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22392"/>
            <a:ext cx="521208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抖动配置、运动向量约定、MIP 偏差、历史重投影、专用呈现线程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70916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709160"/>
            <a:ext cx="73152" cy="1508760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0F4F8"/>
                </a:solidFill>
                <a:latin typeface="Microsoft YaHei"/>
              </a:rPr>
              <a:t>Metal 4 评估环境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29784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B400"/>
                </a:solidFill>
                <a:latin typeface="Microsoft YaHei"/>
              </a:rPr>
              <a:t>Metal 4 全面支持 · 基准对比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22392"/>
            <a:ext cx="521208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翻译环境跑 Windows 二进制、Metal HUD/GPU 抓帧/System 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8/24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D573"/>
                </a:solidFill>
                <a:latin typeface="Microsoft YaHei"/>
              </a:rPr>
              <a:t>GPTK 4 · CLI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命令行 GPU 工具：让代理自主调试图形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1E8"/>
                </a:solidFill>
                <a:latin typeface="Microsoft YaHei"/>
              </a:rPr>
              <a:t>macOS 27 全新的命令行 GPU 工具是本年度对'AI 自主工作流'最重要的基础设施贡献——图形调试首次脱离 Xcode GUI，进入可脚本化、可代理化的世界。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651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ED573"/>
                </a:solidFill>
                <a:latin typeface="Microsoft YaHei"/>
              </a:rPr>
              <a:t>$ gpucapture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ECDC4"/>
                </a:solidFill>
                <a:latin typeface="Microsoft YaHei"/>
              </a:rPr>
              <a:t>抓取 GPU 帧轨迹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在应用运行时捕获一帧 GPU trace，替代手动 Xcode 抓帧。代理可在任意里程碑自动采集轨迹用于验证与回归对比。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651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3DA9FC"/>
                </a:solidFill>
                <a:latin typeface="Microsoft YaHei"/>
              </a:rPr>
              <a:t>$ gpudebug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ECDC4"/>
                </a:solidFill>
                <a:latin typeface="Microsoft YaHei"/>
              </a:rPr>
              <a:t>分析已捕获的帧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检视一切 Xcode 中可查的内容：资源绑定、常量、资源内容、管线数据流，定位与评估环境的差异，自主定位根因。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148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D573"/>
                </a:solidFill>
                <a:latin typeface="Microsoft YaHei"/>
              </a:rPr>
              <a:t>▎自主调试闭环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52628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526280"/>
            <a:ext cx="178308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3DA9FC"/>
                </a:solidFill>
                <a:latin typeface="Microsoft YaHei"/>
              </a:rPr>
              <a:t>描述症状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4736592"/>
            <a:ext cx="228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B95B0"/>
                </a:solidFill>
                <a:latin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58568" y="452628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58568" y="4526280"/>
            <a:ext cx="178308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B61FF"/>
                </a:solidFill>
                <a:latin typeface="Microsoft YaHei"/>
              </a:rPr>
              <a:t>加载调试技能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736592"/>
            <a:ext cx="228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B95B0"/>
                </a:solidFill>
                <a:latin typeface="Microsoft YaHe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05656" y="452628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05656" y="4526280"/>
            <a:ext cx="178308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ED573"/>
                </a:solidFill>
                <a:latin typeface="Microsoft YaHei"/>
              </a:rPr>
              <a:t>gpucapture 抓帧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4736592"/>
            <a:ext cx="228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B95B0"/>
                </a:solidFill>
                <a:latin typeface="Microsoft YaHe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452628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52744" y="4526280"/>
            <a:ext cx="178308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ECDC4"/>
                </a:solidFill>
                <a:latin typeface="Microsoft YaHei"/>
              </a:rPr>
              <a:t>gpudebug 检视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4736592"/>
            <a:ext cx="228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B95B0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9831" y="452628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526280"/>
            <a:ext cx="178308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8C42"/>
                </a:solidFill>
                <a:latin typeface="Microsoft YaHei"/>
              </a:rPr>
              <a:t>定位根因并修复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4624" y="4736592"/>
            <a:ext cx="228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B95B0"/>
                </a:solidFill>
                <a:latin typeface="Microsoft YaHe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4526280"/>
            <a:ext cx="178308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19" y="4526280"/>
            <a:ext cx="178308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B400"/>
                </a:solidFill>
                <a:latin typeface="Microsoft YaHei"/>
              </a:rPr>
              <a:t>验证回归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486400"/>
            <a:ext cx="11338560" cy="8229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532120"/>
            <a:ext cx="1097280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ECDC4"/>
                </a:solidFill>
                <a:latin typeface="Microsoft YaHei"/>
              </a:rPr>
              <a:t>📊 Metal HUD 增强：</a:t>
            </a:r>
            <a:r>
              <a:rPr sz="1050" b="0">
                <a:solidFill>
                  <a:srgbClr val="F0F4F8"/>
                </a:solidFill>
                <a:latin typeface="Microsoft YaHei"/>
              </a:rPr>
              <a:t>macOS 27 的 Metal HUD 新增抖动散点图(jitter plot)、运动向量缩放/抖动倍数覆盖(overrides)、曝光可视化——可实时验证 MetalFX 集成是否正确，错误标红。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9/24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201168" cy="219456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657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0" b="1">
                <a:solidFill>
                  <a:srgbClr val="4ECDC4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697480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ECDC4"/>
                </a:solidFill>
                <a:latin typeface="Microsoft YaHei"/>
              </a:rPr>
              <a:t>METAL 4.1 · 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0F4F8"/>
                </a:solidFill>
                <a:latin typeface="Microsoft YaHei"/>
              </a:rPr>
              <a:t>Metal 4.1 图形技术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840480"/>
            <a:ext cx="8686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1E8"/>
                </a:solidFill>
                <a:latin typeface="Microsoft YaHei"/>
              </a:rPr>
              <a:t>Metal 4.1 将神经网络深度融入图形管线。重新设计的 MetalFX 时序升频器调用 Neural Engine 与 M5 神经加速器；Metal 张量格式让 ML 推理直接发生在着色器中——画质与帧率不再是零和博弈。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10/24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ECDC4"/>
                </a:solidFill>
                <a:latin typeface="Microsoft YaHei"/>
              </a:rPr>
              <a:t>METAL 4.1 · METALFX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MetalFX 神经升频：用更低的分辨率渲染更高的画质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ECDC4"/>
                </a:solidFill>
                <a:latin typeface="Microsoft YaHei"/>
              </a:rPr>
              <a:t>▎核心升级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100" b="1">
                <a:solidFill>
                  <a:srgbClr val="F0F4F8"/>
                </a:solidFill>
                <a:latin typeface="Microsoft YaHei"/>
              </a:rPr>
              <a:t>重新设计的时序升频器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同时调用 Neural Engine + M5 Pro/Max 神经加速器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41448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100" b="1">
                <a:solidFill>
                  <a:srgbClr val="F0F4F8"/>
                </a:solidFill>
                <a:latin typeface="Microsoft YaHei"/>
              </a:rPr>
              <a:t>显著低分辨率重建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可从远低于目标分辨率的渲染重建精细细节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9815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100" b="1">
                <a:solidFill>
                  <a:srgbClr val="F0F4F8"/>
                </a:solidFill>
                <a:latin typeface="Microsoft YaHei"/>
              </a:rPr>
              <a:t>动态分辨率子区域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74135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支持 subrectangle 处理动态分辨率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58183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100" b="1">
                <a:solidFill>
                  <a:srgbClr val="F0F4F8"/>
                </a:solidFill>
                <a:latin typeface="Microsoft YaHei"/>
              </a:rPr>
              <a:t>运动向量直传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32503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传入运动向量省去预处理开销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16551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100" b="1">
                <a:solidFill>
                  <a:srgbClr val="F0F4F8"/>
                </a:solidFill>
                <a:latin typeface="Microsoft YaHei"/>
              </a:rPr>
              <a:t>后处理畸变场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1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用 distortion fields 处理后处理效果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19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100" b="1">
                <a:solidFill>
                  <a:srgbClr val="F0F4F8"/>
                </a:solidFill>
                <a:latin typeface="Microsoft YaHei"/>
              </a:rPr>
              <a:t>API 兼容主流方案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39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与领先升频器 API 兼容，迁移更快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234440"/>
            <a:ext cx="5577840" cy="22860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53312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C42"/>
                </a:solidFill>
                <a:latin typeface="Microsoft YaHei"/>
              </a:rPr>
              <a:t>⚡ 帧插值 Frame Interpolation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83080"/>
            <a:ext cx="521208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C9D1E8"/>
                </a:solidFill>
                <a:latin typeface="Microsoft YaHei"/>
              </a:rPr>
              <a:t>通过生成间隔帧使有效帧率翻倍，代价是少量输入延迟。配合专用呈现线程(present thread)与精确时序，确保渲染帧与插值帧均匀交错。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Session 357 演示：升频 + 帧插值同时运行，Metal HUD 实时显示两者状态。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6576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ECDC4"/>
                </a:solidFill>
                <a:latin typeface="Microsoft YaHei"/>
              </a:rPr>
              <a:t>▎实战收益（Cyberpunk 2077）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2336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133088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B400"/>
                </a:solidFill>
                <a:latin typeface="Microsoft YaHei"/>
              </a:rPr>
              <a:t>50-80%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81728"/>
            <a:ext cx="1691639" cy="1828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内部渲染分辨率占比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402336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4133088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ECDC4"/>
                </a:solidFill>
                <a:latin typeface="Microsoft YaHei"/>
              </a:rPr>
              <a:t>60 FPS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4681728"/>
            <a:ext cx="1691639" cy="1828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M5 Max 目标帧率(Ultra)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402336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4133088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ED573"/>
                </a:solidFill>
                <a:latin typeface="Microsoft YaHe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4681728"/>
            <a:ext cx="1691639" cy="1828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手动 HDR 校准(自动)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07492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138928"/>
            <a:ext cx="521208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0F4F8"/>
                </a:solidFill>
                <a:latin typeface="Microsoft YaHei"/>
              </a:rPr>
              <a:t>💎 结论：MetalFX 让开发者在不牺牲画质的前提下获得性能余量，尤其在重度场景(密集人群/反射/VFX)中维持稳定帧率。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11/24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</a:rPr>
              <a:t>METAL 4.1 · NEURAL TENSORS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Metal 张量与 M5 神经加速器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1E8"/>
                </a:solidFill>
                <a:latin typeface="Microsoft YaHei"/>
              </a:rPr>
              <a:t>Metal 4.1 让机器学习推理直接发生在图形管线中——计算光照、材质与几何，全部实时。新量化张量格式是关键使能器。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B61FF"/>
                </a:solidFill>
                <a:latin typeface="Microsoft YaHei"/>
              </a:rPr>
              <a:t>🧮 量化张量格式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918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全新的量化张量格式与 scale factor 支持，轻松表达量化数据；高效压缩权重。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ECDC4"/>
                </a:solidFill>
                <a:latin typeface="Microsoft YaHei"/>
              </a:rPr>
              <a:t>Session 330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7373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74519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B400"/>
                </a:solidFill>
                <a:latin typeface="Microsoft YaHei"/>
              </a:rPr>
              <a:t>⚡ M5 神经加速器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32918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Metal 性能原语原生支持，在 M5 Pro / M5 Max 神经加速器上高效压缩权重并加速 ML 推理。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ECDC4"/>
                </a:solidFill>
                <a:latin typeface="Microsoft YaHei"/>
              </a:rPr>
              <a:t>GPU + Neural Engine 协同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373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19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D573"/>
                </a:solidFill>
                <a:latin typeface="Microsoft YaHei"/>
              </a:rPr>
              <a:t>🎯 应用方向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20"/>
            <a:ext cx="32918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实时神经渲染管线(359)、光照/材质/几何的 ML 推理、神经纹理压缩、神经 BRDF 探索。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F8C42"/>
                </a:solidFill>
                <a:latin typeface="Microsoft YaHei"/>
              </a:rPr>
              <a:t>Pipeline &gt;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16052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ECDC4"/>
                </a:solidFill>
                <a:latin typeface="Microsoft YaHei"/>
              </a:rPr>
              <a:t>▎工具链与诊断改进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57200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572000"/>
            <a:ext cx="2743200" cy="64008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ECDC4"/>
                </a:solidFill>
                <a:latin typeface="Microsoft YaHei"/>
              </a:rPr>
              <a:t>Metal 调试器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2514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Xcode 中优化，更快迭代调试/分析 Metal 游戏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457200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4572000"/>
            <a:ext cx="2743200" cy="64008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4709160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D573"/>
                </a:solidFill>
                <a:latin typeface="Microsoft YaHei"/>
              </a:rPr>
              <a:t>命令行 Metal 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74920"/>
            <a:ext cx="2514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无缝融入脚本与代理工作流(见第9页)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57200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4572000"/>
            <a:ext cx="2743200" cy="64008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709160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B400"/>
                </a:solidFill>
                <a:latin typeface="Microsoft YaHei"/>
              </a:rPr>
              <a:t>MetricKit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074920"/>
            <a:ext cx="2514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报告新增 Metal 帧率信息，快速定位性能问题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457200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5400" y="4572000"/>
            <a:ext cx="2743200" cy="64008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709160"/>
            <a:ext cx="2514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</a:rPr>
              <a:t>Metal HUD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074920"/>
            <a:ext cx="2514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9D1E8"/>
                </a:solidFill>
                <a:latin typeface="Microsoft YaHei"/>
              </a:rPr>
              <a:t>抖动散点图/运动向量覆盖/曝光可视化(见第9页)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12/24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201168" cy="2194560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657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0" b="1">
                <a:solidFill>
                  <a:srgbClr val="FFB400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697480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B400"/>
                </a:solidFill>
                <a:latin typeface="Microsoft YaHei"/>
              </a:rPr>
              <a:t>GAMES APP &amp;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0F4F8"/>
                </a:solidFill>
                <a:latin typeface="Microsoft YaHei"/>
              </a:rPr>
              <a:t>Apple Games App 与分发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840480"/>
            <a:ext cx="8686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1E8"/>
                </a:solidFill>
                <a:latin typeface="Microsoft YaHei"/>
              </a:rPr>
              <a:t>预装的 Games App 让游戏首次拥有独立的系统级入口；StoreKit Unity 插件、Steam 资产转换器、分语言资源包等 App Store 新能力，进一步压低跨平台发布的工程成本。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13/24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B400"/>
                </a:solidFill>
                <a:latin typeface="Microsoft YaHei"/>
              </a:rPr>
              <a:t>APPLE GAMES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Apple Games App：系统级游戏社交入口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1E8"/>
                </a:solidFill>
                <a:latin typeface="Microsoft YaHei"/>
              </a:rPr>
              <a:t>现已面向全部用户开放，预装于 iOS 26 / iPadOS 26 / macOS 26 及更高版本——玩家无需安装即拥有专属游戏中心。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73152" cy="713232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DA9FC"/>
                </a:solidFill>
                <a:latin typeface="Microsoft YaHei"/>
              </a:rPr>
              <a:t>首页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5486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最新动态、个性化推荐、热门榜、In-App Events、好友活动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432304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32304"/>
            <a:ext cx="73152" cy="713232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8716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7B61FF"/>
                </a:solidFill>
                <a:latin typeface="Microsoft YaHei"/>
              </a:rPr>
              <a:t>好友 Friends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5486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好友连接、邀请挑战/多人对战、对比分数与成就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18688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18688"/>
            <a:ext cx="73152" cy="713232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D573"/>
                </a:solidFill>
                <a:latin typeface="Microsoft YaHei"/>
              </a:rPr>
              <a:t>Arcade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02736"/>
            <a:ext cx="5486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订阅者访问 Arcade 全目录、最新发布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005072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005072"/>
            <a:ext cx="73152" cy="7132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59935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8C42"/>
                </a:solidFill>
                <a:latin typeface="Microsoft YaHei"/>
              </a:rPr>
              <a:t>资料库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486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快速进入已安装游戏、重新下载旧爱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791456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791456"/>
            <a:ext cx="73152" cy="713232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4ECDC4"/>
                </a:solidFill>
                <a:latin typeface="Microsoft YaHei"/>
              </a:rPr>
              <a:t>搜索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75504"/>
            <a:ext cx="5486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查找下载游戏、浏览精选合集与榜单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645920"/>
            <a:ext cx="5257800" cy="470916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B400"/>
                </a:solidFill>
                <a:latin typeface="Microsoft YaHei"/>
              </a:rPr>
              <a:t>▎如何获得最大化曝光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240280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B61FF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Game Center 初始化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14600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9D1E8"/>
                </a:solidFill>
                <a:latin typeface="Microsoft YaHei"/>
              </a:rPr>
              <a:t>玩家自动登录，游戏出现在社交推荐与 Top Played 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907792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DA9FC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排行榜 Leaderboards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182112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9D1E8"/>
                </a:solidFill>
                <a:latin typeface="Microsoft YaHei"/>
              </a:rPr>
              <a:t>好友超分自动通知，驱动回流与重装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575304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挑战 Challenges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849624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9D1E8"/>
                </a:solidFill>
                <a:latin typeface="Microsoft YaHei"/>
              </a:rPr>
              <a:t>单人活动变社交，限时分数竞赛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242816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ED573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成就 Achievements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517136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9D1E8"/>
                </a:solidFill>
                <a:latin typeface="Microsoft YaHei"/>
              </a:rPr>
              <a:t>激励玩家、追踪进度、好友对比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910328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8C42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多人活动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184648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9D1E8"/>
                </a:solidFill>
                <a:latin typeface="Microsoft YaHei"/>
              </a:rPr>
              <a:t>跨平台无缝邀请，Games App 全域推荐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577840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B400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In-App Events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852160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9D1E8"/>
                </a:solidFill>
                <a:latin typeface="Microsoft YaHei"/>
              </a:rPr>
              <a:t>首页/游戏页/资料库/搜索全域展示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14/24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DA9FC"/>
                </a:solidFill>
                <a:latin typeface="Microsoft YaHei"/>
              </a:rPr>
              <a:t>APP STORE · NEW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App Store 游戏分发新能力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3657600" cy="73152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37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B61FF"/>
                </a:solidFill>
                <a:latin typeface="Microsoft YaHei"/>
              </a:rPr>
              <a:t>StoreKit Unity 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337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全新的 StoreKit 插件面向 Unity 引擎，降低内购集成成本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3657600" cy="73152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37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ECDC4"/>
                </a:solidFill>
                <a:latin typeface="Microsoft YaHei"/>
              </a:rPr>
              <a:t>Steam 资产转换器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94560"/>
            <a:ext cx="3337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Steam Asset Converter，简化跨平台资产迁移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3258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325880"/>
            <a:ext cx="3657600" cy="73152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337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B400"/>
                </a:solidFill>
                <a:latin typeface="Microsoft YaHei"/>
              </a:rPr>
              <a:t>分语言资源包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194560"/>
            <a:ext cx="3337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Managed Background Assets 支持拆分语言数据为独立包，最小化加载时间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832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383280"/>
            <a:ext cx="3657600" cy="73152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66160"/>
            <a:ext cx="3337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D573"/>
                </a:solidFill>
                <a:latin typeface="Microsoft YaHei"/>
              </a:rPr>
              <a:t>资源后台预下载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3337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语音/视频等核心资产在首次打开前预下载，非必要资源后台续传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3832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383280"/>
            <a:ext cx="3657600" cy="7315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566160"/>
            <a:ext cx="3337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C42"/>
                </a:solidFill>
                <a:latin typeface="Microsoft YaHei"/>
              </a:rPr>
              <a:t>素材新用法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251960"/>
            <a:ext cx="3337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App Store 新的图片与视频使用方式，让游戏在商店更出彩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3832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9560" y="3383280"/>
            <a:ext cx="3657600" cy="73152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566160"/>
            <a:ext cx="3337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DA9FC"/>
                </a:solidFill>
                <a:latin typeface="Microsoft YaHei"/>
              </a:rPr>
              <a:t>Retention Messaging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251960"/>
            <a:ext cx="3337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App Store Connect 留存消息，重新触达流失玩家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577840"/>
            <a:ext cx="11338560" cy="73152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577840"/>
            <a:ext cx="10972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DA9FC"/>
                </a:solidFill>
                <a:latin typeface="Microsoft YaHei"/>
              </a:rPr>
              <a:t>🔑 关键洞察：</a:t>
            </a:r>
            <a:r>
              <a:rPr sz="1050" b="0">
                <a:solidFill>
                  <a:srgbClr val="F0F4F8"/>
                </a:solidFill>
                <a:latin typeface="Microsoft YaHei"/>
              </a:rPr>
              <a:t>「更少的标题屏等待，更多的游戏时间」——Apple 正系统性消除玩家从'看到游戏'到'开始玩'之间的每一秒摩擦，分发效率成为竞争力。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15/24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201168" cy="21945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657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0" b="1">
                <a:solidFill>
                  <a:srgbClr val="FF8C42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697480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8C42"/>
                </a:solidFill>
                <a:latin typeface="Microsoft YaHei"/>
              </a:rPr>
              <a:t>CASE STUDY · CYBERPUNK 2077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0F4F8"/>
                </a:solidFill>
                <a:latin typeface="Microsoft YaHei"/>
              </a:rPr>
              <a:t>案例研究：Cyberpunk 2077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840480"/>
            <a:ext cx="8686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1E8"/>
                </a:solidFill>
                <a:latin typeface="Microsoft YaHei"/>
              </a:rPr>
              <a:t>CD PROJEKT RED 将这款 3500 万销量的开放世界 3A 原生带到 Mac，系统展示了 Apple 平台高端游戏的完整方法论——从评估到「For this Mac」智能预设，获评 2025 Mac 年度游戏。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16/24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8C42"/>
                </a:solidFill>
                <a:latin typeface="Microsoft YaHei"/>
              </a:rPr>
              <a:t>CYBERPUNK 2077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原生移植方法论：从评估到可玩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11338560" cy="960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82296" cy="96012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B61FF"/>
                </a:solidFill>
                <a:latin typeface="Microsoft YaHei"/>
              </a:rPr>
              <a:t>① 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B61FF"/>
                </a:solidFill>
                <a:latin typeface="Microsoft YaHei"/>
              </a:rPr>
              <a:t>不追求最终数据，追求信息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435607"/>
            <a:ext cx="88696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用 GPTK 评估环境跑 Windows 构建翻译环境，写代码前先获取可行性信号：CPU/GPU 压力在哪、首批聚焦区域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95728"/>
            <a:ext cx="11338560" cy="960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95728"/>
            <a:ext cx="82296" cy="960120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A9FC"/>
                </a:solidFill>
                <a:latin typeface="Microsoft YaHei"/>
              </a:rPr>
              <a:t>② 原生化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6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DA9FC"/>
                </a:solidFill>
                <a:latin typeface="Microsoft YaHei"/>
              </a:rPr>
              <a:t>Mac 成为真实目标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505456"/>
            <a:ext cx="88696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原生构建与库、macOS 工具链、数据管线新增 macOS 并行平台、架构桥接(unit test 验证 CPU 架构假设)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465576"/>
            <a:ext cx="11338560" cy="960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465576"/>
            <a:ext cx="82296" cy="96012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ECDC4"/>
                </a:solidFill>
                <a:latin typeface="Microsoft YaHei"/>
              </a:rPr>
              <a:t>③ 渲染管线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41064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ECDC4"/>
                </a:solidFill>
                <a:latin typeface="Microsoft YaHei"/>
              </a:rPr>
              <a:t>保留视觉一致性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575304"/>
            <a:ext cx="88696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Metal shader converter 快速覆盖着色器；原生 Metal 渲染基础逐单元测试→静态场景→动态场景→光线/路径追踪优化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535424"/>
            <a:ext cx="11338560" cy="960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35424"/>
            <a:ext cx="82296" cy="960120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08576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D573"/>
                </a:solidFill>
                <a:latin typeface="Microsoft YaHei"/>
              </a:rPr>
              <a:t>④ 可玩与调优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10912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ED573"/>
                </a:solidFill>
                <a:latin typeface="Microsoft YaHei"/>
              </a:rPr>
              <a:t>从能跑到能发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645152"/>
            <a:ext cx="88696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MetalFX 升频 + 动态分辨率缩放维持稳定帧率；打磨首发体验与平台原生特性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715000"/>
            <a:ext cx="11338560" cy="64008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715000"/>
            <a:ext cx="10972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B400"/>
                </a:solidFill>
                <a:latin typeface="Microsoft YaHei"/>
              </a:rPr>
              <a:t>📊 评估期关键发现：</a:t>
            </a:r>
            <a:r>
              <a:rPr sz="1000" b="0">
                <a:solidFill>
                  <a:srgbClr val="F0F4F8"/>
                </a:solidFill>
                <a:latin typeface="Microsoft YaHei"/>
              </a:rPr>
              <a:t>高端硬件上 GPU 时间健康(出乎意料地好)；重度场景受 CPU 压力影响(交通密集)；着色器实时翻译抖动与音频中间件开销均为翻译环境伪影，原生化后消失。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17/24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8C42"/>
                </a:solidFill>
                <a:latin typeface="Microsoft YaHei"/>
              </a:rPr>
              <a:t>CYBERPUNK 2077 · FOR THIS 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「For this Mac」智能预设：开箱即优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9D1E8"/>
                </a:solidFill>
                <a:latin typeface="Microsoft YaHei"/>
              </a:rPr>
              <a:t>基于设备检测的图形预设系统：自动识别 Mac 硬件并配置最佳设置——无论哪款 Mac，首次启动即获稳定愉悦的起点，零调参。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5669280" cy="4343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8C42"/>
                </a:solidFill>
                <a:latin typeface="Microsoft YaHei"/>
              </a:rPr>
              <a:t>▎自动配置的维度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86000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8C42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目标帧率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按设备设为 30 或 60 FPS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98648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8C42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MetalFX + DRS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72968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升频配合动态分辨率缩放，分辨率区间设 50-80%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11296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8C42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输出分辨率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85615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为内屏设定上界(如 M5 Max: 2336×1460)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123944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8C42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VSync 帧节奏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982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配合 FPS 目标做正确的帧节奏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36592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8C42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HDR 自动启用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1091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基于显示 EDR 能力，最大潜值 &gt; 2.0 即默认开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49240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8C42"/>
                </a:solidFill>
                <a:latin typeface="Microsoft YaHei"/>
              </a:rPr>
              <a:t>● </a:t>
            </a:r>
            <a:r>
              <a:rPr sz="1050" b="1">
                <a:solidFill>
                  <a:srgbClr val="F0F4F8"/>
                </a:solidFill>
                <a:latin typeface="Microsoft YaHei"/>
              </a:rPr>
              <a:t>逐项画质调优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23559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对每款 Mac 逐一精调所有画质选项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9164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10512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ECDC4"/>
                </a:solidFill>
                <a:latin typeface="Microsoft YaHei"/>
              </a:rPr>
              <a:t>🎮 实机演示（Dogtown 黑市）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8600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C9D1E8"/>
                </a:solidFill>
                <a:latin typeface="Microsoft YaHei"/>
              </a:rPr>
              <a:t>游戏中最吃性能的区域之一：几何/光照/反射/角色密集。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0F4F8"/>
                </a:solidFill>
                <a:latin typeface="Microsoft YaHei"/>
              </a:rPr>
              <a:t>无加载屏自由穿越，霓虹与光源密集，全程 60 FPS 稳定运行——开箱设置。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524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96512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D573"/>
                </a:solidFill>
                <a:latin typeface="Microsoft YaHei"/>
              </a:rPr>
              <a:t>🌱 行业溢出效应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7200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C9D1E8"/>
                </a:solidFill>
                <a:latin typeface="Microsoft YaHei"/>
              </a:rPr>
              <a:t>CDPR 表示：发布后已有其他开发者开始在自家游戏中采用「For this Mac」设置方式，这对生态是健康的。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FB400"/>
                </a:solidFill>
                <a:latin typeface="Microsoft YaHei"/>
              </a:rPr>
              <a:t>→ 「For this Mac」正成为 Mac 游戏的体验新标准。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18/24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8C42"/>
                </a:solidFill>
                <a:latin typeface="Microsoft YaHei"/>
              </a:rPr>
              <a:t>CYBERPUNK 2077 · NATIVE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平台原生体验：让游戏「感觉对」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39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DA9FC"/>
                </a:solidFill>
                <a:latin typeface="Microsoft YaHei"/>
              </a:rPr>
              <a:t>🎮  </a:t>
            </a:r>
            <a:r>
              <a:rPr sz="1150" b="1">
                <a:solidFill>
                  <a:srgbClr val="3DA9FC"/>
                </a:solidFill>
                <a:latin typeface="Microsoft YaHei"/>
              </a:rPr>
              <a:t>窗口与切换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92807"/>
            <a:ext cx="33375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C9D1E8"/>
                </a:solidFill>
                <a:latin typeface="Microsoft YaHei"/>
              </a:rPr>
              <a:t>响应 NSNotification 事件；后台时暂停渲染省 CPU/GPU；显示变更/切屏自动适应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39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7B61FF"/>
                </a:solidFill>
                <a:latin typeface="Microsoft YaHei"/>
              </a:rPr>
              <a:t>⚡  </a:t>
            </a:r>
            <a:r>
              <a:rPr sz="1150" b="1">
                <a:solidFill>
                  <a:srgbClr val="7B61FF"/>
                </a:solidFill>
                <a:latin typeface="Microsoft YaHei"/>
              </a:rPr>
              <a:t>Game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92807"/>
            <a:ext cx="33375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C9D1E8"/>
                </a:solidFill>
                <a:latin typeface="Microsoft YaHei"/>
              </a:rPr>
              <a:t>系统自动为游戏类应用启用：更高 CPU/GPU 优先级、蓝牙采样率翻倍、降低手柄/AirPods 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258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39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</a:rPr>
              <a:t>🎮  </a:t>
            </a:r>
            <a:r>
              <a:rPr sz="1150" b="1">
                <a:solidFill>
                  <a:srgbClr val="4ECDC4"/>
                </a:solidFill>
                <a:latin typeface="Microsoft YaHei"/>
              </a:rPr>
              <a:t>游戏手柄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92807"/>
            <a:ext cx="33375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C9D1E8"/>
                </a:solidFill>
                <a:latin typeface="Microsoft YaHei"/>
              </a:rPr>
              <a:t>Game Controller 框架原生支持第三方手柄，含触控板与自适应扳机；Magic Mouse/触控板适配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3832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B400"/>
                </a:solidFill>
                <a:latin typeface="Microsoft YaHei"/>
              </a:rPr>
              <a:t>🌈  </a:t>
            </a:r>
            <a:r>
              <a:rPr sz="1150" b="1">
                <a:solidFill>
                  <a:srgbClr val="FFB400"/>
                </a:solidFill>
                <a:latin typeface="Microsoft YaHei"/>
              </a:rPr>
              <a:t>HDR 自动校准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50208"/>
            <a:ext cx="33375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C9D1E8"/>
                </a:solidFill>
                <a:latin typeface="Microsoft YaHei"/>
              </a:rPr>
              <a:t>通过 EDR API 轮询 maximumExtendedDynamicRangeColorComponentValue 驱动色调映射，玩家无需手动校准屏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832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52044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ED573"/>
                </a:solidFill>
                <a:latin typeface="Microsoft YaHei"/>
              </a:rPr>
              <a:t>🎧  </a:t>
            </a:r>
            <a:r>
              <a:rPr sz="1150" b="1">
                <a:solidFill>
                  <a:srgbClr val="2ED573"/>
                </a:solidFill>
                <a:latin typeface="Microsoft YaHei"/>
              </a:rPr>
              <a:t>头部追踪空间音频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50208"/>
            <a:ext cx="33375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C9D1E8"/>
                </a:solidFill>
                <a:latin typeface="Microsoft YaHei"/>
              </a:rPr>
              <a:t>AirPods 头部追踪空间音频默认开启，经 AVAudioEnvironmentNode listenerHeadTrackingEnabled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383280"/>
            <a:ext cx="3657600" cy="1874519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52044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8C42"/>
                </a:solidFill>
                <a:latin typeface="Microsoft YaHei"/>
              </a:rPr>
              <a:t>☁️  </a:t>
            </a:r>
            <a:r>
              <a:rPr sz="1150" b="1">
                <a:solidFill>
                  <a:srgbClr val="FF8C42"/>
                </a:solidFill>
                <a:latin typeface="Microsoft YaHei"/>
              </a:rPr>
              <a:t>iCloud 存档同步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950208"/>
            <a:ext cx="33375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C9D1E8"/>
                </a:solidFill>
                <a:latin typeface="Microsoft YaHei"/>
              </a:rPr>
              <a:t>iCloud Drive 集成 + 自研跨平台进度方案，任意设备开始、Mac 继续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19/24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D573"/>
                </a:solidFill>
                <a:latin typeface="Microsoft YaHei"/>
              </a:rPr>
              <a:t>TOUCH &amp; NO-CODE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触控游戏与空间无代码游戏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557784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577840" cy="73152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DA9FC"/>
                </a:solidFill>
                <a:latin typeface="Microsoft YaHei"/>
              </a:rPr>
              <a:t>📱 Make Your Game Great with Touch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ECDC4"/>
                </a:solidFill>
                <a:latin typeface="Microsoft YaHei"/>
              </a:rPr>
              <a:t>Session 358 · 24:23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21208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F4F8"/>
                </a:solidFill>
                <a:latin typeface="Microsoft YaHei"/>
              </a:rPr>
              <a:t>Apple 持续投入触控原生游戏设计指导，覆盖：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出色的屏幕虚拟控制器设计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触控手势与游戏机制的融合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让触控游戏在 iPhone/iPad「感觉对」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全屏游戏内容支持最佳实践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C9D1E8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意义：移动端是 Apple 游戏生态的体量基本盘，触控体验直接决定留存与商业化。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57784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5577840" cy="73152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2120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D573"/>
                </a:solidFill>
                <a:latin typeface="Microsoft YaHei"/>
              </a:rPr>
              <a:t>🚀 Design No-Code Games with RCP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ECDC4"/>
                </a:solidFill>
                <a:latin typeface="Microsoft YaHei"/>
              </a:rPr>
              <a:t>Session 252 · 18:53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21208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F4F8"/>
                </a:solidFill>
                <a:latin typeface="Microsoft YaHei"/>
              </a:rPr>
              <a:t>Reality Composer Pro 3 让无代码游戏成为现实：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可视化构建空间/3D 游戏场景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无需写代码即可设计交互逻辑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与 Xcode 深度集成扩展功能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● 面向 visionOS 空间计算平台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C9D1E8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意义：降低游戏创作门槛，拓展游戏形态边界——空间游戏从实验走向可规模化生产。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20/24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B400"/>
                </a:solidFill>
                <a:latin typeface="Microsoft YaHei"/>
              </a:rPr>
              <a:t>DATA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关键数据汇总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7B61FF"/>
                </a:solidFill>
                <a:latin typeface="Microsoft YaHei"/>
              </a:rPr>
              <a:t>6 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91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游戏专属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移植/性能/触控/StoreKit/无代码/案例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50876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4ECDC4"/>
                </a:solidFill>
                <a:latin typeface="Microsoft YaHei"/>
              </a:rPr>
              <a:t>Metal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3291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GPTK4 评估环境全面支持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迁移流程从第一天即对齐最新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32588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50876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B400"/>
                </a:solidFill>
                <a:latin typeface="Microsoft YaHei"/>
              </a:rPr>
              <a:t>M5 Pro/Max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291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神经加速器硬件底座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46888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MetalFX + Metal 张量的算力来源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4612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2900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3DA9FC"/>
                </a:solidFill>
                <a:latin typeface="Microsoft YaHei"/>
              </a:rPr>
              <a:t>3 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23359"/>
            <a:ext cx="3291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Games App 预装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8912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iOS 26 / iPadOS 26 / macOS 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42900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ED573"/>
                </a:solidFill>
                <a:latin typeface="Microsoft YaHei"/>
              </a:rPr>
              <a:t>2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023359"/>
            <a:ext cx="3291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全新命令行 GPU 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38912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gpucapture + gpudebug（macOS 27）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24612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342900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8C42"/>
                </a:solidFill>
                <a:latin typeface="Microsoft YaHei"/>
              </a:rPr>
              <a:t>3500万+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023359"/>
            <a:ext cx="3291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F4F8"/>
                </a:solidFill>
                <a:latin typeface="Microsoft YaHei"/>
              </a:rPr>
              <a:t>Cyberpunk 系列销量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38912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C9D1E8"/>
                </a:solidFill>
                <a:latin typeface="Microsoft YaHei"/>
              </a:rPr>
              <a:t>+ 1000万 Phantom Liberty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212080"/>
            <a:ext cx="11338560" cy="100584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905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85232"/>
            <a:ext cx="109728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400"/>
                </a:solidFill>
                <a:latin typeface="Microsoft YaHei"/>
              </a:rPr>
              <a:t>📈 趋势判读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0F4F8"/>
                </a:solidFill>
                <a:latin typeface="Microsoft YaHei"/>
              </a:rPr>
              <a:t>WWDC26 游戏投入的'技术杠杆'全部对齐：① AI 代理杠杆(降移植成本) ② 神经硬件杠杆(升画质帧率) ③ 系统入口杠杆(解发现难题)。三者叠加，意味着 2026-2027 将是 Mac/iOS 3A 游戏供给的拐点期。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21/24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</a:rPr>
              <a:t>STRATEGIC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行业影响与战略启示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2560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577840" cy="73152"/>
          </a:xfrm>
          <a:prstGeom prst="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1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B61FF"/>
                </a:solidFill>
                <a:latin typeface="Microsoft YaHei"/>
              </a:rPr>
              <a:t>对 3A/跨平台工作室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39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B61FF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「For this Mac」式智能预设将成为 Mac 游戏体验标配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3744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B61FF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Agent Skills 让中型团队也能负担 Mac/iOS 移植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B61FF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MetalFX 神经升频 + M5 = 高画质高帧率不再二选一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577840" cy="2560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5577840" cy="73152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1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DA9FC"/>
                </a:solidFill>
                <a:latin typeface="Microsoft YaHei"/>
              </a:rPr>
              <a:t>对独立/移动开发者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39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DA9FC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Games App 提供 0 成本的额外曝光与社交分发渠道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23744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DA9FC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Game Center 初始化是获取 Top Played 榜推荐的入场券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27248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DA9FC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触控设计指导直接影响移动端留存与商业化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977639"/>
            <a:ext cx="5577840" cy="2560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977639"/>
            <a:ext cx="5577840" cy="73152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42231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ECDC4"/>
                </a:solidFill>
                <a:latin typeface="Microsoft YaHei"/>
              </a:rPr>
              <a:t>对引擎/工具链厂商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命令行 GPU 工具 + Agent Skills 重塑图形调试范式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21224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StoreKit Unity 插件 / Steam 转换器降低跨平台摩擦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24728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Metal 4 张量格式开启实时神经渲染管线机会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77639"/>
            <a:ext cx="5577840" cy="25603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977639"/>
            <a:ext cx="5577840" cy="73152"/>
          </a:xfrm>
          <a:prstGeom prst="rect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42231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B400"/>
                </a:solidFill>
                <a:latin typeface="Microsoft YaHei"/>
              </a:rPr>
              <a:t>对我们（建议关注）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20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B400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迁移工具链：借鉴 Agent Skills 模式做 AI 辅助资产/着色器迁移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221224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B400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神经图形：MetalFX/Metal 张量是可落地的画质-性能优化点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824728"/>
            <a:ext cx="5166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B400"/>
                </a:solidFill>
                <a:latin typeface="Microsoft YaHei"/>
              </a:rPr>
              <a:t>● </a:t>
            </a:r>
            <a:r>
              <a:rPr sz="1000" b="0">
                <a:solidFill>
                  <a:srgbClr val="C9D1E8"/>
                </a:solidFill>
                <a:latin typeface="Microsoft YaHei"/>
              </a:rPr>
              <a:t>分发策略：Games App + In-App Events 的曝光红利窗口期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22/24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D573"/>
                </a:solidFill>
                <a:latin typeface="Microsoft YaHei"/>
              </a:rPr>
              <a:t>CONCLUSION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30352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0F4F8"/>
                </a:solidFill>
                <a:latin typeface="Microsoft YaHei"/>
              </a:rPr>
              <a:t>结论与行动建议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1338560" cy="118872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 w="1905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D573"/>
                </a:solidFill>
                <a:latin typeface="Microsoft YaHei"/>
              </a:rPr>
              <a:t>★ 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0F4F8"/>
                </a:solidFill>
                <a:latin typeface="Microsoft YaHei"/>
              </a:rPr>
              <a:t>WWDC26 是 Apple 游戏战略的分水岭：AI 代理（GPTK4 Agent Skills）+ 神经图形（Metal 4.1 / MetalFX / M5）+ 统一分发（Games App）三位一体，系统性解决了长期制约 Apple 游戏生态的'移植难、性能差、发现难'三大顽疾。Mac/iOS 正从'游戏荒漠'变为'可严肃投入的 3A 目标平台'。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D573"/>
                </a:solidFill>
                <a:latin typeface="Microsoft YaHei"/>
              </a:rPr>
              <a:t>▎行动路线图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08960"/>
            <a:ext cx="2743200" cy="2926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2ED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310896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154679"/>
            <a:ext cx="2743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0D1A"/>
                </a:solidFill>
                <a:latin typeface="Microsoft YaHei"/>
              </a:rPr>
              <a:t>0-3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ED573"/>
                </a:solidFill>
                <a:latin typeface="Microsoft YaHei"/>
              </a:rPr>
              <a:t>立即可做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06908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ED573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试用 GPTK4 Agent Skills 评估现有项目迁移可行性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02920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ED573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在游戏中接入 Game Center 初始化，抢占 Games App 推荐位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108960"/>
            <a:ext cx="2743200" cy="2926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6120" y="310896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154679"/>
            <a:ext cx="2743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0D1A"/>
                </a:solidFill>
                <a:latin typeface="Microsoft YaHei"/>
              </a:rPr>
              <a:t>3-6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70332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ECDC4"/>
                </a:solidFill>
                <a:latin typeface="Microsoft YaHei"/>
              </a:rPr>
              <a:t>短期投入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406908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集成 MetalFX 神经升频，为 M5 设备优化画质-帧率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502920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ECDC4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规划 In-App Events + Retention Messaging 的运营节奏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108960"/>
            <a:ext cx="2743200" cy="2926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310896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154679"/>
            <a:ext cx="2743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0D1A"/>
                </a:solidFill>
                <a:latin typeface="Microsoft YaHei"/>
              </a:rPr>
              <a:t>6-12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0332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B400"/>
                </a:solidFill>
                <a:latin typeface="Microsoft YaHei"/>
              </a:rPr>
              <a:t>中期布局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406908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B400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建立基于命令行 GPU 工具的 AI 辅助调试/调优工作流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502920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B400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探索 Metal 张量实时神经渲染管线的应用场景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3108960"/>
            <a:ext cx="2743200" cy="29260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24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15400" y="310896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3154679"/>
            <a:ext cx="2743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0D1A"/>
                </a:solidFill>
                <a:latin typeface="Microsoft YaHei"/>
              </a:rPr>
              <a:t>12 月+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70332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B61FF"/>
                </a:solidFill>
                <a:latin typeface="Microsoft YaHei"/>
              </a:rPr>
              <a:t>长期战略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406908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B61FF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将 Mac/iOS 纳入 3A 同步首发平台的工程规划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502920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B61FF"/>
                </a:solidFill>
                <a:latin typeface="Microsoft YaHei"/>
              </a:rPr>
              <a:t>● </a:t>
            </a:r>
            <a:r>
              <a:rPr sz="880" b="0">
                <a:solidFill>
                  <a:srgbClr val="C9D1E8"/>
                </a:solidFill>
                <a:latin typeface="Microsoft YaHei"/>
              </a:rPr>
              <a:t>布局 visionOS 空间游戏（Reality Composer Pro 3 无代码）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23/24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41148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ECDC4"/>
                </a:solidFill>
                <a:latin typeface="Microsoft YaHei"/>
              </a:rPr>
              <a:t>APPENDIX &amp;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0F4F8"/>
                </a:solidFill>
                <a:latin typeface="Microsoft YaHei"/>
              </a:rPr>
              <a:t>附录 · Session 索引与致谢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10607040" cy="29260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2700">
            <a:solidFill>
              <a:srgbClr val="2C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ECDC4"/>
                </a:solidFill>
                <a:latin typeface="Microsoft YaHei"/>
              </a:rPr>
              <a:t>▎WWDC26 游戏/图形相关 Session 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0360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Keynote（含游戏战略定调）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880360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76:14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63824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356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163824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Bringing Cyberpunk 2077 to Mac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163824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27:54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47288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47288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Speedrun your game port with agentic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447288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28:00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30752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388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730752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Find &amp; fix performance issues in Metal games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730752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21:01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14215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358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014215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Make your game great with touch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014215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24:23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97679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378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97679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Unlock in-game content with StoreKit &amp; Background 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297679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9:59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581143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252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581143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Design no-code games with Reality Composer Pro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581143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18:53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64607"/>
            <a:ext cx="731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B400"/>
                </a:solidFill>
                <a:latin typeface="Microsoft YaHei"/>
              </a:rPr>
              <a:t>359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864607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D1E8"/>
                </a:solidFill>
                <a:latin typeface="Microsoft YaHei"/>
              </a:rPr>
              <a:t>Build real-time neural rendering pipelines with Metal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864607"/>
            <a:ext cx="1188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B95B0"/>
                </a:solidFill>
                <a:latin typeface="Microsoft YaHei"/>
              </a:rPr>
              <a:t>22:16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486400"/>
            <a:ext cx="10607040" cy="86868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550408"/>
            <a:ext cx="102412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ECDC4"/>
                </a:solidFill>
                <a:latin typeface="Microsoft YaHei"/>
              </a:rPr>
              <a:t>📡 数据来源（已多轮交叉核验）：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9D1E8"/>
                </a:solidFill>
                <a:latin typeface="Microsoft YaHei"/>
              </a:rPr>
              <a:t>Apple Developer 官方 WWDC26 Games/Metal Guide、What's New、Session 356/357 完整文字记录、Games App 与 Game Porting Toolkit 文档。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B95B0"/>
                </a:solidFill>
                <a:latin typeface="Microsoft YaHei"/>
              </a:rPr>
              <a:t>WWDC26 游戏技术洞察报告  |  2026.06  | 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