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1440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D9488"/>
                </a:solidFill>
                <a:latin typeface="Microsoft YaHei"/>
              </a:rPr>
              <a:t>WWDC 2026 · 技术洞察报告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>
                <a:solidFill>
                  <a:srgbClr val="161B2E"/>
                </a:solidFill>
                <a:latin typeface="Microsoft YaHei"/>
              </a:rPr>
              <a:t>游戏技术洞察与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>
                <a:solidFill>
                  <a:srgbClr val="161B2E"/>
                </a:solidFill>
                <a:latin typeface="Microsoft YaHei"/>
              </a:rPr>
              <a:t>华为游戏中心启发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B7280"/>
                </a:solidFill>
                <a:latin typeface="Microsoft YaHei"/>
              </a:rPr>
              <a:t>Apple 如何用 AI 代理、Metal 4 与统一平台重新定义游戏生态 —— 及对华为游戏中心的 7 大启示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977639"/>
            <a:ext cx="2410358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995927"/>
            <a:ext cx="2410358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Game Porting Toolkit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3630" y="3977639"/>
            <a:ext cx="1620316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3630" y="3995927"/>
            <a:ext cx="1620316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Metal 4.1 神经图形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28539" y="3977639"/>
            <a:ext cx="1719072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8539" y="3995927"/>
            <a:ext cx="1719072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Apple Games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2203" y="3977639"/>
            <a:ext cx="92903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2203" y="3995927"/>
            <a:ext cx="92903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AI 移植代理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825" y="3977639"/>
            <a:ext cx="1422806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5825" y="3995927"/>
            <a:ext cx="1422806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MetalFX 神经升频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3224" y="3977639"/>
            <a:ext cx="1027785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3224" y="3995927"/>
            <a:ext cx="1027785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对标华为游戏中心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937760"/>
            <a:ext cx="10424160" cy="36576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120640"/>
            <a:ext cx="100584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报告类型：技术洞察 + 产业对标评估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调研范围：WWDC26 全部 6 场游戏 Session + Metal/Graphics 生态 + 华为游戏中心/HMS Game Service 全景对比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263640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AA5BC"/>
                </a:solidFill>
                <a:latin typeface="Microsoft YaHei"/>
              </a:rPr>
              <a:t>2026.06  |  xhyha/insight  |  数据来源：Apple Developer 官方文档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核心发现与结论概览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325880"/>
            <a:ext cx="6400800" cy="896112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25880"/>
            <a:ext cx="82296" cy="896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399032"/>
            <a:ext cx="64008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99032"/>
            <a:ext cx="5349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AI 代理成为游戏移植的核心引擎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709928"/>
            <a:ext cx="5349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GPTK4 将开源 Agent Skills 推向 GitHub，迁移全流程可由 AI 代理自主完成，端口时间从'月'压到'天'。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304288"/>
            <a:ext cx="6400800" cy="896112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304288"/>
            <a:ext cx="82296" cy="89611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377440"/>
            <a:ext cx="64008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0D9488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77440"/>
            <a:ext cx="5349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MetalFX 进入神经升频时代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688336"/>
            <a:ext cx="5349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重新设计的时序升频器调用 Neural Engine + M5 神经加速器，从显著更低分辨率重建细节。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282696"/>
            <a:ext cx="6400800" cy="896112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3282696"/>
            <a:ext cx="82296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355848"/>
            <a:ext cx="64008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563EB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355848"/>
            <a:ext cx="5349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Apple Games App 构建游戏入口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666744"/>
            <a:ext cx="5349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预装于 iOS/iPadOS/macOS 26，五大标签 + 个性化推荐 + Top Played 榜，新分发渠道。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4261104"/>
            <a:ext cx="6400800" cy="896112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4261104"/>
            <a:ext cx="82296" cy="8961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334256"/>
            <a:ext cx="64008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059669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334256"/>
            <a:ext cx="5349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命令行 GPU 工具解放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645152"/>
            <a:ext cx="5349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macOS 27 全新 gpucapture/gpudebug，图形调试首次进入可代理化工作流。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5239512"/>
            <a:ext cx="6400800" cy="896112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5239512"/>
            <a:ext cx="82296" cy="89611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12664"/>
            <a:ext cx="64008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EA580C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312664"/>
            <a:ext cx="5349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AAA 标杆 + 对标华为启发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623560"/>
            <a:ext cx="5349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Cyberpunk 2077 原生登陆 Mac；本报告提炼 7 大对华为游戏中心的具体启示。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1325880"/>
            <a:ext cx="4572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▎关键数据速览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86600" y="1691640"/>
            <a:ext cx="2212848" cy="102412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810512"/>
            <a:ext cx="22128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C2820A"/>
                </a:solidFill>
                <a:latin typeface="Microsoft YaHei"/>
              </a:rPr>
              <a:t>6 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1464" y="2313432"/>
            <a:ext cx="2103120" cy="3383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WWDC26 游戏专属 Session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90888" y="1691640"/>
            <a:ext cx="2286000" cy="102412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0888" y="1810512"/>
            <a:ext cx="2286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0D9488"/>
                </a:solidFill>
                <a:latin typeface="Microsoft YaHei"/>
              </a:rPr>
              <a:t>Metal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5752" y="2313432"/>
            <a:ext cx="2176272" cy="3383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GPTK4 评估环境支持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86600" y="2834640"/>
            <a:ext cx="2212848" cy="102412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953512"/>
            <a:ext cx="22128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7C3AED"/>
                </a:solidFill>
                <a:latin typeface="Microsoft YaHei"/>
              </a:rPr>
              <a:t>M5 Pro/Max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41464" y="3456432"/>
            <a:ext cx="2103120" cy="3383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神经加速器硬件底座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0888" y="2834640"/>
            <a:ext cx="2286000" cy="102412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0888" y="2953512"/>
            <a:ext cx="2286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2563EB"/>
                </a:solidFill>
                <a:latin typeface="Microsoft YaHei"/>
              </a:rPr>
              <a:t>3 平台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45752" y="3456432"/>
            <a:ext cx="2176272" cy="3383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Games App 预装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86600" y="3977639"/>
            <a:ext cx="2212848" cy="102412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4096511"/>
            <a:ext cx="221284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059669"/>
                </a:solidFill>
                <a:latin typeface="Microsoft YaHei"/>
              </a:rPr>
              <a:t>2 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1464" y="4599431"/>
            <a:ext cx="2103120" cy="3383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CLI: gpucapture/gpudebug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0888" y="3977639"/>
            <a:ext cx="2286000" cy="102412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90888" y="4096511"/>
            <a:ext cx="2286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C7000B"/>
                </a:solidFill>
                <a:latin typeface="Microsoft YaHei"/>
              </a:rPr>
              <a:t>7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45752" y="4599431"/>
            <a:ext cx="2176272" cy="3383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对华为游戏中心启示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86600" y="5166360"/>
            <a:ext cx="4590288" cy="91440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 w="1778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69480" y="5230368"/>
            <a:ext cx="42976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★ 一句话结论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E"/>
                </a:solidFill>
                <a:latin typeface="Microsoft YaHei"/>
              </a:rPr>
              <a:t>WWDC26 三位一体（AI代理+神经图形+统一分发）系统性解决了Apple游戏'移植难、性能差、发现难'，也为华为游戏中心指明了演进方向。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2/28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目录 · 报告结构总览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371600"/>
            <a:ext cx="7498079" cy="676656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71600"/>
            <a:ext cx="73152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399032"/>
            <a:ext cx="73152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2563EB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17320"/>
            <a:ext cx="59436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WWDC26 游戏全景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37360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全部 6 场游戏 Session 概览与战略定调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130552"/>
            <a:ext cx="7498079" cy="676656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130552"/>
            <a:ext cx="73152" cy="67665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2157984"/>
            <a:ext cx="73152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7C3AED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176272"/>
            <a:ext cx="59436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Game Porting Toolkit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96312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AI 代理技能体系与迁移工作流革命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2889504"/>
            <a:ext cx="7498079" cy="676656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889504"/>
            <a:ext cx="73152" cy="6766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916936"/>
            <a:ext cx="73152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D9488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935224"/>
            <a:ext cx="59436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Metal 4.1 图形技术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55264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MetalFX 神经升频 · 张量 · M5 加速器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3648456"/>
            <a:ext cx="7498079" cy="676656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648456"/>
            <a:ext cx="73152" cy="676656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675888"/>
            <a:ext cx="73152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C2820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694176"/>
            <a:ext cx="59436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Games App 与分发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14216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一站式游戏中心与 App Store 新能力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4407408"/>
            <a:ext cx="7498079" cy="676656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4407408"/>
            <a:ext cx="73152" cy="676656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434840"/>
            <a:ext cx="73152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EA580C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453128"/>
            <a:ext cx="59436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案例：Cyberpunk 2077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773168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AAA 原生移植方法论与平台特性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5166360"/>
            <a:ext cx="7498079" cy="676656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5166360"/>
            <a:ext cx="73152" cy="67665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5193792"/>
            <a:ext cx="73152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C7000B"/>
                </a:solidFill>
                <a:latin typeface="Microsoft YaHe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212080"/>
            <a:ext cx="59436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对标华为游戏中心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532120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现状对比 + 7 大启示 + 演进路线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1371600"/>
            <a:ext cx="3547872" cy="452628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30768" y="1508760"/>
            <a:ext cx="32004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▎本报告涵盖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8" y="196596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196596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游戏专属 Session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0" y="1965960"/>
            <a:ext cx="16002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7C3AED"/>
                </a:solidFill>
                <a:latin typeface="Microsoft YaHei"/>
              </a:rPr>
              <a:t>6 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30768" y="2587752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2587752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图形关联 Session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2587752"/>
            <a:ext cx="16002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D9488"/>
                </a:solidFill>
                <a:latin typeface="Microsoft YaHei"/>
              </a:rPr>
              <a:t>3 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30768" y="3209544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0" y="3209544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核心平台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3209544"/>
            <a:ext cx="16002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</a:rPr>
              <a:t>macOS/iOS 27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30768" y="3831336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0" y="3831336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旗舰芯片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3831336"/>
            <a:ext cx="16002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C2820A"/>
                </a:solidFill>
                <a:latin typeface="Microsoft YaHei"/>
              </a:rPr>
              <a:t>M5 Pro · M5 Max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8" y="4453128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0" y="4453128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对标对象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4453128"/>
            <a:ext cx="16002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C7000B"/>
                </a:solidFill>
                <a:latin typeface="Microsoft YaHei"/>
              </a:rPr>
              <a:t>华为游戏中心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30768" y="507492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0" y="507492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启示条数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0" y="5074920"/>
            <a:ext cx="16002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7 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3/28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2563EB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  <a:latin typeface="Microsoft YaHei"/>
              </a:rPr>
              <a:t>OVERVIEW · WWDC26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WWDC26 游戏全景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Apple 在 WWDC26 释放明确信号：游戏是一等公民。6 场专属 Session + 全新 AI 移植工具 + 神经图形 + 统一 Games App，构建从'开发→迁移→图形→分发'的完整闭环。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4/28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WWDC26 游戏相关 Session 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234440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  <a:latin typeface="Microsoft YaHei"/>
              </a:rPr>
              <a:t>▎6 场游戏专属 Session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00200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7" y="1700784"/>
            <a:ext cx="841248" cy="420624"/>
          </a:xfrm>
          <a:prstGeom prst="roundRect">
            <a:avLst>
              <a:gd name="adj" fmla="val 1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700784"/>
            <a:ext cx="841248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645920"/>
            <a:ext cx="566928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E"/>
                </a:solidFill>
                <a:latin typeface="Microsoft YaHei"/>
              </a:rPr>
              <a:t>Bringing Cyberpunk 2077 to Mac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938528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CDPR 原生移植案例 · 27:54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2304288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" y="2404872"/>
            <a:ext cx="841248" cy="420624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" y="2404872"/>
            <a:ext cx="841248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350008"/>
            <a:ext cx="566928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E"/>
                </a:solidFill>
                <a:latin typeface="Microsoft YaHei"/>
              </a:rPr>
              <a:t>Speedrun your game port with agentic coding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42616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GPTK4 AI 代理技能 · 28:00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008376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1207" y="3108960"/>
            <a:ext cx="841248" cy="420624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7" y="3108960"/>
            <a:ext cx="841248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054096"/>
            <a:ext cx="566928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E"/>
                </a:solidFill>
                <a:latin typeface="Microsoft YaHei"/>
              </a:rPr>
              <a:t>Find &amp; fix performance issues in Metal games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346704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Metal 性能调优 · 21:01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3712464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7" y="3813048"/>
            <a:ext cx="841248" cy="420624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7" y="3813048"/>
            <a:ext cx="841248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3758184"/>
            <a:ext cx="566928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E"/>
                </a:solidFill>
                <a:latin typeface="Microsoft YaHei"/>
              </a:rPr>
              <a:t>Make your game great with touch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0792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触控游戏设计 · 24:23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4416552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1207" y="4517136"/>
            <a:ext cx="841248" cy="420624"/>
          </a:xfrm>
          <a:prstGeom prst="roundRect">
            <a:avLst>
              <a:gd name="adj" fmla="val 15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7" y="4517136"/>
            <a:ext cx="841248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462272"/>
            <a:ext cx="566928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E"/>
                </a:solidFill>
                <a:latin typeface="Microsoft YaHei"/>
              </a:rPr>
              <a:t>Unlock in-game content with StoreKit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754880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StoreKit + 后台资源 · 9:59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" y="5120640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21207" y="5221224"/>
            <a:ext cx="841248" cy="420624"/>
          </a:xfrm>
          <a:prstGeom prst="roundRect">
            <a:avLst>
              <a:gd name="adj" fmla="val 1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7" y="5221224"/>
            <a:ext cx="841248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252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5166359"/>
            <a:ext cx="566928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E"/>
                </a:solidFill>
                <a:latin typeface="Microsoft YaHei"/>
              </a:rPr>
              <a:t>Design no-code games with RCP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5458968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空间无代码游戏 · 18:53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1234440"/>
            <a:ext cx="4114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▎图形/Metal 关联 Session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1600200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1691640"/>
            <a:ext cx="777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D9488"/>
                </a:solidFill>
                <a:latin typeface="Microsoft YaHei"/>
              </a:rPr>
              <a:t>359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1691640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1B2E"/>
                </a:solidFill>
                <a:latin typeface="Microsoft YaHei"/>
              </a:rPr>
              <a:t>实时神经渲染管线 (Metal)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2103120"/>
            <a:ext cx="3840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Neural Rendering 22:16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2679191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18120" y="2770632"/>
            <a:ext cx="777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D9488"/>
                </a:solidFill>
                <a:latin typeface="Microsoft YaHei"/>
              </a:rPr>
              <a:t>330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2770632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1B2E"/>
                </a:solidFill>
                <a:latin typeface="Microsoft YaHei"/>
              </a:rPr>
              <a:t>Metal 张量优化 ML 运算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3182111"/>
            <a:ext cx="3840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Metal Tensors 16:13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35240" y="3758183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18120" y="3849623"/>
            <a:ext cx="777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D9488"/>
                </a:solidFill>
                <a:latin typeface="Microsoft YaHei"/>
              </a:rPr>
              <a:t>222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3849623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1B2E"/>
                </a:solidFill>
                <a:latin typeface="Microsoft YaHei"/>
              </a:rPr>
              <a:t>全新 MetricKit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8120" y="4261103"/>
            <a:ext cx="3840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含 Metal 帧率 17:43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4048" y="5833872"/>
            <a:ext cx="11411712" cy="54864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33872"/>
            <a:ext cx="10972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战略定调：</a:t>
            </a:r>
            <a:r>
              <a:rPr sz="1100" b="0">
                <a:solidFill>
                  <a:srgbClr val="161B2E"/>
                </a:solidFill>
                <a:latin typeface="Microsoft YaHei"/>
              </a:rPr>
              <a:t>Apple 从'被动兼容游戏'转向'主动构建游戏生态'——AI 降低迁移门槛、神经硬件提升画质、Games App 解决发现难题。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5/28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7C3AED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3AED"/>
                </a:solidFill>
                <a:latin typeface="Microsoft YaHei"/>
              </a:rPr>
              <a:t>GAME PORTING TOOLKIT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Game Porting Toolkit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WWDC26 游戏领域的头号主角。首次将开源 AI 代理技能放上 GitHub，让编码代理驱动迁移全流程：从 DirectX 到 Metal 4，从评估到调试调优——端口成本与时间被结构性压缩。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6/28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GPTK 4 · AGENTIC 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AI 代理成为游戏移植的核心引擎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</a:rPr>
              <a:t>GPTK4 的革命：把平台专家知识封装为开源 Agent Skills，让任意 AI 编码代理（如 Claude Code）都能自主完成高质量迁移。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64208"/>
            <a:ext cx="3703320" cy="13258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33375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3AED"/>
                </a:solidFill>
                <a:latin typeface="Microsoft YaHei"/>
              </a:rPr>
              <a:t>Discover 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33375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扫描代码库 · 评估环境抓参考帧 · 了解开发者偏好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664208"/>
            <a:ext cx="3703320" cy="13258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3375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  <a:latin typeface="Microsoft YaHei"/>
              </a:rPr>
              <a:t>Plan 规划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94560"/>
            <a:ext cx="33375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协同制定里程碑 · 自动映射专家技能到每个目标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64208"/>
            <a:ext cx="3703320" cy="13258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1" y="1783080"/>
            <a:ext cx="33375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Execute &amp; 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1" y="2194560"/>
            <a:ext cx="33375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执行变更 · 多点检查：启动/Metal校验/截图对比/反模式/内存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148840"/>
            <a:ext cx="3200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9AA5BC"/>
                </a:solidFill>
                <a:latin typeface="Microsoft YaHe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2" y="2148840"/>
            <a:ext cx="3200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9AA5BC"/>
                </a:solidFill>
                <a:latin typeface="Microsoft Ya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200400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3AED"/>
                </a:solidFill>
                <a:latin typeface="Microsoft YaHei"/>
              </a:rPr>
              <a:t>▎两大技能类别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566160"/>
            <a:ext cx="5596128" cy="137160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675887"/>
            <a:ext cx="5303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🧠 专家技能 Expert Skills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50791"/>
            <a:ext cx="525780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注入平台知识与最佳实践，标记常见迁移反模式。涵盖窗口/帧节奏、Metal 4 资源管理、着色器管线、同步、手柄、MetalFX 升频与帧插值。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566160"/>
            <a:ext cx="5596128" cy="137160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3675887"/>
            <a:ext cx="5303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2820A"/>
                </a:solidFill>
                <a:latin typeface="Microsoft YaHei"/>
              </a:rPr>
              <a:t>🔧 工作流技能 Workflow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4050791"/>
            <a:ext cx="525780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移植助手代理编排整套方法论，确保正确技能在正确时机加载，里程碑间记忆学习成果，无需反复指导。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" y="5074920"/>
            <a:ext cx="11411712" cy="9601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38928"/>
            <a:ext cx="109728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7C3AED"/>
                </a:solidFill>
                <a:latin typeface="Microsoft YaHei"/>
              </a:rPr>
              <a:t>⚡ 实战验证：</a:t>
            </a:r>
            <a:r>
              <a:rPr sz="1050" b="0">
                <a:solidFill>
                  <a:srgbClr val="161B2E"/>
                </a:solidFill>
                <a:latin typeface="Microsoft YaHei"/>
              </a:rPr>
              <a:t>Session 357 演示将微软 MiniEngine（D3D12）原生迁移到 macOS+Metal 4，并在 Godot 引擎并行新增 Metal 4 后端——'几天内跑起来'。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7/28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GPTK 4 · SKILL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Agent Skills 技能矩阵：覆盖迁移全链路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98448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298448"/>
            <a:ext cx="73152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138988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窗口与帧节奏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7" y="1700784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C3AED"/>
                </a:solidFill>
                <a:latin typeface="Microsoft YaHei"/>
              </a:rPr>
              <a:t>Window · Swap Chain · Presenting · metal-cpp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1993391"/>
            <a:ext cx="5212080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Metal Display Link 渲染循环、direct-to-display 低延迟、drawable 生命周期管理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63056" y="1298448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138988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Metal 4 场景渲染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700784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563EB"/>
                </a:solidFill>
                <a:latin typeface="Microsoft YaHei"/>
              </a:rPr>
              <a:t>GPU 资源 · 着色器管线 · 转换器 · 同步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93391"/>
            <a:ext cx="5212080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存储模式、residency set、argument buffer 偏移、D3D12→M4 屏障映射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2990088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990088"/>
            <a:ext cx="73152" cy="15087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" y="308152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GPU 命令行调试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3392424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59669"/>
                </a:solidFill>
                <a:latin typeface="Microsoft YaHei"/>
              </a:rPr>
              <a:t>gpucapture · gpudebug · 渲染问题排查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3685032"/>
            <a:ext cx="5212080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代理自主抓帧、检视管线状态/纹理/dispatch、与评估环境逐项比对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2990088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3056" y="2990088"/>
            <a:ext cx="73152" cy="15087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308152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游戏手柄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3392424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EA580C"/>
                </a:solidFill>
                <a:latin typeface="Microsoft YaHei"/>
              </a:rPr>
              <a:t>GCController · XInput 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3685032"/>
            <a:ext cx="5212080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动态查询按钮布局、设备发现与断连、触控板/自适应扳机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4681728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4681728"/>
            <a:ext cx="73152" cy="1508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7" y="477316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MetalFX 升频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7" y="5084064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D9488"/>
                </a:solidFill>
                <a:latin typeface="Microsoft YaHei"/>
              </a:rPr>
              <a:t>时序升频 · 帧插值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" y="5376672"/>
            <a:ext cx="5212080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抖动配置、运动向量约定、MIP 偏差、历史重投影、专用呈现线程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3056" y="4681728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4681728"/>
            <a:ext cx="73152" cy="1508760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6" y="477316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1B2E"/>
                </a:solidFill>
                <a:latin typeface="Microsoft YaHei"/>
              </a:rPr>
              <a:t>Metal 4 评估环境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656" y="5084064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C2820A"/>
                </a:solidFill>
                <a:latin typeface="Microsoft YaHei"/>
              </a:rPr>
              <a:t>Metal 4 全面支持 · 基准对比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1656" y="5376672"/>
            <a:ext cx="5212080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翻译环境跑 Windows 二进制、Metal HUD/GPU 抓帧/System 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8/28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GPTK 4 · CLI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命令行 GPU 工具：让代理自主调试图形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</a:rPr>
              <a:t>macOS 27 全新命令行 GPU 工具是本年度对'AI 自主工作流'最重要的基础设施贡献——图形调试首次脱离 Xcode GUI，进入可脚本化、可代理化的世界。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19072"/>
            <a:ext cx="5596128" cy="214884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82880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59669"/>
                </a:solidFill>
                <a:latin typeface="Microsoft YaHei"/>
              </a:rPr>
              <a:t>$ gpucapture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51206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D9488"/>
                </a:solidFill>
                <a:latin typeface="Microsoft YaHei"/>
              </a:rPr>
              <a:t>抓取 GPU 帧轨迹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697480"/>
            <a:ext cx="5120640" cy="1051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应用运行时捕获一帧 GPU trace，替代手动 Xcode 抓帧。代理可在任意里程碑自动采集轨迹用于验证与回归对比。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1719072"/>
            <a:ext cx="5596128" cy="214884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651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82880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2563EB"/>
                </a:solidFill>
                <a:latin typeface="Microsoft YaHei"/>
              </a:rPr>
              <a:t>$ gpudebug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304288"/>
            <a:ext cx="51206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D9488"/>
                </a:solidFill>
                <a:latin typeface="Microsoft YaHei"/>
              </a:rPr>
              <a:t>分析已捕获的帧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697480"/>
            <a:ext cx="5120640" cy="1051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检视 Xcode 中可查的一切：资源绑定、常量、资源内容、管线数据流，定位与评估环境的差异，自主定位根因。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041648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▎自主调试闭环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462272"/>
            <a:ext cx="1810512" cy="65836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4462272"/>
            <a:ext cx="1810512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</a:rPr>
              <a:t>描述症状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663440"/>
            <a:ext cx="20116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AA5BC"/>
                </a:solidFill>
                <a:latin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9424" y="4462272"/>
            <a:ext cx="1810512" cy="65836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49424" y="4462272"/>
            <a:ext cx="1810512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Microsoft YaHei"/>
              </a:rPr>
              <a:t>加载调试技能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4663440"/>
            <a:ext cx="20116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AA5BC"/>
                </a:solidFill>
                <a:latin typeface="Microsoft YaHe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462272"/>
            <a:ext cx="1810512" cy="65836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0" y="4462272"/>
            <a:ext cx="1810512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gpucapture 抓帧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7024" y="4663440"/>
            <a:ext cx="20116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AA5BC"/>
                </a:solidFill>
                <a:latin typeface="Microsoft YaHe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0176" y="4462272"/>
            <a:ext cx="1810512" cy="65836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0176" y="4462272"/>
            <a:ext cx="1810512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D9488"/>
                </a:solidFill>
                <a:latin typeface="Microsoft YaHei"/>
              </a:rPr>
              <a:t>gpudebug 检视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663440"/>
            <a:ext cx="20116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AA5BC"/>
                </a:solidFill>
                <a:latin typeface="Microsoft YaHe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5552" y="4462272"/>
            <a:ext cx="1810512" cy="65836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4462272"/>
            <a:ext cx="1810512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A580C"/>
                </a:solidFill>
                <a:latin typeface="Microsoft YaHei"/>
              </a:rPr>
              <a:t>定位根因修复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7776" y="4663440"/>
            <a:ext cx="20116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AA5BC"/>
                </a:solidFill>
                <a:latin typeface="Microsoft YaHe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10928" y="4462272"/>
            <a:ext cx="1810512" cy="65836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10928" y="4462272"/>
            <a:ext cx="1810512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验证回归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" y="5349240"/>
            <a:ext cx="11411712" cy="8229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394960"/>
            <a:ext cx="109728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</a:rPr>
              <a:t>📊 Metal HUD 增强：</a:t>
            </a:r>
            <a:r>
              <a:rPr sz="1050" b="0">
                <a:solidFill>
                  <a:srgbClr val="161B2E"/>
                </a:solidFill>
                <a:latin typeface="Microsoft YaHei"/>
              </a:rPr>
              <a:t>macOS 27 的 Metal HUD 新增抖动散点图(jitter plot)、运动向量缩放/抖动倍数覆盖(overrides)、曝光可视化——可实时验证 MetalFX 集成是否正确，错误标红。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9/28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0D9488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METAL 4.1 · GRAPHICS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Metal 4.1 图形技术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Metal 4.1 将神经网络深度融入图形管线。重新设计的 MetalFX 时序升频器调用 Neural Engine 与 M5 神经加速器；Metal 张量格式让 ML 推理直接发生在着色器中——画质与帧率不再是零和博弈。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10/28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METAL 4.1 · METALFX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MetalFX 神经升频：更低分辨率渲染更高画质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07008"/>
            <a:ext cx="5596128" cy="47548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32588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▎核心升级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5166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1080" b="1">
                <a:solidFill>
                  <a:srgbClr val="161B2E"/>
                </a:solidFill>
                <a:latin typeface="Microsoft YaHei"/>
              </a:rPr>
              <a:t>重新设计的时序升频器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993391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同时调用 Neural Engine + M5 Pro/Max 神经加速器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86584"/>
            <a:ext cx="5166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1080" b="1">
                <a:solidFill>
                  <a:srgbClr val="161B2E"/>
                </a:solidFill>
                <a:latin typeface="Microsoft YaHei"/>
              </a:rPr>
              <a:t>显著低分辨率重建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42615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从远低于目标分辨率重建精细细节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35808"/>
            <a:ext cx="5166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1080" b="1">
                <a:solidFill>
                  <a:srgbClr val="161B2E"/>
                </a:solidFill>
                <a:latin typeface="Microsoft YaHei"/>
              </a:rPr>
              <a:t>动态分辨率子区域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91839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subrectangle 处理动态分辨率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85031"/>
            <a:ext cx="5166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1080" b="1">
                <a:solidFill>
                  <a:srgbClr val="161B2E"/>
                </a:solidFill>
                <a:latin typeface="Microsoft YaHei"/>
              </a:rPr>
              <a:t>运动向量直传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41063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传入运动向量省去预处理开销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334255"/>
            <a:ext cx="5166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1080" b="1">
                <a:solidFill>
                  <a:srgbClr val="161B2E"/>
                </a:solidFill>
                <a:latin typeface="Microsoft YaHei"/>
              </a:rPr>
              <a:t>后处理畸变场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590288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distortion fields 处理后处理效果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83479"/>
            <a:ext cx="5166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1080" b="1">
                <a:solidFill>
                  <a:srgbClr val="161B2E"/>
                </a:solidFill>
                <a:latin typeface="Microsoft YaHei"/>
              </a:rPr>
              <a:t>API 兼容主流方案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23951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与领先升频器 API 兼容，迁移更快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1207008"/>
            <a:ext cx="5596128" cy="219456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1325880"/>
            <a:ext cx="5212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A580C"/>
                </a:solidFill>
                <a:latin typeface="Microsoft YaHei"/>
              </a:rPr>
              <a:t>⚡ 帧插值 Frame Interpolation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719072"/>
            <a:ext cx="521208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生成间隔帧使有效帧率翻倍，代价是少量输入延迟。配合专用呈现线程与精确时序，确保渲染帧与插值帧均匀交错。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Session 357 演示：升频 + 帧插值同时运行，Metal HUD 实时显示状态。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3056" y="3584448"/>
            <a:ext cx="5486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▎实战收益（Cyberpunk 2077）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3950208"/>
            <a:ext cx="1783080" cy="89611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63056" y="4069080"/>
            <a:ext cx="17830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C2820A"/>
                </a:solidFill>
                <a:latin typeface="Microsoft YaHei"/>
              </a:rPr>
              <a:t>50-80%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572000"/>
            <a:ext cx="1673352" cy="21031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内部渲染分辨率占比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3950208"/>
            <a:ext cx="1783080" cy="89611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8" y="4069080"/>
            <a:ext cx="17830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0D9488"/>
                </a:solidFill>
                <a:latin typeface="Microsoft YaHei"/>
              </a:rPr>
              <a:t>60 FPS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9872" y="4572000"/>
            <a:ext cx="1673352" cy="21031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M5 Max 目标(Ultra)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66960" y="3950208"/>
            <a:ext cx="1792224" cy="89611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4069080"/>
            <a:ext cx="1792224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059669"/>
                </a:solidFill>
                <a:latin typeface="Microsoft YaHe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1824" y="4572000"/>
            <a:ext cx="1682495" cy="21031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手动HDR校准(自动)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63056" y="4956048"/>
            <a:ext cx="5596128" cy="9144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45936" y="5010912"/>
            <a:ext cx="521208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E"/>
                </a:solidFill>
                <a:latin typeface="Microsoft YaHei"/>
              </a:rPr>
              <a:t>💎 结论：MetalFX 让开发者在不牺牲画质前提下获得性能余量，重度场景中维持稳定帧率。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11/28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METAL 4.1 · NEURAL TENSORS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Metal 张量与 M5 神经加速器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</a:rPr>
              <a:t>Metal 4.1 让 ML 推理直接发生在图形管线中——计算光照、材质与几何，全部实时。新量化张量格式是关键使能器。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1907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3AED"/>
                </a:solidFill>
                <a:latin typeface="Microsoft YaHei"/>
              </a:rPr>
              <a:t>🧮 量化张量格式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329184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全新量化张量格式与 scale factor 支持，轻松表达量化数据、高效压缩权重。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71907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2820A"/>
                </a:solidFill>
                <a:latin typeface="Microsoft YaHei"/>
              </a:rPr>
              <a:t>⚡ M5 神经加速器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286000"/>
            <a:ext cx="329184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Metal 性能原语原生支持，M5 Pro/Max 神经加速器上高效压缩权重并加速 ML 推理。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36992" y="171907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1" y="18288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🎯 应用方向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1" y="2286000"/>
            <a:ext cx="329184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实时神经渲染管线(359)、光照/材质/几何 ML 推理、神经纹理压缩、神经 BRDF 探索。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114800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▎工具链与诊断改进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4498848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4498848"/>
            <a:ext cx="27432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7" y="4626864"/>
            <a:ext cx="2514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</a:rPr>
              <a:t>Metal 调试器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" y="4992624"/>
            <a:ext cx="2514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Xcode 中优化，更快迭代调试/分析 Metal 游戏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18688" y="4498848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18688" y="4498848"/>
            <a:ext cx="2743200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4626864"/>
            <a:ext cx="2514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Microsoft YaHei"/>
              </a:rPr>
              <a:t>命令行 Metal 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4992624"/>
            <a:ext cx="2514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无缝融入脚本与代理工作流(见 P9)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4498848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53328" y="4498848"/>
            <a:ext cx="2743200" cy="64008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8" y="4626864"/>
            <a:ext cx="2514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MetricKit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4992624"/>
            <a:ext cx="2514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报告新增 Metal 帧率信息，快速定位性能问题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8" y="4498848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8" y="4498848"/>
            <a:ext cx="274320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25128" y="4626864"/>
            <a:ext cx="25146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7C3AED"/>
                </a:solidFill>
                <a:latin typeface="Microsoft YaHei"/>
              </a:rPr>
              <a:t>Metal HUD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5128" y="4992624"/>
            <a:ext cx="2514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抖动散点图/运动向量覆盖/曝光可视化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12/28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C2820A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2820A"/>
                </a:solidFill>
                <a:latin typeface="Microsoft YaHei"/>
              </a:rPr>
              <a:t>GAMES APP &amp;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Apple Games App 与分发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预装的 Games App 让游戏首次拥有独立的系统级入口；StoreKit Unity 插件、Steam 资产转换器、分语言资源包等 App Store 新能力，进一步压低跨平台发布工程成本。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13/28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APPLE GAMES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Apple Games App：系统级游戏社交入口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</a:rPr>
              <a:t>现已面向全部用户开放，预装于 iOS 26 / iPadOS 26 / macOS 26 及更高版本——玩家无需安装即拥有专属游戏中心。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27632"/>
            <a:ext cx="5852160" cy="694944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627632"/>
            <a:ext cx="73152" cy="6949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673352"/>
            <a:ext cx="548640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</a:rPr>
              <a:t>首页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993392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最新动态、个性化推荐、热门榜、In-App Events、好友活动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395728"/>
            <a:ext cx="5852160" cy="694944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395728"/>
            <a:ext cx="73152" cy="6949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2441448"/>
            <a:ext cx="548640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7C3AED"/>
                </a:solidFill>
                <a:latin typeface="Microsoft YaHei"/>
              </a:rPr>
              <a:t>好友 Friends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7614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好友连接、邀请挑战/多人对战、对比分数与成就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3163824"/>
            <a:ext cx="5852160" cy="694944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3163824"/>
            <a:ext cx="73152" cy="6949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09544"/>
            <a:ext cx="548640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59669"/>
                </a:solidFill>
                <a:latin typeface="Microsoft YaHei"/>
              </a:rPr>
              <a:t>Arcade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529584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订阅者访问 Arcade 全目录、最新发布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931920"/>
            <a:ext cx="5852160" cy="694944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3931920"/>
            <a:ext cx="73152" cy="69494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977639"/>
            <a:ext cx="548640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资料库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29768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快速进入已安装游戏、重新下载旧爱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4700016"/>
            <a:ext cx="5852160" cy="694944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700016"/>
            <a:ext cx="73152" cy="69494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745736"/>
            <a:ext cx="548640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D9488"/>
                </a:solidFill>
                <a:latin typeface="Microsoft YaHei"/>
              </a:rPr>
              <a:t>搜索 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5065776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查找下载游戏、浏览精选合集与榜单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1627632"/>
            <a:ext cx="5303520" cy="466344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1755648"/>
            <a:ext cx="4937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2820A"/>
                </a:solidFill>
                <a:latin typeface="Microsoft YaHei"/>
              </a:rPr>
              <a:t>▎如何获得最大化曝光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2212848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C3AED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Game Center 初始化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2468880"/>
            <a:ext cx="46177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玩家自动登录，游戏出现在社交推荐与 Top Played 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2871215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563EB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排行榜 Leaderboards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12864" y="3127248"/>
            <a:ext cx="46177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好友超分自动通知，驱动回流与重装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408" y="3529583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挑战 Challenges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3785615"/>
            <a:ext cx="46177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单人活动变社交，限时分数竞赛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4187951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59669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成就 Achievements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12864" y="4443983"/>
            <a:ext cx="46177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激励玩家、追踪进度、好友对比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3408" y="4846319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EA580C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多人活动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12864" y="5102351"/>
            <a:ext cx="46177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跨平台无缝邀请，全域推荐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3408" y="5504687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C2820A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In-App Events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5760719"/>
            <a:ext cx="46177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首页/游戏页/资料库/搜索全域展示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14/28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APP STORE · NEW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App Store 游戏分发新能力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98448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298448"/>
            <a:ext cx="365760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3337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3AED"/>
                </a:solidFill>
                <a:latin typeface="Microsoft YaHei"/>
              </a:rPr>
              <a:t>StoreKit Unity 插件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39696"/>
            <a:ext cx="33375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全新 StoreKit 插件面向 Unity，降低内购集成成本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42232" y="1298448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42232" y="1298448"/>
            <a:ext cx="36576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1481328"/>
            <a:ext cx="3337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Steam 资产转换器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2139696"/>
            <a:ext cx="33375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Steam Asset Converter，简化跨平台资产迁移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16" y="1298448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00416" y="1298448"/>
            <a:ext cx="3657600" cy="64008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1481328"/>
            <a:ext cx="3337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2820A"/>
                </a:solidFill>
                <a:latin typeface="Microsoft YaHei"/>
              </a:rPr>
              <a:t>分语言资源包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2139696"/>
            <a:ext cx="33375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Managed Background Assets 拆分语言数据为独立包，最小化加载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3337560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3337560"/>
            <a:ext cx="3657600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520440"/>
            <a:ext cx="3337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资源后台预下载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178808"/>
            <a:ext cx="33375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核心资产在首次打开前预下载，非必要资源后台续传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42232" y="3337560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42232" y="3337560"/>
            <a:ext cx="3657600" cy="6400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5112" y="3520440"/>
            <a:ext cx="3337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A580C"/>
                </a:solidFill>
                <a:latin typeface="Microsoft YaHei"/>
              </a:rPr>
              <a:t>素材新用法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4178808"/>
            <a:ext cx="33375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新的图片与视频使用方式，让游戏在商店更出彩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0416" y="3337560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0416" y="3337560"/>
            <a:ext cx="365760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3296" y="3520440"/>
            <a:ext cx="3337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  <a:latin typeface="Microsoft YaHei"/>
              </a:rPr>
              <a:t>Retention Messaging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4178808"/>
            <a:ext cx="33375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App Store Connect 留存消息，重新触达流失玩家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5532120"/>
            <a:ext cx="11411712" cy="73152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532120"/>
            <a:ext cx="1097280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🔑 关键洞察：</a:t>
            </a:r>
            <a:r>
              <a:rPr sz="1050" b="0">
                <a:solidFill>
                  <a:srgbClr val="161B2E"/>
                </a:solidFill>
                <a:latin typeface="Microsoft YaHei"/>
              </a:rPr>
              <a:t>「更少的标题屏等待，更多的游戏时间」——Apple 正系统性消除玩家从'看到游戏'到'开始玩'之间的每一秒摩擦。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15/28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EA580C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A580C"/>
                </a:solidFill>
                <a:latin typeface="Microsoft YaHei"/>
              </a:rPr>
              <a:t>CASE STUDY · CYBERPUNK 2077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案例研究：Cyberpunk 2077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CD PROJEKT RED 将这款 3500 万销量的开放世界 3A 原生带到 Mac，系统展示了 Apple 平台高端游戏的完整方法论——从评估到「For this Mac」智能预设，获评 2025 Mac 年度游戏。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16/28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CYBERPUNK 2077 ·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原生移植方法论：从评估到可玩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98448"/>
            <a:ext cx="11411712" cy="9601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298448"/>
            <a:ext cx="82296" cy="9601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362456"/>
            <a:ext cx="18288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Microsoft YaHei"/>
              </a:rPr>
              <a:t>① 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1828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C3AED"/>
                </a:solidFill>
                <a:latin typeface="Microsoft YaHei"/>
              </a:rPr>
              <a:t>不追求最终数据，追求信息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389888"/>
            <a:ext cx="8961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用 GPTK 评估环境跑 Windows 构建翻译环境，写代码前先获取可行性信号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359152"/>
            <a:ext cx="11411712" cy="9601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359152"/>
            <a:ext cx="82296" cy="960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2423160"/>
            <a:ext cx="18288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563EB"/>
                </a:solidFill>
                <a:latin typeface="Microsoft YaHei"/>
              </a:rPr>
              <a:t>② 原生化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816352"/>
            <a:ext cx="1828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563EB"/>
                </a:solidFill>
                <a:latin typeface="Microsoft YaHei"/>
              </a:rPr>
              <a:t>Mac 成为真实目标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450592"/>
            <a:ext cx="8961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原生构建与库、macOS 工具链、数据管线新增 macOS 并行平台、架构桥接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419856"/>
            <a:ext cx="11411712" cy="9601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3419856"/>
            <a:ext cx="82296" cy="9601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3483864"/>
            <a:ext cx="18288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D9488"/>
                </a:solidFill>
                <a:latin typeface="Microsoft YaHei"/>
              </a:rPr>
              <a:t>③ 渲染管线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3877056"/>
            <a:ext cx="1828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D9488"/>
                </a:solidFill>
                <a:latin typeface="Microsoft YaHei"/>
              </a:rPr>
              <a:t>保留视觉一致性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511296"/>
            <a:ext cx="8961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Metal shader converter 快速覆盖着色器；原生 Metal 渲染逐单元→静态→动态→光追优化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4480560"/>
            <a:ext cx="11411712" cy="9601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4480560"/>
            <a:ext cx="82296" cy="9601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544568"/>
            <a:ext cx="18288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59669"/>
                </a:solidFill>
                <a:latin typeface="Microsoft YaHei"/>
              </a:rPr>
              <a:t>④ 可玩与调优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937760"/>
            <a:ext cx="1828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59669"/>
                </a:solidFill>
                <a:latin typeface="Microsoft YaHei"/>
              </a:rPr>
              <a:t>从能跑到能发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572000"/>
            <a:ext cx="8961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MetalFX 升频 + 动态分辨率缩放维持稳定帧率；打磨首发体验与平台原生特性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5687568"/>
            <a:ext cx="11411712" cy="621792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687568"/>
            <a:ext cx="10972800" cy="6217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📊 评估期关键发现：</a:t>
            </a:r>
            <a:r>
              <a:rPr sz="1000" b="0">
                <a:solidFill>
                  <a:srgbClr val="161B2E"/>
                </a:solidFill>
                <a:latin typeface="Microsoft YaHei"/>
              </a:rPr>
              <a:t>高端硬件 GPU 时间健康；重度场景受 CPU 压力；着色器翻译抖动与音频开销均为翻译环境伪影，原生化后消失。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17/28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CYBERPUNK 2077 · FOR THIS MAC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「For this Mac」智能预设：开箱即优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</a:rPr>
              <a:t>基于设备检测的图形预设系统：自动识别 Mac 硬件并配置最佳设置——无论哪款 Mac，首次启动即获稳定愉悦的起点，零调参。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64208"/>
            <a:ext cx="5669280" cy="42976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773936"/>
            <a:ext cx="5303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A580C"/>
                </a:solidFill>
                <a:latin typeface="Microsoft YaHei"/>
              </a:rPr>
              <a:t>▎自动配置的维度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40280"/>
            <a:ext cx="5212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A580C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目标帧率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96312"/>
            <a:ext cx="49377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按设备设为 30 或 60 FPS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843784"/>
            <a:ext cx="5212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A580C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MetalFX + DRS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99816"/>
            <a:ext cx="49377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升频配合动态分辨率缩放，区间 50-80%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447288"/>
            <a:ext cx="5212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A580C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输出分辨率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9377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为内屏设定上界(如 M5 Max: 2336×1460)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4050792"/>
            <a:ext cx="5212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A580C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VSync 帧节奏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06824"/>
            <a:ext cx="49377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配合 FPS 目标做正确帧节奏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654296"/>
            <a:ext cx="5212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A580C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HDR 自动启用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0328"/>
            <a:ext cx="49377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EDR 最大潜值 &gt; 2.0 即默认开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5257800"/>
            <a:ext cx="5212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A580C"/>
                </a:solidFill>
                <a:latin typeface="Microsoft YaHei"/>
              </a:rPr>
              <a:t>● </a:t>
            </a:r>
            <a:r>
              <a:rPr sz="1050" b="1">
                <a:solidFill>
                  <a:srgbClr val="161B2E"/>
                </a:solidFill>
                <a:latin typeface="Microsoft YaHei"/>
              </a:rPr>
              <a:t>逐项画质调优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13832"/>
            <a:ext cx="49377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对每款 Mac 逐一精调所有画质选项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664208"/>
            <a:ext cx="5486400" cy="2084831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773936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🎮 实机演示（Dogtown 黑市）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240280"/>
            <a:ext cx="512064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游戏中最吃性能的区域之一：几何/光照/反射/角色密集。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>
                <a:solidFill>
                  <a:srgbClr val="161B2E"/>
                </a:solidFill>
                <a:latin typeface="Microsoft YaHei"/>
              </a:rPr>
              <a:t>无加载屏自由穿越，霓虹与光源密集，全程 60 FPS 稳定——开箱设置。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3950208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4059936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59669"/>
                </a:solidFill>
                <a:latin typeface="Microsoft YaHei"/>
              </a:rPr>
              <a:t>🌱 行业溢出效应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526280"/>
            <a:ext cx="512064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CDPR 表示：发布后已有其他开发者开始在自家游戏中采用「For this Mac」设置方式，对生态是健康的。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→「For this Mac」正成为 Mac 游戏的体验新标准。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18/28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CYBERPUNK 2077 · NATIVE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平台原生体验：让游戏「感觉对」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98448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35607"/>
            <a:ext cx="329184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563EB"/>
                </a:solidFill>
                <a:latin typeface="Microsoft YaHei"/>
              </a:rPr>
              <a:t>🎮  </a:t>
            </a:r>
            <a:r>
              <a:rPr sz="1150" b="1">
                <a:solidFill>
                  <a:srgbClr val="2563EB"/>
                </a:solidFill>
                <a:latin typeface="Microsoft YaHei"/>
              </a:rPr>
              <a:t>窗口与切换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47088"/>
            <a:ext cx="3337560" cy="12070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6B7280"/>
                </a:solidFill>
                <a:latin typeface="Microsoft YaHei"/>
              </a:rPr>
              <a:t>响应 NSNotification；后台暂停渲染省 CPU/GPU；显示变更/切屏自动适应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42232" y="1298448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435607"/>
            <a:ext cx="329184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7C3AED"/>
                </a:solidFill>
                <a:latin typeface="Microsoft YaHei"/>
              </a:rPr>
              <a:t>⚡  </a:t>
            </a:r>
            <a:r>
              <a:rPr sz="1150" b="1">
                <a:solidFill>
                  <a:srgbClr val="7C3AED"/>
                </a:solidFill>
                <a:latin typeface="Microsoft YaHei"/>
              </a:rPr>
              <a:t>Game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1847088"/>
            <a:ext cx="3337560" cy="12070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6B7280"/>
                </a:solidFill>
                <a:latin typeface="Microsoft YaHei"/>
              </a:rPr>
              <a:t>系统自动启用：更高 CPU/GPU 优先级、蓝牙采样率翻倍、降手柄/AirPods 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0416" y="1298448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6" y="1435607"/>
            <a:ext cx="329184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0D9488"/>
                </a:solidFill>
                <a:latin typeface="Microsoft YaHei"/>
              </a:rPr>
              <a:t>🎮  </a:t>
            </a:r>
            <a:r>
              <a:rPr sz="1150" b="1">
                <a:solidFill>
                  <a:srgbClr val="0D9488"/>
                </a:solidFill>
                <a:latin typeface="Microsoft YaHei"/>
              </a:rPr>
              <a:t>游戏手柄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1847088"/>
            <a:ext cx="3337560" cy="12070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6B7280"/>
                </a:solidFill>
                <a:latin typeface="Microsoft YaHei"/>
              </a:rPr>
              <a:t>Game Controller 框架原生支持第三方手柄，含触控板与自适应扳机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3337560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474720"/>
            <a:ext cx="329184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2820A"/>
                </a:solidFill>
                <a:latin typeface="Microsoft YaHei"/>
              </a:rPr>
              <a:t>🌈  </a:t>
            </a:r>
            <a:r>
              <a:rPr sz="1150" b="1">
                <a:solidFill>
                  <a:srgbClr val="C2820A"/>
                </a:solidFill>
                <a:latin typeface="Microsoft YaHei"/>
              </a:rPr>
              <a:t>HDR 自动校准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886200"/>
            <a:ext cx="3337560" cy="12070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6B7280"/>
                </a:solidFill>
                <a:latin typeface="Microsoft YaHei"/>
              </a:rPr>
              <a:t>EDR API 轮询最大值驱动色调映射，玩家无需手动校准屏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42232" y="3337560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5112" y="3474720"/>
            <a:ext cx="329184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059669"/>
                </a:solidFill>
                <a:latin typeface="Microsoft YaHei"/>
              </a:rPr>
              <a:t>🎧  </a:t>
            </a:r>
            <a:r>
              <a:rPr sz="1150" b="1">
                <a:solidFill>
                  <a:srgbClr val="059669"/>
                </a:solidFill>
                <a:latin typeface="Microsoft YaHei"/>
              </a:rPr>
              <a:t>头部追踪空间音频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3886200"/>
            <a:ext cx="3337560" cy="12070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6B7280"/>
                </a:solidFill>
                <a:latin typeface="Microsoft YaHei"/>
              </a:rPr>
              <a:t>AirPods 头部追踪空间音频默认开启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3337560"/>
            <a:ext cx="3657600" cy="184708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3474720"/>
            <a:ext cx="329184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580C"/>
                </a:solidFill>
                <a:latin typeface="Microsoft YaHei"/>
              </a:rPr>
              <a:t>☁️  </a:t>
            </a:r>
            <a:r>
              <a:rPr sz="1150" b="1">
                <a:solidFill>
                  <a:srgbClr val="EA580C"/>
                </a:solidFill>
                <a:latin typeface="Microsoft YaHei"/>
              </a:rPr>
              <a:t>iCloud 存档同步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3886200"/>
            <a:ext cx="3337560" cy="12070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6B7280"/>
                </a:solidFill>
                <a:latin typeface="Microsoft YaHei"/>
              </a:rPr>
              <a:t>iCloud Drive 集成 + 自研跨平台进度方案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19/28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TOUCH &amp; NO-CODE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触控游戏与空间无代码游戏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98448"/>
            <a:ext cx="5596128" cy="46634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298448"/>
            <a:ext cx="5596128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463040"/>
            <a:ext cx="521208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  <a:latin typeface="Microsoft YaHei"/>
              </a:rPr>
              <a:t>📱 Make Your Game Great with Touch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D9488"/>
                </a:solidFill>
                <a:latin typeface="Microsoft YaHei"/>
              </a:rPr>
              <a:t>Session 358 · 24:23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95728"/>
            <a:ext cx="5212080" cy="3383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1B2E"/>
                </a:solidFill>
                <a:latin typeface="Microsoft YaHei"/>
              </a:rPr>
              <a:t>Apple 持续投入触控原生游戏设计指导：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出色的屏幕虚拟控制器设计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触控手势与游戏机制的融合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让触控游戏在 iPhone/iPad「感觉对」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全屏游戏内容支持最佳实践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6B7280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意义：移动端是体量基本盘，触控体验直接决定留存与商业化。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96128" cy="46634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1298448"/>
            <a:ext cx="5596128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63040"/>
            <a:ext cx="521208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🚀 Design No-Code Games with RCP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D9488"/>
                </a:solidFill>
                <a:latin typeface="Microsoft YaHei"/>
              </a:rPr>
              <a:t>Session 252 · 18:53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395728"/>
            <a:ext cx="5212080" cy="3383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1B2E"/>
                </a:solidFill>
                <a:latin typeface="Microsoft YaHei"/>
              </a:rPr>
              <a:t>Reality Composer Pro 3 让无代码游戏成为现实：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可视化构建空间/3D 游戏场景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无需写代码即可设计交互逻辑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与 Xcode 深度集成扩展功能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● 面向 visionOS 空间计算平台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6B7280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意义：降低创作门槛，拓展游戏形态边界——空间游戏走向可规模化生产。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20/28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DATA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关键数据汇总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98448"/>
            <a:ext cx="3657600" cy="175564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63039"/>
            <a:ext cx="365760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7C3AED"/>
                </a:solidFill>
                <a:latin typeface="Microsoft YaHei"/>
              </a:rPr>
              <a:t>6 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48255"/>
            <a:ext cx="329184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游戏专属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95728"/>
            <a:ext cx="3291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移植/性能/触控/StoreKit/无代码/案例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42232" y="1298448"/>
            <a:ext cx="3657600" cy="175564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463039"/>
            <a:ext cx="365760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0D9488"/>
                </a:solidFill>
                <a:latin typeface="Microsoft YaHei"/>
              </a:rPr>
              <a:t>Metal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5112" y="2048255"/>
            <a:ext cx="329184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GPTK4 评估环境支持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2395728"/>
            <a:ext cx="3291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迁移从第一天对齐最新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16" y="1298448"/>
            <a:ext cx="3657600" cy="175564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416" y="1463039"/>
            <a:ext cx="365760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C2820A"/>
                </a:solidFill>
                <a:latin typeface="Microsoft YaHei"/>
              </a:rPr>
              <a:t>M5 Pro/Max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2048255"/>
            <a:ext cx="329184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神经加速器硬件底座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2395728"/>
            <a:ext cx="3291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MetalFX + Metal 张量算力来源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3218688"/>
            <a:ext cx="3657600" cy="175564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3383280"/>
            <a:ext cx="365760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2563EB"/>
                </a:solidFill>
                <a:latin typeface="Microsoft YaHei"/>
              </a:rPr>
              <a:t>3 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968496"/>
            <a:ext cx="329184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Games App 预装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15968"/>
            <a:ext cx="3291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iOS 26 / iPadOS 26 / macOS 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42232" y="3218688"/>
            <a:ext cx="3657600" cy="175564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3383280"/>
            <a:ext cx="365760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059669"/>
                </a:solidFill>
                <a:latin typeface="Microsoft YaHei"/>
              </a:rPr>
              <a:t>2 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968496"/>
            <a:ext cx="329184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全新命令行 GPU 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4315968"/>
            <a:ext cx="3291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gpucapture + gpudebug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0416" y="3218688"/>
            <a:ext cx="3657600" cy="1755648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0416" y="3383280"/>
            <a:ext cx="365760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EA580C"/>
                </a:solidFill>
                <a:latin typeface="Microsoft YaHei"/>
              </a:rPr>
              <a:t>3500万+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3296" y="3968496"/>
            <a:ext cx="3291840" cy="301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Cyberpunk 系列销量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4315968"/>
            <a:ext cx="3291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</a:rPr>
              <a:t>+ 1000万 Phantom Liberty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5166360"/>
            <a:ext cx="11411712" cy="96012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905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230368"/>
            <a:ext cx="109728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2820A"/>
                </a:solidFill>
                <a:latin typeface="Microsoft YaHei"/>
              </a:rPr>
              <a:t>📈 趋势判读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E"/>
                </a:solidFill>
                <a:latin typeface="Microsoft YaHei"/>
              </a:rPr>
              <a:t>三个'技术杠杆'全部对齐：① AI代理(降移植成本) ② 神经硬件(升画质帧率) ③ 系统入口(解发现难题)。叠加效应意味着 2026-2027 将是 Mac/iOS 3A 游戏供给的拐点期。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21/28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C7000B"/>
                </a:solidFill>
                <a:latin typeface="Microsoft Ya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7000B"/>
                </a:solidFill>
                <a:latin typeface="Microsoft YaHei"/>
              </a:rPr>
              <a:t>BENCHMARK · HUAWEI GAME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对标华为游戏中心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华为游戏中心是国内安卓/鸿蒙生态的头部分发平台，HMS Game Service 能力成熟。本章将 WWDC26 的关键能力与华为现状逐维对标，提炼 7 大可直接借鉴的演进方向。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22/28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HUAWEI GAME CENTER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华为游戏中心现状速览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70432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</a:rPr>
              <a:t>华为游戏中心是华为面向消费者的游戏分发与社交平台，叠加 HMS Game Service 开放能力与游戏空间性能优化，构成鸿蒙游戏生态核心。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572768"/>
            <a:ext cx="5596128" cy="21945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596128" cy="6400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" y="1719072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7000B"/>
                </a:solidFill>
                <a:latin typeface="Microsoft YaHei"/>
              </a:rPr>
              <a:t>🎮 分发与发现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76272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7000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游戏推荐/排行榜/分类/编辑精选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51176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7000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首页信息流 + 个性化推荐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26080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7000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预约首发 / 礼包福利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00984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7000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社区与内容运营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572768"/>
            <a:ext cx="5596128" cy="21945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63056" y="1572768"/>
            <a:ext cx="5596128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719072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  <a:latin typeface="Microsoft YaHei"/>
              </a:rPr>
              <a:t>🛠 HMS Game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176272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563E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华为帐号一键登录(玩家身份)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551176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563E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浮标 Game Floating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926080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563E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成就 / 排行榜 / 云存档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3300984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563EB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玩家统计 / 好友关系 / 防沉迷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3913632"/>
            <a:ext cx="5596128" cy="21945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913632"/>
            <a:ext cx="5596128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7" y="4059936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⚡ 游戏空间/助手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17136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59669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性能模式 CPU/GPU 调度优化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92040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59669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免打扰 + 网络加速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266944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59669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帧率/分辨率管理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641848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59669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触控与外设优化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3913632"/>
            <a:ext cx="5596128" cy="21945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3056" y="3913632"/>
            <a:ext cx="5596128" cy="64008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4059936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2820A"/>
                </a:solidFill>
                <a:latin typeface="Microsoft YaHei"/>
              </a:rPr>
              <a:t>💰 商业化与生态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517136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2820A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IAP 华为内付费 / 联运分成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4892040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2820A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Ads Kit 广告变现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5266944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2820A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HarmonyOS NEXT 原生游戏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5641848"/>
            <a:ext cx="5166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2820A"/>
                </a:solidFill>
                <a:latin typeface="Microsoft YaHei"/>
              </a:rPr>
              <a:t>● </a:t>
            </a:r>
            <a:r>
              <a:rPr sz="1000" b="0">
                <a:solidFill>
                  <a:srgbClr val="6B7280"/>
                </a:solidFill>
                <a:latin typeface="Microsoft YaHei"/>
              </a:rPr>
              <a:t>多设备协同(手机/平板/智慧屏/车机)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6263640"/>
            <a:ext cx="11411712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23/28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COMPARISON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WWDC26 vs 华为游戏中心：全维度对比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371600" cy="457200"/>
          </a:xfrm>
          <a:prstGeom prst="roundRect">
            <a:avLst>
              <a:gd name="adj" fmla="val 0"/>
            </a:avLst>
          </a:prstGeom>
          <a:solidFill>
            <a:srgbClr val="E8EEF6"/>
          </a:solidFill>
          <a:ln w="12700">
            <a:solidFill>
              <a:srgbClr val="C4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34440"/>
            <a:ext cx="12344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E"/>
                </a:solidFill>
                <a:latin typeface="Microsoft YaHei"/>
              </a:rPr>
              <a:t>维度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55648" y="1234440"/>
            <a:ext cx="3749039" cy="457200"/>
          </a:xfrm>
          <a:prstGeom prst="roundRect">
            <a:avLst>
              <a:gd name="adj" fmla="val 0"/>
            </a:avLst>
          </a:prstGeom>
          <a:solidFill>
            <a:srgbClr val="E8EEF6"/>
          </a:solidFill>
          <a:ln w="12700">
            <a:solidFill>
              <a:srgbClr val="C4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47088" y="1234440"/>
            <a:ext cx="3611879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7C3AED"/>
                </a:solidFill>
                <a:latin typeface="Microsoft YaHei"/>
              </a:rPr>
              <a:t>Apple WWDC26 新能力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04688" y="1234440"/>
            <a:ext cx="3749039" cy="457200"/>
          </a:xfrm>
          <a:prstGeom prst="roundRect">
            <a:avLst>
              <a:gd name="adj" fmla="val 0"/>
            </a:avLst>
          </a:prstGeom>
          <a:solidFill>
            <a:srgbClr val="E8EEF6"/>
          </a:solidFill>
          <a:ln w="12700">
            <a:solidFill>
              <a:srgbClr val="C4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6127" y="1234440"/>
            <a:ext cx="3611879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</a:rPr>
              <a:t>华为游戏中心现状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53728" y="1234440"/>
            <a:ext cx="2103120" cy="457200"/>
          </a:xfrm>
          <a:prstGeom prst="roundRect">
            <a:avLst>
              <a:gd name="adj" fmla="val 0"/>
            </a:avLst>
          </a:prstGeom>
          <a:solidFill>
            <a:srgbClr val="E8EEF6"/>
          </a:solidFill>
          <a:ln w="12700">
            <a:solidFill>
              <a:srgbClr val="C4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45167" y="1234440"/>
            <a:ext cx="19659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差距/机会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691640"/>
            <a:ext cx="137160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691640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移植工具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55648" y="1691640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7088" y="169164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GPTK4 AI Agent Skills 全流程自动化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04688" y="1691640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96127" y="169164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缺乏 AI 辅助迁移工具链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53728" y="1691640"/>
            <a:ext cx="210312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5167" y="1691640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2194560"/>
            <a:ext cx="137160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2194560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图形技术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55648" y="2194560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47088" y="219456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MetalFX 神经升频 + Metal 张量 + M5 NPU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04688" y="2194560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96127" y="219456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GPU 调度优化、Vulkan 渲染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53728" y="2194560"/>
            <a:ext cx="210312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45167" y="2194560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2697480"/>
            <a:ext cx="137160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2697480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GPU 调试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55648" y="2697480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47088" y="269748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gpucapture/gpudebug 命令行 AI 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04688" y="2697480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96127" y="269748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调试工具较少 AI 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3728" y="2697480"/>
            <a:ext cx="210312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45167" y="2697480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048" y="3200400"/>
            <a:ext cx="137160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3200400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游戏入口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55648" y="3200400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47088" y="320040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Games App 预装 + 5标签 + 社交推荐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04688" y="3200400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96127" y="320040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游戏中心 App 成熟、分发强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53728" y="3200400"/>
            <a:ext cx="210312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5167" y="3200400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048" y="3703320"/>
            <a:ext cx="137160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3703320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社交发现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755648" y="3703320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47088" y="370332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Game Center 自动登录 + Top Played 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3703320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96127" y="370332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好友/社区/排行榜成熟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53728" y="3703320"/>
            <a:ext cx="210312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45167" y="3703320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8" y="4206240"/>
            <a:ext cx="137160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5488" y="4206240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首发体验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755648" y="4206240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47088" y="420624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For this Mac 设备级智能画质预设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504688" y="4206240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96127" y="4206240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游戏空间性能模式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253728" y="4206240"/>
            <a:ext cx="210312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45167" y="4206240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中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4048" y="4709159"/>
            <a:ext cx="137160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4709159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分发效率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755648" y="4709159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47088" y="4709159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StoreKit Unity 插件/Steam 转换/分语言包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504688" y="4709159"/>
            <a:ext cx="3749039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596127" y="4709159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AppGallery 联运成熟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53728" y="4709159"/>
            <a:ext cx="2103120" cy="502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45167" y="4709159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中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84048" y="5212079"/>
            <a:ext cx="137160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5488" y="5212079"/>
            <a:ext cx="12344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新形态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55648" y="5212079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847088" y="5212079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Reality Composer Pro 3 无代码空间游戏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504688" y="5212079"/>
            <a:ext cx="3749039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596127" y="5212079"/>
            <a:ext cx="3611879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多设备协同(车机/智慧屏)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253728" y="5212079"/>
            <a:ext cx="2103120" cy="502920"/>
          </a:xfrm>
          <a:prstGeom prst="roundRect">
            <a:avLst>
              <a:gd name="adj" fmla="val 0"/>
            </a:avLst>
          </a:prstGeom>
          <a:solidFill>
            <a:srgbClr val="F7F9FC"/>
          </a:solidFill>
          <a:ln w="762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45167" y="5212079"/>
            <a:ext cx="19659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4048" y="580644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说明：差距评估基于公开能力对比，'大/中/小'指 Apple 新能力对华为的相对领先或互补空间。华为在分发体量与鸿蒙多设备协同上具备自身优势。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24/28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INSPIRATIONS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对华为游戏中心的启发（1-4）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371600"/>
            <a:ext cx="11411712" cy="10972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71600"/>
            <a:ext cx="82296" cy="10972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463040"/>
            <a:ext cx="82296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7C3AED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6304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打造鸿蒙原生游戏 AI 迁移助手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8503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借鉴 GPTK4 Agent Skills 模式，将鸿蒙/方舟图形知识封装为开源 Agent 技能，让 AI 代理自主完成安卓→鸿蒙 NEXT 的迁移、着色器转换与调试，大幅降低生态迁移成本。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719072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737360"/>
            <a:ext cx="14630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Microsoft YaHei"/>
              </a:rPr>
              <a:t>AI 移植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2578608"/>
            <a:ext cx="11411712" cy="10972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578608"/>
            <a:ext cx="82296" cy="10972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670048"/>
            <a:ext cx="82296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D9488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70048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探索 NPU+GPU 协同神经升频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35808"/>
            <a:ext cx="8503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华为 NPU 能力强大，可借鉴 MetalFX 思路做 NPU 辅助的时序升频/帧插值 SDK，让中端机型也能高画质高帧率运行重载游戏。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2926080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944368"/>
            <a:ext cx="14630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D9488"/>
                </a:solidFill>
                <a:latin typeface="Microsoft YaHei"/>
              </a:rPr>
              <a:t>神经图形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3785616"/>
            <a:ext cx="11411712" cy="10972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785616"/>
            <a:ext cx="82296" cy="10972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877056"/>
            <a:ext cx="82296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59669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77056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构建命令行 GPU 调试 + AI 诊断闭环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42816"/>
            <a:ext cx="8503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将图形调试工具命令行化，结合盘古/小艺大模型做自主抓帧-分析-定位-修复闭环，赋能开发者与代理工作流。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413308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4151376"/>
            <a:ext cx="14630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工具AI化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4992624"/>
            <a:ext cx="11411712" cy="10972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4992624"/>
            <a:ext cx="82296" cy="10972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084064"/>
            <a:ext cx="82296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A580C"/>
                </a:solidFill>
                <a:latin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84064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设备级智能画质预设（For this Device）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49824"/>
            <a:ext cx="8503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借鉴「For this Mac」，基于麒麟芯片型号/散热/屏幕能力自动配置最佳画质与帧率，开箱即优，降低玩家调参门槛。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0" y="5340096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5358384"/>
            <a:ext cx="14630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体验预设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25/28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INSPIRATIONS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对华为游戏中心的启发（5-7）+ 总结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371600"/>
            <a:ext cx="11411712" cy="10972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71600"/>
            <a:ext cx="82296" cy="1097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463040"/>
            <a:ext cx="82296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2563EB"/>
                </a:solidFill>
                <a:latin typeface="Microsoft Ya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6304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深化社交化游戏发现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8503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借鉴 Games App 的好友活动流 + Top Played 榜 + 自动登录推荐，将游戏中心从'分发货架'升级为'游戏社交入口'，提升自然发现与回流。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719072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737360"/>
            <a:ext cx="14630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</a:rPr>
              <a:t>社交发现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2578608"/>
            <a:ext cx="11411712" cy="10972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578608"/>
            <a:ext cx="82296" cy="1097280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670048"/>
            <a:ext cx="82296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C2820A"/>
                </a:solidFill>
                <a:latin typeface="Microsoft YaHei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70048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引擎插件 + 资源分包降加载摩擦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35808"/>
            <a:ext cx="8503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借鉴 StoreKit Unity 插件 + 分语言资源包 + 后台预下载，为 Unity/Unreal/Cocos 提供原生鸿蒙插件，并做按需资源分包，减少'下载到开玩'的等待。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2926080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944368"/>
            <a:ext cx="14630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分发效率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3785616"/>
            <a:ext cx="11411712" cy="10972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785616"/>
            <a:ext cx="82296" cy="10972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877056"/>
            <a:ext cx="82296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7C3AED"/>
                </a:solidFill>
                <a:latin typeface="Microsoft YaHei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77056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E"/>
                </a:solidFill>
                <a:latin typeface="Microsoft YaHei"/>
              </a:rPr>
              <a:t>鸿蒙多设备 + 空间游戏创新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42816"/>
            <a:ext cx="8503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华为在车机/智慧屏/平板多设备协同上有独特优势，可借鉴无代码游戏工具(RCP3)思路，打造鸿蒙可视化游戏编辑器，抢占多设备/空间游戏新赛道。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413308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EFF3F9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4151376"/>
            <a:ext cx="14630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Microsoft YaHei"/>
              </a:rPr>
              <a:t>新形态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5074920"/>
            <a:ext cx="11411712" cy="114300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905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138928"/>
            <a:ext cx="10972800" cy="1051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C7000B"/>
                </a:solidFill>
                <a:latin typeface="Microsoft YaHei"/>
              </a:rPr>
              <a:t>🎯 启发总结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E"/>
                </a:solidFill>
                <a:latin typeface="Microsoft YaHei"/>
              </a:rPr>
              <a:t>7 大启示可归为三层：① 基础设施层（AI迁移助手/神经升频/命令行AI调试）—— 补能力差；② 体验层（智能画质预设/社交发现）—— 强差异化；③ 生态层（引擎插件/多设备空间游戏）—— 抢新赛道。华为的核心优势在于 NPU 算力、鸿蒙多设备协同与国内分发体量，应以此为杠杆落地这些启示。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26/28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CONCLUSION &amp;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61B2E"/>
                </a:solidFill>
                <a:latin typeface="Microsoft YaHei"/>
              </a:rPr>
              <a:t>结论与行动建议（华为视角）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80160"/>
            <a:ext cx="11411712" cy="1143000"/>
          </a:xfrm>
          <a:prstGeom prst="roundRect">
            <a:avLst>
              <a:gd name="adj" fmla="val 6000"/>
            </a:avLst>
          </a:prstGeom>
          <a:solidFill>
            <a:srgbClr val="EFF3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★ 核心结论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E"/>
                </a:solidFill>
                <a:latin typeface="Microsoft YaHei"/>
              </a:rPr>
              <a:t>WWDC26 是 Apple 游戏战略分水岭：AI代理+神经图形+统一分发三位一体，系统性解决'移植难/性能差/发现难'。对华为而言，这不是威胁而是路线图——华为的 NPU 算力、鸿蒙多设备协同与分发体量，正是落地同等能力的关键杠杆。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2606040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▎华为行动路线图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2999232"/>
            <a:ext cx="2743200" cy="30175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999232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044951"/>
            <a:ext cx="2743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0-6月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3566160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立即可做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1363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59669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评估为 Unity/Cocos 发布鸿蒙原生 IAP/广告插件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7375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59669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游戏中心接入好友活动流 + Top Played 榜试点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999232"/>
            <a:ext cx="2743200" cy="30175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46120" y="2999232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3044951"/>
            <a:ext cx="2743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6-12月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79" y="3566160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D9488"/>
                </a:solidFill>
                <a:latin typeface="Microsoft YaHei"/>
              </a:rPr>
              <a:t>短期投入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391363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启动鸿蒙 AI 迁移助手 MVP（Agent Skills 开源）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487375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D9488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设备级智能画质预设（麒麟型号自适应）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2999232"/>
            <a:ext cx="2743200" cy="30175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08192" y="2999232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08192" y="3044951"/>
            <a:ext cx="2743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12-24月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352" y="3566160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2820A"/>
                </a:solidFill>
                <a:latin typeface="Microsoft YaHei"/>
              </a:rPr>
              <a:t>中期布局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91363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C2820A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NPU+GPU 神经升频 SDK + 命令行 AI 调试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487375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C2820A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资源分包 + 后台预下载降加载摩擦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4" y="2999232"/>
            <a:ext cx="2743200" cy="30175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70264" y="2999232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70264" y="3044951"/>
            <a:ext cx="2743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24月+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566160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7C3AED"/>
                </a:solidFill>
                <a:latin typeface="Microsoft YaHei"/>
              </a:rPr>
              <a:t>长期战略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6" y="391363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C3AED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鸿蒙可视化无代码游戏编辑器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4873751"/>
            <a:ext cx="24688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C3AED"/>
                </a:solidFill>
                <a:latin typeface="Microsoft YaHei"/>
              </a:rPr>
              <a:t>● </a:t>
            </a:r>
            <a:r>
              <a:rPr sz="880" b="0">
                <a:solidFill>
                  <a:srgbClr val="6B7280"/>
                </a:solidFill>
                <a:latin typeface="Microsoft YaHei"/>
              </a:rPr>
              <a:t>多设备/空间游戏新赛道抢占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27/28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APPENDIX &amp; 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9728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附录 · Session 索引与数据来源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10561320" cy="32004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40864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▎WWDC26 游戏/图形相关 Session 索引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743200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Keynote（含游戏战略定调）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2743200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76:14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26664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356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026664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Bringing Cyberpunk 2077 to Mac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3026664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27:54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0128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310128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Speedrun your game port with agentic coding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3310128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28:00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593592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3592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Find &amp; fix performance issues in Metal games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593592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21:01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77056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358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877056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Make your game great with touch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3877056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24:23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160520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378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4160520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Unlock in-game content with StoreKit &amp; Background Assets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4160520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9:59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443983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252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4443983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Design no-code games with Reality Composer Pro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4443983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18:53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27447"/>
            <a:ext cx="68580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820A"/>
                </a:solidFill>
                <a:latin typeface="Microsoft YaHei"/>
              </a:rPr>
              <a:t>359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727447"/>
            <a:ext cx="8046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Build real-time neural rendering pipelines with Metal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4727447"/>
            <a:ext cx="1188720" cy="246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AA5BC"/>
                </a:solidFill>
                <a:latin typeface="Microsoft YaHei"/>
              </a:rPr>
              <a:t>22:16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577840"/>
            <a:ext cx="10561320" cy="8686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632704"/>
            <a:ext cx="10241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📡 数据来源（已多轮交叉核验）：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Apple Developer 官方 WWDC26 Games/Metal Guide、What's New、Session 356/357 完整文字记录、Games App 与 GPTK 文档。华为部分基于 HMS Game Service 开放能力与华为游戏中心 App 公开功能。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65105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WWDC26 游戏技术洞察 · 对标华为游戏中心  |  2026.06  |  xhyha/insight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