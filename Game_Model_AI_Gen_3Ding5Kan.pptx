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0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Microsoft YaHei"/>
              </a:rPr>
              <a:t>GAME MODEL AI GENERATION · 游戏模型AI生成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9728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游戏模型 AI 生成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创新方向洞察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3定5看方法论 · 从趋势研判到战略落地 · 系统化识别游戏3D生成的创新机会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看趋势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3644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23644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看市场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看竞争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3572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3572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看自己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看机会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43500" y="3611880"/>
            <a:ext cx="566928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3500" y="3630168"/>
            <a:ext cx="566928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定位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5020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5020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定目标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9983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9983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定策略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46320"/>
            <a:ext cx="10561320" cy="77724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919472"/>
            <a:ext cx="1024128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核心判断：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通用3D生成已拥挤，但「</a:t>
            </a:r>
            <a:r>
              <a:rPr sz="1000" b="1">
                <a:solidFill>
                  <a:srgbClr val="DC2626"/>
                </a:solidFill>
                <a:latin typeface="Microsoft YaHei"/>
              </a:rPr>
              <a:t>游戏级拓扑 + Rig就绪 + 动画兼容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」的3D模型无人解决。这是技术窗口期内的最大蓝海。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4360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出品：xhyha/insight · 数据源：厂商官网/GitHub/Crunchbase/arXiv/行业报告 · 2026.06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1/21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82296" cy="56692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81912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81912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五看 · 看趋势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581912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AI 3D生成技术演进S曲线 · 产业拐点判断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194560"/>
            <a:ext cx="82296" cy="56692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1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221991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五看 · 看市场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221991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游戏美术市场规模TAM/SAM/SOM · 4类客户画像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34639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834639"/>
            <a:ext cx="82296" cy="56692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862071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A580C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62071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五看 · 看竞争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862071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竞争格局2D地图 · 8家竞品5维度评分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474720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474720"/>
            <a:ext cx="82296" cy="56692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502151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502151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五看 · 看自己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502151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能力盘点与差距分析 · 补齐路径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14800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114800"/>
            <a:ext cx="82296" cy="56692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142232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59669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142232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五看 · 看机会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142232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6大创新方向 · 优先级矩阵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754880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4754880"/>
            <a:ext cx="82296" cy="56692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82312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DC2626"/>
                </a:solidFill>
                <a:latin typeface="Microsoft Ya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782312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三定 · 定位+目标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782312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差异化战略定位 · 三阶段量化目标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94960"/>
            <a:ext cx="10561320" cy="5669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5394960"/>
            <a:ext cx="82296" cy="566928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422392"/>
            <a:ext cx="731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4F46E5"/>
                </a:solidFill>
                <a:latin typeface="Microsoft YaHe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422392"/>
            <a:ext cx="3474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E"/>
                </a:solidFill>
                <a:latin typeface="Microsoft YaHei"/>
              </a:rPr>
              <a:t>三定 · 定策略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422392"/>
            <a:ext cx="57607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12月路线图 · 资源配置 · 风险应对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2/21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3定5看 · 战略洞察方法论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420624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384047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</a:rPr>
              <a:t>五看 · 输入分析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92807"/>
            <a:ext cx="3840479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外部环境扫描 + 内部能力审视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221991"/>
            <a:ext cx="3840479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221991"/>
            <a:ext cx="64008" cy="65836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5856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看趋势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32887"/>
            <a:ext cx="365759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AI 3D生成技术演进 · S曲线 · 拐点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953511"/>
            <a:ext cx="3840479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2953511"/>
            <a:ext cx="64008" cy="65836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90087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看市场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64407"/>
            <a:ext cx="365759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游戏美术外包规模 · 客户分层需求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685031"/>
            <a:ext cx="3840479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685031"/>
            <a:ext cx="64008" cy="65836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721607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看竞争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95927"/>
            <a:ext cx="365759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竞品格局 · 能力维度评分 · 差异化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416551"/>
            <a:ext cx="3840479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4416551"/>
            <a:ext cx="64008" cy="65836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453127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看自己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727447"/>
            <a:ext cx="365759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技术能力盘点 · 核心差距识别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148071"/>
            <a:ext cx="3840479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5148071"/>
            <a:ext cx="64008" cy="65836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184647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看机会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458967"/>
            <a:ext cx="365759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创新方向矩阵 · 优先级排序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474720"/>
            <a:ext cx="1371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4F46E5"/>
                </a:solidFill>
                <a:latin typeface="Microsoft YaHe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886200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F46E5"/>
                </a:solidFill>
                <a:latin typeface="Microsoft YaHei"/>
              </a:rPr>
              <a:t>洞察整合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1508760"/>
            <a:ext cx="4206240" cy="457200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1600200"/>
            <a:ext cx="384047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F46E5"/>
                </a:solidFill>
                <a:latin typeface="Microsoft YaHei"/>
              </a:rPr>
              <a:t>三定 · 输出决策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892807"/>
            <a:ext cx="3840479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战略定位 + 量化目标 + 执行策略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2221991"/>
            <a:ext cx="3840479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58000" y="2221991"/>
            <a:ext cx="64008" cy="117043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59" y="2276856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定位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59" y="2587751"/>
            <a:ext cx="3657599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差异化战略选择：「游戏级3D生成平台」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3483863"/>
            <a:ext cx="3840479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0" y="3483863"/>
            <a:ext cx="64008" cy="1170432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59" y="3538727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定目标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3849624"/>
            <a:ext cx="3657599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三阶段：速赢(Q1-2) → 攻坚(Q3-4) → 突破(Y2)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4745736"/>
            <a:ext cx="3840479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858000" y="4745736"/>
            <a:ext cx="64008" cy="1170432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59" y="4800599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Microsoft YaHei"/>
              </a:rPr>
              <a:t>定策略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59" y="5111496"/>
            <a:ext cx="3657599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路线图 + 资源配置 + 风险应对 + 行动节奏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3/21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0D9488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9488"/>
                </a:solidFill>
                <a:latin typeface="Microsoft YaHei"/>
              </a:rPr>
              <a:t>FIVE LOOKS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五看 · 外部环境与内部能力扫描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看趋势 · 看市场 · 看竞争 · 看自己 · 看机会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4/21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看趋势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AI 3D生成技术演进 S 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572000"/>
            <a:ext cx="1056132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3063240"/>
            <a:ext cx="1417320" cy="13258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3063240"/>
            <a:ext cx="14173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92424"/>
            <a:ext cx="1325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9488"/>
                </a:solidFill>
                <a:latin typeface="Microsoft YaHei"/>
              </a:rPr>
              <a:t>NeRF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66744"/>
            <a:ext cx="13258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隐式表征突破
学术成果，渲染慢</a:t>
            </a:r>
          </a:p>
        </p:txBody>
      </p:sp>
      <p:sp>
        <p:nvSpPr>
          <p:cNvPr id="11" name="Oval 10"/>
          <p:cNvSpPr/>
          <p:nvPr/>
        </p:nvSpPr>
        <p:spPr>
          <a:xfrm>
            <a:off x="1316736" y="4507992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4663440"/>
            <a:ext cx="914400" cy="2011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81727"/>
            <a:ext cx="9144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0D9488"/>
                </a:solidFill>
                <a:latin typeface="Microsoft YaHei"/>
              </a:rPr>
              <a:t>学术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2606040"/>
            <a:ext cx="1417320" cy="13258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14600" y="2606040"/>
            <a:ext cx="1417320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60604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935224"/>
            <a:ext cx="1325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</a:rPr>
              <a:t>DreamFusion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209544"/>
            <a:ext cx="13258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文本→3D首次可行
SDS优化，分钟级</a:t>
            </a:r>
          </a:p>
        </p:txBody>
      </p:sp>
      <p:sp>
        <p:nvSpPr>
          <p:cNvPr id="19" name="Oval 18"/>
          <p:cNvSpPr/>
          <p:nvPr/>
        </p:nvSpPr>
        <p:spPr>
          <a:xfrm>
            <a:off x="3054096" y="450799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97479" y="4663440"/>
            <a:ext cx="914400" cy="2011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79" y="4681727"/>
            <a:ext cx="9144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原型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59" y="2103120"/>
            <a:ext cx="1417320" cy="13258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51959" y="2103120"/>
            <a:ext cx="1417320" cy="2743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210312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432303"/>
            <a:ext cx="1325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Microsoft YaHei"/>
              </a:rPr>
              <a:t>TripoSR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706624"/>
            <a:ext cx="13258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Feed-forward生成
单图→3D，秒级</a:t>
            </a:r>
          </a:p>
        </p:txBody>
      </p:sp>
      <p:sp>
        <p:nvSpPr>
          <p:cNvPr id="27" name="Oval 26"/>
          <p:cNvSpPr/>
          <p:nvPr/>
        </p:nvSpPr>
        <p:spPr>
          <a:xfrm>
            <a:off x="4791456" y="4507992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4840" y="4663440"/>
            <a:ext cx="914400" cy="2011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681727"/>
            <a:ext cx="9144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7C3AED"/>
                </a:solidFill>
                <a:latin typeface="Microsoft YaHei"/>
              </a:rPr>
              <a:t>产品化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1691640"/>
            <a:ext cx="1417320" cy="13258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89320" y="1691640"/>
            <a:ext cx="1417320" cy="27432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169164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020824"/>
            <a:ext cx="1325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A580C"/>
                </a:solidFill>
                <a:latin typeface="Microsoft YaHei"/>
              </a:rPr>
              <a:t>LRM/InstantMesh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295144"/>
            <a:ext cx="13258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大规模前馈重建
质量大幅提升</a:t>
            </a:r>
          </a:p>
        </p:txBody>
      </p:sp>
      <p:sp>
        <p:nvSpPr>
          <p:cNvPr id="35" name="Oval 34"/>
          <p:cNvSpPr/>
          <p:nvPr/>
        </p:nvSpPr>
        <p:spPr>
          <a:xfrm>
            <a:off x="6528816" y="4507992"/>
            <a:ext cx="128016" cy="128016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2200" y="4663440"/>
            <a:ext cx="914400" cy="2011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681727"/>
            <a:ext cx="9144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可用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26679" y="1874519"/>
            <a:ext cx="1417320" cy="13258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26679" y="1874519"/>
            <a:ext cx="1417320" cy="27432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26679" y="1874519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2024+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203703"/>
            <a:ext cx="1325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大模型原生3D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478024"/>
            <a:ext cx="13258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可控生成+多视图
拓扑质量待解</a:t>
            </a:r>
          </a:p>
        </p:txBody>
      </p:sp>
      <p:sp>
        <p:nvSpPr>
          <p:cNvPr id="43" name="Oval 42"/>
          <p:cNvSpPr/>
          <p:nvPr/>
        </p:nvSpPr>
        <p:spPr>
          <a:xfrm>
            <a:off x="8266175" y="4507992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909560" y="4663440"/>
            <a:ext cx="914400" cy="2011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4681727"/>
            <a:ext cx="9144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DC2626"/>
                </a:solidFill>
                <a:latin typeface="Microsoft YaHei"/>
              </a:rPr>
              <a:t>攻坚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64040" y="1508760"/>
            <a:ext cx="1417320" cy="13258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464040" y="1508760"/>
            <a:ext cx="1417320" cy="27432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150876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2025+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1837943"/>
            <a:ext cx="1325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Microsoft YaHei"/>
              </a:rPr>
              <a:t>游戏级3D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2112264"/>
            <a:ext cx="13258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Quad拓扑+Rig
动画就绪 — 拐点</a:t>
            </a:r>
          </a:p>
        </p:txBody>
      </p:sp>
      <p:sp>
        <p:nvSpPr>
          <p:cNvPr id="51" name="Oval 50"/>
          <p:cNvSpPr/>
          <p:nvPr/>
        </p:nvSpPr>
        <p:spPr>
          <a:xfrm>
            <a:off x="10003536" y="4507992"/>
            <a:ext cx="128016" cy="12801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646920" y="4663440"/>
            <a:ext cx="914400" cy="2011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46920" y="4681727"/>
            <a:ext cx="9144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拐点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" y="5029200"/>
            <a:ext cx="10561320" cy="73152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4128" y="5074920"/>
            <a:ext cx="1024128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趋势判断：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技术从「能生成」→「快速生成」→「高质量生成」→「可控生成」演进。当前处于</a:t>
            </a:r>
            <a:r>
              <a:rPr sz="950" b="1">
                <a:solidFill>
                  <a:srgbClr val="DC2626"/>
                </a:solidFill>
                <a:latin typeface="Microsoft YaHei"/>
              </a:rPr>
              <a:t>质量向产品化跃迁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的关键节点，</a:t>
            </a:r>
            <a:r>
              <a:rPr sz="950" b="1">
                <a:solidFill>
                  <a:srgbClr val="DC2626"/>
                </a:solidFill>
                <a:latin typeface="Microsoft YaHei"/>
              </a:rPr>
              <a:t>游戏级拓扑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是最后一个未解的硬骨头。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5/21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看趋势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关键技术收敛与产业拐点判断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1005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82296" cy="10058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17904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多视图重建 + Diffusion融合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810512"/>
            <a:ext cx="64008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LRM类前馈重建提供几何先验，Diffusion提供纹理/细节 → 质量接近手工建模阈值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517904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关键信号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810512"/>
            <a:ext cx="36576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InstantMesh / Tripo3D / OpenLRM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78608"/>
            <a:ext cx="10561320" cy="1005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578608"/>
            <a:ext cx="82296" cy="100584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33472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大规模3D预训练数据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926080"/>
            <a:ext cx="64008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Objaverse(800K+模型) +合成数据 → 生成多样性爆发，长尾需求可覆盖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63347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关键信号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926080"/>
            <a:ext cx="36576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Objaverse / G-Objaverse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94176"/>
            <a:ext cx="10561320" cy="1005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82296" cy="100584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749039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游戏管线约束倒逼拓扑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041648"/>
            <a:ext cx="64008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引擎导入要求(Quad拓扑/UV/法线) → 倒逼生成模型研究retopology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749039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关键信号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041648"/>
            <a:ext cx="36576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InstaLOD / QuadRemesher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09744"/>
            <a:ext cx="10561320" cy="1005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809744"/>
            <a:ext cx="82296" cy="10058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864607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Diffusion视频→3D动画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157216"/>
            <a:ext cx="64008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视频生成模型(如Sora) → 单视频可提取时序3D → 为3D动画提供新路径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864607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280"/>
                </a:solidFill>
                <a:latin typeface="Microsoft YaHei"/>
              </a:rPr>
              <a:t>关键信号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157216"/>
            <a:ext cx="36576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Sora / VideoCrafter / 4DGen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989320"/>
            <a:ext cx="10561320" cy="18288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6035040"/>
            <a:ext cx="10561320" cy="50292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6053328"/>
            <a:ext cx="10241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拐点判断：</a:t>
            </a:r>
            <a:r>
              <a:rPr sz="950" b="0">
                <a:solidFill>
                  <a:srgbClr val="FFFFFF"/>
                </a:solidFill>
                <a:latin typeface="Microsoft YaHei"/>
              </a:rPr>
              <a:t>2025-2026是从「Demo验证」到「产品化落地」的窗口期。越早解决拓扑/Rig/动画管线，越能建立先发壁垒。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6/21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看市场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游戏3D美术市场规模与增长驱动力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TAM · 全球游戏市场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19656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$200B+/年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93976"/>
            <a:ext cx="4846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Microsoft YaHei"/>
              </a:rPr>
              <a:t>游戏行业总收入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441448"/>
            <a:ext cx="4297679" cy="841248"/>
          </a:xfrm>
          <a:prstGeom prst="roundRect">
            <a:avLst>
              <a:gd name="adj" fmla="val 6000"/>
            </a:avLst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459736"/>
            <a:ext cx="402335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SAM · 游戏美术外包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52344"/>
            <a:ext cx="402335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$30-50B/年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26664"/>
            <a:ext cx="4023359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Microsoft YaHei"/>
              </a:rPr>
              <a:t>角色/场景/道具美术外包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19" y="3374136"/>
            <a:ext cx="3474720" cy="841248"/>
          </a:xfrm>
          <a:prstGeom prst="roundRect">
            <a:avLst>
              <a:gd name="adj" fmla="val 6000"/>
            </a:avLst>
          </a:prstGeom>
          <a:solidFill>
            <a:srgbClr val="4DA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79" y="3392424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SAM · 3D美术外包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79" y="3685032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$10-20B/年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79" y="3959352"/>
            <a:ext cx="3200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Microsoft YaHei"/>
              </a:rPr>
              <a:t>3D建模+材质+动画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4306824"/>
            <a:ext cx="2651759" cy="841248"/>
          </a:xfrm>
          <a:prstGeom prst="roundRect">
            <a:avLst>
              <a:gd name="adj" fmla="val 6000"/>
            </a:avLst>
          </a:prstGeom>
          <a:solidFill>
            <a:srgbClr val="4D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4325112"/>
            <a:ext cx="237743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SOM · AI 3D生成可获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17720"/>
            <a:ext cx="237743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$20-80M/年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892040"/>
            <a:ext cx="2377439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Microsoft YaHei"/>
              </a:rPr>
              <a:t>初期3-5年可触达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508760"/>
            <a:ext cx="4983480" cy="4526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00200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</a:rPr>
              <a:t>▎增长驱动力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011680"/>
            <a:ext cx="461772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0" y="2011680"/>
            <a:ext cx="54864" cy="5943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2029968"/>
            <a:ext cx="4434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3A游戏美术成本飙升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2304288"/>
            <a:ext cx="4434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单角色$5K-50K，全流程2-4周，AI可压缩90%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670048"/>
            <a:ext cx="461772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0" y="2670048"/>
            <a:ext cx="54864" cy="59436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2688336"/>
            <a:ext cx="4434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UGC平台爆发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2962656"/>
            <a:ext cx="4434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Roblox/Fortnite/UEFN → UGC创作者需3D素材量产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328415"/>
            <a:ext cx="461772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3328415"/>
            <a:ext cx="54864" cy="59436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3346703"/>
            <a:ext cx="4434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引擎集成需求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3621023"/>
            <a:ext cx="4434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Unity/UE急需AI插件 → 降低使用门槛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3986783"/>
            <a:ext cx="461772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0" y="3986783"/>
            <a:ext cx="54864" cy="5943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4005071"/>
            <a:ext cx="4434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AIGC认知普及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4279392"/>
            <a:ext cx="4434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Midjourney教育市场 → 3D是下一个自然延伸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4645151"/>
            <a:ext cx="461772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0" y="4645151"/>
            <a:ext cx="54864" cy="5943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93408" y="4663439"/>
            <a:ext cx="4434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硬件算力提升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3408" y="4937759"/>
            <a:ext cx="4434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消费级GPU可跑3D推理 → SaaS模式可行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5303519"/>
            <a:ext cx="461772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83680" y="5303519"/>
            <a:ext cx="54864" cy="5943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93408" y="5321807"/>
            <a:ext cx="4434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人才结构性短缺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5596127"/>
            <a:ext cx="4434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资深TA/3D美术师全球短缺 → AI替代刚需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7/21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看市场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4类客户画像 · 需求 / 痛点 / 付费意愿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166360" cy="21945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5166360" cy="36576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18288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3A 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508760"/>
            <a:ext cx="30632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Microsoft YaHei"/>
              </a:rPr>
              <a:t>EA / Ubisoft / 米哈游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48920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画像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质量门槛极高(4K+骨骼)
慢决策(6-12月评估)
预算充足($100K+/项目)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743200"/>
            <a:ext cx="4892040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07208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核心需求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拓扑精度
动画兼容性
管线集成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807208"/>
            <a:ext cx="2468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付费意愿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$$$
年付$50K-200K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5166360" cy="21945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508760"/>
            <a:ext cx="5166360" cy="3657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18288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中型CP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508760"/>
            <a:ext cx="30632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Microsoft YaHei"/>
              </a:rPr>
              <a:t>腾讯/网易二线
中型工作室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47672"/>
            <a:ext cx="48920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画像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质量+效率平衡
有TA团队但缺AI
预算中等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743200"/>
            <a:ext cx="4892040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807208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核心需求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快速原型
风格化生成
材质PBR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807208"/>
            <a:ext cx="2468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付费意愿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$$
年付$10K-50K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40479"/>
            <a:ext cx="5166360" cy="21945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3840479"/>
            <a:ext cx="5166360" cy="36576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840479"/>
            <a:ext cx="18288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独立开发者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840479"/>
            <a:ext cx="30632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Microsoft YaHei"/>
              </a:rPr>
              <a:t>Steam/手游
Solo/小团队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279392"/>
            <a:ext cx="48920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画像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快速出资产
价格敏感
非专业美术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5074919"/>
            <a:ext cx="4892040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138927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核心需求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易用性
免费/低价
预设模板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79" y="5138927"/>
            <a:ext cx="2468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付费意愿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$
月付$0-30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840479"/>
            <a:ext cx="5166360" cy="21945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72200" y="3840479"/>
            <a:ext cx="5166360" cy="3657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840479"/>
            <a:ext cx="18288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引擎/平台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3840479"/>
            <a:ext cx="30632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Microsoft YaHei"/>
              </a:rPr>
              <a:t>Unity / Roblox
Epic / 字节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279392"/>
            <a:ext cx="48920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画像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生态规模效应
需API/SDK集成
千万级用户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074919"/>
            <a:ext cx="4892040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138927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核心需求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API稳定性
并发能力
分润模式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138927"/>
            <a:ext cx="2468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付费意愿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$$$
分润/量计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8/21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看竞争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竞争格局全景地图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554480"/>
            <a:ext cx="9052560" cy="3931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1554480"/>
            <a:ext cx="18288" cy="3931920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4480" y="3520439"/>
            <a:ext cx="9052560" cy="18288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5532120"/>
            <a:ext cx="90525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← 生成质量（低）                                    生成质量（高）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1591056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↑ 高集成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5212080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9AA5BC"/>
                </a:solidFill>
                <a:latin typeface="Microsoft YaHei"/>
              </a:rPr>
              <a:t>↓ 低集成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6582" y="1828800"/>
            <a:ext cx="1371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6B7280"/>
                </a:solidFill>
                <a:latin typeface="Microsoft YaHei"/>
              </a:rPr>
              <a:t>单点工具区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7067" y="521208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高质量·碎片化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6582" y="4983480"/>
            <a:ext cx="1371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AA5BC"/>
                </a:solidFill>
                <a:latin typeface="Microsoft YaHei"/>
              </a:rPr>
              <a:t>免费/低端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67067" y="1609344"/>
            <a:ext cx="3077870" cy="1572768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8644" y="1645920"/>
            <a:ext cx="25347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🎯 目标区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DC2626"/>
                </a:solidFill>
                <a:latin typeface="Microsoft YaHei"/>
              </a:rPr>
              <a:t>游戏级 + 全链路</a:t>
            </a:r>
          </a:p>
        </p:txBody>
      </p:sp>
      <p:sp>
        <p:nvSpPr>
          <p:cNvPr id="16" name="Oval 15"/>
          <p:cNvSpPr/>
          <p:nvPr/>
        </p:nvSpPr>
        <p:spPr>
          <a:xfrm>
            <a:off x="7298740" y="4275734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63332" y="4239158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3332" y="4257446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Meshy.ai</a:t>
            </a:r>
          </a:p>
        </p:txBody>
      </p:sp>
      <p:sp>
        <p:nvSpPr>
          <p:cNvPr id="19" name="Oval 18"/>
          <p:cNvSpPr/>
          <p:nvPr/>
        </p:nvSpPr>
        <p:spPr>
          <a:xfrm>
            <a:off x="6121908" y="4511649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6500" y="4475073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6500" y="4493361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0D9488"/>
                </a:solidFill>
                <a:latin typeface="Microsoft YaHei"/>
              </a:rPr>
              <a:t>Luma Genie</a:t>
            </a:r>
          </a:p>
        </p:txBody>
      </p:sp>
      <p:sp>
        <p:nvSpPr>
          <p:cNvPr id="22" name="Oval 21"/>
          <p:cNvSpPr/>
          <p:nvPr/>
        </p:nvSpPr>
        <p:spPr>
          <a:xfrm>
            <a:off x="7932420" y="4668926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97012" y="4632350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7012" y="4650638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7C3AED"/>
                </a:solidFill>
                <a:latin typeface="Microsoft YaHei"/>
              </a:rPr>
              <a:t>Rodin(Deemos)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0" y="4197096"/>
            <a:ext cx="146304" cy="146304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833872" y="4160520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3872" y="4178808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0891B2"/>
                </a:solidFill>
                <a:latin typeface="Microsoft YaHei"/>
              </a:rPr>
              <a:t>CSM</a:t>
            </a:r>
          </a:p>
        </p:txBody>
      </p:sp>
      <p:sp>
        <p:nvSpPr>
          <p:cNvPr id="28" name="Oval 27"/>
          <p:cNvSpPr/>
          <p:nvPr/>
        </p:nvSpPr>
        <p:spPr>
          <a:xfrm>
            <a:off x="4311396" y="2545689"/>
            <a:ext cx="146304" cy="14630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75988" y="2509113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5988" y="2527401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Microsoft YaHei"/>
              </a:rPr>
              <a:t>Wonder Dynamics</a:t>
            </a:r>
          </a:p>
        </p:txBody>
      </p:sp>
      <p:sp>
        <p:nvSpPr>
          <p:cNvPr id="31" name="Oval 30"/>
          <p:cNvSpPr/>
          <p:nvPr/>
        </p:nvSpPr>
        <p:spPr>
          <a:xfrm>
            <a:off x="3677716" y="2820924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42308" y="2784348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2308" y="2802636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Microsoft YaHei"/>
              </a:rPr>
              <a:t>Kinetix</a:t>
            </a:r>
          </a:p>
        </p:txBody>
      </p:sp>
      <p:sp>
        <p:nvSpPr>
          <p:cNvPr id="34" name="Oval 33"/>
          <p:cNvSpPr/>
          <p:nvPr/>
        </p:nvSpPr>
        <p:spPr>
          <a:xfrm>
            <a:off x="2953512" y="3214115"/>
            <a:ext cx="146304" cy="146304"/>
          </a:xfrm>
          <a:prstGeom prst="ellipse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118104" y="3177539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18104" y="3195827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Mixamo(Adobe)</a:t>
            </a:r>
          </a:p>
        </p:txBody>
      </p:sp>
      <p:sp>
        <p:nvSpPr>
          <p:cNvPr id="37" name="Oval 36"/>
          <p:cNvSpPr/>
          <p:nvPr/>
        </p:nvSpPr>
        <p:spPr>
          <a:xfrm>
            <a:off x="4945075" y="4786883"/>
            <a:ext cx="146304" cy="14630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109667" y="4750307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09667" y="4768596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6B7280"/>
                </a:solidFill>
                <a:latin typeface="Microsoft YaHei"/>
              </a:rPr>
              <a:t>Sloyd</a:t>
            </a:r>
          </a:p>
        </p:txBody>
      </p:sp>
      <p:sp>
        <p:nvSpPr>
          <p:cNvPr id="40" name="Oval 39"/>
          <p:cNvSpPr/>
          <p:nvPr/>
        </p:nvSpPr>
        <p:spPr>
          <a:xfrm>
            <a:off x="6755587" y="2938881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920179" y="2902305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20179" y="2920593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DC2626"/>
                </a:solidFill>
                <a:latin typeface="Microsoft YaHei"/>
              </a:rPr>
              <a:t>腾讯/网易(内部)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5715000"/>
            <a:ext cx="10561320" cy="54864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" y="5742432"/>
            <a:ext cx="102412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洞察：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右上角「高质量+全链路集成」几乎空白。竞品集中在「单点工具」或「通用生成」，</a:t>
            </a:r>
            <a:r>
              <a:rPr sz="950" b="1">
                <a:solidFill>
                  <a:srgbClr val="DC2626"/>
                </a:solidFill>
                <a:latin typeface="Microsoft YaHei"/>
              </a:rPr>
              <a:t>无人同时解决拓扑质量+Rig+动画管线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9/21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看竞争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竞品能力 5 维度评分表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508760" cy="50292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63040"/>
            <a:ext cx="150876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竞品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463040"/>
            <a:ext cx="1527048" cy="50292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46304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生成质量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0208" y="1463040"/>
            <a:ext cx="1527048" cy="50292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0208" y="146304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生成速度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2976" y="1463040"/>
            <a:ext cx="1527048" cy="50292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2976" y="146304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拓扑/UV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95744" y="1463040"/>
            <a:ext cx="1527048" cy="50292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4" y="146304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可控性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68512" y="1463040"/>
            <a:ext cx="1527048" cy="50292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146304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生态/集成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146304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1463040"/>
            <a:ext cx="1828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定位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1965960"/>
            <a:ext cx="1508760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965960"/>
            <a:ext cx="150876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Meshy.ai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196596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196596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196596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0208" y="196596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★★★★★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22976" y="196596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22976" y="196596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AA5BC"/>
                </a:solidFill>
                <a:latin typeface="Microsoft YaHei"/>
              </a:rPr>
              <a:t>★☆☆☆☆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95744" y="196596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5744" y="196596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68512" y="196596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196596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1965960"/>
            <a:ext cx="1828800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1965960"/>
            <a:ext cx="1828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文本→3D SaaS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2468880"/>
            <a:ext cx="1508760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2468880"/>
            <a:ext cx="150876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Luma Genie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77440" y="246888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246888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50208" y="246888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50208" y="246888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22976" y="246888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22976" y="246888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AA5BC"/>
                </a:solidFill>
                <a:latin typeface="Microsoft YaHei"/>
              </a:rPr>
              <a:t>★☆☆☆☆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95744" y="246888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95744" y="246888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68512" y="246888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8512" y="246888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AA5BC"/>
                </a:solidFill>
                <a:latin typeface="Microsoft YaHei"/>
              </a:rPr>
              <a:t>★☆☆☆☆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41280" y="2468880"/>
            <a:ext cx="1828800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1280" y="2468880"/>
            <a:ext cx="1828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通用3D生成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2971800"/>
            <a:ext cx="1508760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2971800"/>
            <a:ext cx="150876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Rodin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77440" y="297180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77440" y="297180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50208" y="297180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50208" y="297180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22976" y="297180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22976" y="297180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95744" y="297180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95744" y="297180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68512" y="297180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68512" y="297180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2971800"/>
            <a:ext cx="1828800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41280" y="2971800"/>
            <a:ext cx="1828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专业3D创作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" y="3474720"/>
            <a:ext cx="1508760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" y="3474720"/>
            <a:ext cx="150876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Wonder Dynamics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377440" y="347472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77440" y="347472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50208" y="347472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50208" y="347472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522976" y="347472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22976" y="347472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095744" y="347472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95744" y="347472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68512" y="347472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68512" y="347472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241280" y="3474720"/>
            <a:ext cx="1828800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41280" y="3474720"/>
            <a:ext cx="1828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视频→动画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2960" y="3977639"/>
            <a:ext cx="1508760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8" y="3977639"/>
            <a:ext cx="150876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Mixamo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377440" y="3977639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77440" y="3977639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950208" y="3977639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50208" y="3977639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★★★★★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522976" y="3977639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22976" y="3977639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AA5BC"/>
                </a:solidFill>
                <a:latin typeface="Microsoft YaHei"/>
              </a:rPr>
              <a:t>★☆☆☆☆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095744" y="3977639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095744" y="3977639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668512" y="3977639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68512" y="3977639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241280" y="3977639"/>
            <a:ext cx="1828800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241280" y="3977639"/>
            <a:ext cx="1828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免费Rig(仅人形)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2960" y="4480560"/>
            <a:ext cx="1508760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248" y="4480560"/>
            <a:ext cx="150876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Kinetix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377440" y="448056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377440" y="448056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950208" y="448056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50208" y="448056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522976" y="448056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22976" y="448056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AA5BC"/>
                </a:solidFill>
                <a:latin typeface="Microsoft YaHei"/>
              </a:rPr>
              <a:t>★☆☆☆☆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095744" y="448056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095744" y="448056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★★☆☆☆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668512" y="448056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668512" y="448056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★★★☆☆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241280" y="4480560"/>
            <a:ext cx="1828800" cy="50292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41280" y="4480560"/>
            <a:ext cx="1828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视频→动画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22960" y="4983480"/>
            <a:ext cx="1508760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41248" y="4983480"/>
            <a:ext cx="150876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InstaLOD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377440" y="498348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377440" y="498348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AA5BC"/>
                </a:solidFill>
                <a:latin typeface="Microsoft YaHei"/>
              </a:rPr>
              <a:t>☆☆☆☆☆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950208" y="498348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50208" y="498348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★★★★★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522976" y="498348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522976" y="498348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★★★★★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095744" y="498348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095744" y="498348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668512" y="4983480"/>
            <a:ext cx="1527048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68512" y="4983480"/>
            <a:ext cx="15270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241280" y="4983480"/>
            <a:ext cx="1828800" cy="50292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241280" y="4983480"/>
            <a:ext cx="1828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拓扑/LOD(非生成)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22960" y="5669280"/>
            <a:ext cx="10561320" cy="59436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24128" y="5696712"/>
            <a:ext cx="102412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关键发现：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「拓扑/UV」是</a:t>
            </a:r>
            <a:r>
              <a:rPr sz="950" b="1">
                <a:solidFill>
                  <a:srgbClr val="DC2626"/>
                </a:solidFill>
                <a:latin typeface="Microsoft YaHei"/>
              </a:rPr>
              <a:t>所有生成类竞品的共同短板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（最高仅2★）。InstaLOD有拓扑能力但无生成能力。两者结合=巨大差异化机会。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10/21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看自己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能力盘点与差距分析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08760"/>
            <a:ext cx="3200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AI/3D生成算法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Diffusion/NeRF经验
有3D重建基础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1371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当前 3/5 → 目标 5/5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78892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2788920"/>
            <a:ext cx="1865376" cy="128016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" y="2953512"/>
            <a:ext cx="310896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2953512"/>
            <a:ext cx="3108960" cy="3657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3081528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99815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差距：拓扑生成
+游戏级微调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50876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508760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508760"/>
            <a:ext cx="3200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工程化/产品化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192024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SaaS经验
API/SDK能力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514600"/>
            <a:ext cx="1371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当前 4/5 → 目标 5/5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8848" y="278892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98848" y="2788920"/>
            <a:ext cx="2487168" cy="12801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2953512"/>
            <a:ext cx="310896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98848" y="2953512"/>
            <a:ext cx="3108960" cy="3657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98848" y="3081528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099815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基本达标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150876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79" y="1508760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7" y="1508760"/>
            <a:ext cx="3200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游戏管线(TA)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7" y="1920240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缺乏资深TA
无引擎插件经验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7" y="2514600"/>
            <a:ext cx="1371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当前 1/5 → 目标 5/5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7" y="278892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65007" y="2788920"/>
            <a:ext cx="621792" cy="128016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5007" y="2953512"/>
            <a:ext cx="310896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65007" y="2953512"/>
            <a:ext cx="3108960" cy="3657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65007" y="3081528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59" y="3099815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核心短板
急需补齐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3840479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" y="3840479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3840479"/>
            <a:ext cx="3200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拓扑/几何处理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251959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有基础算法了解
无Quad retopo经验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846319"/>
            <a:ext cx="1371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当前 2/5 → 目标 5/5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" y="512064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32688" y="5120640"/>
            <a:ext cx="1243584" cy="128016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2688" y="5285231"/>
            <a:ext cx="310896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32688" y="5285231"/>
            <a:ext cx="3108960" cy="3657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32688" y="5413247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431536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关键技术债务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89120" y="3840479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89120" y="3840479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8848" y="3840479"/>
            <a:ext cx="3200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引擎集成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8848" y="4251959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无UE/Unity插件
无管线集成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98848" y="4846319"/>
            <a:ext cx="1371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当前 1/5 → 目标 5/5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98848" y="512064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498848" y="5120640"/>
            <a:ext cx="621792" cy="128016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98848" y="5285231"/>
            <a:ext cx="310896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498848" y="5285231"/>
            <a:ext cx="3108960" cy="3657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498848" y="5413247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0" y="5431536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需从零建设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55279" y="3840479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955279" y="3840479"/>
            <a:ext cx="3383280" cy="347472"/>
          </a:xfrm>
          <a:prstGeom prst="roundRect">
            <a:avLst>
              <a:gd name="adj" fmla="val 8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65007" y="3840479"/>
            <a:ext cx="3200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行业资源/BD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65007" y="4251959"/>
            <a:ext cx="3200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无3A客户关系
无引擎厂商合作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65007" y="4846319"/>
            <a:ext cx="1371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C2820A"/>
                </a:solidFill>
                <a:latin typeface="Microsoft YaHei"/>
              </a:rPr>
              <a:t>当前 2/5 → 目标 5/5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65007" y="5120640"/>
            <a:ext cx="3108960" cy="128016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065007" y="5120640"/>
            <a:ext cx="1243584" cy="128016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65007" y="5285231"/>
            <a:ext cx="3108960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065007" y="5285231"/>
            <a:ext cx="3108960" cy="36576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065007" y="5413247"/>
            <a:ext cx="31089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38159" y="5431536"/>
            <a:ext cx="3017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C2820A"/>
                </a:solidFill>
                <a:latin typeface="Microsoft YaHei"/>
              </a:rPr>
              <a:t>需BD拓展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11/21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看机会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6大创新方向 · 优先级矩阵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828800"/>
            <a:ext cx="6858000" cy="3840480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3749039"/>
            <a:ext cx="6858000" cy="18288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89320" y="1828800"/>
            <a:ext cx="18288" cy="3840480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15184" y="1847088"/>
            <a:ext cx="914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速赢区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6B7280"/>
                </a:solidFill>
                <a:latin typeface="Microsoft YaHei"/>
              </a:rPr>
              <a:t>高影响·低门槛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47088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战略制高点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6B7280"/>
                </a:solidFill>
                <a:latin typeface="Microsoft YaHei"/>
              </a:rPr>
              <a:t>高影响·高门槛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5184" y="5358384"/>
            <a:ext cx="914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补位区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9AA5BC"/>
                </a:solidFill>
                <a:latin typeface="Microsoft YaHei"/>
              </a:rPr>
              <a:t>低影响·低门槛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5358384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9AA5BC"/>
                </a:solidFill>
                <a:latin typeface="Microsoft YaHei"/>
              </a:rPr>
              <a:t>暂缓区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9AA5BC"/>
                </a:solidFill>
                <a:latin typeface="Microsoft YaHei"/>
              </a:rPr>
              <a:t>低影响·高门槛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554480"/>
            <a:ext cx="6858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影响力（高 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696712"/>
            <a:ext cx="6858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技术门槛/投入（低 ← → 高）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2170785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179929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自动Rig+Skin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785262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794406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AI材质PBR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79" y="2017166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79" y="2026310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文本→3D模型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5020" y="2938881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5020" y="2948025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AI动画重定向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3169310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3178454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风格化生成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89220" y="3937406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9220" y="3946550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智能LOD优化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1463040"/>
            <a:ext cx="1600200" cy="43891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1536192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Microsoft YaHei"/>
              </a:rPr>
              <a:t>方向速览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1920240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#1 文本→3D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最高影响·最高门槛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542032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D9488"/>
                </a:solidFill>
                <a:latin typeface="Microsoft YaHei"/>
              </a:rPr>
              <a:t>#2 AI材质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中高影响·中门槛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3163824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#3 Auto-Rig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高影响·低门槛=速赢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3785616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7C3AED"/>
                </a:solidFill>
                <a:latin typeface="Microsoft YaHei"/>
              </a:rPr>
              <a:t>#4 AI动画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中影响·中门槛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407408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C2820A"/>
                </a:solidFill>
                <a:latin typeface="Microsoft YaHei"/>
              </a:rPr>
              <a:t>#5 风格化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高影响·高门槛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029200"/>
            <a:ext cx="1463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#6 LOD优化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中影响·中低门槛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1463040"/>
            <a:ext cx="1691640" cy="438912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4352" y="1536192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Microsoft YaHei"/>
              </a:rPr>
              <a:t>行动建议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74352" y="1920240"/>
            <a:ext cx="15544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47504" y="195681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Q1 速赢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47504" y="2249424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Auto-Rig MVP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74352" y="2788920"/>
            <a:ext cx="15544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47504" y="282549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Q2 攻坚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7504" y="3118103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3D生成+拓扑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74352" y="3657600"/>
            <a:ext cx="15544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47504" y="369417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Q3 扩展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47504" y="3986784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材质+动画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74352" y="4526280"/>
            <a:ext cx="155448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47504" y="4562856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Q4 突破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7504" y="4855464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风格化+全链路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12/21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4F46E5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Microsoft YaHei"/>
              </a:rPr>
              <a:t>THREE DEFINES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三定 · 战略定位与执行策略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定位 · 定目标 · 定策略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13/21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差异化战略定位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114300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1014984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战略定位：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「游戏级 3D 生成平台」</a:t>
            </a:r>
            <a:r>
              <a:rPr sz="1000" b="0">
                <a:solidFill>
                  <a:srgbClr val="E0E7FF"/>
                </a:solidFill>
                <a:latin typeface="Microsoft YaHei"/>
              </a:rPr>
              <a:t> — 不是通用3D生成，而是聚焦</a:t>
            </a:r>
            <a:r>
              <a:rPr sz="1000" b="1">
                <a:solidFill>
                  <a:srgbClr val="FBBF24"/>
                </a:solidFill>
                <a:latin typeface="Microsoft YaHei"/>
              </a:rPr>
              <a:t>拓扑可控 + Rig就绪 + 动画兼容 + PBR标准</a:t>
            </a:r>
            <a:r>
              <a:rPr sz="1000" b="0">
                <a:solidFill>
                  <a:srgbClr val="E0E7FF"/>
                </a:solidFill>
                <a:latin typeface="Microsoft YaHei"/>
              </a:rPr>
              <a:t>的完整游戏美术管线。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0561320" cy="320040"/>
          </a:xfrm>
          <a:prstGeom prst="roundRect">
            <a:avLst>
              <a:gd name="adj" fmla="val 3000"/>
            </a:avLst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761488"/>
            <a:ext cx="102412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C2626"/>
                </a:solidFill>
                <a:latin typeface="Microsoft YaHei"/>
              </a:rPr>
              <a:t>▎差异化对比：我们 vs 竞品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27248"/>
            <a:ext cx="2743200" cy="384048"/>
          </a:xfrm>
          <a:prstGeom prst="roundRect">
            <a:avLst>
              <a:gd name="adj" fmla="val 2000"/>
            </a:avLst>
          </a:prstGeom>
          <a:solidFill>
            <a:srgbClr val="4F46E5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27248"/>
            <a:ext cx="26517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127248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4F46E5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127248"/>
            <a:ext cx="3840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通用3D生成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127248"/>
            <a:ext cx="3794760" cy="384048"/>
          </a:xfrm>
          <a:prstGeom prst="roundRect">
            <a:avLst>
              <a:gd name="adj" fmla="val 2000"/>
            </a:avLst>
          </a:prstGeom>
          <a:solidFill>
            <a:srgbClr val="4F46E5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127248"/>
            <a:ext cx="3703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我们：游戏级3D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38728"/>
            <a:ext cx="274320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38728"/>
            <a:ext cx="26517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拓扑质量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538728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538728"/>
            <a:ext cx="3840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三角面/自动Remesh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538728"/>
            <a:ext cx="379476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3538728"/>
            <a:ext cx="3703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Quad-dominant 可控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50208"/>
            <a:ext cx="274320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50208"/>
            <a:ext cx="26517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Rig就绪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3950208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3950208"/>
            <a:ext cx="3840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无骨骼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950208"/>
            <a:ext cx="379476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3950208"/>
            <a:ext cx="3703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自动Rig+权重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361688"/>
            <a:ext cx="274320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361688"/>
            <a:ext cx="26517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动画兼容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4361688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4361688"/>
            <a:ext cx="3840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静态模型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4361688"/>
            <a:ext cx="379476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4361688"/>
            <a:ext cx="3703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引擎可直接K帧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773168"/>
            <a:ext cx="274320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773168"/>
            <a:ext cx="26517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PBR材质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4773168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4773168"/>
            <a:ext cx="3840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单色/简单贴图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0" y="4773168"/>
            <a:ext cx="379476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4773168"/>
            <a:ext cx="3703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全通道(Metal/Rough/Norm)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184648"/>
            <a:ext cx="274320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184648"/>
            <a:ext cx="26517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LOD支持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11880" y="5184648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5184648"/>
            <a:ext cx="3840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89520" y="5184648"/>
            <a:ext cx="3794760" cy="384048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5184648"/>
            <a:ext cx="3703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AI感知自动减面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5596128"/>
            <a:ext cx="274320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596128"/>
            <a:ext cx="26517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引擎集成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11880" y="5596128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5596128"/>
            <a:ext cx="3840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导出FBX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9520" y="5596128"/>
            <a:ext cx="379476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40" y="5596128"/>
            <a:ext cx="3703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Unity/UE原生插件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14/21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定目标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三阶段量化目标 · 从速赢到突破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38328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3383280" cy="77724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81328"/>
            <a:ext cx="31638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Phase 1 · 速赢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316382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Q1-Q2 · 3-6个月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316382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证明价值 · 快速验证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377440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2377440"/>
            <a:ext cx="54864" cy="80467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414016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Auto-Rig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2706624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覆盖人形+5类非人形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255264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" y="3255264"/>
            <a:ext cx="54864" cy="80467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291840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3D生成Demo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3584448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文本→3D原型(不追求拓扑)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133087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4133087"/>
            <a:ext cx="54864" cy="80467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4169663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首个付费客户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462272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中型CP试用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" y="5010912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" y="5010912"/>
            <a:ext cx="54864" cy="80467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5047488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团队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5340096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3人(1AI+1TA+1全栈)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" y="5907023"/>
            <a:ext cx="3163824" cy="4114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907023"/>
            <a:ext cx="316382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目标: 首个付费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1463040"/>
            <a:ext cx="338328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9120" y="1463040"/>
            <a:ext cx="3383280" cy="777240"/>
          </a:xfrm>
          <a:prstGeom prst="roundRect">
            <a:avLst>
              <a:gd name="adj" fmla="val 6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8848" y="1481328"/>
            <a:ext cx="31638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Phase 2 · 攻坚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1755648"/>
            <a:ext cx="316382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Q3-Q4 · 6-12个月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2029968"/>
            <a:ext cx="316382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攻克技术核心 · 产品化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98848" y="2377440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98848" y="2377440"/>
            <a:ext cx="54864" cy="80467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8576" y="2414016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游戏级拓扑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576" y="2706624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Quad retopo达标(&lt;5K面)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98848" y="3255264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98848" y="3255264"/>
            <a:ext cx="54864" cy="80467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08576" y="3291840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材质PBR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08576" y="3584448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全通道一键生成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98848" y="4133087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98848" y="4133087"/>
            <a:ext cx="54864" cy="80467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08576" y="4169663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Pipeline集成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8576" y="4462272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生成→材质→Rig串联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98848" y="5010912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98848" y="5010912"/>
            <a:ext cx="54864" cy="80467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08576" y="5047488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团队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8576" y="5340096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6人(+图形学+产品+测试)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98848" y="5907023"/>
            <a:ext cx="3163824" cy="4114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98848" y="5907023"/>
            <a:ext cx="316382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目标: Pipeline v0.5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55279" y="1463040"/>
            <a:ext cx="338328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955279" y="1463040"/>
            <a:ext cx="3383280" cy="77724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65007" y="1481328"/>
            <a:ext cx="31638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Phase 3 · 突破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65007" y="1755648"/>
            <a:ext cx="3163824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Y2 · 12-24个月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65007" y="2029968"/>
            <a:ext cx="316382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端到端 · 商业化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65007" y="2377440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065007" y="2377440"/>
            <a:ext cx="54864" cy="80467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74736" y="2414016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端到端生成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74736" y="2706624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文本→游戏角色(&lt;1h)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65007" y="3255264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065007" y="3255264"/>
            <a:ext cx="54864" cy="80467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74736" y="3291840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引擎插件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74736" y="3584448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Unity/UE官方Marketplace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65007" y="4133087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065007" y="4133087"/>
            <a:ext cx="54864" cy="80467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74736" y="4169663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3A客户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74736" y="4462272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至少1家3A CP采购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65007" y="5010912"/>
            <a:ext cx="3163824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065007" y="5010912"/>
            <a:ext cx="54864" cy="80467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74736" y="5047488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团队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74736" y="5340096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374151"/>
                </a:solidFill>
                <a:latin typeface="Microsoft YaHei"/>
              </a:rPr>
              <a:t>10-15人(+引擎+商务)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65007" y="5907023"/>
            <a:ext cx="3163824" cy="41148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65007" y="5907023"/>
            <a:ext cx="316382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目标: SaaS上线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15/21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定策略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12个月技术路线图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技术方向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239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239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Q1.2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438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438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Q1.3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637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637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Q2.1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836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836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Q2.2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1035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035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Q2.3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234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234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Q3.1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433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433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Q3.2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5632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632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Q3.3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38310" y="155448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831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Q4.1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030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Q4.2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02290" y="155448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02290" y="155448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Q4.3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847088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Auto-Rig MVP(人形)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1847088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18688" y="1883664"/>
            <a:ext cx="2009394" cy="18288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139696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Auto-Rig扩展(非人形)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2139696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82668" y="2176272"/>
            <a:ext cx="2009394" cy="18288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432303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3D生成原型(文本→mesh)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2432303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900678" y="2468879"/>
            <a:ext cx="3373374" cy="18288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2724911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Quad拓扑研究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724911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264658" y="2761487"/>
            <a:ext cx="3373374" cy="1828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017519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AI材质PBR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3017519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6648" y="3054095"/>
            <a:ext cx="2691384" cy="1828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3310127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Rig+材质集成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3310127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10628" y="3346703"/>
            <a:ext cx="2009394" cy="18288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3602735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AI动画重定向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3602735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992618" y="3639311"/>
            <a:ext cx="2009394" cy="1828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3895343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风格化生成探索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3895343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674608" y="3931919"/>
            <a:ext cx="2691384" cy="182880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187951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引擎插件开发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187951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356598" y="4224527"/>
            <a:ext cx="2009394" cy="1828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22960" y="4846320"/>
            <a:ext cx="2514600" cy="7772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22960" y="4846320"/>
            <a:ext cx="64008" cy="77724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" y="48828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59669"/>
                </a:solidFill>
                <a:latin typeface="Microsoft YaHei"/>
              </a:rPr>
              <a:t>M3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" y="5120640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3D生成Demo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" y="53400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文本→3D原型可跑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56432" y="4846320"/>
            <a:ext cx="2514600" cy="7772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456432" y="4846320"/>
            <a:ext cx="64008" cy="77724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93591" y="48828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M6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93591" y="5120640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拓扑达标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93591" y="53400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Quad retopo &lt;5K面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89904" y="4846320"/>
            <a:ext cx="2514600" cy="7772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089904" y="4846320"/>
            <a:ext cx="64008" cy="77724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27064" y="48828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M9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27064" y="5120640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Pipeline v0.5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27064" y="53400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生成→材质→Rig串联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23376" y="4846320"/>
            <a:ext cx="2514600" cy="7772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723376" y="4846320"/>
            <a:ext cx="64008" cy="77724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60536" y="48828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C2626"/>
                </a:solidFill>
                <a:latin typeface="Microsoft YaHei"/>
              </a:rPr>
              <a:t>M12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60536" y="5120640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端到端Demo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0536" y="5340096"/>
            <a:ext cx="2286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文本→游戏角色全链路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2960" y="5760720"/>
            <a:ext cx="10561320" cy="50292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4128" y="5788152"/>
            <a:ext cx="10241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节奏原则：</a:t>
            </a:r>
            <a:r>
              <a:rPr sz="950" b="0">
                <a:solidFill>
                  <a:srgbClr val="374151"/>
                </a:solidFill>
                <a:latin typeface="Microsoft YaHei"/>
              </a:rPr>
              <a:t>Q1速赢(Auto-Rig)→Q2攻坚(3D生成+拓扑)→Q3串联(材质+动画)→Q4突破(风格化+引擎集成)。每季度有可交付Demo。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16/21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定策略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资源配置与技术选型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166360" cy="4572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36192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▎技术选型（开源base → 游戏微调）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1920240"/>
            <a:ext cx="475488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1920240"/>
            <a:ext cx="54864" cy="603504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947672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3D生成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47672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563EB"/>
                </a:solidFill>
                <a:latin typeface="Microsoft YaHei"/>
              </a:rPr>
              <a:t>InstantMesh/LRM/TripoSR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231136"/>
            <a:ext cx="3566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拓扑微调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578608"/>
            <a:ext cx="475488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2578608"/>
            <a:ext cx="54864" cy="603504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2606040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D9488"/>
                </a:solidFill>
                <a:latin typeface="Microsoft YaHei"/>
              </a:rPr>
              <a:t>材质生成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606040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563EB"/>
                </a:solidFill>
                <a:latin typeface="Microsoft YaHei"/>
              </a:rPr>
              <a:t>ControlNet+SD微调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889504"/>
            <a:ext cx="3566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PBR一致性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3236976"/>
            <a:ext cx="475488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" y="3236976"/>
            <a:ext cx="54864" cy="603504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3264408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自动Rig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264408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563EB"/>
                </a:solidFill>
                <a:latin typeface="Microsoft YaHei"/>
              </a:rPr>
              <a:t>RigNet/NeuroSkinning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547872"/>
            <a:ext cx="3566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非人形扩展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3895344"/>
            <a:ext cx="475488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4128" y="3895344"/>
            <a:ext cx="54864" cy="603504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3922776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7C3AED"/>
                </a:solidFill>
                <a:latin typeface="Microsoft YaHei"/>
              </a:rPr>
              <a:t>动画重定向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922776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563EB"/>
                </a:solidFill>
                <a:latin typeface="Microsoft YaHei"/>
              </a:rPr>
              <a:t>SMPLer-X/ProHMR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206240"/>
            <a:ext cx="3566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风格化适配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4553712"/>
            <a:ext cx="475488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4128" y="4553712"/>
            <a:ext cx="54864" cy="603504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" y="4581144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拓扑优化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581144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563EB"/>
                </a:solidFill>
                <a:latin typeface="Microsoft YaHei"/>
              </a:rPr>
              <a:t>QuadRemesher/InstaLOD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4864607"/>
            <a:ext cx="3566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AI感知减面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5212079"/>
            <a:ext cx="475488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4128" y="5212079"/>
            <a:ext cx="54864" cy="603504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239512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C2820A"/>
                </a:solidFill>
                <a:latin typeface="Microsoft YaHei"/>
              </a:rPr>
              <a:t>面部动画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239512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2563EB"/>
                </a:solidFill>
                <a:latin typeface="Microsoft YaHei"/>
              </a:rPr>
              <a:t>SadTalker/Wav2Lip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" y="5522975"/>
            <a:ext cx="3566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游戏角色适配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1463040"/>
            <a:ext cx="52120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1536192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▎团队配置（3阶段扩张）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192024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Phase 1 · Q1-Q2 · 3人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1 AI研究 + 1 TA + 1全栈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速赢: Auto-Rig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246888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Phase 2 · Q3-Q4 · 6人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+1图形学 + 1产品 + 1测试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攻坚: 3D生成+拓扑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301752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Phase 3 · Y2 · 10-15人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+引擎组 + 商务 + 社区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商业化: SaaS+引擎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749039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3822191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▎预算分配（年化估算）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2512" y="4187952"/>
            <a:ext cx="475488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82512" y="4187952"/>
            <a:ext cx="54864" cy="3840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187952"/>
            <a:ext cx="16459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人力(薪资)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187952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60-70%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187952"/>
            <a:ext cx="2194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最大投入项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4608576"/>
            <a:ext cx="475488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82512" y="4608576"/>
            <a:ext cx="54864" cy="38404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608576"/>
            <a:ext cx="16459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GPU算力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4608576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15-20%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4608576"/>
            <a:ext cx="2194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训练+推理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82512" y="5029200"/>
            <a:ext cx="475488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82512" y="5029200"/>
            <a:ext cx="54864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5029200"/>
            <a:ext cx="16459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工具/许可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5029200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D9488"/>
                </a:solidFill>
                <a:latin typeface="Microsoft YaHei"/>
              </a:rPr>
              <a:t>5-8%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029200"/>
            <a:ext cx="2194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引擎/商业SDK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82512" y="5449824"/>
            <a:ext cx="475488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382512" y="5449824"/>
            <a:ext cx="54864" cy="38404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5449824"/>
            <a:ext cx="16459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市场/BD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5449824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8-12%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5449824"/>
            <a:ext cx="2194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客户拓展+社区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17/21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定策略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风险识别与应对策略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1097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82296" cy="10972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536192"/>
            <a:ext cx="1371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554480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技术风险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47088"/>
            <a:ext cx="1325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DC2626"/>
                </a:solidFill>
                <a:latin typeface="Microsoft YaHei"/>
              </a:rPr>
              <a:t>风险等级: 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066544"/>
            <a:ext cx="13258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C2626"/>
                </a:solidFill>
                <a:latin typeface="Microsoft YaHei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517904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游戏级拓扑质量不达标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810512"/>
            <a:ext cx="36576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Quad retopo精度不足→引擎拒收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17904"/>
            <a:ext cx="4937760" cy="27432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17904"/>
            <a:ext cx="47548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应对策略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47088"/>
            <a:ext cx="48920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多方案并行(QuadRemesher+自研) / 引入资深TA顾问 / 先服务非3A客户积累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670048"/>
            <a:ext cx="10561320" cy="1097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670048"/>
            <a:ext cx="82296" cy="10972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2743200"/>
            <a:ext cx="1371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761488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竞争风险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054096"/>
            <a:ext cx="1325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C2820A"/>
                </a:solidFill>
                <a:latin typeface="Microsoft YaHei"/>
              </a:rPr>
              <a:t>风险等级: 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273552"/>
            <a:ext cx="13258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EA580C"/>
                </a:solidFill>
                <a:latin typeface="Microsoft YaHei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72491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巨头(Adobe/Unity/腾讯)入场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017520"/>
            <a:ext cx="36576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巨头有用户基数+渠道优势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724912"/>
            <a:ext cx="4937760" cy="274320"/>
          </a:xfrm>
          <a:prstGeom prst="roundRect">
            <a:avLst>
              <a:gd name="adj" fmla="val 3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724912"/>
            <a:ext cx="47548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应对策略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054096"/>
            <a:ext cx="48920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速度优先 / 深耕游戏管线Know-how / 非人形Rig等垂直蓝海先占位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877056"/>
            <a:ext cx="10561320" cy="1097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3877056"/>
            <a:ext cx="82296" cy="10972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5840" y="3950208"/>
            <a:ext cx="1371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3968496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市场风险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261104"/>
            <a:ext cx="1325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C2820A"/>
                </a:solidFill>
                <a:latin typeface="Microsoft YaHei"/>
              </a:rPr>
              <a:t>风险等级: 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480560"/>
            <a:ext cx="13258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2820A"/>
                </a:solidFill>
                <a:latin typeface="Microsoft YaHei"/>
              </a:rPr>
              <a:t>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39319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客户教育成本高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224528"/>
            <a:ext cx="36576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3D生成信任度不足→不敢用于生产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931920"/>
            <a:ext cx="4937760" cy="274320"/>
          </a:xfrm>
          <a:prstGeom prst="roundRect">
            <a:avLst>
              <a:gd name="adj" fmla="val 3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931920"/>
            <a:ext cx="47548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应对策略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261104"/>
            <a:ext cx="48920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免费试用+效果对比 / 选择性落地(先做预研/原型阶段) / 发布质量基准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084064"/>
            <a:ext cx="10561320" cy="1097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" y="5084064"/>
            <a:ext cx="82296" cy="10972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05840" y="5157216"/>
            <a:ext cx="1371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" y="517550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人才风险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" y="5468112"/>
            <a:ext cx="1325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DC2626"/>
                </a:solidFill>
                <a:latin typeface="Microsoft YaHei"/>
              </a:rPr>
              <a:t>风险等级: 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5687568"/>
            <a:ext cx="13258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7C3AED"/>
                </a:solidFill>
                <a:latin typeface="Microsoft YaHei"/>
              </a:rPr>
              <a:t>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5138928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资深TA/图形学人才稀缺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5431536"/>
            <a:ext cx="36576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拓扑/Rig方向人才极少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5138928"/>
            <a:ext cx="4937760" cy="274320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138928"/>
            <a:ext cx="47548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应对策略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468112"/>
            <a:ext cx="48920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高校合作(图形学实验室) / 开源社区吸引 / 股权激励绑定核心人才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18/21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核心结论与行动建议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82296" cy="1371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趋势判断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7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2025-2026是AI 3D生成从Demo到产品化的窗口期，游戏级拓扑是最后的技术壁垒。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82296" cy="1371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81912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市场机会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92807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游戏美术外包$30-50B市场，AI替代空间巨大。3A CP和中型CP是首批目标客户。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1752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017520"/>
            <a:ext cx="82296" cy="137160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90672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竞争格局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8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右上角「高质量+全链路集成」几乎空白。竞品拓扑能力普遍≤2★，最大差异化机会。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1752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017520"/>
            <a:ext cx="82296" cy="13716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090672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自身差距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01568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TA能力和游戏管线经验是核心短板，需优先补齐（招聘+顾问+高校合作）。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526279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526279"/>
            <a:ext cx="82296" cy="1371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599431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战略定位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910327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「游戏级3D生成平台」——不是通用生成，而是拓扑+Rig+动画+PBR全链路。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526279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4526279"/>
            <a:ext cx="82296" cy="13716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599431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行动节奏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910327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Q1速赢(Auto-Rig)→Q2攻坚(3D+拓扑)→Q3串联(材质+动画)→Q4突破(风格化+引擎)。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6080760"/>
            <a:ext cx="10561320" cy="45720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6099048"/>
            <a:ext cx="1024128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立即行动：</a:t>
            </a:r>
            <a:r>
              <a:rPr sz="950" b="0">
                <a:solidFill>
                  <a:srgbClr val="FFFFFF"/>
                </a:solidFill>
                <a:latin typeface="Microsoft YaHei"/>
              </a:rPr>
              <a:t>组建3人核心团队(AI+TA+全栈)，Q1启动Auto-Rig MVP，同步启动拓扑方向预研。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19/21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METHODOLOGY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分析方法论与数据来源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66360" cy="45720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1790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▎3定5看分析方法论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五看·看趋势: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技术S曲线演进+产业拐点收敛判断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五看·看市场: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TAM/SAM/SOM漏斗+4类客户画像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80944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五看·看竞争: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2D格局地图+8家×5维度星级评分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65576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五看·看自己: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6维能力盘点+差距量化(当前/目标)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50208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五看·看机会: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影响力×可行性优先级矩阵(6方向)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三定·定位: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vs竞品7维度差异化对比表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19472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三定·定目标: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3阶段×4KPI量化目标体系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04104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三定·定策略: </a:t>
            </a:r>
            <a:r>
              <a:rPr sz="850" b="0">
                <a:solidFill>
                  <a:srgbClr val="374151"/>
                </a:solidFill>
                <a:latin typeface="Microsoft YaHei"/>
              </a:rPr>
              <a:t>路线图+技术选型+资源配置+风险应对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212080" cy="45720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1790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▎数据来源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厂商官网: </a:t>
            </a:r>
            <a:r>
              <a:rPr sz="850" b="0">
                <a:solidFill>
                  <a:srgbClr val="6B7280"/>
                </a:solidFill>
                <a:latin typeface="Microsoft YaHei"/>
              </a:rPr>
              <a:t>Meshy.ai/Luma/Rodin/Wonder Dynamics/Kinetix/Mixamo/InstaLOD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96312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开源生态: </a:t>
            </a:r>
            <a:r>
              <a:rPr sz="850" b="0">
                <a:solidFill>
                  <a:srgbClr val="6B7280"/>
                </a:solidFill>
                <a:latin typeface="Microsoft YaHei"/>
              </a:rPr>
              <a:t>GitHub: TripoSR/InstantMesh/DreamGaussian/RigNet/SadTalker/LRM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80944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学术论文: </a:t>
            </a:r>
            <a:r>
              <a:rPr sz="850" b="0">
                <a:solidFill>
                  <a:srgbClr val="6B7280"/>
                </a:solidFill>
                <a:latin typeface="Microsoft YaHei"/>
              </a:rPr>
              <a:t>arXiv: DreamFusion/Magic3D/NeuroSkinning/SMPLer-X/4DGen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65576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融资数据: </a:t>
            </a:r>
            <a:r>
              <a:rPr sz="850" b="0">
                <a:solidFill>
                  <a:srgbClr val="6B7280"/>
                </a:solidFill>
                <a:latin typeface="Microsoft YaHei"/>
              </a:rPr>
              <a:t>Crunchbase公开轮次(截至2025-2026)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50208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行业报告: </a:t>
            </a:r>
            <a:r>
              <a:rPr sz="850" b="0">
                <a:solidFill>
                  <a:srgbClr val="6B7280"/>
                </a:solidFill>
                <a:latin typeface="Microsoft YaHei"/>
              </a:rPr>
              <a:t>a16z Games/NVIDIA GTC/Citi GPS/Games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市场规模: </a:t>
            </a:r>
            <a:r>
              <a:rPr sz="850" b="0">
                <a:solidFill>
                  <a:srgbClr val="6B7280"/>
                </a:solidFill>
                <a:latin typeface="Microsoft YaHei"/>
              </a:rPr>
              <a:t>Newzoo游戏市场报告 + 行业推演估算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19472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00" b="1">
                <a:solidFill>
                  <a:srgbClr val="0D9488"/>
                </a:solidFill>
                <a:latin typeface="Microsoft YaHei"/>
              </a:rPr>
              <a:t>⚠ 声明: </a:t>
            </a:r>
            <a:r>
              <a:rPr sz="850" b="0">
                <a:solidFill>
                  <a:srgbClr val="DC2626"/>
                </a:solidFill>
                <a:latin typeface="Microsoft YaHei"/>
              </a:rPr>
              <a:t>市场规模为基于公开信息的推演估算，非精确第三方审计数据；技术成熟度为合理判断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20/21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0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F46E5"/>
                </a:solidFill>
                <a:latin typeface="Microsoft Ya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9728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161B2E"/>
                </a:solidFill>
                <a:latin typeface="Microsoft YaHei"/>
              </a:rPr>
              <a:t>游戏模型 AI 生成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161B2E"/>
                </a:solidFill>
                <a:latin typeface="Microsoft YaHei"/>
              </a:rPr>
              <a:t>创新方向洞察 · 3定5看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五看(趋势/市场/竞争/自己/机会) → 三定(定位/目标/策略) · 系统化战略洞察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20440"/>
            <a:ext cx="1056132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63016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Microsoft YaHei"/>
              </a:rPr>
              <a:t>▎核心结论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23360"/>
            <a:ext cx="1005840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0D9488"/>
                </a:solidFill>
                <a:latin typeface="Microsoft YaHei"/>
              </a:rPr>
              <a:t>窗口期：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2025-2026是AI 3D生成产品化的关键节点。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059669"/>
                </a:solidFill>
                <a:latin typeface="Microsoft YaHei"/>
              </a:rPr>
              <a:t>蓝海：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游戏级拓扑+Rig+动画就绪——业界无人解决。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059669"/>
                </a:solidFill>
                <a:latin typeface="Microsoft YaHei"/>
              </a:rPr>
              <a:t>速赢：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Auto-Rig(Q1)——门槛低、刚需、立即见效。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DC2626"/>
                </a:solidFill>
                <a:latin typeface="Microsoft YaHei"/>
              </a:rPr>
              <a:t>攻坚：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文本→3D+Quad拓扑(Q2-3)——最高影响、最高门槛。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4F46E5"/>
                </a:solidFill>
                <a:latin typeface="Microsoft YaHei"/>
              </a:rPr>
              <a:t>节奏：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Q1速赢 → Q2攻坚 → Q3串联 → Q4突破。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5BC"/>
                </a:solidFill>
                <a:latin typeface="Microsoft YaHei"/>
              </a:rPr>
              <a:t>xhyha/insight  |  游戏模型AI生成 · 创新方向洞察(3定5看) · 2026.06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21/21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3定5看洞察 · xhyha/insight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