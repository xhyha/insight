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-1828800" y="-914400"/>
            <a:ext cx="5486400" cy="5486400"/>
          </a:xfrm>
          <a:prstGeom prst="ellipse">
            <a:avLst/>
          </a:prstGeom>
          <a:solidFill>
            <a:srgbClr val="1E3A5F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6400800" y="2743200"/>
            <a:ext cx="4572000" cy="4572000"/>
          </a:xfrm>
          <a:prstGeom prst="ellipse">
            <a:avLst/>
          </a:prstGeom>
          <a:solidFill>
            <a:srgbClr val="FF6B35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0" y="-1828800"/>
            <a:ext cx="3657600" cy="3657600"/>
          </a:xfrm>
          <a:prstGeom prst="ellipse">
            <a:avLst/>
          </a:prstGeom>
          <a:solidFill>
            <a:srgbClr val="4A90D9">
              <a:alpha val="30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463040"/>
            <a:ext cx="7680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AI蒙皮与骨骼绑定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731520" y="2194560"/>
            <a:ext cx="76809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技术洞察与行业分析报告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731520" y="310896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Auto-Skinning · AI Auto-Rigging · 游戏资产自动化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731520" y="3749040"/>
            <a:ext cx="182880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40233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2026年5月 | 技术战略分析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为什么要做AI蒙皮与绑定 / Why AI Skinning &amp; Rigging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4023360" cy="868680"/>
          </a:xfrm>
          <a:prstGeom prst="rect">
            <a:avLst/>
          </a:prstGeom>
          <a:solidFill>
            <a:srgbClr val="F5F7FA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71600"/>
            <a:ext cx="457200" cy="8686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37160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1463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人工成本暴涨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17830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游戏美术人工成本年增15-20%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AAA游戏单角色成本$5-15万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663440" y="1371600"/>
            <a:ext cx="4023360" cy="868680"/>
          </a:xfrm>
          <a:prstGeom prst="rect">
            <a:avLst/>
          </a:prstGeom>
          <a:solidFill>
            <a:srgbClr val="F5F7FA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663440" y="1371600"/>
            <a:ext cx="457200" cy="8686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4663440" y="137160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212080" y="146304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制作周期过长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212080" y="178308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传统骨骼绑定: 16-40小时/角色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传统蒙皮: 6-16小时/角色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2377440"/>
            <a:ext cx="4023360" cy="868680"/>
          </a:xfrm>
          <a:prstGeom prst="rect">
            <a:avLst/>
          </a:prstGeom>
          <a:solidFill>
            <a:srgbClr val="F5F7FA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7200" y="2377440"/>
            <a:ext cx="457200" cy="8686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7" name="Text 15"/>
          <p:cNvSpPr/>
          <p:nvPr/>
        </p:nvSpPr>
        <p:spPr>
          <a:xfrm>
            <a:off x="457200" y="237744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👥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2468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专业人才稀缺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05840" y="27889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专业绑定师薪资高、招聘难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培养周期长(2-3年)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63440" y="2377440"/>
            <a:ext cx="4023360" cy="868680"/>
          </a:xfrm>
          <a:prstGeom prst="rect">
            <a:avLst/>
          </a:prstGeom>
          <a:solidFill>
            <a:srgbClr val="F5F7FA"/>
          </a:solidFill>
          <a:ln w="25400">
            <a:solidFill>
              <a:srgbClr val="EF444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63440" y="2377440"/>
            <a:ext cx="457200" cy="8686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2" name="Text 20"/>
          <p:cNvSpPr/>
          <p:nvPr/>
        </p:nvSpPr>
        <p:spPr>
          <a:xfrm>
            <a:off x="4663440" y="2377440"/>
            <a:ext cx="4572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📈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212080" y="2468880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内容需求爆发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212080" y="2788920"/>
            <a:ext cx="3291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开放世界需要10万+角色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手游需要批量NPC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886200"/>
            <a:ext cx="2011680" cy="1188720"/>
          </a:xfrm>
          <a:prstGeom prst="rect">
            <a:avLst/>
          </a:prstGeom>
          <a:solidFill>
            <a:srgbClr val="10B981">
              <a:alpha val="85000"/>
            </a:srgbClr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3931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效率提升 30-100x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48640" y="42976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AI蒙皮: 手工8小时 → AI 5-15分钟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AI骨骼绑定: 手工40小时 → AI 5-30分钟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606040" y="3886200"/>
            <a:ext cx="2011680" cy="1188720"/>
          </a:xfrm>
          <a:prstGeom prst="rect">
            <a:avLst/>
          </a:prstGeom>
          <a:solidFill>
            <a:srgbClr val="4A90D9">
              <a:alpha val="85000"/>
            </a:srgbClr>
          </a:solidFill>
          <a:ln w="25400">
            <a:solidFill>
              <a:srgbClr val="4A90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606040" y="3931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成本降低 60-80%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2697480" y="42976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减少专业绑定师依赖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批量角色处理自动化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4754880" y="3886200"/>
            <a:ext cx="2011680" cy="1188720"/>
          </a:xfrm>
          <a:prstGeom prst="rect">
            <a:avLst/>
          </a:prstGeom>
          <a:solidFill>
            <a:srgbClr val="FF6B35">
              <a:alpha val="85000"/>
            </a:srgbClr>
          </a:solidFill>
          <a:ln w="25400">
            <a:solidFill>
              <a:srgbClr val="FF6B3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754880" y="3931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质量标准化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846320" y="42976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消除人工水平差异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建立统一质量基线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903720" y="3886200"/>
            <a:ext cx="2011680" cy="1188720"/>
          </a:xfrm>
          <a:prstGeom prst="rect">
            <a:avLst/>
          </a:prstGeom>
          <a:solidFill>
            <a:srgbClr val="8B5CF6">
              <a:alpha val="85000"/>
            </a:srgbClr>
          </a:solidFill>
          <a:ln w="25400">
            <a:solidFill>
              <a:srgbClr val="8B5CF6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903720" y="3931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B5CF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加速内容生产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6995160" y="4297680"/>
            <a:ext cx="1828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支持开放世界10万+角色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支撑手游快速迭代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Meshy.ai / AI 3D资产生成平台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Meshy.ai - 最火的AI 3D资产生成平台 (1000万+创作者)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4630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核心功能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1828800"/>
            <a:ext cx="4023360" cy="384048"/>
          </a:xfrm>
          <a:prstGeom prst="roundRect">
            <a:avLst/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8288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Text to 3D - 文字描述生成3D模型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" y="2286000"/>
            <a:ext cx="4023360" cy="384048"/>
          </a:xfrm>
          <a:prstGeom prst="roundRect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2860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Image to 3D - 图片转3D模型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57200" y="2743200"/>
            <a:ext cx="4023360" cy="384048"/>
          </a:xfrm>
          <a:prstGeom prst="roundRect">
            <a:avLst/>
          </a:prstGeom>
          <a:solidFill>
            <a:srgbClr val="4A90D9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7432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 Texturing - AI材质纹理生成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4023360" cy="384048"/>
          </a:xfrm>
          <a:prstGeom prst="roundRect">
            <a:avLst/>
          </a:prstGeom>
          <a:solidFill>
            <a:srgbClr val="4A90D9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2004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Rigging - 自动骨骼绑定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57200" y="3657600"/>
            <a:ext cx="4023360" cy="384048"/>
          </a:xfrm>
          <a:prstGeom prst="roundRect">
            <a:avLst/>
          </a:prstGeom>
          <a:solidFill>
            <a:srgbClr val="4A90D9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657600"/>
            <a:ext cx="3840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Animation - 500+游戏动画库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63440" y="146304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技术架构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1828800"/>
            <a:ext cx="4023360" cy="237744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920240"/>
            <a:ext cx="384048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Meshy AI Pipeline: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┌─────────────────────────┐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输入层: Text/Image  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↓              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3D生成: Diffusion Model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↓              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Mesh优化: Remesh   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↓              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Auto-Rigging: AI骨骼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↓              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Animation: 500+动捕库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   ↓              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输出: GLB/FBX/OBJ      │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└─────────────────────────┘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导出格式: FBX, GLB, OBJ, STL, USDZ | 游戏引擎: Unity, Unreal, Blender, Maya, Godot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57200" y="4663440"/>
            <a:ext cx="8229600" cy="457200"/>
          </a:xfrm>
          <a:prstGeom prst="rect">
            <a:avLst/>
          </a:prstGeom>
          <a:solidFill>
            <a:srgbClr val="10B981">
              <a:alpha val="80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548640" y="4709160"/>
            <a:ext cx="8046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定价: 免费版有限制 | Pro: $15/月 | Enterprise: 定制 | API按量付费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国际厂商方案 / Global Commercial Solutions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023360" cy="411480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4023360" cy="1554480"/>
          </a:xfrm>
          <a:prstGeom prst="rect">
            <a:avLst/>
          </a:prstGeom>
          <a:solidFill>
            <a:srgbClr val="F5F7FA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1732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ML-Agents (实验性AI)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Animancer Pro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GPU Skinning原生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移动端优化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引擎原生支持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实时预览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移动端优化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AI蒙皮能力弱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依赖第三方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023360" cy="4114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9144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Unreal + MetaHuman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4023360" cy="1554480"/>
          </a:xfrm>
          <a:prstGeom prst="rect">
            <a:avLst/>
          </a:prstGeom>
          <a:solidFill>
            <a:srgbClr val="F5F7F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41732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Control Rig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Animation Blueprint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MetaHuman数字人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iKinema (Epic收购)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影视级质量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完整工具链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高保真数字人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学习曲线陡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授权费用高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457200" y="3017520"/>
            <a:ext cx="4023360" cy="4114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0175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Adobe Mixamo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474720"/>
            <a:ext cx="4023360" cy="1554480"/>
          </a:xfrm>
          <a:prstGeom prst="rect">
            <a:avLst/>
          </a:prstGeom>
          <a:solidFill>
            <a:srgbClr val="F5F7F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52044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自动骨骼生成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自动蒙皮绑定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动画库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免费使用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免费快速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Adobe生态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社区支持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蒙皮质量一般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非游戏专业</a:t>
            </a:r>
            <a:endParaRPr lang="en-US" sz="800" dirty="0"/>
          </a:p>
        </p:txBody>
      </p:sp>
      <p:sp>
        <p:nvSpPr>
          <p:cNvPr id="17" name="Shape 15"/>
          <p:cNvSpPr/>
          <p:nvPr/>
        </p:nvSpPr>
        <p:spPr>
          <a:xfrm>
            <a:off x="4663440" y="3017520"/>
            <a:ext cx="4023360" cy="4114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301752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Meshy.ai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663440" y="3474720"/>
            <a:ext cx="4023360" cy="1554480"/>
          </a:xfrm>
          <a:prstGeom prst="rect">
            <a:avLst/>
          </a:prstGeom>
          <a:solidFill>
            <a:srgbClr val="F5F7F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520440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 3D生成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Auto-Rigging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500+动画库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API支持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10x更快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多格式导出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云端处理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依赖网络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复杂模型有限制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中国厂商方案 / Chinese Commercial Solutions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4023360" cy="41148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腾讯AI Lab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4023360" cy="1828800"/>
          </a:xfrm>
          <a:prstGeom prst="rect">
            <a:avLst/>
          </a:prstGeom>
          <a:solidFill>
            <a:srgbClr val="F5F7FA"/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48640" y="1417320"/>
            <a:ext cx="3840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技术能力: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AI动捕重定向技术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骨骼动画智能生成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角色表情捕捉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游戏AI NPC行为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产品/项目: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腾讯游戏AI Lab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光子工作室AI动画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天美工作室智能角色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成熟度: ★★★★☆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4663440" y="914400"/>
            <a:ext cx="4023360" cy="41148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4663440" y="91440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网易伏羲 (Fuxi Lab)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663440" y="1371600"/>
            <a:ext cx="4023360" cy="1828800"/>
          </a:xfrm>
          <a:prstGeom prst="rect">
            <a:avLst/>
          </a:prstGeom>
          <a:solidFill>
            <a:srgbClr val="F5F7F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417320"/>
            <a:ext cx="384048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技术能力: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游戏AI动画生成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强化学习角色控制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程序化动画生成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伏羲瑶光(游戏AI平台)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产品/项目: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逆水寒AI NPC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永劫无间AI对手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阴阳师智能角色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成熟度: ★★★★☆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457200" y="3337560"/>
            <a:ext cx="4023360" cy="41148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3375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字节跳动 AI Lab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3794760"/>
            <a:ext cx="4023360" cy="1280160"/>
          </a:xfrm>
          <a:prstGeom prst="rect">
            <a:avLst/>
          </a:prstGeom>
          <a:solidFill>
            <a:srgbClr val="F5F7F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8640" y="384048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技术能力: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AI动画生成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骨骼迁移技术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动作捕捉智能分析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成熟度: ★★★☆☆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663440" y="3337560"/>
            <a:ext cx="4023360" cy="411480"/>
          </a:xfrm>
          <a:prstGeom prst="rect">
            <a:avLst/>
          </a:prstGeom>
          <a:solidFill>
            <a:srgbClr val="8B5CF6"/>
          </a:solidFill>
          <a:ln/>
        </p:spPr>
      </p:sp>
      <p:sp>
        <p:nvSpPr>
          <p:cNvPr id="18" name="Text 16"/>
          <p:cNvSpPr/>
          <p:nvPr/>
        </p:nvSpPr>
        <p:spPr>
          <a:xfrm>
            <a:off x="4663440" y="3337560"/>
            <a:ext cx="4023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其他中国厂商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663440" y="3794760"/>
            <a:ext cx="4023360" cy="1280160"/>
          </a:xfrm>
          <a:prstGeom prst="rect">
            <a:avLst/>
          </a:prstGeom>
          <a:solidFill>
            <a:srgbClr val="F5F7FA"/>
          </a:solidFill>
          <a:ln w="12700">
            <a:solidFill>
              <a:srgbClr val="8B5CF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3840480"/>
            <a:ext cx="384048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百度AI视觉 - 3D资产生成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阿里巴巴 - 骨骼动画研究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米哈游 - 自研动画系统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完美世界 - AI角色绑定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成熟度: ★★★☆☆ (各有差异)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开源方案 / Open Source Solutions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AI蒙皮开源方案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2651760" cy="1371600"/>
          </a:xfrm>
          <a:prstGeom prst="rect">
            <a:avLst/>
          </a:prstGeom>
          <a:solidFill>
            <a:srgbClr val="F5F7FA"/>
          </a:solidFill>
          <a:ln w="25400">
            <a:solidFill>
              <a:srgbClr val="10B98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DeepSkin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48640" y="16459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技术: GCN+Attention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质量: 90-96分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速度: 0.8s推理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状态: 研究级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651760" cy="1371600"/>
          </a:xfrm>
          <a:prstGeom prst="rect">
            <a:avLst/>
          </a:prstGeom>
          <a:solidFill>
            <a:srgbClr val="F5F7FA"/>
          </a:solidFill>
          <a:ln w="25400">
            <a:solidFill>
              <a:srgbClr val="4A90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91840" y="13258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Neural Skinning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83280" y="16459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技术: Transformer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质量: 85-92分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速度: 1.5s推理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状态: 研究级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126480" y="1280160"/>
            <a:ext cx="2651760" cy="1371600"/>
          </a:xfrm>
          <a:prstGeom prst="rect">
            <a:avLst/>
          </a:prstGeom>
          <a:solidFill>
            <a:srgbClr val="F5F7FA"/>
          </a:solidFill>
          <a:ln w="25400">
            <a:solidFill>
              <a:srgbClr val="6B728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3258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Auto-Skinner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217920" y="164592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技术: 传统算法+优化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质量: 78-88分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速度: 5s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状态: 创业公司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57200" y="2788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骨骼绑定开源方案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3154680"/>
            <a:ext cx="2011680" cy="1554480"/>
          </a:xfrm>
          <a:prstGeom prst="rect">
            <a:avLst/>
          </a:prstGeom>
          <a:solidFill>
            <a:srgbClr val="F5F7F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200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Rigify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(Blender)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48640" y="365760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功能: Python程序化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模块化设计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社区模板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质量: 85-92分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速度: 2-5分钟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606040" y="3154680"/>
            <a:ext cx="2011680" cy="1554480"/>
          </a:xfrm>
          <a:prstGeom prst="rect">
            <a:avLst/>
          </a:prstGeom>
          <a:solidFill>
            <a:srgbClr val="F5F7FA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606040" y="3200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mGear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(Maya)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697480" y="365760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功能: 模块化Rig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自动化程度高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1.2k stars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质量: 88-94分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速度: 3-5分钟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4754880" y="3154680"/>
            <a:ext cx="2011680" cy="1554480"/>
          </a:xfrm>
          <a:prstGeom prst="rect">
            <a:avLst/>
          </a:prstGeom>
          <a:solidFill>
            <a:srgbClr val="F5F7FA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54880" y="3200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Advanced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Skeleton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846320" y="365760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功能: Maya插件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自动绑定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2.1k stars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质量: 90-95分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速度: 5-10分钟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6903720" y="3154680"/>
            <a:ext cx="2011680" cy="1554480"/>
          </a:xfrm>
          <a:prstGeom prst="rect">
            <a:avLst/>
          </a:prstGeom>
          <a:solidFill>
            <a:srgbClr val="F5F7FA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03720" y="320040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RigLogic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6995160" y="3657600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功能: 程序化Rig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开源引擎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质量: 80-88分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速度: 10分钟+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457200" y="480060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结论: DeepSkin + Rigify/mGear 是免费生产级组合，可覆盖AI蒙皮和骨骼绑定基础需求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AI蒙皮技术架构 / AI Skinning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输入层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914400" cy="731520"/>
          </a:xfrm>
          <a:prstGeom prst="roundRect">
            <a:avLst/>
          </a:prstGeom>
          <a:solidFill>
            <a:srgbClr val="4A90D9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Mesh几何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(顶点坐标/法线)</a:t>
            </a:r>
            <a:endParaRPr lang="en-US" sz="800" dirty="0"/>
          </a:p>
        </p:txBody>
      </p:sp>
      <p:sp>
        <p:nvSpPr>
          <p:cNvPr id="8" name="Shape 6"/>
          <p:cNvSpPr/>
          <p:nvPr/>
        </p:nvSpPr>
        <p:spPr>
          <a:xfrm>
            <a:off x="1463040" y="1280160"/>
            <a:ext cx="914400" cy="731520"/>
          </a:xfrm>
          <a:prstGeom prst="roundRect">
            <a:avLst/>
          </a:prstGeom>
          <a:solidFill>
            <a:srgbClr val="4A90D9"/>
          </a:solidFill>
          <a:ln/>
        </p:spPr>
      </p:sp>
      <p:sp>
        <p:nvSpPr>
          <p:cNvPr id="9" name="Text 7"/>
          <p:cNvSpPr/>
          <p:nvPr/>
        </p:nvSpPr>
        <p:spPr>
          <a:xfrm>
            <a:off x="1463040" y="12801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Skeleton定义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(骨骼层级)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2468880" y="1280160"/>
            <a:ext cx="914400" cy="731520"/>
          </a:xfrm>
          <a:prstGeom prst="roundRect">
            <a:avLst/>
          </a:prstGeom>
          <a:solidFill>
            <a:srgbClr val="4A90D9"/>
          </a:solidFill>
          <a:ln/>
        </p:spPr>
      </p:sp>
      <p:sp>
        <p:nvSpPr>
          <p:cNvPr id="11" name="Text 9"/>
          <p:cNvSpPr/>
          <p:nvPr/>
        </p:nvSpPr>
        <p:spPr>
          <a:xfrm>
            <a:off x="2468880" y="1280160"/>
            <a:ext cx="914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Pose参考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(可选)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457200" y="2194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GCN层 (图卷积网络)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560320"/>
            <a:ext cx="3200400" cy="914400"/>
          </a:xfrm>
          <a:prstGeom prst="rect">
            <a:avLst/>
          </a:prstGeom>
          <a:solidFill>
            <a:srgbClr val="E8F4FD"/>
          </a:solidFill>
          <a:ln w="25400">
            <a:solidFill>
              <a:srgbClr val="4A90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48640" y="26060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将Mesh顶点编码为图结构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捕获空间邻接关系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学习顶点-骨骼相关性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公式: H^(l+1) = σ(D^-1 A H^l W^l)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3840480" y="2194560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Attention层 (骨骼感知注意力)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840480" y="2560320"/>
            <a:ext cx="3200400" cy="914400"/>
          </a:xfrm>
          <a:prstGeom prst="rect">
            <a:avLst/>
          </a:prstGeom>
          <a:solidFill>
            <a:srgbClr val="E8F4FD"/>
          </a:solidFill>
          <a:ln w="25400">
            <a:solidFill>
              <a:srgbClr val="4A90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931920" y="2606040"/>
            <a:ext cx="3017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功能: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自动聚焦关键顶点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学习骨骼间权重交互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输出平滑权重分布</a:t>
            </a:r>
            <a:endParaRPr lang="en-US" sz="800" dirty="0"/>
          </a:p>
          <a:p>
            <a:pPr indent="0" marL="0">
              <a:buNone/>
            </a:pP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机制: Skeleton-Aware Self-Attention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223760" y="219456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输出层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7223760" y="2560320"/>
            <a:ext cx="1463040" cy="914400"/>
          </a:xfrm>
          <a:prstGeom prst="roundRect">
            <a:avLst/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7223760" y="2606040"/>
            <a:ext cx="1463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Weight Net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n_verts × n_bones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权重矩阵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Softmax归一化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371600" y="1965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3657600" y="1965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040880" y="196596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457200" y="36576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部署架构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468880" y="4160520"/>
            <a:ext cx="731520" cy="73152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26" name="Shape 24"/>
          <p:cNvSpPr/>
          <p:nvPr/>
        </p:nvSpPr>
        <p:spPr>
          <a:xfrm>
            <a:off x="457200" y="3977640"/>
            <a:ext cx="1828800" cy="109728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" y="4023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云端训练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48640" y="434340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GPU集群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大模型训练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数据管理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212080" y="4160520"/>
            <a:ext cx="731520" cy="73152"/>
          </a:xfrm>
          <a:prstGeom prst="rect">
            <a:avLst/>
          </a:prstGeom>
          <a:solidFill>
            <a:srgbClr val="6B7280"/>
          </a:solidFill>
          <a:ln/>
        </p:spPr>
      </p:sp>
      <p:sp>
        <p:nvSpPr>
          <p:cNvPr id="30" name="Shape 28"/>
          <p:cNvSpPr/>
          <p:nvPr/>
        </p:nvSpPr>
        <p:spPr>
          <a:xfrm>
            <a:off x="3200400" y="3977640"/>
            <a:ext cx="1828800" cy="1097280"/>
          </a:xfrm>
          <a:prstGeom prst="roundRect">
            <a:avLst/>
          </a:prstGeom>
          <a:solidFill>
            <a:srgbClr val="4A90D9"/>
          </a:solidFill>
          <a:ln/>
        </p:spPr>
      </p:sp>
      <p:sp>
        <p:nvSpPr>
          <p:cNvPr id="31" name="Text 29"/>
          <p:cNvSpPr/>
          <p:nvPr/>
        </p:nvSpPr>
        <p:spPr>
          <a:xfrm>
            <a:off x="3200400" y="4023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边缘推理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3291840" y="434340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TensorRT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ONNXRuntime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轻量模型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943600" y="3977640"/>
            <a:ext cx="1828800" cy="1097280"/>
          </a:xfrm>
          <a:prstGeom prst="roundRect">
            <a:avLst/>
          </a:prstGeom>
          <a:solidFill>
            <a:srgbClr val="FF6B35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0" y="4023360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实时管线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6035040" y="4343400"/>
            <a:ext cx="16459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Unity/Unreal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集成插件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&lt;1秒推理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骨骼绑定技术架构 / Rigging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三层架构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280160"/>
            <a:ext cx="1828800" cy="82296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128016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骨骼生成层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468880" y="1463040"/>
            <a:ext cx="1920240" cy="457200"/>
          </a:xfrm>
          <a:prstGeom prst="roundRect">
            <a:avLst/>
          </a:prstGeom>
          <a:solidFill>
            <a:srgbClr val="F5F7FA"/>
          </a:solidFill>
          <a:ln/>
        </p:spPr>
      </p:sp>
      <p:sp>
        <p:nvSpPr>
          <p:cNvPr id="9" name="Text 7"/>
          <p:cNvSpPr/>
          <p:nvPr/>
        </p:nvSpPr>
        <p:spPr>
          <a:xfrm>
            <a:off x="2468880" y="1463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骨骼拓扑生成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0" y="1463040"/>
            <a:ext cx="1920240" cy="457200"/>
          </a:xfrm>
          <a:prstGeom prst="roundRect">
            <a:avLst/>
          </a:prstGeom>
          <a:solidFill>
            <a:srgbClr val="F5F7FA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1463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关节位置计算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675120" y="1463040"/>
            <a:ext cx="1920240" cy="457200"/>
          </a:xfrm>
          <a:prstGeom prst="roundRect">
            <a:avLst/>
          </a:prstGeom>
          <a:solidFill>
            <a:srgbClr val="F5F7FA"/>
          </a:solidFill>
          <a:ln/>
        </p:spPr>
      </p:sp>
      <p:sp>
        <p:nvSpPr>
          <p:cNvPr id="13" name="Text 11"/>
          <p:cNvSpPr/>
          <p:nvPr/>
        </p:nvSpPr>
        <p:spPr>
          <a:xfrm>
            <a:off x="6675120" y="146304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IK/FK链设计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57200" y="2286000"/>
            <a:ext cx="1828800" cy="82296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5" name="Text 13"/>
          <p:cNvSpPr/>
          <p:nvPr/>
        </p:nvSpPr>
        <p:spPr>
          <a:xfrm>
            <a:off x="457200" y="228600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智能绑定层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468880" y="2468880"/>
            <a:ext cx="1920240" cy="457200"/>
          </a:xfrm>
          <a:prstGeom prst="roundRect">
            <a:avLst/>
          </a:prstGeom>
          <a:solidFill>
            <a:srgbClr val="F5F7FA"/>
          </a:solidFill>
          <a:ln/>
        </p:spPr>
      </p:sp>
      <p:sp>
        <p:nvSpPr>
          <p:cNvPr id="17" name="Text 15"/>
          <p:cNvSpPr/>
          <p:nvPr/>
        </p:nvSpPr>
        <p:spPr>
          <a:xfrm>
            <a:off x="2468880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自动权重计算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72000" y="2468880"/>
            <a:ext cx="1920240" cy="457200"/>
          </a:xfrm>
          <a:prstGeom prst="roundRect">
            <a:avLst/>
          </a:prstGeom>
          <a:solidFill>
            <a:srgbClr val="F5F7FA"/>
          </a:solidFill>
          <a:ln/>
        </p:spPr>
      </p:sp>
      <p:sp>
        <p:nvSpPr>
          <p:cNvPr id="19" name="Text 17"/>
          <p:cNvSpPr/>
          <p:nvPr/>
        </p:nvSpPr>
        <p:spPr>
          <a:xfrm>
            <a:off x="4572000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约束系统生成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675120" y="2468880"/>
            <a:ext cx="1920240" cy="457200"/>
          </a:xfrm>
          <a:prstGeom prst="roundRect">
            <a:avLst/>
          </a:prstGeom>
          <a:solidFill>
            <a:srgbClr val="F5F7FA"/>
          </a:solidFill>
          <a:ln/>
        </p:spPr>
      </p:sp>
      <p:sp>
        <p:nvSpPr>
          <p:cNvPr id="21" name="Text 19"/>
          <p:cNvSpPr/>
          <p:nvPr/>
        </p:nvSpPr>
        <p:spPr>
          <a:xfrm>
            <a:off x="6675120" y="246888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IK/FK切换逻辑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57200" y="3291840"/>
            <a:ext cx="1828800" cy="82296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3" name="Text 21"/>
          <p:cNvSpPr/>
          <p:nvPr/>
        </p:nvSpPr>
        <p:spPr>
          <a:xfrm>
            <a:off x="457200" y="3291840"/>
            <a:ext cx="1828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物理集成层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468880" y="3474720"/>
            <a:ext cx="1920240" cy="457200"/>
          </a:xfrm>
          <a:prstGeom prst="roundRect">
            <a:avLst/>
          </a:prstGeom>
          <a:solidFill>
            <a:srgbClr val="F5F7FA"/>
          </a:solidFill>
          <a:ln/>
        </p:spPr>
      </p:sp>
      <p:sp>
        <p:nvSpPr>
          <p:cNvPr id="25" name="Text 23"/>
          <p:cNvSpPr/>
          <p:nvPr/>
        </p:nvSpPr>
        <p:spPr>
          <a:xfrm>
            <a:off x="2468880" y="3474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肌肉/肌腱模拟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572000" y="3474720"/>
            <a:ext cx="1920240" cy="457200"/>
          </a:xfrm>
          <a:prstGeom prst="roundRect">
            <a:avLst/>
          </a:prstGeom>
          <a:solidFill>
            <a:srgbClr val="F5F7FA"/>
          </a:solidFill>
          <a:ln/>
        </p:spPr>
      </p:sp>
      <p:sp>
        <p:nvSpPr>
          <p:cNvPr id="27" name="Text 25"/>
          <p:cNvSpPr/>
          <p:nvPr/>
        </p:nvSpPr>
        <p:spPr>
          <a:xfrm>
            <a:off x="4572000" y="3474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软组织变形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6675120" y="3474720"/>
            <a:ext cx="1920240" cy="457200"/>
          </a:xfrm>
          <a:prstGeom prst="roundRect">
            <a:avLst/>
          </a:prstGeom>
          <a:solidFill>
            <a:srgbClr val="F5F7FA"/>
          </a:solidFill>
          <a:ln/>
        </p:spPr>
      </p:sp>
      <p:sp>
        <p:nvSpPr>
          <p:cNvPr id="29" name="Text 27"/>
          <p:cNvSpPr/>
          <p:nvPr/>
        </p:nvSpPr>
        <p:spPr>
          <a:xfrm>
            <a:off x="6675120" y="3474720"/>
            <a:ext cx="1920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碰撞检测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57200" y="4297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IK求解器技术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4663440"/>
            <a:ext cx="2011680" cy="548640"/>
          </a:xfrm>
          <a:prstGeom prst="rect">
            <a:avLst/>
          </a:prstGeom>
          <a:solidFill>
            <a:srgbClr val="4A90D9">
              <a:alpha val="70000"/>
            </a:srgbClr>
          </a:solidFill>
          <a:ln/>
        </p:spPr>
      </p:sp>
      <p:sp>
        <p:nvSpPr>
          <p:cNvPr id="32" name="Text 30"/>
          <p:cNvSpPr/>
          <p:nvPr/>
        </p:nvSpPr>
        <p:spPr>
          <a:xfrm>
            <a:off x="457200" y="4663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Jacobian转置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迭代求解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精度高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速度: 中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2606040" y="4663440"/>
            <a:ext cx="2011680" cy="548640"/>
          </a:xfrm>
          <a:prstGeom prst="rect">
            <a:avLst/>
          </a:prstGeom>
          <a:solidFill>
            <a:srgbClr val="4A90D9">
              <a:alpha val="70000"/>
            </a:srgbClr>
          </a:solidFill>
          <a:ln/>
        </p:spPr>
      </p:sp>
      <p:sp>
        <p:nvSpPr>
          <p:cNvPr id="34" name="Text 32"/>
          <p:cNvSpPr/>
          <p:nvPr/>
        </p:nvSpPr>
        <p:spPr>
          <a:xfrm>
            <a:off x="2606040" y="4663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FABRIK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前向后向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可达性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速度: 快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54880" y="4663440"/>
            <a:ext cx="2011680" cy="548640"/>
          </a:xfrm>
          <a:prstGeom prst="rect">
            <a:avLst/>
          </a:prstGeom>
          <a:solidFill>
            <a:srgbClr val="4A90D9">
              <a:alpha val="70000"/>
            </a:srgbClr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4663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CCDIK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循环坐标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简化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速度: 最快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6903720" y="4663440"/>
            <a:ext cx="2011680" cy="54864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38" name="Text 36"/>
          <p:cNvSpPr/>
          <p:nvPr/>
        </p:nvSpPr>
        <p:spPr>
          <a:xfrm>
            <a:off x="6903720" y="4663440"/>
            <a:ext cx="20116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AI预测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神经网络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学习求解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速度: 实时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Meshy.ai 技术架构详解 / Meshy Architecture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Meshy AI Pipeline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920240" y="1691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457200" y="1371600"/>
            <a:ext cx="1554480" cy="914400"/>
          </a:xfrm>
          <a:prstGeom prst="roundRect">
            <a:avLst/>
          </a:prstGeom>
          <a:solidFill>
            <a:srgbClr val="1E3A5F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4173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17830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Text/Image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Prompt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0" y="1691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2194560" y="1371600"/>
            <a:ext cx="1554480" cy="914400"/>
          </a:xfrm>
          <a:prstGeom prst="roundRect">
            <a:avLst/>
          </a:prstGeom>
          <a:solidFill>
            <a:srgbClr val="4A90D9"/>
          </a:solidFill>
          <a:ln/>
        </p:spPr>
      </p:sp>
      <p:sp>
        <p:nvSpPr>
          <p:cNvPr id="12" name="Text 10"/>
          <p:cNvSpPr/>
          <p:nvPr/>
        </p:nvSpPr>
        <p:spPr>
          <a:xfrm>
            <a:off x="2194560" y="14173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3D生成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194560" y="17830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Diffusion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Neural Fields</a:t>
            </a:r>
            <a:endParaRPr lang="en-US" sz="800" dirty="0"/>
          </a:p>
        </p:txBody>
      </p:sp>
      <p:sp>
        <p:nvSpPr>
          <p:cNvPr id="14" name="Text 12"/>
          <p:cNvSpPr/>
          <p:nvPr/>
        </p:nvSpPr>
        <p:spPr>
          <a:xfrm>
            <a:off x="5394960" y="1691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5" name="Shape 13"/>
          <p:cNvSpPr/>
          <p:nvPr/>
        </p:nvSpPr>
        <p:spPr>
          <a:xfrm>
            <a:off x="3931920" y="1371600"/>
            <a:ext cx="1554480" cy="914400"/>
          </a:xfrm>
          <a:prstGeom prst="roundRect">
            <a:avLst/>
          </a:prstGeom>
          <a:solidFill>
            <a:srgbClr val="4A90D9"/>
          </a:solidFill>
          <a:ln/>
        </p:spPr>
      </p:sp>
      <p:sp>
        <p:nvSpPr>
          <p:cNvPr id="16" name="Text 14"/>
          <p:cNvSpPr/>
          <p:nvPr/>
        </p:nvSpPr>
        <p:spPr>
          <a:xfrm>
            <a:off x="3931920" y="14173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Mesh优化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931920" y="17830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Remesh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Texture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7132320" y="16916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800" dirty="0"/>
          </a:p>
        </p:txBody>
      </p:sp>
      <p:sp>
        <p:nvSpPr>
          <p:cNvPr id="19" name="Shape 17"/>
          <p:cNvSpPr/>
          <p:nvPr/>
        </p:nvSpPr>
        <p:spPr>
          <a:xfrm>
            <a:off x="5669280" y="1371600"/>
            <a:ext cx="1554480" cy="914400"/>
          </a:xfrm>
          <a:prstGeom prst="roundRect">
            <a:avLst/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5669280" y="14173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Auto-Rig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0" y="17830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AI骨骼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智能绑定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406640" y="1371600"/>
            <a:ext cx="1554480" cy="914400"/>
          </a:xfrm>
          <a:prstGeom prst="roundRect">
            <a:avLst/>
          </a:prstGeom>
          <a:solidFill>
            <a:srgbClr val="10B981"/>
          </a:solidFill>
          <a:ln/>
        </p:spPr>
      </p:sp>
      <p:sp>
        <p:nvSpPr>
          <p:cNvPr id="23" name="Text 21"/>
          <p:cNvSpPr/>
          <p:nvPr/>
        </p:nvSpPr>
        <p:spPr>
          <a:xfrm>
            <a:off x="7406640" y="1417320"/>
            <a:ext cx="1554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动画库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7406640" y="1783080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500+动捕</a:t>
            </a:r>
            <a:endParaRPr lang="en-US" sz="800" dirty="0"/>
          </a:p>
          <a:p>
            <a:pPr algn="ct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游戏动画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457200" y="24688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Auto-Rigging 详解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2834640"/>
            <a:ext cx="4023360" cy="2194560"/>
          </a:xfrm>
          <a:prstGeom prst="rect">
            <a:avLst/>
          </a:prstGeom>
          <a:solidFill>
            <a:srgbClr val="E8F4FD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48640" y="2880360"/>
            <a:ext cx="38404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骨骼自动生成: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 人形检测 (Humanoid Detection)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- AI识别角色类型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- 确定骨骼数量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2. 拓扑推断 (Topology Inference)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- 关节位置预测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- 骨骼长度计算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 IK/FK自动配置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- 手臂/腿部IK链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- 脊柱FK链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4. 权重生成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- 热力学扩散算法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  - 平滑优化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663440" y="24688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Meshy vs 传统方案</a:t>
            </a:r>
            <a:endParaRPr lang="en-US" sz="13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2834640"/>
          <a:ext cx="4023360" cy="1828800"/>
        </p:xfrm>
        <a:graphic>
          <a:graphicData uri="http://schemas.openxmlformats.org/drawingml/2006/table">
            <a:tbl>
              <a:tblPr/>
              <a:tblGrid>
                <a:gridCol w="1280160"/>
                <a:gridCol w="1371600"/>
                <a:gridCol w="1371600"/>
              </a:tblGrid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对比项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Meshy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传统方式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时间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2-5分钟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8-40小时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人工介入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极少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成本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$15/月起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$5000+/人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质量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80-90分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90-98分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批量处理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支持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不支持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" name="Text 27"/>
          <p:cNvSpPr/>
          <p:nvPr/>
        </p:nvSpPr>
        <p:spPr>
          <a:xfrm>
            <a:off x="457200" y="47548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结论: Meshy适合快速原型和中小团队，复杂项目仍需专业工具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方案综合对比 / Solution Comparison</a:t>
            </a:r>
            <a:endParaRPr lang="en-US" sz="22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05840"/>
          <a:ext cx="8229600" cy="2743200"/>
        </p:xfrm>
        <a:graphic>
          <a:graphicData uri="http://schemas.openxmlformats.org/drawingml/2006/table">
            <a:tbl>
              <a:tblPr/>
              <a:tblGrid>
                <a:gridCol w="1463040"/>
                <a:gridCol w="822960"/>
                <a:gridCol w="822960"/>
                <a:gridCol w="822960"/>
                <a:gridCol w="822960"/>
                <a:gridCol w="914400"/>
                <a:gridCol w="1645920"/>
              </a:tblGrid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类型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AI能力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蒙皮质量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绑定质量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价格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适合场景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Meshy.ai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云服务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85-90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80-90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$15/月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快速原型/独立开发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Unreal+iKinema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商业引擎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★★★★★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90-95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95+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订阅制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AAA游戏/影视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Unity+插件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商业引擎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★★★☆☆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80-88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85-90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免费+插件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手游/中型游戏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DeepSkin+Rigify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开源组合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★★★☆☆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85-92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85-92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免费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有技术团队/预研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腾讯AI Lab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自研发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88-94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90+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大厂自用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网易伏羲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自研发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★★★★☆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85-92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90+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内部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大厂自用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29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Mixamo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免费服务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★★★☆☆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78-85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80-88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免费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入门/教学</a:t>
                      </a:r>
                      <a:endParaRPr lang="en-US" sz="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6B728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选型建议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457200" y="4297680"/>
            <a:ext cx="4023360" cy="411480"/>
          </a:xfrm>
          <a:prstGeom prst="rect">
            <a:avLst/>
          </a:prstGeom>
          <a:solidFill>
            <a:srgbClr val="10B981">
              <a:alpha val="80000"/>
            </a:srgbClr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4343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独立开发者: Meshy + Mixamo (免费组合)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4663440" y="4297680"/>
            <a:ext cx="4023360" cy="411480"/>
          </a:xfrm>
          <a:prstGeom prst="rect">
            <a:avLst/>
          </a:prstGeom>
          <a:solidFill>
            <a:srgbClr val="4A90D9">
              <a:alpha val="80000"/>
            </a:srgbClr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4754880" y="434340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中型团队: Unity + Meshy API + mGear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457200" y="4800600"/>
            <a:ext cx="4023360" cy="411480"/>
          </a:xfrm>
          <a:prstGeom prst="rect">
            <a:avLst/>
          </a:prstGeom>
          <a:solidFill>
            <a:srgbClr val="FF6B35">
              <a:alpha val="80000"/>
            </a:srgbClr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548640" y="48463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AAA大厂: Unreal + 自研发 + iKinema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4663440" y="4800600"/>
            <a:ext cx="4023360" cy="411480"/>
          </a:xfrm>
          <a:prstGeom prst="rect">
            <a:avLst/>
          </a:prstGeom>
          <a:solidFill>
            <a:srgbClr val="EF4444">
              <a:alpha val="80000"/>
            </a:srgbClr>
          </a:solidFill>
          <a:ln w="12700">
            <a:solidFill>
              <a:srgbClr val="EF4444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54880" y="4846320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中国厂商: 网易伏羲 / 腾讯AI Lab / 米哈游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5F7F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实施路线图 / Implementation Roadmap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457200" y="914400"/>
            <a:ext cx="2651760" cy="457200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914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1: 0-6个月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打基础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" y="169164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73736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Meshy试点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程序化骨骼(Mixamo/Rigify)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AI骨骼绑定: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Rigify/mGear部署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IK/FK系统建立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57200" y="3383280"/>
            <a:ext cx="2651760" cy="320040"/>
          </a:xfrm>
          <a:prstGeom prst="rect">
            <a:avLst/>
          </a:prstGeom>
          <a:solidFill>
            <a:srgbClr val="10B981">
              <a:alpha val="70000"/>
            </a:srgbClr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3383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0B98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KPI: 效率+40%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914400"/>
            <a:ext cx="2651760" cy="457200"/>
          </a:xfrm>
          <a:prstGeom prst="rect">
            <a:avLst/>
          </a:prstGeom>
          <a:solidFill>
            <a:srgbClr val="4A90D9"/>
          </a:solidFill>
          <a:ln/>
        </p:spPr>
      </p:sp>
      <p:sp>
        <p:nvSpPr>
          <p:cNvPr id="13" name="Text 11"/>
          <p:cNvSpPr/>
          <p:nvPr/>
        </p:nvSpPr>
        <p:spPr>
          <a:xfrm>
            <a:off x="3291840" y="914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2: 6-12个月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291840" y="13716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AI深化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91840" y="169164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4A90D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173736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DeepSkin引入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NPC角色AI蒙皮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AI骨骼绑定: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iKinema评估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AI骨骼绑定试点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291840" y="3383280"/>
            <a:ext cx="2651760" cy="320040"/>
          </a:xfrm>
          <a:prstGeom prst="rect">
            <a:avLst/>
          </a:prstGeom>
          <a:solidFill>
            <a:srgbClr val="4A90D9">
              <a:alpha val="70000"/>
            </a:srgbClr>
          </a:solidFill>
          <a:ln/>
        </p:spPr>
      </p:sp>
      <p:sp>
        <p:nvSpPr>
          <p:cNvPr id="18" name="Text 16"/>
          <p:cNvSpPr/>
          <p:nvPr/>
        </p:nvSpPr>
        <p:spPr>
          <a:xfrm>
            <a:off x="3291840" y="3383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4A90D9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KPI: AI覆盖30%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914400"/>
            <a:ext cx="2651760" cy="45720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20" name="Text 18"/>
          <p:cNvSpPr/>
          <p:nvPr/>
        </p:nvSpPr>
        <p:spPr>
          <a:xfrm>
            <a:off x="6126480" y="914400"/>
            <a:ext cx="2651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Phase 3: 12-18个月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6126480" y="1371600"/>
            <a:ext cx="2651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规模化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26480" y="1691640"/>
            <a:ext cx="265176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6B3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217920" y="1737360"/>
            <a:ext cx="24688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AI蒙皮扩展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自研能力建设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AI骨骼绑定: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完整AI骨骼绑定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生产管线集成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6126480" y="3383280"/>
            <a:ext cx="2651760" cy="320040"/>
          </a:xfrm>
          <a:prstGeom prst="rect">
            <a:avLst/>
          </a:prstGeom>
          <a:solidFill>
            <a:srgbClr val="FF6B35">
              <a:alpha val="7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126480" y="338328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6B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KPI: AI覆盖70%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457200" y="38404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投资建议 (100人团队)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57200" y="4206240"/>
            <a:ext cx="2011680" cy="868680"/>
          </a:xfrm>
          <a:prstGeom prst="roundRect">
            <a:avLst/>
          </a:prstGeom>
          <a:solidFill>
            <a:srgbClr val="E8F4FD"/>
          </a:solidFill>
          <a:ln/>
        </p:spPr>
      </p:sp>
      <p:sp>
        <p:nvSpPr>
          <p:cNvPr id="28" name="Text 26"/>
          <p:cNvSpPr/>
          <p:nvPr/>
        </p:nvSpPr>
        <p:spPr>
          <a:xfrm>
            <a:off x="457200" y="42519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AI研发(3-4人)</a:t>
            </a:r>
            <a:endParaRPr lang="en-US" sz="900" dirty="0"/>
          </a:p>
          <a:p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35%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核心算法研发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606040" y="4206240"/>
            <a:ext cx="2011680" cy="868680"/>
          </a:xfrm>
          <a:prstGeom prst="roundRect">
            <a:avLst/>
          </a:prstGeom>
          <a:solidFill>
            <a:srgbClr val="E8F4FD"/>
          </a:solidFill>
          <a:ln/>
        </p:spPr>
      </p:sp>
      <p:sp>
        <p:nvSpPr>
          <p:cNvPr id="30" name="Text 28"/>
          <p:cNvSpPr/>
          <p:nvPr/>
        </p:nvSpPr>
        <p:spPr>
          <a:xfrm>
            <a:off x="2606040" y="42519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管线开发(2-3人)</a:t>
            </a:r>
            <a:endParaRPr lang="en-US" sz="900" dirty="0"/>
          </a:p>
          <a:p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25%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工具链集成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754880" y="4206240"/>
            <a:ext cx="2011680" cy="868680"/>
          </a:xfrm>
          <a:prstGeom prst="roundRect">
            <a:avLst/>
          </a:prstGeom>
          <a:solidFill>
            <a:srgbClr val="E8F4FD"/>
          </a:solidFill>
          <a:ln/>
        </p:spPr>
      </p:sp>
      <p:sp>
        <p:nvSpPr>
          <p:cNvPr id="32" name="Text 30"/>
          <p:cNvSpPr/>
          <p:nvPr/>
        </p:nvSpPr>
        <p:spPr>
          <a:xfrm>
            <a:off x="4754880" y="42519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GPU基础设施</a:t>
            </a:r>
            <a:endParaRPr lang="en-US" sz="900" dirty="0"/>
          </a:p>
          <a:p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训练+推理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6903720" y="4206240"/>
            <a:ext cx="2011680" cy="868680"/>
          </a:xfrm>
          <a:prstGeom prst="roundRect">
            <a:avLst/>
          </a:prstGeom>
          <a:solidFill>
            <a:srgbClr val="E8F4FD"/>
          </a:solidFill>
          <a:ln/>
        </p:spPr>
      </p:sp>
      <p:sp>
        <p:nvSpPr>
          <p:cNvPr id="34" name="Text 32"/>
          <p:cNvSpPr/>
          <p:nvPr/>
        </p:nvSpPr>
        <p:spPr>
          <a:xfrm>
            <a:off x="6903720" y="4251960"/>
            <a:ext cx="20116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工具许可+培训</a:t>
            </a:r>
            <a:endParaRPr lang="en-US" sz="900" dirty="0"/>
          </a:p>
          <a:p>
            <a:pPr algn="ctr" indent="0" marL="0">
              <a:buNone/>
            </a:pP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20%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1E3A5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商业软件+人才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0" y="-914400"/>
            <a:ext cx="4572000" cy="4572000"/>
          </a:xfrm>
          <a:prstGeom prst="ellipse">
            <a:avLst/>
          </a:prstGeom>
          <a:solidFill>
            <a:srgbClr val="1E3A5F">
              <a:alpha val="5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828800" y="2743200"/>
            <a:ext cx="5486400" cy="5486400"/>
          </a:xfrm>
          <a:prstGeom prst="ellipse">
            <a:avLst/>
          </a:prstGeom>
          <a:solidFill>
            <a:srgbClr val="FF6B35">
              <a:alpha val="4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548640"/>
            <a:ext cx="76809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核心结论</a:t>
            </a:r>
            <a:endParaRPr lang="en-US" sz="280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37160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280160" y="137160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Meshy.ai是最火的AI 3D工具，支持自动骨骼绑定和500+动画库，适合快速原型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148840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0" name="Text 8"/>
          <p:cNvSpPr/>
          <p:nvPr/>
        </p:nvSpPr>
        <p:spPr>
          <a:xfrm>
            <a:off x="731520" y="214884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280160" y="214884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中国厂商(腾讯AI Lab、网易伏羲)在AI骨骼动画领域有成熟自研技术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1520" y="2926080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3" name="Text 11"/>
          <p:cNvSpPr/>
          <p:nvPr/>
        </p:nvSpPr>
        <p:spPr>
          <a:xfrm>
            <a:off x="731520" y="292608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280160" y="292608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国际厂商: Unreal+iKinema(Epic)是商业标杆，Unity正在追赶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1520" y="3703320"/>
            <a:ext cx="411480" cy="411480"/>
          </a:xfrm>
          <a:prstGeom prst="ellipse">
            <a:avLst/>
          </a:prstGeom>
          <a:solidFill>
            <a:srgbClr val="FF6B35"/>
          </a:solidFill>
          <a:ln/>
        </p:spPr>
      </p:sp>
      <p:sp>
        <p:nvSpPr>
          <p:cNvPr id="16" name="Text 14"/>
          <p:cNvSpPr/>
          <p:nvPr/>
        </p:nvSpPr>
        <p:spPr>
          <a:xfrm>
            <a:off x="731520" y="3703320"/>
            <a:ext cx="411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280160" y="3703320"/>
            <a:ext cx="7132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开源组合(DeepSkin+Rigify/mGear)是免费生产级选择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31520" y="4480560"/>
            <a:ext cx="1828800" cy="45720"/>
          </a:xfrm>
          <a:prstGeom prst="rect">
            <a:avLst/>
          </a:prstGeom>
          <a:solidFill>
            <a:srgbClr val="FF6B35"/>
          </a:solidFill>
          <a:ln/>
        </p:spPr>
      </p:sp>
      <p:sp>
        <p:nvSpPr>
          <p:cNvPr id="19" name="Text 17"/>
          <p:cNvSpPr/>
          <p:nvPr/>
        </p:nvSpPr>
        <p:spPr>
          <a:xfrm>
            <a:off x="731520" y="46634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游戏资产技术洞察团队 | 2026年5月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AI蒙皮与骨骼绑定技术洞察报告</dc:title>
  <dc:subject>游戏资产自动化技术战略</dc:subject>
  <dc:creator>游戏资产技术洞察团队</dc:creator>
  <cp:lastModifiedBy>游戏资产技术洞察团队</cp:lastModifiedBy>
  <cp:revision>1</cp:revision>
  <dcterms:created xsi:type="dcterms:W3CDTF">2026-05-20T09:03:03Z</dcterms:created>
  <dcterms:modified xsi:type="dcterms:W3CDTF">2026-05-20T09:03:03Z</dcterms:modified>
</cp:coreProperties>
</file>