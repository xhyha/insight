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A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7315200" cy="7315200"/>
          </a:xfrm>
          <a:prstGeom prst="ellipse">
            <a:avLst/>
          </a:prstGeom>
          <a:solidFill>
            <a:srgbClr val="0A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4267200" cy="635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81600" y="2011680"/>
            <a:ext cx="4267200" cy="635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48800" y="2011680"/>
            <a:ext cx="4267200" cy="635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游戏广告 ROI 洞察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4AA"/>
                </a:solidFill>
                <a:latin typeface="Calibri"/>
              </a:defRPr>
            </a:pPr>
            <a:r>
              <a:t>市场趋势 · 指标体系 · 渠道策略 · AI优化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97680"/>
            <a:ext cx="2743200" cy="381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9E"/>
                </a:solidFill>
                <a:latin typeface="Calibri"/>
              </a:defRPr>
            </a:pPr>
            <a:r>
              <a:t>Game Advertising ROI Insight Report  |  2026.05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9E"/>
                </a:solidFill>
                <a:latin typeface="Calibri"/>
              </a:defRPr>
            </a:pPr>
            <a:r>
              <a:t>xhyha insight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A2A4A"/>
                </a:solidFill>
                <a:latin typeface="Calibri"/>
              </a:defRPr>
            </a:pPr>
            <a:r>
              <a:t>User Acquisition</a:t>
            </a:r>
            <a:br/>
            <a:r>
              <a:t>ROAS</a:t>
            </a:r>
            <a:br/>
            <a:r>
              <a:t>SKAN 4.0</a:t>
            </a:r>
            <a:br/>
            <a:r>
              <a:t>AI Bidding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核心洞察摘要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246120" cy="1645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3246120" cy="5080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8CFF"/>
                </a:solidFill>
                <a:latin typeface="Calibri"/>
              </a:defRPr>
            </a:pPr>
            <a:r>
              <a:t>$120B+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全球游戏广告市场规模 (2026E)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移动+PC+主机游戏</a:t>
            </a:r>
            <a:br/>
            <a:r>
              <a:t>广告支出 *估算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645920"/>
            <a:ext cx="3246120" cy="1645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69080" y="1645920"/>
            <a:ext cx="3246120" cy="508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78308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  <a:latin typeface="Calibri"/>
              </a:defRPr>
            </a:pPr>
            <a:r>
              <a:t>30-45%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2860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ROAS D30 行业中位数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60604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中重度游戏D30</a:t>
            </a:r>
            <a:br/>
            <a:r>
              <a:t>ROAS基准范围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645920"/>
            <a:ext cx="3246120" cy="1645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0" y="1645920"/>
            <a:ext cx="3246120" cy="508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78308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CF6"/>
                </a:solidFill>
                <a:latin typeface="Calibri"/>
              </a:defRPr>
            </a:pPr>
            <a:r>
              <a:t>$2.5-$8.0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2860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全球平均CPI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60604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按品类区间</a:t>
            </a:r>
            <a:br/>
            <a:r>
              <a:t>iOS为Android的1.5-2x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09960" y="1645920"/>
            <a:ext cx="3246120" cy="1645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109960" y="1645920"/>
            <a:ext cx="3246120" cy="5080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178308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  <a:latin typeface="Calibri"/>
              </a:defRPr>
            </a:pPr>
            <a:r>
              <a:t>+25-40%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22860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AI优化ROI提升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260604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AI出价+创意优化</a:t>
            </a:r>
            <a:br/>
            <a:r>
              <a:t>vs人工投放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657600"/>
            <a:ext cx="1353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1300" b="0">
                <a:solidFill>
                  <a:srgbClr val="B0BCD4"/>
                </a:solidFill>
                <a:latin typeface="Calibri"/>
              </a:defRPr>
            </a:pPr>
            <a:r>
              <a:t>▸  移动游戏广告支出持续双位数增长，程序化购买占比超80%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B0BCD4"/>
                </a:solidFill>
                <a:latin typeface="Calibri"/>
              </a:defRPr>
            </a:pPr>
            <a:r>
              <a:t>▸  SKAN 4.0 + 归因隐私化重塑UA策略，第一方数据价值凸显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B0BCD4"/>
                </a:solidFill>
                <a:latin typeface="Calibri"/>
              </a:defRPr>
            </a:pPr>
            <a:r>
              <a:t>▸  激励视频和可玩广告成为ROI最高形式，eCPM领先Banner 5-10x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B0BCD4"/>
                </a:solidFill>
                <a:latin typeface="Calibri"/>
              </a:defRPr>
            </a:pPr>
            <a:r>
              <a:t>▸  AI驱动的自动化投放正从"锦上添花"变为"必备能力"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B0BCD4"/>
                </a:solidFill>
                <a:latin typeface="Calibri"/>
              </a:defRPr>
            </a:pPr>
            <a:r>
              <a:t>▸  休闲/超休闲品类CPI持续走低，但LTV压力推动混合变现模式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全球游戏广告市场趋势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2024-2026 市场规模与增长动力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11435"/>
            <a:ext cx="1645920" cy="2357845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4567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8CFF"/>
                </a:solidFill>
                <a:latin typeface="Calibri"/>
              </a:defRPr>
            </a:pPr>
            <a:r>
              <a:t>$95B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3013602"/>
            <a:ext cx="1645920" cy="2655678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64784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8CFF"/>
                </a:solidFill>
                <a:latin typeface="Calibri"/>
              </a:defRPr>
            </a:pPr>
            <a:r>
              <a:t>$107B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5760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2025E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32780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+12.6%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2690949"/>
            <a:ext cx="1645920" cy="2978331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32518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8CFF"/>
                </a:solidFill>
                <a:latin typeface="Calibri"/>
              </a:defRPr>
            </a:pPr>
            <a:r>
              <a:t>$120B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760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2026E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00514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+12.1%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alibri"/>
              </a:defRPr>
            </a:pPr>
            <a:r>
              <a:t>YoY增长率 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1554480"/>
            <a:ext cx="4114800" cy="15544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0" y="1554480"/>
            <a:ext cx="4114800" cy="3810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700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移动占比: 65-70%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2359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Mobile游戏广告支出</a:t>
            </a:r>
            <a:br/>
            <a:r>
              <a:t>占总市场比例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3383280"/>
            <a:ext cx="4114800" cy="15544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58400" y="3383280"/>
            <a:ext cx="4114800" cy="381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程序化占比: 80%+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4187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Programmatic购买</a:t>
            </a:r>
            <a:br/>
            <a:r>
              <a:t>占据绝对主导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212080"/>
            <a:ext cx="4114800" cy="15544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58400" y="5212080"/>
            <a:ext cx="4114800" cy="3810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CAGR: ~10%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60167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2024-2026年复合</a:t>
            </a:r>
            <a:br/>
            <a:r>
              <a:t>年增长率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8368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E"/>
                </a:solidFill>
                <a:latin typeface="Calibri"/>
              </a:defRPr>
            </a:pPr>
            <a:r>
              <a:t>数据来源: eMarketer / Newzoo / Sensor Tower 综合估算 * | 2026E = 预测值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中国游戏广告市场专项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本土生态与全球对比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中国 vs 全球增长率对比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游戏广告支出增速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121408"/>
            <a:ext cx="731520" cy="438912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847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00"/>
                </a:solidFill>
                <a:latin typeface="Calibri"/>
              </a:defRPr>
            </a:pPr>
            <a:r>
              <a:t>12%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060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中国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267712"/>
            <a:ext cx="731520" cy="292608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8CFF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060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全球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832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移动占比增速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291839"/>
            <a:ext cx="731520" cy="54864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01751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00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886199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中国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474719"/>
            <a:ext cx="731520" cy="36576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20039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8CFF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886199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全球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程序化广告增速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4462272"/>
            <a:ext cx="731520" cy="658368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4187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00"/>
                </a:solidFill>
                <a:latin typeface="Calibri"/>
              </a:defRPr>
            </a:pPr>
            <a:r>
              <a:t>18%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1663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中国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681728"/>
            <a:ext cx="731520" cy="438912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44074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8CFF"/>
                </a:solidFill>
                <a:latin typeface="Calibri"/>
              </a:defRPr>
            </a:pPr>
            <a:r>
              <a:t>12%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1663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全球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平台格局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2103120"/>
            <a:ext cx="393192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0" y="2103120"/>
            <a:ext cx="3931920" cy="3810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穿山甲  35-40%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2651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字节跳动旗下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29077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游戏广告主阵地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0" y="3749039"/>
            <a:ext cx="393192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0" y="3749039"/>
            <a:ext cx="3931920" cy="3810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38861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优量汇  20-25%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429767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腾讯广告联盟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455371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广覆盖+社交数据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0" y="5394960"/>
            <a:ext cx="393192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86400" y="5394960"/>
            <a:ext cx="3931920" cy="381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快手联盟  10-15%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5943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短视频+直播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6199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下沉市场优势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关键趋势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75520" y="2103120"/>
            <a:ext cx="4389120" cy="10972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875520" y="2103120"/>
            <a:ext cx="4389120" cy="3810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小游戏广告爆发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04120" y="26517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广告收入年增长50%+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75520" y="3474720"/>
            <a:ext cx="4389120" cy="10972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875520" y="3474720"/>
            <a:ext cx="4389120" cy="3810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出海买量加速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04120" y="40233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出海游戏数量年增20%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75520" y="4846320"/>
            <a:ext cx="4389120" cy="10972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875520" y="4846320"/>
            <a:ext cx="4389120" cy="381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隐私合规趋严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04120" y="5394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《个人信息保护法》深化落地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875520" y="6217920"/>
            <a:ext cx="4389120" cy="10972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875520" y="6217920"/>
            <a:ext cx="4389120" cy="381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短剧+游戏融合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04120" y="67665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新广告形态试水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ROI核心指标体系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从投入到回报的完整度量框架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4480560" cy="17373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4480560" cy="3810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8CFF"/>
                </a:solidFill>
                <a:latin typeface="Calibri"/>
              </a:defRPr>
            </a:pPr>
            <a:r>
              <a:t>CPI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783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E"/>
                </a:solidFill>
                <a:latin typeface="Calibri"/>
              </a:defRPr>
            </a:pPr>
            <a:r>
              <a:t>Cost Per Install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广告费用 / 安装数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每次安装成本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554480"/>
            <a:ext cx="4480560" cy="17373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4920" y="1554480"/>
            <a:ext cx="4480560" cy="381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CPA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783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E"/>
                </a:solidFill>
                <a:latin typeface="Calibri"/>
              </a:defRPr>
            </a:pPr>
            <a:r>
              <a:t>Cost Per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1945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广告费用 / 目标行为数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5603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每次行动成本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554480"/>
            <a:ext cx="4480560" cy="17373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84080" y="1554480"/>
            <a:ext cx="4480560" cy="3810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Calibri"/>
              </a:defRPr>
            </a:pPr>
            <a:r>
              <a:t>LTV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1783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E"/>
                </a:solidFill>
                <a:latin typeface="Calibri"/>
              </a:defRPr>
            </a:pPr>
            <a:r>
              <a:t>Lifetime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1945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Σ(ARPU × 留存率^n)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5603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用户生命周期总价值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566160"/>
            <a:ext cx="4480560" cy="17373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60" y="3566160"/>
            <a:ext cx="4480560" cy="3810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8C00"/>
                </a:solidFill>
                <a:latin typeface="Calibri"/>
              </a:defRPr>
            </a:pPr>
            <a:r>
              <a:t>ROAS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794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E"/>
                </a:solidFill>
                <a:latin typeface="Calibri"/>
              </a:defRPr>
            </a:pPr>
            <a:r>
              <a:t>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06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Paid Revenue / Ad Spend × 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720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广告支出回报率(不含自然收入)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3566160"/>
            <a:ext cx="4480560" cy="17373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74920" y="3566160"/>
            <a:ext cx="4480560" cy="381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5780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ARPU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794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E"/>
                </a:solidFill>
                <a:latin typeface="Calibri"/>
              </a:defRPr>
            </a:pPr>
            <a:r>
              <a:t>Avg Revenue Per User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4206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总收入 / 活跃用户数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45720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每用户平均收入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3566160"/>
            <a:ext cx="4480560" cy="17373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84080" y="3566160"/>
            <a:ext cx="4480560" cy="38100"/>
          </a:xfrm>
          <a:prstGeom prst="roundRect">
            <a:avLst/>
          </a:prstGeom>
          <a:solidFill>
            <a:srgbClr val="FF4D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6696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4D6A"/>
                </a:solidFill>
                <a:latin typeface="Calibri"/>
              </a:defRPr>
            </a:pPr>
            <a:r>
              <a:t>CAC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3794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E"/>
                </a:solidFill>
                <a:latin typeface="Calibri"/>
              </a:defRPr>
            </a:pPr>
            <a:r>
              <a:t>Customer Acq. Cost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4206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总获客成本 / 新付费用户数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45720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客户获取成本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66928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指标关系流程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6126480"/>
            <a:ext cx="1828800" cy="7315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6217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CFF"/>
                </a:solidFill>
                <a:latin typeface="Calibri"/>
              </a:defRPr>
            </a:pPr>
            <a:r>
              <a:t>投入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26080" y="6126480"/>
            <a:ext cx="1828800" cy="7315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20" y="6217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CPI/CPA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20640" y="6126480"/>
            <a:ext cx="1828800" cy="7315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0" y="6217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Calibri"/>
              </a:defRPr>
            </a:pPr>
            <a:r>
              <a:t>用户获取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0" y="6126480"/>
            <a:ext cx="1828800" cy="7315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0" y="6217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Calibri"/>
              </a:defRPr>
            </a:pPr>
            <a:r>
              <a:t>留存/活跃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09760" y="6126480"/>
            <a:ext cx="1828800" cy="7315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0" y="6217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LTV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04320" y="6126480"/>
            <a:ext cx="1828800" cy="7315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F4D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95760" y="6217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D6A"/>
                </a:solidFill>
                <a:latin typeface="Calibri"/>
              </a:defRPr>
            </a:pPr>
            <a:r>
              <a:t>ROAS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06039" y="6400800"/>
            <a:ext cx="274320" cy="38100"/>
          </a:xfrm>
          <a:prstGeom prst="rect">
            <a:avLst/>
          </a:prstGeom>
          <a:solidFill>
            <a:srgbClr val="6B7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00599" y="6400800"/>
            <a:ext cx="274320" cy="38100"/>
          </a:xfrm>
          <a:prstGeom prst="rect">
            <a:avLst/>
          </a:prstGeom>
          <a:solidFill>
            <a:srgbClr val="6B7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995159" y="6400800"/>
            <a:ext cx="274320" cy="38100"/>
          </a:xfrm>
          <a:prstGeom prst="rect">
            <a:avLst/>
          </a:prstGeom>
          <a:solidFill>
            <a:srgbClr val="6B7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89719" y="6400800"/>
            <a:ext cx="274320" cy="38100"/>
          </a:xfrm>
          <a:prstGeom prst="rect">
            <a:avLst/>
          </a:prstGeom>
          <a:solidFill>
            <a:srgbClr val="6B7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384279" y="6400800"/>
            <a:ext cx="274320" cy="38100"/>
          </a:xfrm>
          <a:prstGeom prst="rect">
            <a:avLst/>
          </a:prstGeom>
          <a:solidFill>
            <a:srgbClr val="6B7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ROI计算模型与转化漏斗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从曝光到付费的完整ROI链路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6858000" cy="777240"/>
          </a:xfrm>
          <a:prstGeom prst="rect">
            <a:avLst/>
          </a:prstGeom>
          <a:solidFill>
            <a:srgbClr val="1A253C"/>
          </a:solidFill>
          <a:ln w="25400">
            <a:solidFill>
              <a:srgbClr val="0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曝光 Impressions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8CFF"/>
                </a:solidFill>
                <a:latin typeface="Calibri"/>
              </a:defRPr>
            </a:pPr>
            <a:r>
              <a:t>1,000,000  (100%)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560320"/>
            <a:ext cx="5943600" cy="777240"/>
          </a:xfrm>
          <a:prstGeom prst="rect">
            <a:avLst/>
          </a:prstGeom>
          <a:solidFill>
            <a:srgbClr val="1A253C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6060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点击 Clicks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9260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  <a:latin typeface="Calibri"/>
              </a:defRPr>
            </a:pPr>
            <a:r>
              <a:t>30,000  (3.0% CTR)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566160"/>
            <a:ext cx="5029200" cy="777240"/>
          </a:xfrm>
          <a:prstGeom prst="rect">
            <a:avLst/>
          </a:prstGeom>
          <a:solidFill>
            <a:srgbClr val="1A253C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611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安装 Installs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931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5CF6"/>
                </a:solidFill>
                <a:latin typeface="Calibri"/>
              </a:defRPr>
            </a:pPr>
            <a:r>
              <a:t>3,000  (10.0% CVR)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4572000"/>
            <a:ext cx="4114800" cy="777240"/>
          </a:xfrm>
          <a:prstGeom prst="rect">
            <a:avLst/>
          </a:prstGeom>
          <a:solidFill>
            <a:srgbClr val="1A253C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4617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激活(完成教程)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9377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C00"/>
                </a:solidFill>
                <a:latin typeface="Calibri"/>
              </a:defRPr>
            </a:pPr>
            <a:r>
              <a:t>1,800  (60.0%)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5577840"/>
            <a:ext cx="3200400" cy="777240"/>
          </a:xfrm>
          <a:prstGeom prst="rect">
            <a:avLst/>
          </a:prstGeom>
          <a:solidFill>
            <a:srgbClr val="1A253C"/>
          </a:solidFill>
          <a:ln w="254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5623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留存 D1/D7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5943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900  (50.0%)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6583680"/>
            <a:ext cx="2286000" cy="777240"/>
          </a:xfrm>
          <a:prstGeom prst="rect">
            <a:avLst/>
          </a:prstGeom>
          <a:solidFill>
            <a:srgbClr val="1A253C"/>
          </a:solidFill>
          <a:ln w="25400">
            <a:solidFill>
              <a:srgbClr val="FF4D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6629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首次付费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6949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Calibri"/>
              </a:defRPr>
            </a:pPr>
            <a:r>
              <a:t>135  (15.0%)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ROAS 时间维度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2103120"/>
            <a:ext cx="53035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0" y="2103120"/>
            <a:ext cx="5303520" cy="3810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2194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CFF"/>
                </a:solidFill>
                <a:latin typeface="Calibri"/>
              </a:defRPr>
            </a:pPr>
            <a:r>
              <a:t>D1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0" y="2240280"/>
            <a:ext cx="160020" cy="2286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698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~5%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606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次日回报率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3200400"/>
            <a:ext cx="53035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86800" y="3200400"/>
            <a:ext cx="5303520" cy="381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3291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D7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0" y="3337560"/>
            <a:ext cx="480060" cy="2286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4702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~15%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703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周回报率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4297679"/>
            <a:ext cx="53035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686800" y="4297679"/>
            <a:ext cx="5303520" cy="381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438911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D30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75520" y="4434839"/>
            <a:ext cx="1120139" cy="2286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87099" y="43891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~35%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80059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月回报率（基准线）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0" y="5394959"/>
            <a:ext cx="53035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686800" y="5394959"/>
            <a:ext cx="5303520" cy="3810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0" y="548639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D90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75520" y="5532119"/>
            <a:ext cx="1760220" cy="2286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727180" y="548639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~55%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589787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季度回报率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0" y="6492240"/>
            <a:ext cx="53035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686800" y="6492240"/>
            <a:ext cx="5303520" cy="3810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0" y="6583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D180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6629400"/>
            <a:ext cx="2240279" cy="2286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207239" y="6583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~70%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69951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半年度回报率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主流广告渠道全景对比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全球Top渠道能力矩阵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463040" cy="4572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554480"/>
            <a:ext cx="1920240" cy="457200"/>
          </a:xfrm>
          <a:prstGeom prst="rect">
            <a:avLst/>
          </a:prstGeom>
          <a:solidFill>
            <a:srgbClr val="42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Meta 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554480"/>
            <a:ext cx="1920240" cy="457200"/>
          </a:xfrm>
          <a:prstGeom prst="rect">
            <a:avLst/>
          </a:prstGeom>
          <a:solidFill>
            <a:srgbClr val="F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Google 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554480"/>
            <a:ext cx="1920240" cy="4572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TikTok Ads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554480"/>
            <a:ext cx="1920240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8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ASA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554480"/>
            <a:ext cx="1920240" cy="4572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Unity Ads*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521440" y="1554480"/>
            <a:ext cx="1920240" cy="4572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6716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AppLovin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011680"/>
            <a:ext cx="14630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05740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平均CPI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2011680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205740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$2.0-5.0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011680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205740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$1.5-4.0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2011680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205740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$1.0-3.0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2011680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80" y="205740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$1.5-5.0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2011680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205740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$0.5-2.0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21440" y="2011680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67160" y="205740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$0.5-2.5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761488"/>
            <a:ext cx="14630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807208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CTR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20240" y="2761488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65960" y="280720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1.5-3.0%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2761488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6200" y="280720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0.5-2.0%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2761488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280720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2.0-5.0%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2761488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6680" y="280720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8-15%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2761488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20" y="280720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1.0-3.0%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521440" y="2761488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567160" y="280720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1.0-3.0%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511296"/>
            <a:ext cx="14630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3557016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IPM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240" y="3511296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65960" y="3557016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3-8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0" y="3511296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86200" y="3557016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2-6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720" y="3511296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06440" y="3557016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5-12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0" y="3511296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26680" y="3557016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5-10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01200" y="3511296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46920" y="3557016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4-10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521440" y="3511296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567160" y="3557016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3-8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261104"/>
            <a:ext cx="14630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4306824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D1留存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20240" y="4261104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65960" y="4306824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25-35%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40480" y="4261104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86200" y="4306824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20-30%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60720" y="4261104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06440" y="4306824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20-30%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80960" y="4261104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26680" y="4306824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35-50%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601200" y="4261104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46920" y="4306824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30-40%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521440" y="4261104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567160" y="4306824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28-38%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010912"/>
            <a:ext cx="14630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" y="5056632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D7留存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20240" y="5010912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65960" y="505663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10-18%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40480" y="5010912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886200" y="505663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8-15%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60720" y="5010912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806440" y="505663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8-15%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80960" y="5010912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26680" y="505663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15-25%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01200" y="5010912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46920" y="505663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12-22%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521440" y="5010912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567160" y="505663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10-18%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5760720"/>
            <a:ext cx="14630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2920" y="580644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优势品类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20240" y="5760720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965960" y="580644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中重度/RPG</a:t>
            </a:r>
            <a:br/>
            <a:r>
              <a:t>SLG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40480" y="5760720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886200" y="580644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混合变现</a:t>
            </a:r>
            <a:br/>
            <a:r>
              <a:t>全品类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60720" y="5760720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06440" y="580644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休闲/超休闲</a:t>
            </a:r>
            <a:br/>
            <a:r>
              <a:t>社交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680960" y="5760720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726680" y="580644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iOS搜索</a:t>
            </a:r>
            <a:br/>
            <a:r>
              <a:t>高意向用户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5760720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646920" y="580644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中轻度</a:t>
            </a:r>
            <a:br/>
            <a:r>
              <a:t>混合休闲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521440" y="5760720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567160" y="580644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中轻度</a:t>
            </a:r>
            <a:br/>
            <a:r>
              <a:t>混合休闲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" y="6510528"/>
            <a:ext cx="14630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02920" y="6556248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推荐场景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920240" y="6510528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965960" y="655624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高价值用户</a:t>
            </a:r>
            <a:br/>
            <a:r>
              <a:t>品牌+效果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840480" y="6510528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886200" y="655624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搜索+展示</a:t>
            </a:r>
            <a:br/>
            <a:r>
              <a:t>全域覆盖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60720" y="6510528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806440" y="655624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年轻用户</a:t>
            </a:r>
            <a:br/>
            <a:r>
              <a:t>病毒传播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680960" y="6510528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726680" y="655624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iOS核心</a:t>
            </a:r>
            <a:br/>
            <a:r>
              <a:t>高ROAS渠道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601200" y="6510528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646920" y="655624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游戏内</a:t>
            </a:r>
            <a:br/>
            <a:r>
              <a:t>精准场景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521440" y="6510528"/>
            <a:ext cx="1920240" cy="749808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567160" y="655624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数据驱动</a:t>
            </a:r>
            <a:br/>
            <a:r>
              <a:t>自动化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" y="75895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E"/>
                </a:solidFill>
                <a:latin typeface="Calibri"/>
              </a:defRPr>
            </a:pPr>
            <a:r>
              <a:t>数据来源: AppsFlyer Benchmark H2 2025 / Liftoff Gaming Report / 行业综合估算 | *Unity Ads 含原ironSource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渠道ROI基准数据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2025-2026 各渠道表现量化对比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各渠道平均CPI对比 (iOS vs Android)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11296"/>
            <a:ext cx="548640" cy="2432304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4206240"/>
            <a:ext cx="548640" cy="173736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997757"/>
            <a:ext cx="548640" cy="1945843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4692701"/>
            <a:ext cx="548640" cy="1250899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60350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Google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4553712"/>
            <a:ext cx="548640" cy="1389888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5040173"/>
            <a:ext cx="548640" cy="903427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60350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TikTok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3719780"/>
            <a:ext cx="548640" cy="222382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5943600"/>
            <a:ext cx="548640" cy="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60350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5109668"/>
            <a:ext cx="548640" cy="833932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5457140"/>
            <a:ext cx="548640" cy="48646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60350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Unity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4901184"/>
            <a:ext cx="548640" cy="1042416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5248656"/>
            <a:ext cx="548640" cy="69494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60350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AppLovin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8CFF"/>
                </a:solidFill>
                <a:latin typeface="Calibri"/>
              </a:defRPr>
            </a:pPr>
            <a:r>
              <a:t>■ 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■ Android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ROAS 热力矩阵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2011680"/>
            <a:ext cx="1188720" cy="4114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2057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渠道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2011680"/>
            <a:ext cx="1097280" cy="4114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7844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D7 ROAS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0" y="2011680"/>
            <a:ext cx="1097280" cy="4114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7572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D30 ROAS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527280" y="2011680"/>
            <a:ext cx="1097280" cy="4114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7300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D90 ROAS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2423160"/>
            <a:ext cx="118872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24688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32720" y="2423160"/>
            <a:ext cx="109728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78440" y="24688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Calibri"/>
              </a:defRPr>
            </a:pPr>
            <a:r>
              <a:t>12%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0" y="2423160"/>
            <a:ext cx="109728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24688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C00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527280" y="2423160"/>
            <a:ext cx="109728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573000" y="24688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55%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2926080"/>
            <a:ext cx="118872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9720" y="2971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Google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32720" y="2926080"/>
            <a:ext cx="109728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78440" y="297180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0" y="2926080"/>
            <a:ext cx="109728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75720" y="297180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C00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527280" y="2926080"/>
            <a:ext cx="109728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573000" y="297180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3429000"/>
            <a:ext cx="118872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89720" y="3474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TikTok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32720" y="3429000"/>
            <a:ext cx="109728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78440" y="34747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0" y="3429000"/>
            <a:ext cx="109728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75720" y="34747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C00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527280" y="3429000"/>
            <a:ext cx="109728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573000" y="34747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42%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931920"/>
            <a:ext cx="118872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89720" y="39776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ASA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332720" y="3931920"/>
            <a:ext cx="109728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78440" y="39776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30000" y="3931920"/>
            <a:ext cx="109728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75720" y="39776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527280" y="3931920"/>
            <a:ext cx="109728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573000" y="39776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0" y="4434840"/>
            <a:ext cx="118872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89720" y="4480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Unity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332720" y="4434840"/>
            <a:ext cx="109728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378440" y="44805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430000" y="4434840"/>
            <a:ext cx="109728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475720" y="44805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C00"/>
                </a:solidFill>
                <a:latin typeface="Calibri"/>
              </a:defRPr>
            </a:pPr>
            <a:r>
              <a:t>28%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2527280" y="4434840"/>
            <a:ext cx="109728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2573000" y="44805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45%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0" y="4937760"/>
            <a:ext cx="118872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89720" y="49834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AppLovin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332720" y="4937760"/>
            <a:ext cx="109728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378440" y="49834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Calibri"/>
              </a:defRPr>
            </a:pPr>
            <a:r>
              <a:t>9%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430000" y="4937760"/>
            <a:ext cx="109728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475720" y="49834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C00"/>
                </a:solidFill>
                <a:latin typeface="Calibri"/>
              </a:defRPr>
            </a:pPr>
            <a:r>
              <a:t>26%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527280" y="4937760"/>
            <a:ext cx="109728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2573000" y="49834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43%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广告形式与ROI表现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六大广告形式的效率与体验博弈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219456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2194560" cy="3810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激励视频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eCPM $10-30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59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完成率 90%+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151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用户主动观看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712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ROI最高形式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554480"/>
            <a:ext cx="219456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43200" y="1554480"/>
            <a:ext cx="2194560" cy="3810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插屏广告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eCPM $5-15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359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跳过率 60%+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6151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强曝光但干扰体验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8712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适合休眠用户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554480"/>
            <a:ext cx="219456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20640" y="1554480"/>
            <a:ext cx="2194560" cy="38100"/>
          </a:xfrm>
          <a:prstGeom prst="roundRect">
            <a:avLst/>
          </a:prstGeom>
          <a:solidFill>
            <a:srgbClr val="6B7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eCPM $0.5-2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359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CTR 0.5-1%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6151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低成本持续曝光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28712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但eCPM最低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0" y="1554480"/>
            <a:ext cx="219456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98080" y="1554480"/>
            <a:ext cx="2194560" cy="381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原生广告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eCPM $3-8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2359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CTR 1-3%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26151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融入游戏场景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28712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用户接受度高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1554480"/>
            <a:ext cx="219456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75520" y="1554480"/>
            <a:ext cx="2194560" cy="381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0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可玩广告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eCPM $15-40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2359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CTR 3-7%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4120" y="26151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3-5x于静态素材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28712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高转化高留存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252960" y="1554480"/>
            <a:ext cx="219456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2252960" y="1554480"/>
            <a:ext cx="2194560" cy="3810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435840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试玩广告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8156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eCPM $12-35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81560" y="2359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CVR 提升40%+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481560" y="26151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前置体验核心玩法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481560" y="28712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精准筛选用户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389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ROI-体验象限分析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4937760"/>
            <a:ext cx="12700" cy="274320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4400" y="6309360"/>
            <a:ext cx="11887200" cy="1270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4663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E"/>
                </a:solidFill>
                <a:latin typeface="Calibri"/>
              </a:defRPr>
            </a:pPr>
            <a:r>
              <a:t>高ROI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93040" y="61722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E"/>
                </a:solidFill>
                <a:latin typeface="Calibri"/>
              </a:defRPr>
            </a:pPr>
            <a:r>
              <a:t>高体验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" y="61722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E"/>
                </a:solidFill>
                <a:latin typeface="Calibri"/>
              </a:defRPr>
            </a:pPr>
            <a:r>
              <a:t>低体验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7726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E"/>
                </a:solidFill>
                <a:latin typeface="Calibri"/>
              </a:defRPr>
            </a:pPr>
            <a:r>
              <a:t>低ROI</a:t>
            </a:r>
          </a:p>
        </p:txBody>
      </p:sp>
      <p:sp>
        <p:nvSpPr>
          <p:cNvPr id="56" name="Oval 55"/>
          <p:cNvSpPr/>
          <p:nvPr/>
        </p:nvSpPr>
        <p:spPr>
          <a:xfrm>
            <a:off x="11018520" y="5212080"/>
            <a:ext cx="164592" cy="16459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19688" y="5166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Calibri"/>
              </a:defRPr>
            </a:pPr>
            <a:r>
              <a:t>激励视频</a:t>
            </a:r>
          </a:p>
        </p:txBody>
      </p:sp>
      <p:sp>
        <p:nvSpPr>
          <p:cNvPr id="58" name="Oval 57"/>
          <p:cNvSpPr/>
          <p:nvPr/>
        </p:nvSpPr>
        <p:spPr>
          <a:xfrm>
            <a:off x="11612880" y="5623560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814048" y="5577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可玩广告</a:t>
            </a:r>
          </a:p>
        </p:txBody>
      </p:sp>
      <p:sp>
        <p:nvSpPr>
          <p:cNvPr id="60" name="Oval 59"/>
          <p:cNvSpPr/>
          <p:nvPr/>
        </p:nvSpPr>
        <p:spPr>
          <a:xfrm>
            <a:off x="10424160" y="5349240"/>
            <a:ext cx="164592" cy="164592"/>
          </a:xfrm>
          <a:prstGeom prst="ellipse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625328" y="5303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试玩广告</a:t>
            </a:r>
          </a:p>
        </p:txBody>
      </p:sp>
      <p:sp>
        <p:nvSpPr>
          <p:cNvPr id="62" name="Oval 61"/>
          <p:cNvSpPr/>
          <p:nvPr/>
        </p:nvSpPr>
        <p:spPr>
          <a:xfrm>
            <a:off x="6858000" y="5760720"/>
            <a:ext cx="164592" cy="164592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59168" y="5715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Calibri"/>
              </a:defRPr>
            </a:pPr>
            <a:r>
              <a:t>原生广告</a:t>
            </a:r>
          </a:p>
        </p:txBody>
      </p:sp>
      <p:sp>
        <p:nvSpPr>
          <p:cNvPr id="64" name="Oval 63"/>
          <p:cNvSpPr/>
          <p:nvPr/>
        </p:nvSpPr>
        <p:spPr>
          <a:xfrm>
            <a:off x="6263640" y="6858000"/>
            <a:ext cx="164592" cy="164592"/>
          </a:xfrm>
          <a:prstGeom prst="ellipse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64808" y="6812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CFF"/>
                </a:solidFill>
                <a:latin typeface="Calibri"/>
              </a:defRPr>
            </a:pPr>
            <a:r>
              <a:t>插屏广告</a:t>
            </a:r>
          </a:p>
        </p:txBody>
      </p:sp>
      <p:sp>
        <p:nvSpPr>
          <p:cNvPr id="66" name="Oval 65"/>
          <p:cNvSpPr/>
          <p:nvPr/>
        </p:nvSpPr>
        <p:spPr>
          <a:xfrm>
            <a:off x="2697480" y="7269480"/>
            <a:ext cx="164592" cy="164592"/>
          </a:xfrm>
          <a:prstGeom prst="ellipse">
            <a:avLst/>
          </a:prstGeom>
          <a:solidFill>
            <a:srgbClr val="6B7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98648" y="7223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B9E"/>
                </a:solidFill>
                <a:latin typeface="Calibri"/>
              </a:defRPr>
            </a:pPr>
            <a:r>
              <a:t>Banner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新兴广告形式深度分析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可玩广告、AI创意、互动视频的崛起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可玩广告转化流程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11680"/>
            <a:ext cx="1097280" cy="6400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8CFF"/>
                </a:solidFill>
                <a:latin typeface="Calibri"/>
              </a:defRPr>
            </a:pPr>
            <a:r>
              <a:t>触发展示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2286000"/>
            <a:ext cx="91440" cy="38100"/>
          </a:xfrm>
          <a:prstGeom prst="rect">
            <a:avLst/>
          </a:prstGeom>
          <a:solidFill>
            <a:srgbClr val="6B7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19" y="2011680"/>
            <a:ext cx="1097280" cy="6400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39" y="21031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  <a:latin typeface="Calibri"/>
              </a:defRPr>
            </a:pPr>
            <a:r>
              <a:t>加载素材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19" y="2286000"/>
            <a:ext cx="91440" cy="38100"/>
          </a:xfrm>
          <a:prstGeom prst="rect">
            <a:avLst/>
          </a:prstGeom>
          <a:solidFill>
            <a:srgbClr val="6B7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79" y="2011680"/>
            <a:ext cx="1097280" cy="6400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799" y="21031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Calibri"/>
              </a:defRPr>
            </a:pPr>
            <a:r>
              <a:t>用户交互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79" y="2286000"/>
            <a:ext cx="91440" cy="38100"/>
          </a:xfrm>
          <a:prstGeom prst="rect">
            <a:avLst/>
          </a:prstGeom>
          <a:solidFill>
            <a:srgbClr val="6B7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0" y="2011680"/>
            <a:ext cx="1097280" cy="6400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1031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00"/>
                </a:solidFill>
                <a:latin typeface="Calibri"/>
              </a:defRPr>
            </a:pPr>
            <a:r>
              <a:t>转化引导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2286000"/>
            <a:ext cx="91440" cy="38100"/>
          </a:xfrm>
          <a:prstGeom prst="rect">
            <a:avLst/>
          </a:prstGeom>
          <a:solidFill>
            <a:srgbClr val="6B7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0" y="2011680"/>
            <a:ext cx="1097280" cy="6400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21031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安装激活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92608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可玩广告CTR比静态素材高 3-5x  |  完成率 70%+  |  安装后D1留存提升 20-30%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554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AI创意效率提升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2011680"/>
            <a:ext cx="365760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0" y="2011680"/>
            <a:ext cx="3657600" cy="3810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素材生产效率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CFF"/>
                </a:solidFill>
                <a:latin typeface="Calibri"/>
              </a:defRPr>
            </a:pPr>
            <a:r>
              <a:t>10x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AI生成工具使素材</a:t>
            </a:r>
            <a:br/>
            <a:r>
              <a:t>生产速度提升10倍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3200400"/>
            <a:ext cx="365760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58000" y="3200400"/>
            <a:ext cx="3657600" cy="381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CTR提升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25%+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AI优化的创意素材</a:t>
            </a:r>
            <a:br/>
            <a:r>
              <a:t>平均CTR提升25%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4389120"/>
            <a:ext cx="365760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58000" y="4389120"/>
            <a:ext cx="3657600" cy="381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测试速度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50x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自动化A/B测试</a:t>
            </a:r>
            <a:br/>
            <a:r>
              <a:t>速度是人工的50倍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趋势预测 2024-2026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2011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alibri"/>
              </a:defRPr>
            </a:pPr>
            <a:r>
              <a:t>可玩广告占比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72800" y="2286000"/>
            <a:ext cx="822960" cy="152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87200" y="22402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2024: 15%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0" y="2697480"/>
            <a:ext cx="1371600" cy="152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435840" y="2651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2025: 25%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72800" y="3108960"/>
            <a:ext cx="1920240" cy="152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984480" y="3063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2026: 35%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374903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8CFF"/>
                </a:solidFill>
                <a:latin typeface="Calibri"/>
              </a:defRPr>
            </a:pPr>
            <a:r>
              <a:t>AI创意占比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72800" y="4023359"/>
            <a:ext cx="548640" cy="1524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12880" y="397763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2024: 10%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972800" y="4434839"/>
            <a:ext cx="1371600" cy="1524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435840" y="438911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2025: 25%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72800" y="4846319"/>
            <a:ext cx="2468880" cy="1524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533120" y="480059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2026: 45%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5486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互动视频占比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972800" y="5760720"/>
            <a:ext cx="274320" cy="1524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338560" y="5715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2024: 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972800" y="6172200"/>
            <a:ext cx="658368" cy="1524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22608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2025: 12%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0" y="6583680"/>
            <a:ext cx="1097280" cy="1524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16152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2026: 20%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用户获取(UA)成本趋势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2020-2026 全球CPI演变与影响因素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全球平均CPI趋势 (iOS vs Android)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2020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785360"/>
            <a:ext cx="137160" cy="137160"/>
          </a:xfrm>
          <a:prstGeom prst="ellipse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110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8CFF"/>
                </a:solidFill>
                <a:latin typeface="Calibri"/>
              </a:defRPr>
            </a:pPr>
            <a:r>
              <a:t>$2.0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248656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43153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Calibri"/>
              </a:defRPr>
            </a:pPr>
            <a:r>
              <a:t>$1.2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60350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2021</a:t>
            </a:r>
          </a:p>
        </p:txBody>
      </p:sp>
      <p:sp>
        <p:nvSpPr>
          <p:cNvPr id="14" name="Oval 13"/>
          <p:cNvSpPr/>
          <p:nvPr/>
        </p:nvSpPr>
        <p:spPr>
          <a:xfrm>
            <a:off x="1828800" y="4206240"/>
            <a:ext cx="137160" cy="137160"/>
          </a:xfrm>
          <a:prstGeom prst="ellipse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39319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8CFF"/>
                </a:solidFill>
                <a:latin typeface="Calibri"/>
              </a:defRPr>
            </a:pPr>
            <a:r>
              <a:t>$3.0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0" y="5074920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52578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Calibri"/>
              </a:defRPr>
            </a:pPr>
            <a:r>
              <a:t>$1.5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849368"/>
            <a:ext cx="960120" cy="254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5312664"/>
            <a:ext cx="960120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60350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2022</a:t>
            </a:r>
          </a:p>
        </p:txBody>
      </p:sp>
      <p:sp>
        <p:nvSpPr>
          <p:cNvPr id="21" name="Oval 20"/>
          <p:cNvSpPr/>
          <p:nvPr/>
        </p:nvSpPr>
        <p:spPr>
          <a:xfrm>
            <a:off x="2926080" y="3742944"/>
            <a:ext cx="137160" cy="137160"/>
          </a:xfrm>
          <a:prstGeom prst="ellipse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346862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8CFF"/>
                </a:solidFill>
                <a:latin typeface="Calibri"/>
              </a:defRPr>
            </a:pPr>
            <a:r>
              <a:t>$3.8</a:t>
            </a:r>
          </a:p>
        </p:txBody>
      </p:sp>
      <p:sp>
        <p:nvSpPr>
          <p:cNvPr id="23" name="Oval 22"/>
          <p:cNvSpPr/>
          <p:nvPr/>
        </p:nvSpPr>
        <p:spPr>
          <a:xfrm>
            <a:off x="2926080" y="4901184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50840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Calibri"/>
              </a:defRPr>
            </a:pPr>
            <a:r>
              <a:t>$1.8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4270248"/>
            <a:ext cx="960120" cy="254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65960" y="5138928"/>
            <a:ext cx="960120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79" y="60350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28" name="Oval 27"/>
          <p:cNvSpPr/>
          <p:nvPr/>
        </p:nvSpPr>
        <p:spPr>
          <a:xfrm>
            <a:off x="4023359" y="3511296"/>
            <a:ext cx="137160" cy="137160"/>
          </a:xfrm>
          <a:prstGeom prst="ellipse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19" y="323697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8CFF"/>
                </a:solidFill>
                <a:latin typeface="Calibri"/>
              </a:defRPr>
            </a:pPr>
            <a:r>
              <a:t>$4.2</a:t>
            </a:r>
          </a:p>
        </p:txBody>
      </p:sp>
      <p:sp>
        <p:nvSpPr>
          <p:cNvPr id="30" name="Oval 29"/>
          <p:cNvSpPr/>
          <p:nvPr/>
        </p:nvSpPr>
        <p:spPr>
          <a:xfrm>
            <a:off x="4023359" y="4785360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19" y="4968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Calibri"/>
              </a:defRPr>
            </a:pPr>
            <a:r>
              <a:t>$2.0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0" y="3806952"/>
            <a:ext cx="960119" cy="254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63240" y="4965192"/>
            <a:ext cx="960119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60350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35" name="Oval 34"/>
          <p:cNvSpPr/>
          <p:nvPr/>
        </p:nvSpPr>
        <p:spPr>
          <a:xfrm>
            <a:off x="5120640" y="3337560"/>
            <a:ext cx="137160" cy="137160"/>
          </a:xfrm>
          <a:prstGeom prst="ellipse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3063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8CFF"/>
                </a:solidFill>
                <a:latin typeface="Calibri"/>
              </a:defRPr>
            </a:pPr>
            <a:r>
              <a:t>$4.5</a:t>
            </a:r>
          </a:p>
        </p:txBody>
      </p:sp>
      <p:sp>
        <p:nvSpPr>
          <p:cNvPr id="37" name="Oval 36"/>
          <p:cNvSpPr/>
          <p:nvPr/>
        </p:nvSpPr>
        <p:spPr>
          <a:xfrm>
            <a:off x="5120640" y="4669536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0" y="485241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Calibri"/>
              </a:defRPr>
            </a:pPr>
            <a:r>
              <a:t>$2.2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19" y="3575304"/>
            <a:ext cx="960121" cy="254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60519" y="4849368"/>
            <a:ext cx="960121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60350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2025E</a:t>
            </a:r>
          </a:p>
        </p:txBody>
      </p:sp>
      <p:sp>
        <p:nvSpPr>
          <p:cNvPr id="42" name="Oval 41"/>
          <p:cNvSpPr/>
          <p:nvPr/>
        </p:nvSpPr>
        <p:spPr>
          <a:xfrm>
            <a:off x="6217920" y="3163824"/>
            <a:ext cx="137160" cy="137160"/>
          </a:xfrm>
          <a:prstGeom prst="ellipse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288950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8CFF"/>
                </a:solidFill>
                <a:latin typeface="Calibri"/>
              </a:defRPr>
            </a:pPr>
            <a:r>
              <a:t>$4.8</a:t>
            </a:r>
          </a:p>
        </p:txBody>
      </p:sp>
      <p:sp>
        <p:nvSpPr>
          <p:cNvPr id="44" name="Oval 43"/>
          <p:cNvSpPr/>
          <p:nvPr/>
        </p:nvSpPr>
        <p:spPr>
          <a:xfrm>
            <a:off x="6217920" y="4495800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4678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Calibri"/>
              </a:defRPr>
            </a:pPr>
            <a:r>
              <a:t>$2.5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3401568"/>
            <a:ext cx="960120" cy="254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4733544"/>
            <a:ext cx="960120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19" y="60350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2026E</a:t>
            </a:r>
          </a:p>
        </p:txBody>
      </p:sp>
      <p:sp>
        <p:nvSpPr>
          <p:cNvPr id="49" name="Oval 48"/>
          <p:cNvSpPr/>
          <p:nvPr/>
        </p:nvSpPr>
        <p:spPr>
          <a:xfrm>
            <a:off x="7315199" y="3048000"/>
            <a:ext cx="137160" cy="137160"/>
          </a:xfrm>
          <a:prstGeom prst="ellipse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23759" y="277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8CFF"/>
                </a:solidFill>
                <a:latin typeface="Calibri"/>
              </a:defRPr>
            </a:pPr>
            <a:r>
              <a:t>$5.0</a:t>
            </a:r>
          </a:p>
        </p:txBody>
      </p:sp>
      <p:sp>
        <p:nvSpPr>
          <p:cNvPr id="51" name="Oval 50"/>
          <p:cNvSpPr/>
          <p:nvPr/>
        </p:nvSpPr>
        <p:spPr>
          <a:xfrm>
            <a:off x="7315199" y="4322064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23759" y="450494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Calibri"/>
              </a:defRPr>
            </a:pPr>
            <a:r>
              <a:t>$2.8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3227832"/>
            <a:ext cx="960119" cy="254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5080" y="4559808"/>
            <a:ext cx="960119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874520" y="2011680"/>
            <a:ext cx="12700" cy="347472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54480" y="18288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4D6A"/>
                </a:solidFill>
                <a:latin typeface="Calibri"/>
              </a:defRPr>
            </a:pPr>
            <a:r>
              <a:t>ATT上线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69079" y="2011680"/>
            <a:ext cx="12700" cy="347472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49039" y="18288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Calibri"/>
              </a:defRPr>
            </a:pPr>
            <a:r>
              <a:t>SKAN 4.0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64008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CFF"/>
                </a:solidFill>
                <a:latin typeface="Calibri"/>
              </a:defRPr>
            </a:pPr>
            <a:r>
              <a:t>● iOS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6400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Calibri"/>
              </a:defRPr>
            </a:pPr>
            <a:r>
              <a:t>● Android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1554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UA策略转型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86800" y="2011680"/>
            <a:ext cx="548640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686800" y="2011680"/>
            <a:ext cx="5486400" cy="3810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6968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从"量"到"质"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154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重视LTV而非仅看CPI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15400" y="28163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聚焦高价值用户获取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686800" y="3383280"/>
            <a:ext cx="548640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3383280"/>
            <a:ext cx="5486400" cy="381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69680" y="3520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从"单一"到"多元"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1540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多渠道矩阵投放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15400" y="4187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降低单渠道依赖风险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686800" y="4754880"/>
            <a:ext cx="548640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686800" y="4754880"/>
            <a:ext cx="5486400" cy="381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69680" y="4892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从"人工"到"AI驱动"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1540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自动化出价+创意优化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15400" y="5559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数据驱动决策闭环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0" y="6217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地区CPI对比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686800" y="6583680"/>
            <a:ext cx="173736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686800" y="6583680"/>
            <a:ext cx="1737360" cy="3810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69680" y="67208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T1</a:t>
            </a:r>
            <a:br/>
            <a:r>
              <a:t>美日韩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15400" y="7132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$5-15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607040" y="6583680"/>
            <a:ext cx="173736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10607040" y="6583680"/>
            <a:ext cx="1737360" cy="3810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789920" y="67208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T2</a:t>
            </a:r>
            <a:br/>
            <a:r>
              <a:t>英德法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835640" y="7132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$3-8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2527280" y="6583680"/>
            <a:ext cx="173736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2527280" y="6583680"/>
            <a:ext cx="1737360" cy="3810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2710160" y="67208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T3</a:t>
            </a:r>
            <a:br/>
            <a:r>
              <a:t>东南亚拉美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755880" y="7132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$0.3-1.5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广告归因与测量演进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SKAN 4.0 时代下的归因新范式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归因技术演进时间线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840480" cy="14630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8CFF"/>
                </a:solidFill>
                <a:latin typeface="Calibri"/>
              </a:defRPr>
            </a:pPr>
            <a:r>
              <a:t>确定性归因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E"/>
                </a:solidFill>
                <a:latin typeface="Calibri"/>
              </a:defRPr>
            </a:pPr>
            <a:r>
              <a:t>2010-2020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IDFA/GAID 全量可用</a:t>
            </a:r>
            <a:br/>
            <a:r>
              <a:t>Last-click 归因主导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011680"/>
            <a:ext cx="3840480" cy="14630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1031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混合归因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3774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E"/>
                </a:solidFill>
                <a:latin typeface="Calibri"/>
              </a:defRPr>
            </a:pPr>
            <a:r>
              <a:t>2021-2023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651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ATT上线 IDFA可用率降至~25%</a:t>
            </a:r>
            <a:br/>
            <a:r>
              <a:t>确定性+概率混合模式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2011680"/>
            <a:ext cx="3840480" cy="14630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21031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隐私优先归因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3774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E"/>
                </a:solidFill>
                <a:latin typeface="Calibri"/>
              </a:defRPr>
            </a:pPr>
            <a:r>
              <a:t>2024+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651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SKAN 4.0 聚合测量</a:t>
            </a:r>
            <a:br/>
            <a:r>
              <a:t>第一方数据 + MTA + 隐私计算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651760"/>
            <a:ext cx="640080" cy="38100"/>
          </a:xfrm>
          <a:prstGeom prst="rect">
            <a:avLst/>
          </a:prstGeom>
          <a:solidFill>
            <a:srgbClr val="6B7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2651760"/>
            <a:ext cx="640080" cy="38100"/>
          </a:xfrm>
          <a:prstGeom prst="rect">
            <a:avLst/>
          </a:prstGeom>
          <a:solidFill>
            <a:srgbClr val="6B7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40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SKAN 4.0 转换值架构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594360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297680"/>
            <a:ext cx="5943600" cy="3810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34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第1次 Postback (0-2天)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含 Coarse + Fine Value (0-63)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102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高/中/低 三级粗粒度 + 64级细粒度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486400"/>
            <a:ext cx="566928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486400"/>
            <a:ext cx="5669280" cy="381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623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第2次 Postback (3-7天)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6035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仅 Coarse 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62910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聚合级延迟回传，追踪中期转化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6675120"/>
            <a:ext cx="539496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97280" y="6675120"/>
            <a:ext cx="5394960" cy="381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6812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第3次 Postback (8-35天)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7223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仅 Coarse Value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74797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长周期后验测量，评估LTV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8404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核心影响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4297680"/>
            <a:ext cx="685800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132320" y="4297680"/>
            <a:ext cx="6858000" cy="38100"/>
          </a:xfrm>
          <a:prstGeom prst="roundRect">
            <a:avLst/>
          </a:prstGeom>
          <a:solidFill>
            <a:srgbClr val="FF4D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IDFA可用率下降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4D6A"/>
                </a:solidFill>
                <a:latin typeface="Calibri"/>
              </a:defRPr>
            </a:pPr>
            <a:r>
              <a:t>~70% → ~25%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4709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确定性归因大幅缩水</a:t>
            </a:r>
            <a:br/>
            <a:r>
              <a:t>概率模型重要性上升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32320" y="5486400"/>
            <a:ext cx="685800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132320" y="5486400"/>
            <a:ext cx="6858000" cy="3810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Google Privacy Sandbox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8CFF"/>
                </a:solidFill>
                <a:latin typeface="Calibri"/>
              </a:defRPr>
            </a:pPr>
            <a:r>
              <a:t>Android归因新范式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5897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Attribution Reporting API</a:t>
            </a:r>
            <a:br/>
            <a:r>
              <a:t>Topics API + 差分隐私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0" y="6675120"/>
            <a:ext cx="685800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132320" y="6675120"/>
            <a:ext cx="6858000" cy="3810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6766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第一方数据崛起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766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E676"/>
                </a:solidFill>
                <a:latin typeface="Calibri"/>
              </a:defRPr>
            </a:pPr>
            <a:r>
              <a:t>D2C ROI 高30%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7086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自有渠道/社区/私域</a:t>
            </a:r>
            <a:br/>
            <a:r>
              <a:t>用户数据资产价值凸显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AI驱动的广告优化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从人工经验到智能自动化的范式转变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AI应用矩阵 (2×2)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011680"/>
            <a:ext cx="2926080" cy="2560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2148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智能出价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5603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tCPA / tROAS</a:t>
            </a:r>
            <a:br/>
            <a:r>
              <a:t>Value-based Bidding</a:t>
            </a:r>
            <a:br/>
            <a:r>
              <a:t>AI实时调整出价策略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2926080" cy="2560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48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CFF"/>
                </a:solidFill>
                <a:latin typeface="Calibri"/>
              </a:defRPr>
            </a:pPr>
            <a:r>
              <a:t>受众预测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603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Lookalike扩展</a:t>
            </a:r>
            <a:br/>
            <a:r>
              <a:t>预测高LTV用户</a:t>
            </a:r>
            <a:br/>
            <a:r>
              <a:t>实时受众优化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846320"/>
            <a:ext cx="2926080" cy="2560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4983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创意生成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539496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AI生成素材</a:t>
            </a:r>
            <a:br/>
            <a:r>
              <a:t>自动化A/B测试</a:t>
            </a:r>
            <a:br/>
            <a:r>
              <a:t>多模态创意优化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46320"/>
            <a:ext cx="2926080" cy="2560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83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归因优化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9496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MTA多触点</a:t>
            </a:r>
            <a:br/>
            <a:r>
              <a:t>增量分析</a:t>
            </a:r>
            <a:br/>
            <a:r>
              <a:t>隐私计算归因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17373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高ROI影响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5720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B9E"/>
                </a:solidFill>
                <a:latin typeface="Calibri"/>
              </a:defRPr>
            </a:pPr>
            <a:r>
              <a:t>高</a:t>
            </a:r>
            <a:br/>
            <a:r>
              <a:t>技</a:t>
            </a:r>
            <a:br/>
            <a:r>
              <a:t>术</a:t>
            </a:r>
            <a:br/>
            <a:r>
              <a:t>成</a:t>
            </a:r>
            <a:br/>
            <a:r>
              <a:t>熟</a:t>
            </a:r>
            <a:br/>
            <a:r>
              <a:t>度</a:t>
            </a:r>
            <a:br/>
            <a: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15544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平台AI能力对比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2011680"/>
            <a:ext cx="6858000" cy="18288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0" y="2011680"/>
            <a:ext cx="6858000" cy="3810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2148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8CFF"/>
                </a:solidFill>
                <a:latin typeface="Calibri"/>
              </a:defRPr>
            </a:pPr>
            <a:r>
              <a:t>Meta Advantage+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CPA降低15-30%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5146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▸ 自动化出价+定向+版位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7889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▸ AI创意推荐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0632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▸ 跨平台(IG+FB)联合优化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3375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▸ 适用中重度游戏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4114800"/>
            <a:ext cx="6858000" cy="18288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32320" y="4114800"/>
            <a:ext cx="6858000" cy="381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4251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Google PMax / UAC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转化提升20%+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6177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▸ 全渠道自动化投放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8920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▸ 搜索+展示+YouTube+Play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1663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▸ tROAS/tCPA出价策略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4406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▸ 适用全品类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6217920"/>
            <a:ext cx="6858000" cy="18288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132320" y="6217920"/>
            <a:ext cx="6858000" cy="381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TikTok Smart Performance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355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CPA降低10-25%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67208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▸ 短视频+直播自动优化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69951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▸ AI创意工具(CapCut集成)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72694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▸ 算法推荐流量池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75438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▸ 适用休闲/社交品类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预测模型与自动化出价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LTV预测、出价策略与创意优化的技术深入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LTV预测模型架构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4389120" cy="10058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用户行为+设备+环境+创意特征</a:t>
            </a:r>
            <a:br/>
            <a:r>
              <a:t>→ 特征工程(Embedding+时序聚合)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3063240"/>
            <a:ext cx="38100" cy="274320"/>
          </a:xfrm>
          <a:prstGeom prst="rect">
            <a:avLst/>
          </a:prstGeom>
          <a:solidFill>
            <a:srgbClr val="6B7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4389120" cy="10058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pLTV预测模型</a:t>
            </a:r>
            <a:br/>
            <a:r>
              <a:t>XGBoost(特征完善) / DNN(稀疏特征) / Transformer(行为序列)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4434840"/>
            <a:ext cx="38100" cy="274320"/>
          </a:xfrm>
          <a:prstGeom prst="rect">
            <a:avLst/>
          </a:prstGeom>
          <a:solidFill>
            <a:srgbClr val="6B7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4389120" cy="10058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pLTV输出 D7/D30/D90 预测值</a:t>
            </a:r>
            <a:br/>
            <a:r>
              <a:t>置信区间 + 冷启动策略(迁移学习)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74980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Top方案预测准确率: 85-90%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出价策略对比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2011680"/>
            <a:ext cx="1005840" cy="4114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057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策略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1005840" cy="4114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057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目标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011680"/>
            <a:ext cx="1005840" cy="4114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057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ROAS提升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011680"/>
            <a:ext cx="1005840" cy="4114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2057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适用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423160"/>
            <a:ext cx="100584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2468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tCPA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423160"/>
            <a:ext cx="100584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468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控制CPA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2423160"/>
            <a:ext cx="100584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0920" y="2468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Calibri"/>
              </a:defRPr>
            </a:pPr>
            <a:r>
              <a:t>+10-20%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2423160"/>
            <a:ext cx="100584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468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新游冷启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2926080"/>
            <a:ext cx="100584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9240" y="29718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tROAS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926080"/>
            <a:ext cx="100584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9718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控制ROAS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2926080"/>
            <a:ext cx="100584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20" y="29718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Calibri"/>
              </a:defRPr>
            </a:pPr>
            <a:r>
              <a:t>+20-35%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2926080"/>
            <a:ext cx="100584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29718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成熟期游戏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3429000"/>
            <a:ext cx="100584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49240" y="3474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Value-based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429000"/>
            <a:ext cx="100584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3474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最大化LTV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3429000"/>
            <a:ext cx="100584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60920" y="3474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Calibri"/>
              </a:defRPr>
            </a:pPr>
            <a:r>
              <a:t>+25-40%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3429000"/>
            <a:ext cx="1005840" cy="50292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66760" y="3474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高LTV品类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创意优化闭环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66560" y="4023360"/>
            <a:ext cx="1097280" cy="5486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1228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8CFF"/>
                </a:solidFill>
                <a:latin typeface="Calibri"/>
              </a:defRPr>
            </a:pPr>
            <a:r>
              <a:t>生成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38160" y="5394960"/>
            <a:ext cx="1097280" cy="5486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83880" y="54406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  <a:latin typeface="Calibri"/>
              </a:defRPr>
            </a:pPr>
            <a:r>
              <a:t>A/B测试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766560" y="6766560"/>
            <a:ext cx="1097280" cy="5486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12280" y="6812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Calibri"/>
              </a:defRPr>
            </a:pPr>
            <a:r>
              <a:t>数据反馈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94960" y="5394960"/>
            <a:ext cx="1097280" cy="5486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40680" y="54406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迭代优化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0" y="74980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自动化创意测试速度: 人工的50x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1554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关键技术指标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75520" y="2011680"/>
            <a:ext cx="2011680" cy="1645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875520" y="2011680"/>
            <a:ext cx="2011680" cy="3810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12680" y="2194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8CFF"/>
                </a:solidFill>
                <a:latin typeface="Calibri"/>
              </a:defRPr>
            </a:pPr>
            <a:r>
              <a:t>85-90%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12680" y="2743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4"/>
                </a:solidFill>
                <a:latin typeface="Calibri"/>
              </a:defRPr>
            </a:pPr>
            <a:r>
              <a:t>LTV预测准确率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2070080" y="2011680"/>
            <a:ext cx="2011680" cy="1645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2070080" y="2011680"/>
            <a:ext cx="2011680" cy="381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2207240" y="2194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  <a:latin typeface="Calibri"/>
              </a:defRPr>
            </a:pPr>
            <a:r>
              <a:t>+20-35%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207240" y="2743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4"/>
                </a:solidFill>
                <a:latin typeface="Calibri"/>
              </a:defRPr>
            </a:pPr>
            <a:r>
              <a:t>tROAS vs 人工ROAS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875520" y="3931920"/>
            <a:ext cx="2011680" cy="1645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875520" y="3931920"/>
            <a:ext cx="2011680" cy="381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12680" y="4114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Calibri"/>
              </a:defRPr>
            </a:pPr>
            <a:r>
              <a:t>50x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12680" y="4663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4"/>
                </a:solidFill>
                <a:latin typeface="Calibri"/>
              </a:defRPr>
            </a:pPr>
            <a:r>
              <a:t>创意测试速度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2070080" y="3931920"/>
            <a:ext cx="2011680" cy="1645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2070080" y="3931920"/>
            <a:ext cx="2011680" cy="3810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207240" y="4114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日级/周级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207240" y="4663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4"/>
                </a:solidFill>
                <a:latin typeface="Calibri"/>
              </a:defRPr>
            </a:pPr>
            <a:r>
              <a:t>模型重训频率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875520" y="5852160"/>
            <a:ext cx="2011680" cy="1645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9875520" y="5852160"/>
            <a:ext cx="2011680" cy="3810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12680" y="6035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Calibri"/>
              </a:defRPr>
            </a:pPr>
            <a:r>
              <a:t>分钟级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12680" y="65836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4"/>
                </a:solidFill>
                <a:latin typeface="Calibri"/>
              </a:defRPr>
            </a:pPr>
            <a:r>
              <a:t>在线推理延迟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2070080" y="5852160"/>
            <a:ext cx="2011680" cy="1645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2070080" y="5852160"/>
            <a:ext cx="2011680" cy="38100"/>
          </a:xfrm>
          <a:prstGeom prst="roundRect">
            <a:avLst/>
          </a:prstGeom>
          <a:solidFill>
            <a:srgbClr val="FF4D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2207240" y="6035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D6A"/>
                </a:solidFill>
                <a:latin typeface="Calibri"/>
              </a:defRPr>
            </a:pPr>
            <a:r>
              <a:t>迁移学习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207240" y="65836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4"/>
                </a:solidFill>
                <a:latin typeface="Calibri"/>
              </a:defRPr>
            </a:pPr>
            <a:r>
              <a:t>冷启动策略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典型游戏品类ROI基准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SLG / RPG / 休闲 / 超休闲 / 混合变现 品类数据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五大品类核心指标对比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19400"/>
            <a:ext cx="1097280" cy="26670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45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8CFF"/>
                </a:solidFill>
                <a:latin typeface="Calibri"/>
              </a:defRPr>
            </a:pPr>
            <a:r>
              <a:t>$10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4019550"/>
            <a:ext cx="1097280" cy="14668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74523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Calibri"/>
              </a:defRPr>
            </a:pPr>
            <a:r>
              <a:t>$5.5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55778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RPG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5153025"/>
            <a:ext cx="1097280" cy="333375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4878705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  <a:latin typeface="Calibri"/>
              </a:defRPr>
            </a:pPr>
            <a:r>
              <a:t>$1.25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5778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休闲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5406390"/>
            <a:ext cx="1097280" cy="8001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513207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00"/>
                </a:solidFill>
                <a:latin typeface="Calibri"/>
              </a:defRPr>
            </a:pPr>
            <a:r>
              <a:t>$0.3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5778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超休闲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4953000"/>
            <a:ext cx="1097280" cy="5334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4678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Calibri"/>
              </a:defRPr>
            </a:pPr>
            <a:r>
              <a:t>$2.0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5778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混合休闲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E"/>
                </a:solidFill>
                <a:latin typeface="Calibri"/>
              </a:defRPr>
            </a:pPr>
            <a:r>
              <a:t>CPI (平均$/安装)  |  括号内为 D30 ROAS / LTV:CAC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035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8CFF"/>
                </a:solidFill>
                <a:latin typeface="Calibri"/>
              </a:defRPr>
            </a:pPr>
            <a:r>
              <a:t>D30 ROAS 20%</a:t>
            </a:r>
            <a:br/>
            <a:r>
              <a:t>LTV:CAC &gt;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6035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B5CF6"/>
                </a:solidFill>
                <a:latin typeface="Calibri"/>
              </a:defRPr>
            </a:pPr>
            <a:r>
              <a:t>D30 ROAS 28%</a:t>
            </a:r>
            <a:br/>
            <a:r>
              <a:t>LTV:CAC 1.5-2.5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6035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D4AA"/>
                </a:solidFill>
                <a:latin typeface="Calibri"/>
              </a:defRPr>
            </a:pPr>
            <a:r>
              <a:t>D30 ROAS 15%</a:t>
            </a:r>
            <a:br/>
            <a:r>
              <a:t>LTV:CAC 1-2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035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8C00"/>
                </a:solidFill>
                <a:latin typeface="Calibri"/>
              </a:defRPr>
            </a:pPr>
            <a:r>
              <a:t>D30 ROAS 10%</a:t>
            </a:r>
            <a:br/>
            <a:r>
              <a:t>LTV:CAC 1-1.5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6035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E676"/>
                </a:solidFill>
                <a:latin typeface="Calibri"/>
              </a:defRPr>
            </a:pPr>
            <a:r>
              <a:t>D30 ROAS 33%</a:t>
            </a:r>
            <a:br/>
            <a:r>
              <a:t>LTV:CAC 2-3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品类-广告形式适配矩阵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2011680"/>
            <a:ext cx="822960" cy="36576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62288" y="2039112"/>
            <a:ext cx="786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品类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6960" y="2011680"/>
            <a:ext cx="777240" cy="36576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85248" y="2039112"/>
            <a:ext cx="740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激励视频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44200" y="2011680"/>
            <a:ext cx="777240" cy="36576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62488" y="2039112"/>
            <a:ext cx="740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可玩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521440" y="2011680"/>
            <a:ext cx="777240" cy="36576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9728" y="2039112"/>
            <a:ext cx="740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插屏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298680" y="2011680"/>
            <a:ext cx="777240" cy="36576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16968" y="2039112"/>
            <a:ext cx="740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原生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075920" y="2011680"/>
            <a:ext cx="777240" cy="36576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094208" y="2039112"/>
            <a:ext cx="740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Banner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2377440"/>
            <a:ext cx="822960" cy="45720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62288" y="2423160"/>
            <a:ext cx="786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8CFF"/>
                </a:solidFill>
                <a:latin typeface="Calibri"/>
              </a:defRPr>
            </a:pPr>
            <a:r>
              <a:t>SLG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66960" y="2377440"/>
            <a:ext cx="777240" cy="457200"/>
          </a:xfrm>
          <a:prstGeom prst="rect">
            <a:avLst/>
          </a:prstGeom>
          <a:solidFill>
            <a:srgbClr val="0A2A1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85248" y="24231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44200" y="2377440"/>
            <a:ext cx="777240" cy="457200"/>
          </a:xfrm>
          <a:prstGeom prst="rect">
            <a:avLst/>
          </a:prstGeom>
          <a:solidFill>
            <a:srgbClr val="0A2A1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62488" y="24231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521440" y="2377440"/>
            <a:ext cx="777240" cy="45720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539728" y="24231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298680" y="2377440"/>
            <a:ext cx="777240" cy="45720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16968" y="24231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075920" y="2377440"/>
            <a:ext cx="777240" cy="45720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094208" y="24231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★☆☆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2834640"/>
            <a:ext cx="82296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2288" y="2880360"/>
            <a:ext cx="786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Calibri"/>
              </a:defRPr>
            </a:pPr>
            <a:r>
              <a:t>RPG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66960" y="2834640"/>
            <a:ext cx="777240" cy="457200"/>
          </a:xfrm>
          <a:prstGeom prst="rect">
            <a:avLst/>
          </a:prstGeom>
          <a:solidFill>
            <a:srgbClr val="0A2A1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85248" y="28803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44200" y="2834640"/>
            <a:ext cx="77724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62488" y="28803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521440" y="2834640"/>
            <a:ext cx="77724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539728" y="28803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298680" y="2834640"/>
            <a:ext cx="777240" cy="457200"/>
          </a:xfrm>
          <a:prstGeom prst="rect">
            <a:avLst/>
          </a:prstGeom>
          <a:solidFill>
            <a:srgbClr val="0A2A1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316968" y="28803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075920" y="2834640"/>
            <a:ext cx="77724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094208" y="28803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★☆☆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0" y="3291840"/>
            <a:ext cx="822960" cy="45720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62288" y="3337560"/>
            <a:ext cx="786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Calibri"/>
              </a:defRPr>
            </a:pPr>
            <a:r>
              <a:t>休闲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66960" y="3291840"/>
            <a:ext cx="777240" cy="45720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85248" y="33375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★★☆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744200" y="3291840"/>
            <a:ext cx="777240" cy="457200"/>
          </a:xfrm>
          <a:prstGeom prst="rect">
            <a:avLst/>
          </a:prstGeom>
          <a:solidFill>
            <a:srgbClr val="0A2A1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762488" y="33375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521440" y="3291840"/>
            <a:ext cx="777240" cy="457200"/>
          </a:xfrm>
          <a:prstGeom prst="rect">
            <a:avLst/>
          </a:prstGeom>
          <a:solidFill>
            <a:srgbClr val="0A2A1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539728" y="33375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2298680" y="3291840"/>
            <a:ext cx="777240" cy="45720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316968" y="33375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075920" y="3291840"/>
            <a:ext cx="777240" cy="45720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094208" y="33375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★★☆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44000" y="3749040"/>
            <a:ext cx="82296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62288" y="3794760"/>
            <a:ext cx="786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Calibri"/>
              </a:defRPr>
            </a:pPr>
            <a:r>
              <a:t>超休闲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66960" y="3749040"/>
            <a:ext cx="77724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85248" y="37947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★☆☆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744200" y="3749040"/>
            <a:ext cx="77724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762488" y="37947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★★☆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521440" y="3749040"/>
            <a:ext cx="777240" cy="457200"/>
          </a:xfrm>
          <a:prstGeom prst="rect">
            <a:avLst/>
          </a:prstGeom>
          <a:solidFill>
            <a:srgbClr val="0A2A1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539728" y="37947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2298680" y="3749040"/>
            <a:ext cx="777240" cy="457200"/>
          </a:xfrm>
          <a:prstGeom prst="rect">
            <a:avLst/>
          </a:prstGeom>
          <a:solidFill>
            <a:srgbClr val="0A2A1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316968" y="37947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075920" y="3749040"/>
            <a:ext cx="777240" cy="457200"/>
          </a:xfrm>
          <a:prstGeom prst="rect">
            <a:avLst/>
          </a:prstGeom>
          <a:solidFill>
            <a:srgbClr val="0A2A1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094208" y="37947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144000" y="4206240"/>
            <a:ext cx="822960" cy="45720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62288" y="4251960"/>
            <a:ext cx="786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Calibri"/>
              </a:defRPr>
            </a:pPr>
            <a:r>
              <a:t>混合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966960" y="4206240"/>
            <a:ext cx="777240" cy="457200"/>
          </a:xfrm>
          <a:prstGeom prst="rect">
            <a:avLst/>
          </a:prstGeom>
          <a:solidFill>
            <a:srgbClr val="0A2A1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85248" y="42519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744200" y="4206240"/>
            <a:ext cx="777240" cy="457200"/>
          </a:xfrm>
          <a:prstGeom prst="rect">
            <a:avLst/>
          </a:prstGeom>
          <a:solidFill>
            <a:srgbClr val="0A2A1A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762488" y="42519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1521440" y="4206240"/>
            <a:ext cx="777240" cy="45720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539728" y="42519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★★☆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2298680" y="4206240"/>
            <a:ext cx="777240" cy="45720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2316968" y="42519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★★☆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3075920" y="4206240"/>
            <a:ext cx="777240" cy="457200"/>
          </a:xfrm>
          <a:prstGeom prst="rect">
            <a:avLst/>
          </a:prstGeom>
          <a:solidFill>
            <a:srgbClr val="1A253C"/>
          </a:solidFill>
          <a:ln w="635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3094208" y="4251960"/>
            <a:ext cx="740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D4"/>
                </a:solidFill>
                <a:latin typeface="Calibri"/>
              </a:defRPr>
            </a:pPr>
            <a:r>
              <a:t>★★☆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8640" y="6217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LTV曲线形态 (D0-D180)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E"/>
                </a:solidFill>
                <a:latin typeface="Calibri"/>
              </a:defRPr>
            </a:pPr>
          </a:p>
        </p:txBody>
      </p:sp>
      <p:sp>
        <p:nvSpPr>
          <p:cNvPr id="104" name="Oval 103"/>
          <p:cNvSpPr/>
          <p:nvPr/>
        </p:nvSpPr>
        <p:spPr>
          <a:xfrm>
            <a:off x="731520" y="7498079"/>
            <a:ext cx="109728" cy="109728"/>
          </a:xfrm>
          <a:prstGeom prst="ellipse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950720" y="7383779"/>
            <a:ext cx="109728" cy="109728"/>
          </a:xfrm>
          <a:prstGeom prst="ellipse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86384" y="7552943"/>
            <a:ext cx="1219200" cy="254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89120" y="7117079"/>
            <a:ext cx="109728" cy="109728"/>
          </a:xfrm>
          <a:prstGeom prst="ellipse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005584" y="7438643"/>
            <a:ext cx="2438400" cy="254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046720" y="6583679"/>
            <a:ext cx="109728" cy="109728"/>
          </a:xfrm>
          <a:prstGeom prst="ellipse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443984" y="7171943"/>
            <a:ext cx="3657600" cy="254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183880" y="6537959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CFF"/>
                </a:solidFill>
                <a:latin typeface="Calibri"/>
              </a:defRPr>
            </a:pPr>
            <a:r>
              <a:t>SLG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E"/>
                </a:solidFill>
                <a:latin typeface="Calibri"/>
              </a:defRPr>
            </a:pPr>
          </a:p>
        </p:txBody>
      </p:sp>
      <p:sp>
        <p:nvSpPr>
          <p:cNvPr id="113" name="Oval 112"/>
          <p:cNvSpPr/>
          <p:nvPr/>
        </p:nvSpPr>
        <p:spPr>
          <a:xfrm>
            <a:off x="731520" y="7498079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950720" y="7345679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86384" y="7552943"/>
            <a:ext cx="1219200" cy="25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389120" y="7078979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005584" y="7400543"/>
            <a:ext cx="2438400" cy="25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046720" y="6774179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443984" y="7133843"/>
            <a:ext cx="3657600" cy="25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183880" y="6728459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RPG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4864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E"/>
                </a:solidFill>
                <a:latin typeface="Calibri"/>
              </a:defRPr>
            </a:pPr>
          </a:p>
        </p:txBody>
      </p:sp>
      <p:sp>
        <p:nvSpPr>
          <p:cNvPr id="122" name="Oval 121"/>
          <p:cNvSpPr/>
          <p:nvPr/>
        </p:nvSpPr>
        <p:spPr>
          <a:xfrm>
            <a:off x="731520" y="7498079"/>
            <a:ext cx="109728" cy="109728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950720" y="7406639"/>
            <a:ext cx="109728" cy="109728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86384" y="7552943"/>
            <a:ext cx="1219200" cy="254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389120" y="7231379"/>
            <a:ext cx="109728" cy="109728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005584" y="7461503"/>
            <a:ext cx="2438400" cy="254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046720" y="7002779"/>
            <a:ext cx="109728" cy="109728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443984" y="7286243"/>
            <a:ext cx="3657600" cy="254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183880" y="6957059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Calibri"/>
              </a:defRPr>
            </a:pPr>
            <a:r>
              <a:t>混合休闲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864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E"/>
                </a:solidFill>
                <a:latin typeface="Calibri"/>
              </a:defRPr>
            </a:pPr>
          </a:p>
        </p:txBody>
      </p:sp>
      <p:sp>
        <p:nvSpPr>
          <p:cNvPr id="131" name="Oval 130"/>
          <p:cNvSpPr/>
          <p:nvPr/>
        </p:nvSpPr>
        <p:spPr>
          <a:xfrm>
            <a:off x="731520" y="7498079"/>
            <a:ext cx="109728" cy="109728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950720" y="7437119"/>
            <a:ext cx="109728" cy="109728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86384" y="7552943"/>
            <a:ext cx="1219200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4389120" y="7345679"/>
            <a:ext cx="109728" cy="109728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005584" y="7491983"/>
            <a:ext cx="2438400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046720" y="7231379"/>
            <a:ext cx="109728" cy="109728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443984" y="7400543"/>
            <a:ext cx="3657600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183880" y="7185659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Calibri"/>
              </a:defRPr>
            </a:pPr>
            <a:r>
              <a:t>休闲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4864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E"/>
                </a:solidFill>
                <a:latin typeface="Calibri"/>
              </a:defRPr>
            </a:pPr>
          </a:p>
        </p:txBody>
      </p:sp>
      <p:sp>
        <p:nvSpPr>
          <p:cNvPr id="140" name="Oval 139"/>
          <p:cNvSpPr/>
          <p:nvPr/>
        </p:nvSpPr>
        <p:spPr>
          <a:xfrm>
            <a:off x="731520" y="7498079"/>
            <a:ext cx="109728" cy="109728"/>
          </a:xfrm>
          <a:prstGeom prst="ellipse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950720" y="7475219"/>
            <a:ext cx="109728" cy="109728"/>
          </a:xfrm>
          <a:prstGeom prst="ellipse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86384" y="7552943"/>
            <a:ext cx="1219200" cy="254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389120" y="7437119"/>
            <a:ext cx="109728" cy="109728"/>
          </a:xfrm>
          <a:prstGeom prst="ellipse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005584" y="7530083"/>
            <a:ext cx="2438400" cy="254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8046720" y="7406639"/>
            <a:ext cx="109728" cy="109728"/>
          </a:xfrm>
          <a:prstGeom prst="ellipse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443984" y="7491983"/>
            <a:ext cx="3657600" cy="254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183880" y="7360919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超休闲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案例分析：ROI优化实战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从数据到决策的完整链路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CFF"/>
                </a:solidFill>
                <a:latin typeface="Calibri"/>
              </a:defRPr>
            </a:pPr>
            <a:r>
              <a:t>案例A：中重度游戏 ROAS 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背景: SLG手游，月广告预算$500K，ROAS D30仅25%，低于行业基准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▸ AI出价升级: 从人工出价切换到 tROAS 自动化策略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▸ 创意优化: AI生成+自动A/B测试，素材迭代速度提升10x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▸ 渠道调整: 削减低效渠道30%预算，加码TikTok+Unity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292608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6B7B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B9E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ROAS D30: 25%</a:t>
            </a:r>
            <a:br/>
            <a:r>
              <a:t>CPI: $6.5</a:t>
            </a:r>
            <a:br/>
            <a:r>
              <a:t>月收入: $125K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846320"/>
            <a:ext cx="2926080" cy="13716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4937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ROAS D30: 42%</a:t>
            </a:r>
            <a:br/>
            <a:r>
              <a:t>CPI: $4.8</a:t>
            </a:r>
            <a:br/>
            <a:r>
              <a:t>月收入: $210K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ROAS +68%  |  CPI -26%  |  月收入 +68%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1554480"/>
            <a:ext cx="25400" cy="621792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554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案例B：超休闲游戏 LTV 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0116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背景: 超休闲游戏，DAU 5M，纯广告变现，LTV D30仅$0.15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4688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▸ 混合变现: 引入IAP内购+Battle Pass，增加付费点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24612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▸ 广告形式优化: 激励视频替代50% Banner，eCPM提升3x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02336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▸ 留存优化: Push通知+LiveOps活动，D7留存提升40%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4846320"/>
            <a:ext cx="292608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6B7B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4937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B9E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LTV D30: $0.15</a:t>
            </a:r>
            <a:br/>
            <a:r>
              <a:t>ARPU: $0.03</a:t>
            </a:r>
            <a:br/>
            <a:r>
              <a:t>IAP占比: 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24160" y="4846320"/>
            <a:ext cx="2926080" cy="137160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4937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LTV D30: $0.24</a:t>
            </a:r>
            <a:br/>
            <a:r>
              <a:t>ARPU: $0.05</a:t>
            </a:r>
            <a:br/>
            <a:r>
              <a:t>IAP占比: 25%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64008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LTV +60%  |  ARPU +67%  |  收入结构优化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未来趋势与战略建议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2026-2028 游戏广告ROI演进方向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5大趋势预测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640080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6400800" cy="3810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AI原生广告平台兴起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创意+出价+归因全链AI化，人工干预降至最低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Calibri"/>
              </a:defRPr>
            </a:pPr>
            <a:r>
              <a:t>影响: 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63240"/>
            <a:ext cx="640080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063240"/>
            <a:ext cx="6400800" cy="3810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54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隐私计算驱动技术升级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联邦学习/差分隐私/MPC成为广告技术新基建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Calibri"/>
              </a:defRPr>
            </a:pPr>
            <a:r>
              <a:t>影响: 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640080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6400800" cy="381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混合变现成为标配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IAA+IAP混合模式从可选项变为必选项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251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影响: 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66360"/>
            <a:ext cx="640080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5166360"/>
            <a:ext cx="6400800" cy="3810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257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游戏内广告(IGA)形式创新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77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沉浸式/社交化/互动化广告植入游戏场景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5303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影响: 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217920"/>
            <a:ext cx="640080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6217920"/>
            <a:ext cx="6400800" cy="381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跨平台/跨设备归因统一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629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PC/主机/移动/云游戏归因打通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Calibri"/>
              </a:defRPr>
            </a:pPr>
            <a:r>
              <a:t>影响: 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15544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5条战略建议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2011680"/>
            <a:ext cx="137160" cy="6400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1874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4D6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20299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1. 布局第一方数据基建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23317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建立用户数据平台(UDP)，积累自有数据资产 | 优先级: 最高 | Q3前完成CDP选型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2971800"/>
            <a:ext cx="137160" cy="6400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28346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4D6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29900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2. AI出价升级为默认策略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2918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从"试用"转为"标配"，全渠道启用tROAS | Quick Win | 2周试点→1月全铺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3931920"/>
            <a:ext cx="137160" cy="6400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37947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39502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3. 投资可玩广告+AI创意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42519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建立自动化创意生产线，素材产能提升10x | 投入$5-15K/素材，CVR提升3-5x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0" y="4892040"/>
            <a:ext cx="137160" cy="6400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0" y="47548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49103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4. 品类化ROI基准体系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52120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用数据驱动渠道决策，拒绝"拍脑袋"投放 | 依赖第一方数据基建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0" y="5852160"/>
            <a:ext cx="137160" cy="6400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57150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B7B9E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58704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5. 隐私计算技术POC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61722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2026 Q3前完成，评估Google ADH/AWS Clean Rooms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7315200"/>
            <a:ext cx="1353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D6A"/>
                </a:solidFill>
                <a:latin typeface="Calibri"/>
              </a:defRPr>
            </a:pPr>
            <a:r>
              <a:t>关键风险提示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7635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D6A"/>
                </a:solidFill>
                <a:latin typeface="Calibri"/>
              </a:defRPr>
            </a:pPr>
            <a:r>
              <a:t>⚠ 数据隐私监管持续收紧 (GDPR/CCPA/中国个保法)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0" y="7635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D6A"/>
                </a:solidFill>
                <a:latin typeface="Calibri"/>
              </a:defRPr>
            </a:pPr>
            <a:r>
              <a:t>⚠ 平台政策突变风险 (ATT/SKAN/IDFA)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7635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D6A"/>
                </a:solidFill>
                <a:latin typeface="Calibri"/>
              </a:defRPr>
            </a:pPr>
            <a:r>
              <a:t>⚠ AI黑盒风险 (不可解释性/偏差/合规)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365760"/>
            <a:ext cx="4572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"/>
            <a:ext cx="45720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参考文献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E"/>
                </a:solidFill>
                <a:latin typeface="Calibri"/>
              </a:defRPr>
            </a:pPr>
            <a:r>
              <a:t>数据来源与延伸阅读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29184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行业报告: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Newzoo Global Games Market Report 2025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eMarketer Digital Advertising Forecast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Sensor Tower State of Mobile Gaming 2025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AppsFlyer Gaming Benchmark H2 2025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Adjust Global App Trends 2026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Liftoff Mobile Gaming Report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伽马数据中国游戏产业报告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艾瑞咨询中国移动游戏广告研究报告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GameAnalytics Industry Benchmark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645920"/>
            <a:ext cx="12700" cy="594360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554480"/>
            <a:ext cx="329184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技术文档: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Apple SKAdNetwork 4.0 Documentation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Google Privacy Sandbox for Android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  Attribution Reporting API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Meta Advantage+ Technical Guide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Google Ads API - Bidding Strategies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Unity Ads Monetization Guide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TikTok For Business - Smart Performance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AppLovin MAX SDK Integration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Branch SKAN 4.0 Implementation Guide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Singular Attribution Whitepaper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0" y="1645920"/>
            <a:ext cx="12700" cy="594360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554480"/>
            <a:ext cx="329184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学术论文: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Deep Learning for User Lifetime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  Value Prediction (Google)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Privacy-Preserving Attribution in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  Digital Advertising (Meta)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Automated Creative Optimization via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  Multi-Armed Bandit (TikTok)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Transformer-based LTV Forecasting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  for Mobile Games (Unity)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1645920"/>
            <a:ext cx="12700" cy="594360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19" y="1554480"/>
            <a:ext cx="329184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平台资源: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AppsFlyer Benchmark Hub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GameAnalytics Free Reports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ironSource LevelUp Blog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Singular Market Data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Liftoff Data Hub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Sensor Tower Ad Intelligence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Data.ai State of Mobile</a:t>
            </a:r>
          </a:p>
          <a:p>
            <a:pPr>
              <a:spcBef>
                <a:spcPts val="200"/>
              </a:spcBef>
              <a:defRPr sz="1100" b="0">
                <a:solidFill>
                  <a:srgbClr val="B0BCD4"/>
                </a:solidFill>
                <a:latin typeface="Calibri"/>
              </a:defRPr>
            </a:pPr>
            <a:r>
              <a:t>Adjust Glossary &amp; Benchmarks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7589520"/>
            <a:ext cx="2438400" cy="381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0" y="7589520"/>
            <a:ext cx="24384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34400" y="7589520"/>
            <a:ext cx="2438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772667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9E"/>
                </a:solidFill>
                <a:latin typeface="Calibri"/>
              </a:defRPr>
            </a:pPr>
            <a:r>
              <a:t>xhyha insight team  |  2026.05  |  Game Ad ROI Insight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E"/>
                </a:solidFill>
                <a:latin typeface="Calibri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