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09728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AUTO-RIGGING 自动绑定技术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B4D8"/>
                </a:solidFill>
                <a:latin typeface="Microsoft YaHei"/>
              </a:defRPr>
            </a:pPr>
            <a:r>
              <a:t>业界洞察报告与高校合作立项分析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148840"/>
            <a:ext cx="1463040" cy="3200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B0B0C0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编制日期：2026年06月01日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推荐方案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预期成果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技能门槛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规模化困境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371600"/>
            <a:ext cx="2514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质量一致性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全球3D动画市场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D6A0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C107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CFF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效率提升 10-100x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效率提升：48-960倍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适用于批量生产场景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56032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成本降低 60-80%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质量标准化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371600"/>
            <a:ext cx="256032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创新解锁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A85CFF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196596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237744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278892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20040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22783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611880"/>
            <a:ext cx="3474720" cy="347472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3639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▎三条技术路线对比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4892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004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参数化模型/规则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程序化/节点图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AI/深度学习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HumanIK / SMPL / 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/ 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★★★★☆（人形极高）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★★★★★（完全可控）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★★★★☆（持续提升）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★★☆☆☆（仅人形）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★★★★☆（可自定义）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★★★★☆（可泛化）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分钟级（拖拽）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秒-分钟级（推理）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低（一键式）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趋势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爆发增长 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Geodesic Voxel 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3429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Quick Rig / mGear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28800"/>
            <a:ext cx="2560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Humanoid Retargeting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828800"/>
            <a:ext cx="269748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828800"/>
            <a:ext cx="25146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Control Rig / Modular Rig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节点图程序化绑定系统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828800"/>
            <a:ext cx="2697480" cy="18288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1828800"/>
            <a:ext cx="25146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ML Deformer Framework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神经网络蒙皮变形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结论：UE5的Control Rig+ML Deformer是引擎内绑定的最佳方案，ML Deformer的AI蒙皮质量达影视级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0B4D8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6D6A0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网易 — 伏羲AI + 游戏管线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3474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GoSkinning — 轻量蒙皮工具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02 开源/学术方案 — RigNet &amp; Blender Rigify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7498079" cy="36576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0B4D8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06D6A0"/>
                </a:solidFill>
                <a:latin typeface="Microsoft YaHei"/>
              </a:defRPr>
            </a:pPr>
            <a:r>
              <a:t>● 骨骼类型：通用（不假设形状类别和结构）— 可处理人形/四足/异形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训练数据：ModelsResource-RigNetv1数据集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代码：GitHub开源（GPLv3），也提供商业许可证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C107"/>
                </a:solidFill>
                <a:latin typeface="Microsoft YaHei"/>
              </a:defRPr>
            </a:pPr>
            <a:r>
              <a:t>● 意义：自动绑定领域最重要的学术突破，奠定了AI绑定的基础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● 后续工作：SkinNet、Neural Skeleton等持续推动AI绑定研究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251960"/>
            <a:ext cx="36118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Point MLP回归</a:t>
            </a:r>
            <a:br/>
            <a:r>
              <a:t>+ Attention筛选</a:t>
            </a:r>
            <a:br/>
            <a:r>
              <a:t>+ Mean Shift聚类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361188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边二分类 → 骨骼树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51960"/>
            <a:ext cx="361188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51960"/>
            <a:ext cx="361188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D6A0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 ∈ ℝ^(|V|×|J|)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71600"/>
            <a:ext cx="3749039" cy="24688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371600"/>
            <a:ext cx="3566159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Blender Rigify — 开源绑定标准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828800"/>
            <a:ext cx="3474719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核心路线：模板+规则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工作流：Meta-Rig → Control Rig → 绑定Mesh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人形为主（有基础四足模板）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自动生成初始蒙皮，生产级需手动修正：★★★☆☆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一键生成，秒级速度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高度可定制，社区活跃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完全免费（Blender内置）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2519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526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Skinning Field — 神经蒙皮场(SA)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SmartBody — USC ICT（已停维）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1. 参数化模型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2. 体素中轴提取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3. 深度学习 (RigNet)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MLP回归 → Attention → Mean Shift聚类 → 候选关节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图生成网络 → 骨骼连接预测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精度：~2-3%模型尺寸误差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代表：RigNet (SIGGRAPH 2020)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4. 热图方法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代表：3D Volumetric Heatmap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5. 图神经网络 (GNN)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B0B0C0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代表：SkinningNet, MeshGNN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9377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2. Geodesic Voxel 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3. 热扩散法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4. 深度学习蒙皮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Geodesic Encoding + Attention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5. LBS vs DQS 变形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RigNet/SkinningNet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57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Transformer: 关节间全局关系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371600"/>
            <a:ext cx="20574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PointNet++ 3D点云处理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3D点云处理的基础架构（注：RigNet未使用）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371600"/>
            <a:ext cx="20574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GCN 骨骼关系建模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1371600"/>
            <a:ext cx="205740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扩散模型潜力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371600"/>
            <a:ext cx="20574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自监督 &amp; 迁移学习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对称性检测+形态学分析+扩散拓扑生成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3716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蒙皮权重误差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动画质量 (LBS Artifact)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3716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泛化能力评估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3434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6309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280160"/>
          <a:ext cx="10698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548640"/>
                <a:gridCol w="548640"/>
                <a:gridCol w="548640"/>
                <a:gridCol w="1188720"/>
                <a:gridCol w="1188720"/>
                <a:gridCol w="731520"/>
                <a:gridCol w="548640"/>
                <a:gridCol w="10972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学术标杆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937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52578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🏆 学术研究最佳 — RigNet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端到端：关节预测+骨骼连接+蒙皮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通用骨骼支持（不限人形）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开源代码，学术影响力最大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在其基础上改进/扩展空间大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52578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🏆 引擎内最佳 — UE5生态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免费引擎内置，完整生态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52578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🏆 AI一体化最佳 — Meshy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6D6A0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5257800"/>
            <a:ext cx="2788920" cy="16459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52578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🏆 综合推荐 — 分层策略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改进RigNet+DL蒙皮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Mixamo免费使用需注册Adobe ID  |  Pinocchio (SIGGRAPH 2007) 是自动绑定经典先驱  |  MetaHuman为UE5参数化人体方案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▎推荐方案：改进RigNet + DL/GVB混合蒙皮 + UE5集成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Phase 1: 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Point MLP</a:t>
            </a:r>
            <a:br/>
            <a:r>
              <a:t>+ Transformer</a:t>
            </a:r>
            <a:br/>
            <a:r>
              <a:t>多尺度特征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关节候选</a:t>
            </a:r>
            <a:br/>
            <a:r>
              <a:t>+ Mean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  <a:br/>
            <a:r>
              <a:t>GCN+RootNet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Phase 2: 蒙皮权重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测地距离</a:t>
            </a:r>
            <a:br/>
            <a:r>
              <a:t>初始权重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DL修正</a:t>
            </a:r>
            <a:br/>
            <a:r>
              <a:t>Attention</a:t>
            </a:r>
            <a:br/>
            <a:r>
              <a:t>+ MLP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Voxel Binding</a:t>
            </a:r>
            <a:br/>
            <a:r>
              <a:t>后处理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最终蒙皮</a:t>
            </a:r>
            <a:br/>
            <a:r>
              <a:t>权重W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FBX/USD导出</a:t>
            </a:r>
            <a:br/>
            <a:r>
              <a:t>兼容主流引擎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608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7180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03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94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8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 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75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21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核心优势：① 改进RigNet+Transformer提升骨骼泛化能力  ② DL+GVB混合蒙皮兼顾精度和鲁棒性  ③ UE5 ML Deformer保证影视级质量  ④ 扩散模型预研面向通用化未来  *注：RigNet使用自定义Point MLP+Attention+MeanShift，非PointNet++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以RigNet为基线的改进研究方向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566159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课题一：通用骨骼生成网络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突破人形限制，实现任意拓扑角色自动骨骼生成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改进RigNet → Point Transformer V3替代原始MLP骨干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引入对称性检测先验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566159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课题二：高质量神经蒙皮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实现接近手工绑定的蒙皮权重质量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测地距离+DL混合蒙皮方案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双向GNN(顶点↔骨骼)交互建模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749039" cy="219456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3566159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课题三：端到端实时绑定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C107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65760" y="416052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通用骨骼生成网络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首个支持任意拓扑的端到端骨骼预测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混合蒙皮方案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DL+几何方法最优融合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D8"/>
                </a:solidFill>
                <a:latin typeface="Microsoft YaHei"/>
              </a:defRPr>
            </a:pPr>
            <a:r>
              <a:t>核心思路：以RigNet为基线（其使用自定义MLP+Attention+MeanShift+GCN架构），引入Transformer/GNN/扩散模型等前沿技术，实现通用化+高质量+实时化的突破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12个月研究计划与交付物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Phase 1: 基线搭建 (M1-M3)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复现RigNet基线模型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7160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Phase 2: 通用骨骼 (M4-M6)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 V3骨干替换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37160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Phase 3: 高质量蒙皮 (M7-M9)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DL+GVB混合蒙皮实现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双向GNN蒙皮网络训练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1371600"/>
            <a:ext cx="2788920" cy="274320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81160" y="137160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Phase 4: 系统集成 (M10-M12)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00B4D8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47091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B4D8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26060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C107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554480"/>
            <a:ext cx="260604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人力资源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554480"/>
            <a:ext cx="26060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数据资源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1554480"/>
            <a:ext cx="2606040" cy="36576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Microsoft YaHei"/>
              </a:defRPr>
            </a:pPr>
            <a:r>
              <a:t>合作模式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16052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7315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0182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0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B4D8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411480" cy="4114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786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06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291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AI驱动（RigNet改进+Transformer）是最佳方向，DL+几何混合方案保证质量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411480" cy="41148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50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通用非人形绑定、实时绑定、端到端学习均有大量学术创新空间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17720"/>
            <a:ext cx="411480" cy="41148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63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CFF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663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03520"/>
            <a:ext cx="411480" cy="41148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49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218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349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国内厂商公开能力有限，抢先布局可建立技术壁垒和生态优势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Microsoft YaHei"/>
              </a:defRPr>
            </a:pPr>
            <a:r>
              <a:t>▎建议下一步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① 确定合作高校与研究团队  ② 签署联合实验室协议  ③ 启动Phase 1基线搭建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B0B0C0"/>
                </a:solidFill>
                <a:latin typeface="Microsoft YaHei"/>
              </a:defRPr>
            </a:pPr>
            <a:r>
              <a:t>④ 同步启动数据集收集与清洗  ⑤ 申请研究经费与计算资源  ⑥ 制定详细周报/月报机制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