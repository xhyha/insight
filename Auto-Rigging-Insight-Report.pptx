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4864" cy="32004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CF0A2C"/>
                </a:solidFill>
                <a:latin typeface="Microsoft YaHei"/>
              </a:defRPr>
            </a:pPr>
            <a:r>
              <a:t>AUTO-RIGGING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自动绑定技术 — 业界洞察报告与高校合作立项分析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AI驱动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骨骼生成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蒙皮权重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端到端绑定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017520"/>
            <a:ext cx="1463040" cy="320040"/>
          </a:xfrm>
          <a:prstGeom prst="roundRect">
            <a:avLst/>
          </a:prstGeom>
          <a:solidFill>
            <a:srgbClr val="0F3460"/>
          </a:solidFill>
          <a:ln w="1016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035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通用化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报告类型：技术洞察与高校合作立项汇报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调研范围：Maya / Unity / Unreal Engine / Meshy AI / 腾讯混元 / GoSkinning / 网易 / Mixamo / RigNet / UniRig / 开源生态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核心内容：业界现状 · 技术路线深度对比 · 价值论证 · 最优方案推荐 · 立项规划 · 游戏产业审查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编制日期：2026年06月03日    |    文档密级：内部公开    |    v6 多轮内审修正版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核心发现与建议概览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240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🎯 核心发现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05740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Auto-Rigging是3D内容生产刚需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AI驱动是确定性趋势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371600"/>
            <a:ext cx="2240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630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🏆 推荐方案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828800"/>
            <a:ext cx="205740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92024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基于UniRig(SIGGRAPH 2025, MIT许可)改进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+ DL蒙皮(Geodesic Voxel修正)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2240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💰 资源需求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828800"/>
            <a:ext cx="205740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92024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¥100-170万/年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2名博士生 + 3-4名硕士生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371600"/>
            <a:ext cx="2240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4630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⚠️ 关键风险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828800"/>
            <a:ext cx="205740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92024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训练数据不足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→ 合成数据+自监督应对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产业落地差距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→ 企业导师+定期产业评审应对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371600"/>
            <a:ext cx="22402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4630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📅 下一步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828800"/>
            <a:ext cx="2057400" cy="1828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920240"/>
            <a:ext cx="2057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确定合作高校→签署协议</a:t>
            </a:r>
          </a:p>
          <a:p>
            <a:pPr algn="l">
              <a:lnSpc>
                <a:spcPct val="13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→启动Phase 1基线搭建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▎预计时间线：18个月研究周期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297680"/>
            <a:ext cx="2743200" cy="9144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43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Phase 1</a:t>
            </a:r>
            <a:br/>
            <a:r>
              <a:t>基线搭建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M1-M4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297680"/>
            <a:ext cx="2743200" cy="9144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343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Phase 2</a:t>
            </a:r>
            <a:br/>
            <a:r>
              <a:t>通用骨骼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M5-M8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297680"/>
            <a:ext cx="2743200" cy="9144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43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Phase 3</a:t>
            </a:r>
            <a:br/>
            <a:r>
              <a:t>高质量蒙皮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M9-M12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60" y="4297680"/>
            <a:ext cx="2743200" cy="9144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4343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  <a:latin typeface="Microsoft YaHei"/>
              </a:defRPr>
            </a:pPr>
            <a:r>
              <a:t>Phase 4</a:t>
            </a:r>
            <a:br/>
            <a:r>
              <a:t>系统集成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M13-M18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394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评审节点：M3+2周 Go/No-Go  →  M7+2周 Go/No-Go  →  M11+2周 Go/No-Go  →  M16+2周 Go/No-Go  →  M18最终验收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852160"/>
            <a:ext cx="114300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59893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综合评分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172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Microsoft YaHei"/>
              </a:defRPr>
            </a:pPr>
            <a:r>
              <a:t>91/100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492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UniRig vs RigNet 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59893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年预算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6172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¥100-170万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6492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含计算+人员+数据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9893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预期论文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6172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2-3篇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6492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CCF-A类顶会/期刊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59893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效率提升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6172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Microsoft YaHei"/>
              </a:defRPr>
            </a:pPr>
            <a:r>
              <a:t>2-14倍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6492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含精修实际提升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59893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MIT许可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6172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商业可用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84080" y="6492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规避GPLv3风险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报告结构总览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898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为什么需要Auto-Rigging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价值论证与行业痛点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2011680"/>
            <a:ext cx="18288" cy="411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423160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414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业界现状全景扫描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Maya / Unity / Unreal / Meshy / 腾讯混元 / 网易 / 开源方案 / 工作流约束 / 换装系统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5296" y="3063240"/>
            <a:ext cx="18288" cy="411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474720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930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核心技术深度解析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40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骨骼生成 / 蒙皮权重 / AI方法 / 评估体系 / 面部绑定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5296" y="4114800"/>
            <a:ext cx="18288" cy="411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526279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177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54456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技术方案对比与最优选择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920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多维度量化对比 · 选型决策矩阵 · 精修成本 · 推荐方案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5296" y="5166359"/>
            <a:ext cx="18288" cy="411480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5577840"/>
            <a:ext cx="640080" cy="640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F0A2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5961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高校合作立项规划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研究目标 · 技术路线 · 里程碑 · 经费预算 · 预期成果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为什么需要Auto-Rigging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行业痛点与价值论证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效率瓶颈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24231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手工绑定单个角色需 4-8 小时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复杂角色（四足/多足/机甲）需 1-3 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大规模资产场景（100+角色）需数月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→ 自动绑定可将时间压缩至分钟级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69748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技能门槛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783080"/>
            <a:ext cx="24231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绑定师需 3-5年专业训练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骨骼拓扑/蒙皮权重需要深度经验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高级绑定师市场薪资 ¥30-80K/月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→ Auto-Rigging让非专业人员也能产出可用绑定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69748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规模化困境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24231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UGC生态爆发：用户创建海量3D角色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元宇宙/游戏需要百万级可动角色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手工绑定无法跟上内容生产需求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→ 自动绑定是规模化内容生产的唯一路径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371600"/>
            <a:ext cx="2697480" cy="27432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质量一致性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783080"/>
            <a:ext cx="24231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828800"/>
            <a:ext cx="2423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手工绑定质量因人而异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不同绑定师命名规范/骨骼层级不同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标准化困难，流水线协作成本高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→ AI绑定保证标准化输出，统一质量基线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124712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▎数据支撑：市场趋势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全球动画与VFX市场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DC4"/>
                </a:solidFill>
                <a:latin typeface="Microsoft YaHei"/>
              </a:defRPr>
            </a:pPr>
            <a:r>
              <a:t>$450B+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2026年预估(Allied Market Research)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年增长率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CC71"/>
                </a:solidFill>
                <a:latin typeface="Microsoft YaHei"/>
              </a:defRPr>
            </a:pPr>
            <a:r>
              <a:t>12.5%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CAGR 2024-2030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UGC 3D内容需求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Microsoft YaHei"/>
              </a:defRPr>
            </a:pPr>
            <a:r>
              <a:t>10x增长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过去3年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983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AI 3D工具渗透率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212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B59B6"/>
                </a:solidFill>
                <a:latin typeface="Microsoft YaHei"/>
              </a:defRPr>
            </a:pPr>
            <a:r>
              <a:t>35%→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预计2028年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* 数据来源：Allied Market Research, Grand View Research, Statista 2024-2026 行业报告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Auto-Rigging 核心价值矩阵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效率 · 成本 · 质量 · 创新 四维价值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743200" cy="23774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效率提升 2-14倍（含精修）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2468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手工绑定：4-8小时/角色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AI自动绑定：数秒-5分钟/角色（本地推理秒级，云端API分钟级）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自动出质量约70-85%，仍需人工精修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精修耗时65-120min → 整体提升2-14倍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纯自动阶段仅占完整流程1-3%，精修才是主要耗时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43200" cy="23774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成本降低 60-80%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7830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828800"/>
            <a:ext cx="2468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减少80%绑定师人工时间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降低美术管线人力成本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UGC创作者无需专业绑定技能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AI绑定 → 人工精修的混合模式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23774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质量标准化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2468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统一骨骼命名/层级规范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蒙皮权重质量一致性保证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兼容主流引擎动画系统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可量化评估，持续迭代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71600"/>
            <a:ext cx="2743200" cy="23774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创新解锁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7830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28800"/>
            <a:ext cx="2468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Text-to-Rigged-Character 全自动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实时UGC角色动画生成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非人形角色（四足/多足）自动绑定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9B59B6"/>
                </a:solidFill>
                <a:latin typeface="Microsoft YaHei"/>
              </a:defRPr>
            </a:pPr>
            <a:r>
              <a:t>● 游戏内实时角色定制系统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▎核心应用场景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43484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43484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44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游戏开发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批量NPC角色绑定，</a:t>
            </a:r>
            <a:br/>
            <a:r>
              <a:t>UGC角色动画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443484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31720" y="443484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4544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影视VFX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背景角色快速绑定，</a:t>
            </a:r>
            <a:br/>
            <a:r>
              <a:t>预可视化动画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43484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43484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544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元宇宙/社交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用户自定义虚拟形象，</a:t>
            </a:r>
            <a:br/>
            <a:r>
              <a:t>实时驱动动画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43484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43484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544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电商/营销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3D产品展示动画，</a:t>
            </a:r>
            <a:br/>
            <a:r>
              <a:t>虚拟主播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443484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443484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544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教育培训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3D教学内容快速生成，</a:t>
            </a:r>
            <a:br/>
            <a:r>
              <a:t>交互式角色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4434840"/>
            <a:ext cx="1828800" cy="1920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95560" y="4434840"/>
            <a:ext cx="18288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87000" y="4544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AI 3D生成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48920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Text-to-3D管线最后一环，</a:t>
            </a:r>
            <a:br/>
            <a:r>
              <a:t>让生成模型可动起来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业界现状全景扫描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Auto-Rigging技术生态地图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传统DCC工具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842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Autodesk Maya (HumanIK/GVB)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00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Blender Rigify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157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3ds Max CAT/Biped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657600" cy="45720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3898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游戏引擎内置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96596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9842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UE5 Control Rig / Modular Rig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33172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3500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UE5 ML Deformer / MetaHuman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69748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7157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Unity Animation Rigging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371600"/>
            <a:ext cx="365760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3898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AI驱动方案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96596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9842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Meshy AI / Anything World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233172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3500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Mixamo (Adobe/Stanford)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69748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7157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RigNet (SIGGRAPH 2020 学术标杆)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06324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0815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UniRig (SIGGRAPH 2025 新标杆)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342900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4472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DeepMotion / 腾讯混元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794760"/>
            <a:ext cx="347472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8130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网易伏羲 / GoSkinning / AccuRIG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▎游戏角色类型谱系 — Auto-Rigging需要支持的完整角色范围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617720"/>
            <a:ext cx="137160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人形角色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910328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战士/法师/NPC</a:t>
            </a:r>
            <a:br/>
            <a:r>
              <a:t>最成熟，Mixamo/RigNet均支持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37360" y="4617720"/>
            <a:ext cx="137160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8308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四足动物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4910328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狼/马/龙兽</a:t>
            </a:r>
            <a:br/>
            <a:r>
              <a:t>UniRig通用方案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0" y="4617720"/>
            <a:ext cx="137160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B59B6"/>
                </a:solidFill>
                <a:latin typeface="Microsoft YaHei"/>
              </a:defRPr>
            </a:pPr>
            <a:r>
              <a:t>BOSS怪物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4910328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多足/异形/巨型</a:t>
            </a:r>
            <a:br/>
            <a:r>
              <a:t>骨骼拓扑不确定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4617720"/>
            <a:ext cx="137160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6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机甲载具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4910328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变形金刚/战车</a:t>
            </a:r>
            <a:br/>
            <a:r>
              <a:t>机械关节+轮式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4617720"/>
            <a:ext cx="137160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飞龙/飞行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910328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龙/鸟/蝙蝠</a:t>
            </a:r>
            <a:br/>
            <a:r>
              <a:t>翼膜蒙皮极难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89520" y="4617720"/>
            <a:ext cx="137160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变形角色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4910328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人↔兽/合体</a:t>
            </a:r>
            <a:br/>
            <a:r>
              <a:t>骨骼拓扑动态变化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4617720"/>
            <a:ext cx="137160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Microsoft YaHei"/>
              </a:defRPr>
            </a:pPr>
            <a:r>
              <a:t>武器道具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4910328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剑/枪/盾牌</a:t>
            </a:r>
            <a:br/>
            <a:r>
              <a:t>Socket/Attachment点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15600" y="4617720"/>
            <a:ext cx="1371600" cy="1051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7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61320" y="4663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07088"/>
                </a:solidFill>
                <a:latin typeface="Microsoft YaHei"/>
              </a:defRPr>
            </a:pPr>
            <a:r>
              <a:t>环境交互物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1320" y="4910328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门/箱子/陷阱</a:t>
            </a:r>
            <a:br/>
            <a:r>
              <a:t>简化骨骼即可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Autodesk Maya — 行业标准绑定生态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传统DCC工具的Auto-Rigging能力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11880" cy="24688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HumanIK 骨骼系统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3375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基于模板匹配的人形骨骼系统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支持手指/脚趾/头部等细节控制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自动骨骼映射和重定向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骨骼精度：★★★★★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仅支持人形角色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611880" cy="24688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630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Geodesic Voxel Binding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33375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828800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网格体素化后测地距离计算蒙皮权重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Dionne &amp; de Lasa: "Geodesic Voxel Binding for Thin Structures"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解决表面拓扑噪声和薄壁穿透问题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质量远超传统Heat Map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蒙皮质量：★★★★☆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处理速度：数秒-数十秒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611880" cy="24688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4630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Quick Rig / mGear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783080"/>
            <a:ext cx="33375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828800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Quick Rig：一键式人形自动绑定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mGear：开源模块化绑定框架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影视/游戏行业广泛使用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mGear已成为事实标准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Maya内置，工业标准蒙皮方案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▎Maya Auto-Rigging 综合评价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44348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7772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评估维度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骨骼精度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行业标准，精确可控，支持全骨骼层级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蒙皮质量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GVB质量优秀，但仍需手动微调关键区域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动画兼容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完全兼容所有DCC工作流和引擎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非人形支持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仅HumanIK人形，其他需手动或插件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自动化程度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半自动，需要绑定师经验配合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AI能力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★☆☆☆☆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无AI方案，Autodesk正探索AI绑定方向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$1,875/年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商业订阅制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结论：Maya是传统绑定工具的标杆，质量可控但无AI能力，适合专业绑定师使用，不适合自动化场景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7/28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Unity &amp; Unreal Engine — 引擎内置绑定能力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游戏引擎的Auto-Rigging演进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3657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UNITY 引擎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2743200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Animation Rigging (v6.6)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运行时多约束IK系统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Two Bone IK / Multi-Aim约束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不提供独立自动绑定功能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依赖外部DCC生成骨骼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828800"/>
            <a:ext cx="2743200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Humanoid Retargeting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240280"/>
            <a:ext cx="24688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286000"/>
            <a:ext cx="2468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基于模板的人形骨骼映射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自动动画重定向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仅支持人形(Humanoid)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Generic需手动处理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5577840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3441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UNREAL ENGINE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1828800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Control Rig — 程序化绑定框架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240280"/>
            <a:ext cx="15544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86000"/>
            <a:ext cx="1554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程序化绑定框架（非自动绑定，需TA手动搭建节点图）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Modular Rig：拖拽式模块组合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模块：Spine/Arm/Leg/Foot/Finger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人形+通用骨骼均可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828800"/>
            <a:ext cx="1828800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ML Deformer — LBS Artifact修复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40280"/>
            <a:ext cx="15544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86000"/>
            <a:ext cx="1554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LBS Artifact修复/增强工具（非自动绑定，需已绑定角色+训练数据）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Local/Global Neural Morph Model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影视级肌肉/皮肤变形效果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推荐100K-1M次训练迭代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训练时间：30min-4h（RTX 4090，取决于角色复杂度）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1828800"/>
            <a:ext cx="1828800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1920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MetaHuman — 参数化人体系统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2240280"/>
            <a:ext cx="15544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2286000"/>
            <a:ext cx="1554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参数化人体系统（云端创建+引擎内使用，仅高保真人形）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完整面部+身体绑定（骨骼+蒙皮）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70+骨骼面部绑定，影视级表情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支持Custom MetaHuman导入自定义头部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▎引擎Auto-Rigging能力对比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65760" y="4251960"/>
          <a:ext cx="114300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246888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Unity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UE5 Control Rig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UE5 ML Deformer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UE5 MetaHuman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骨骼生成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依赖外部DCC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引擎内程序化生成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（需手动搭建）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N/A（依赖已有骨骼）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参数化自动生成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蒙皮权重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引擎内不优化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手动/半自动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AI神经网络自动优化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（修复LBS Artifact）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参数化自动蒙皮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非人形支持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Generic需手动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完全自定义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仅人形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实时性能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微秒级推理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AI能力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无（纯程序化）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有（神经变形模型）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参数化+AI辅助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轻量/移动端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全平台专业制作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高质量角色变形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高保真人形角色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结论：Control Rig是程序化框架而非自动绑定；ML Deformer是LBS修复工具而非自动绑定；MetaHuman是参数化人体（仅人形）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Meshy AI &amp; Mixamo — AI驱动绑定服务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AI自动绑定的商业化先锋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3657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MESHY AI — AI 3D生成+自动绑定一体化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核心路线：AI驱动，Text/Image-to-3D + 自动绑定 + 动画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支持人形 + 四足自动绑定，Pro计划500+动画库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绑定后可直接应用walk/jump/shoot/dance等动画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4ECDC4"/>
                </a:solidFill>
                <a:latin typeface="Microsoft YaHei"/>
              </a:defRPr>
            </a:pPr>
            <a:r>
              <a:t>● Smart Remesh改善拓扑以提升绑定质量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插件：Blender/Unity/UE/Maya/Godot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● 商业：SaaS ($20/月起) + REST API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● G2 4.8/5，合作：Nexon/Supercell/Square Enix/Meta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骨骼精度：★★★☆☆  蒙皮质量：★★★☆☆  速度：秒-分钟级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优势：3D生成到绑定动画一条龙  局限：AI生成拓扑影响绑定精度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441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ADOBE MIXAMO — 最成熟的在线绑定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核心路线：AI + 规则混合（源自Stanford University研究）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上传FBX/OBJ → 自动检测骨骼 → 自动绑定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内置数千个动画Clip，自动Retargeting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● 仅支持人形角色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● 要求模型为T-pose或A-pose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2ECC71"/>
                </a:solidFill>
                <a:latin typeface="Microsoft YaHei"/>
              </a:defRPr>
            </a:pPr>
            <a:r>
              <a:t>● 免费使用（需注册Adobe ID，无需付费订阅）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● 独立开发者/小团队首选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骨骼精度：★★★★☆  蒙皮质量：★★★★☆  速度：分钟级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200" b="0">
                <a:solidFill>
                  <a:srgbClr val="707088"/>
                </a:solidFill>
                <a:latin typeface="Microsoft YaHei"/>
              </a:defRPr>
            </a:pPr>
            <a:r>
              <a:t>优势：免费成熟好用  局限：仅人形、多年未更新、无API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▎AI绑定服务对比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166360"/>
          <a:ext cx="114300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2286000"/>
                <a:gridCol w="246888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Meshy AI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Mixamo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Anything World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DeepMotion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技术路线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纯AI驱动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AI+规则混合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AI通用绑定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AI动捕+Retarget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骨骼类型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人形+四足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仅人形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通用（任意形状）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仅人形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动画库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Pro 500+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数千个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无（需输入视频）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REST API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有+实时SDK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定价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$20/月起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免费+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免费+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差异化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3D生成+绑定一体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成熟稳定免费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非人形绑定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视频→3D动画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国内厂商 — 腾讯混元 / 网易 / GoSkinning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中国科技公司的Auto-Rigging布局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65760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腾讯混元 3D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3832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技术路线：AI驱动（扩散模型+3D重建）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混元3D系列：Text-to-3D + Image-to-3D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游戏业务深度积累：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天美/光子工作室群 — 自研绑定工具链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腾讯AI Lab — 3D学术论文发表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北极光 — 自动化美术管线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内部工具质量极高，服务于顶级产品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公开服务尚在发展中，逐步开放API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重点方向：游戏资产生成、UGC工具赋能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65760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网易 — 伏羲AI + 游戏管线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33832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2880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技术路线：规则+模板+内部AI探索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美术管线积累：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逆水寒/永劫无间/阴阳师等顶级产品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雷火/盘古工作室群完整绑定工具链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网易伏羲AI实验室：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面部绑定、人体姿态估计算法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NeRF/3DGS前沿重建研究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内部工具不公开，部分API通过云服务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AI辅助美术管线是重点投入方向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GoSkinning — 轻量蒙皮工具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783080"/>
            <a:ext cx="338328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82880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技术路线：基于几何算法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Heat Map / Voxel-based蒙皮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+ 模板骨骼匹配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专注自动蒙皮权重计算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  （非完整绑定流程）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与传统DCC工具互补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蒙皮质量：★★★☆☆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处理速度：秒级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定位：轻量级工具/插件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主流管线中较少使用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▎国内厂商Auto-Rigging布局总结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45262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2926080"/>
                <a:gridCol w="201168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核心技术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绑定能力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公开状态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差异化优势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腾讯混元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扩散模型+3D重建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内部高质量，公开发展中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部分开放API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顶级游戏产品验证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网易伏羲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规则+AI探索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内部3A级绑定工具链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不公开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MMO/ARPG深厚积累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GoSkinning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几何算法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仅蒙皮权重计算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工具/插件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轻量快速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字节跳动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 3D生成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探索中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未公开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AIGC布局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昆仑万维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 3D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探索中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未公开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海外市场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关键洞察：国内厂商绑定技术多服务于内部产品，公开能力有限；AI驱动是共同方向，但距离Meshy等还有差距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开源/学术方案 — RigNet / UniRig / Pinocchio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学术突破与社区生态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RigNet (SIGGRAPH 2020) — AI自动绑定的学术标杆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● 论文："RigNet: Neural Rigging for Articulated Characters"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机构：UMass Amherst / Autodesk Research / Simon Fraser University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核心技术：纯AI — 端到端神经网络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架构：Point回归网络+Attention+MeanShift + GCN骨骼连接 + 神经蒙皮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骨骼类型：通用（人形/四足/异形）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代码：GitHub开源（GPLv3许可证）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综合评分：75/100  |  意义：奠定AI绑定研究基础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25880"/>
            <a:ext cx="5760720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3441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UniRig (SIGGRAPH 2025) — 新一代AI绑定标杆 ★推荐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● 论文："UniRig: Universal Rigging via Skeleton Tree Tokenization"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机构：清华大学 + Tripo3D团队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核心创新：Skeleton Tree Tokenization + Autoregressive Transformer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GPT-like自回归骨架树生成 — 序列化骨骼拓扑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综合评分较RigNet提升21%（91 vs 75/100），多项关键指标提升2-3倍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据UniRig论文(SIGGRAPH 2025)自述实验结果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MIT许可（商业可用） vs RigNet GPLv3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支持通用骨骼（人形/四足/异形），泛化能力极强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59B6"/>
                </a:solidFill>
                <a:latin typeface="Microsoft YaHei"/>
              </a:defRPr>
            </a:pPr>
            <a:r>
              <a:t>▎RigNet 技术流程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69080"/>
            <a:ext cx="361188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361188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33087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33087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关节预测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7083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PointNet-based</a:t>
            </a:r>
            <a:br/>
            <a:r>
              <a:t>多层特征提取</a:t>
            </a:r>
            <a:br/>
            <a:r>
              <a:t>+ Mean Shift聚类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069080"/>
            <a:ext cx="361188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4069080"/>
            <a:ext cx="361188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4133087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133087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骨骼连接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37083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完全图构造</a:t>
            </a:r>
            <a:br/>
            <a:r>
              <a:t>→ 图生成网络</a:t>
            </a:r>
            <a:br/>
            <a:r>
              <a:t>→ 骨骼树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69080"/>
            <a:ext cx="361188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069080"/>
            <a:ext cx="361188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133087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133087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蒙皮权重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37083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测地距离编码</a:t>
            </a:r>
            <a:br/>
            <a:r>
              <a:t>→ MLP + Attention</a:t>
            </a:r>
            <a:br/>
            <a:r>
              <a:t>→ 权重矩阵 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492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7088"/>
                </a:solidFill>
                <a:latin typeface="Microsoft YaHei"/>
              </a:defRPr>
            </a:pPr>
            <a:r>
              <a:t>▎经典学术先驱：Pinocchio (SIGGRAPH 2007)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● 首次提出"嵌入骨骼→自动蒙皮"两阶段pipeline范式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● 体素中轴提取+模板骨骼嵌入  |  Heat Map蒙皮是现代蒙皮算法基础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● Baran &amp; Popović — 为后续RigNet/UniRig奠定了pipeline框架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34924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7088"/>
                </a:solidFill>
                <a:latin typeface="Microsoft YaHei"/>
              </a:defRPr>
            </a:pPr>
            <a:r>
              <a:t>▎其他学术方案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5778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● Neural Skeleton — 神经网络骨骼预测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● SkinningNet — GNN双向蒙皮预测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● NARF — 神经辐射场+骨骼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● Skinning Field — 神经蒙皮场(SA)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11/28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业界趋势总结 — 六页扫描后的核心洞察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技术成熟度曲线与选型建议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▎Auto-Rigging 技术成熟度演进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265176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0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2651760" cy="36576"/>
          </a:xfrm>
          <a:prstGeom prst="rect">
            <a:avLst/>
          </a:prstGeom>
          <a:solidFill>
            <a:srgbClr val="707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07088"/>
                </a:solidFill>
                <a:latin typeface="Microsoft YaHei"/>
              </a:defRPr>
            </a:pPr>
            <a:r>
              <a:t>Phase 1</a:t>
            </a:r>
            <a:br/>
            <a:r>
              <a:t>传统规则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2007-2015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Maya HumanIK</a:t>
            </a:r>
            <a:br/>
            <a:r>
              <a:t>Pinocchio</a:t>
            </a:r>
            <a:br/>
            <a:r>
              <a:t>手工+模板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0708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645920"/>
            <a:ext cx="265176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645920"/>
            <a:ext cx="265176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737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Phase 2</a:t>
            </a:r>
            <a:br/>
            <a:r>
              <a:t>程序化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2015-2020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UE Control Rig</a:t>
            </a:r>
            <a:br/>
            <a:r>
              <a:t>Blender Rigify</a:t>
            </a:r>
            <a:br/>
            <a:r>
              <a:t>节点图+拖拽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265176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645920"/>
            <a:ext cx="26517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737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Microsoft YaHei"/>
              </a:defRPr>
            </a:pPr>
            <a:r>
              <a:t>Phase 3</a:t>
            </a:r>
            <a:br/>
            <a:r>
              <a:t>AI驱动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945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2020-2025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RigNet</a:t>
            </a:r>
            <a:br/>
            <a:r>
              <a:t>UniRig</a:t>
            </a:r>
            <a:br/>
            <a:r>
              <a:t>深度学习推理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645920"/>
            <a:ext cx="265176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645920"/>
            <a:ext cx="265176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7373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Phase 4</a:t>
            </a:r>
            <a:br/>
            <a:r>
              <a:t>端到端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1945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7088"/>
                </a:solidFill>
                <a:latin typeface="Microsoft YaHei"/>
              </a:defRPr>
            </a:pPr>
            <a:r>
              <a:t>2025→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Text-to-Rigged</a:t>
            </a:r>
            <a:br/>
            <a:r>
              <a:t>3D生成+绑定一体</a:t>
            </a:r>
            <a:br/>
            <a:r>
              <a:t>实时化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▎四大关键趋势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297680"/>
            <a:ext cx="557784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3708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◆ AI成为主流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6451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UniRig/RigNet代表AI方案综合评分超越传统方案，SIGGRAPH 2025 UniRig综合评分91/100，多项关键指标提升2-3倍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297680"/>
            <a:ext cx="557784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3708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Microsoft YaHei"/>
              </a:defRPr>
            </a:pPr>
            <a:r>
              <a:t>◆ 3D生成+绑定一体化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6451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Meshy/腾讯混元等将3D生成与绑定合并为统一管线，消除手工中间步骤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349240"/>
            <a:ext cx="557784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422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◆ 通用化超越人形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6967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UniRig支持人形/四足/异形通用骨骼，突破Mixamo等仅人形限制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349240"/>
            <a:ext cx="5577840" cy="914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422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◆ 实时化需求增长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6967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UGC/元宇宙场景要求&lt;100ms实时绑定，推动轻量化+TensorRT部署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游戏绑定工作流与平台约束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90%+绑定在DCC完成 → 引擎内使用的产业现实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▎游戏行业实际绑定工作流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916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DC4"/>
                </a:solidFill>
                <a:latin typeface="Microsoft YaHei"/>
              </a:defRPr>
            </a:pPr>
            <a:r>
              <a:t>DCC绑定</a:t>
            </a:r>
            <a:br/>
            <a:r>
              <a:t>(Maya/Blender)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031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90%+绑定在此完成</a:t>
            </a:r>
            <a:br/>
            <a:r>
              <a:t>骨骼生成+蒙皮+控制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19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64592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16916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DC4"/>
                </a:solidFill>
                <a:latin typeface="Microsoft YaHei"/>
              </a:defRPr>
            </a:pPr>
            <a:r>
              <a:t>FBX/USD导出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1031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骨骼+蒙皮+动画</a:t>
            </a:r>
            <a:br/>
            <a:r>
              <a:t>导出为引擎格式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64592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16916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DC4"/>
                </a:solidFill>
                <a:latin typeface="Microsoft YaHei"/>
              </a:defRPr>
            </a:pPr>
            <a:r>
              <a:t>引擎导入</a:t>
            </a:r>
            <a:br/>
            <a:r>
              <a:t>(UE5/Unity)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1031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引擎内验证动画</a:t>
            </a:r>
            <a:br/>
            <a:r>
              <a:t>Control Rig微调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19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64592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16916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DC4"/>
                </a:solidFill>
                <a:latin typeface="Microsoft YaHei"/>
              </a:defRPr>
            </a:pPr>
            <a:r>
              <a:t>ML Deformer</a:t>
            </a:r>
            <a:br/>
            <a:r>
              <a:t>(可选)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21031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修复LBS Artifact</a:t>
            </a:r>
            <a:br/>
            <a:r>
              <a:t>影视级变形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645920"/>
            <a:ext cx="1920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16916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ECDC4"/>
                </a:solidFill>
                <a:latin typeface="Microsoft YaHei"/>
              </a:defRPr>
            </a:pPr>
            <a:r>
              <a:t>游戏运行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10312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运行时动画系统</a:t>
            </a:r>
            <a:br/>
            <a:r>
              <a:t>State Machine驱动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926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▎Control Rig / ML Deformer 的正确定位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200400"/>
            <a:ext cx="3749039" cy="14630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2918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Control Rig ≠ 自动绑定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6118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657600"/>
            <a:ext cx="34747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本质：程序化绑定框架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需要TA手动搭建节点图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适合：已有骨骼的引擎内调整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不解决：从网格到骨骼的自动生成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3200400"/>
            <a:ext cx="3749039" cy="14630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2918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ML Deformer ≠ 自动绑定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118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657600"/>
            <a:ext cx="34747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本质：LBS Artifact修复/增强工具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前提：需已绑定角色+训练数据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适合：高保真肌肉/衣物变形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不解决：骨骼生成和初始蒙皮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200400"/>
            <a:ext cx="3749039" cy="14630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2918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MetaHuman ≠ 通用自动绑定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3611880"/>
            <a:ext cx="3474719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657600"/>
            <a:ext cx="34747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本质：参数化人体系统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仅支持高保真人形角色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适合：UE5项目高保真角色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不解决：四足/异形/道具绑定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▎平台约束对比表 — Auto-Rigging必须考虑的硬约束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365760" y="5166360"/>
          <a:ext cx="11430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371600"/>
                <a:gridCol w="1371600"/>
                <a:gridCol w="2286000"/>
                <a:gridCol w="3931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骨骼上限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影响骨骼/顶点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面数限制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代表产品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绑定策略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移动端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50-80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2-4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3K-15K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王者荣耀/原神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LOD骨骼简化+严格≤4影响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中端PC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150-200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4-8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20K-50K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MMO/ARPG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标准LBS，可适度放松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高端主机/PC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300-500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4-8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50K-200K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3A大作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ML Deformer+高精度LBS(8影响骨骼)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WebGL/小程序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≤50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≤4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≤5K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H5游戏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极简骨骼+预烘焙动画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换装系统与骨骼标准化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游戏行业Auto-Rigging的两种核心场景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▎两种Auto-Rigging场景区分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00200"/>
            <a:ext cx="5669280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场景A：全新角色绑定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11680"/>
            <a:ext cx="5394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05740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输入：网格 → 输出：骨骼 + 蒙皮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完整的从零开始自动绑定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解决方案：UniRig / RigNet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适用：新角色创建、UGC角色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挑战：骨骼拓扑不确定、通用性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669280" cy="18288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场景B：已有骨骼蒙皮（换装/配件）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011680"/>
            <a:ext cx="5394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5740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输入：网格 + 骨骼 → 输出：蒙皮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已有骨骼体系，仅需计算新网格蒙皮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解决方案：GVB / HeatMap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适用：皮肤/服装/配件/装备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挑战：骨骼标准化、权重质量一致性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▎抽卡游戏换装系统需求（骨骼标准化是核心）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3977639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645920"/>
                <a:gridCol w="338328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游戏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换装模式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皮肤数量/角色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骨骼复用策略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蒙皮方式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原神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角色+皮肤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1-3套/角色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统一骨骼体系，复用body骨骼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DCC绑定→FBX导出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崩坏：星穹铁道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角色+皮肤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3-5套/角色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统一人形骨骼，配饰独立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DCC绑定→引擎验证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王者荣耀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皮肤系统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5-10套/角色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严格骨骼标准，LOD简化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DCC绑定→移动端适配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MMO通用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装备外观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10+套/角色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标准化骨骼+蒙皮模板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GVB/HeatMap换装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576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▎骨骼标准化规范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623560"/>
            <a:ext cx="2834640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715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UE5 骨骼命名约定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035040"/>
            <a:ext cx="256032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080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pelvis → spine_01 → spine_02 → ...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左右区分：_l / _r 后缀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hand_l → lowerarm_l → upperarm_l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5623560"/>
            <a:ext cx="2834640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5715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Unity Humanoid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6035040"/>
            <a:ext cx="256032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6080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mandatory: Hips/Spine/UpperArm等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自动Retargeting依赖Humanoid映射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命名不规范→映射失败→动画异常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623560"/>
            <a:ext cx="2834640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715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T-pose vs A-pose 标准化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6035040"/>
            <a:ext cx="256032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6080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UE5默认：T-pose（手臂水平）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部分DCC：A-pose（手臂下垂~45°）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统一POSE是动画Retargeting前提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5623560"/>
            <a:ext cx="2834640" cy="960120"/>
          </a:xfrm>
          <a:prstGeom prst="roundRect">
            <a:avLst/>
          </a:prstGeom>
          <a:solidFill>
            <a:srgbClr val="16213E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5715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骨骼朝向标准化 ★关键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6035040"/>
            <a:ext cx="256032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6080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X轴沿骨骼延伸方向一致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不一致的朝向→动画弯曲方向错误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这是Retargeting/换装失败的首要原因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核心技术深度解析 — 骨骼生成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五大骨骼生成技术路线详解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371600"/>
            <a:ext cx="224028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1. 参数化拟合 (SMPL/SCAPE)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1965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预定义骨骼模板 + PCA形状空间（非生成方法，通过注册拟合获取骨骼）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SMPL: 学习型参数化人体模型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β∈ℝ¹⁰体型参数 + θ∈ℝ²⁴ˣ³关节旋转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精度：对人形&lt;1cm误差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速度：~10ms（矩阵乘法）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局限：仅限人形，需注册对齐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371600"/>
            <a:ext cx="224028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2. 体素中轴提取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828800"/>
            <a:ext cx="1965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体素化 → 距离场 → 中轴提取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Laplacian Contraction网格收缩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不依赖人形假设，支持任意拓扑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速度：中-慢（取决于体素分辨率）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局限：中轴噪声大，需后处理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Crane et al.: "Geodesics in Heat" (SIGGRAPH 2013)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371600"/>
            <a:ext cx="224028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3. 深度学习 (UniRig/RigNet)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28800"/>
            <a:ext cx="1965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UniRig: Skeleton Tree Tokenization + 自回归Transformer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RigNet: PointNet-based + Attention + MeanShift + GCN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UniRig综合评分较RigNet提升21%（91 vs 75），多项关键指标提升2-3倍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速度：~2-5秒推理(GPU)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局限：训练数据依赖严重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371600"/>
            <a:ext cx="224028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4. 热图方法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828800"/>
            <a:ext cx="1965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3D体素网格生成关节概率热图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Soft-argmax实现亚体素精度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可解释性强，可视化直观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局限：O(N³)内存开销大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2D领域验证充分，3D扩展有挑战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1371600"/>
            <a:ext cx="224028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Microsoft YaHei"/>
              </a:defRPr>
            </a:pPr>
            <a:r>
              <a:t>◆ 5. 图神经网络 (GNN)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828800"/>
            <a:ext cx="1965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网格视为图，消息传递预测骨骼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GCN/GAT/EdgeConv多种变体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天然利用网格拓扑连接关系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可学习对称性约束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局限：过平滑问题，超大图计算慢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▎骨骼生成方法综合对比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65760" y="49377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速度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通用性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数据需求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最佳场景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参数化拟合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标准人形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体素中轴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任意形状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Pinocchio(经典)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人形快速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UniRig(新标杆)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通用角色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RigNet(DL)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通用角色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热图方法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人形/四足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GNN方法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拓扑感知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核心技术深度解析 — 蒙皮权重计算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从几何方法到深度学习的蒙皮技术演进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371600"/>
            <a:ext cx="224028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1. 测地距离法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1965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权重与测地距离成反比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Heat Method: O(n)稀疏求解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算法成熟，库多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忽略关节弯曲复杂行为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371600"/>
            <a:ext cx="224028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2. Geodesic Voxel Binding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828800"/>
            <a:ext cx="1965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体素空间(128³/256³)测地距离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可穿越内部空间（手指间等）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对网格质量不敏感，鲁棒性强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内存O(N³)，分辨率限制精度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371600"/>
            <a:ext cx="224028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3. 热扩散法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28800"/>
            <a:ext cx="1965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权重天然平滑连续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多骨骼可并行求解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可能过度模糊，丧失锐利边界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371600"/>
            <a:ext cx="224028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4. 深度学习蒙皮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828800"/>
            <a:ext cx="1965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UniRig: DL直接预测初始权重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SkinningNet: 双向GNN (顶点↔骨骼)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精度最高，接近手工绑定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训练数据成本高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1371600"/>
            <a:ext cx="224028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Microsoft YaHei"/>
              </a:defRPr>
            </a:pPr>
            <a:r>
              <a:t>◆ 5. LBS vs DQS 变形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828800"/>
            <a:ext cx="1965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000" b="0">
                <a:solidFill>
                  <a:srgbClr val="00E5FF"/>
                </a:solidFill>
                <a:latin typeface="Microsoft YaHei"/>
              </a:defRPr>
            </a:pPr>
            <a:r>
              <a:t>● LBS: v'=Σw_j·T_j·v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LBS有体积坍缩/糖纸效应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DQS: 对偶四元数保持刚体性质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DQS计算成本更高但质量好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▎蒙皮权重方法综合对比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65760" y="4526280"/>
          <a:ext cx="11430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1371600"/>
                <a:gridCol w="4114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速度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鲁棒性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需训练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测地距离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Heat Method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体素绑定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Maya GVB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热扩散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Bone Heat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深度学习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UniRig/SkinningNet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6576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7088"/>
                </a:solidFill>
                <a:latin typeface="Microsoft YaHei"/>
              </a:defRPr>
            </a:pPr>
            <a:r>
              <a:t>▎LBS vs DQS 变形方法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65760" y="6035040"/>
          <a:ext cx="11430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1828800"/>
                <a:gridCol w="1828800"/>
                <a:gridCol w="18288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体积保持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糖纸效应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计算成本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GPU支持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兼容性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LBS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差（坍缩）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极好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所有引擎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DQS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好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大幅改善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需自定义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需额外支持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Neural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需推理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研究阶段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核心技术深度解析 — AI前沿技术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Transformer / GNN / 扩散模型 / 自监督学习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371600"/>
            <a:ext cx="2240280" cy="32004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Transformer 骨骼预测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UniRig: Skeleton Tree Tokenization+自回归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Point Transformer: 局部自注意力+KNN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Mesh Transformer: 面片Patch作Token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vs Point MLP: 全局建模更强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vs GCN: 长距离依赖更好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代价: O(n²)计算量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371600"/>
            <a:ext cx="2240280" cy="32004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PointNet++ 3D点云处理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Set Abstraction: FPS+Ball Query+PointNet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Multi-Scale Grouping: 多半径特征聚合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Feature Propagation: 插值上采样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3D点云处理的基础架构（RigNet使用PointNet-based变体）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层次化局部特征学习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无旋转等变性（需数据增强）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371600"/>
            <a:ext cx="2240280" cy="32004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GCN 骨骼关系建模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骨骼图: 关节=节点, 骨骼=边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消息传递: 邻居聚合→节点更新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EdgeConv/GAT多种变体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天然利用网格拓扑连接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可学习对称性约束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过平滑限制网络深度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371600"/>
            <a:ext cx="2240280" cy="32004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扩散模型潜力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条件骨骼生成：网格→关节位置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蒙皮权重去噪：骨骼→权重W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完整角色生成+绑定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多样性+高质量+可控性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可变长度输出是核心挑战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Text-to-Rigged-Character潜力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1371600"/>
            <a:ext cx="2240280" cy="320040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4630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5F6"/>
                </a:solidFill>
                <a:latin typeface="Microsoft YaHei"/>
              </a:defRPr>
            </a:pPr>
            <a:r>
              <a:t>◆ 自监督 &amp; 迁移学习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783080"/>
            <a:ext cx="196596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对比学习：同角色不同姿态骨骼一致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几何一致性：无需标注的多姿态约束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跨物种迁移：人形→四足→异形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解决标注数据稀缺核心问题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域自适应：合成→真实数据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MAML快速适应新物种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▎前沿研究方向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65760" y="5166360"/>
          <a:ext cx="11430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41148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核心挑战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关键方法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预期突破时间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通用非人形绑定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骨骼拓扑不确定,语义缺失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UniRig自回归+对称性检测+扩散拓扑生成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1-2年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实时自动绑定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&lt;100ms端到端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轻量网络+TensorRT+解析方法修正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2-3年（需模型架构突破）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端到端统一学习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多阶段误差累积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统一图/能量最小化/共享编码器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多物种统一框架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形态差异大,数据少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元学习+连续物种嵌入+合成数据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17/28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核心技术深度解析 — 质量评估体系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Auto-Rigging效果的科学量化评估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788920" cy="23774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骨骼位置精度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2514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MPJPE: 关节位置平均误差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PCK@α: 正确关键点百分比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PA-MPJPE: Procrustes对齐后误差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BLE: 骨骼长度误差率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Topo_Acc: 骨骼连接正确率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371600"/>
            <a:ext cx="2788920" cy="23774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蒙皮权重误差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8308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828800"/>
            <a:ext cx="2514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L2 Weight Error: Frobenius范数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Per-Vertex Max Error: 逐顶点最大误差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Important Bone Error: 高影响骨骼误差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Weight Entropy: 权重分散度评估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Geodesic Consistency: 邻顶点权重一致性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88920" cy="23774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动画质量 (LBS Artifact)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2514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Volume Preservation: 体积变化率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Laplacian Distortion: 拉普拉斯扭曲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Collision Rate: 自交面比例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ADE: 动画序列变形误差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LBS Artifact Score: 感知质量分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371600"/>
            <a:ext cx="2788920" cy="237744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463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泛化能力评估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78308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828800"/>
            <a:ext cx="2514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标准人形 → 夸张比例 → 服饰遮挡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非标准姿态 → 四足动物 → 异形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低面数模型 → 扫描噪声数据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跨数据集零样本测试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Leave-one-out交叉验证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▎各方法性能基准对比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65760" y="434340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828800"/>
                <a:gridCol w="1371600"/>
                <a:gridCol w="18288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预处理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推理时间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后处理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总耗时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GPU内存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SMPL fitting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~5s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~10ms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~6s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~1GB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Heat Diffusion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~2s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~0.5s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~3.5s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~2GB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 (DL)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~2s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~3-8s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~0.5s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~5.5-10.5s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~6GB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RigNet (DL)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~2-4s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~0.5s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~3.5-5.5s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~4GB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Geodesic Voxel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~3s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~5s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~9s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~8-12GB(256³)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GNN方法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~3s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~5s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~3GB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实时方案(设计)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&lt;0.1s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&lt;0.05s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&lt;0.03s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&lt;0.1s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~1GB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7088"/>
                </a:solidFill>
                <a:latin typeface="Microsoft YaHei"/>
              </a:defRPr>
            </a:pPr>
            <a:r>
              <a:t>▎核心数据集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630936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32004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标注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SMPL合成数据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合成人形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骨骼+蒙皮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Mixamo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~2000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游戏角色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手工绑定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DeformingThings4D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~1000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动物+人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4D动画+骨骼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RigNet dataset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~2700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游戏角色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完整绑定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 dataset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扩展中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通用角色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完整绑定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面部绑定自动化 — 完整角色绑定的另一半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面部绑定占完整角色工作量40-60%，自动化意义重大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▎面部绑定自动化现状与挑战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45920"/>
            <a:ext cx="278892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ARKit面部Blend Shape标准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5740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03120"/>
            <a:ext cx="2514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Apple ARKit定义52个面部Blend Shape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覆盖眉毛/眼睛/鼻子/嘴巴/下巴/脸颊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已成为行业事实标准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所有主流引擎均支持此标准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挑战：手工制作52个高质量BS需1-3天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645920"/>
            <a:ext cx="278892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MetaHuman面部管线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05740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103120"/>
            <a:ext cx="2514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参数化面部模型+自动蒙皮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云端MetaHuman Creator创建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70+骨骼面部绑定+自动权重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支持Custom导入，需自拍扫描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局限：仅人形面部，需UE5生态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78892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Neural Face Rigging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05740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2514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NeRF/3DGS-based面部重建+绑定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从视频/多视角图片生成可动面部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研究前沿：实时表情迁移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Neural Head Avatar / InstantAvatar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挑战：高保真+实时性难以兼顾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645920"/>
            <a:ext cx="2788920" cy="25603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FACS自动识别研究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205740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103120"/>
            <a:ext cx="2514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FACS: Facial Action Coding System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AU(Action Unit)自动检测与映射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MediaPipe Face Mesh 468点实时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AU→Blend Shape自动映射是关键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4444"/>
                </a:solidFill>
                <a:latin typeface="Microsoft YaHei"/>
              </a:defRPr>
            </a:pPr>
            <a:r>
              <a:t>● 挑战：细微表情精度不足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▎面部绑定 vs 身体绑定工作量对比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5760" y="4800600"/>
          <a:ext cx="114300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32004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身体绑定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面部绑定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自动化难度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骨骼数量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60-100+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50-100+（含微表情）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面部骨骼语义更复杂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蒙皮顶点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数千-数万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数千（密集面部区域）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面部要求更高精度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Blend Shape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少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52+(ARKit) / 100+(影视)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手工制作耗时长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典型耗时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4-8小时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4-12小时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面部更依赖经验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占完整角色比例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40-60%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40-60%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两者合计100%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当前自动化水平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面部自动化更难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结论：面部绑定是高校课题四的候选方向 — ARKit标准→自动BS生成→神经面部绑定，与身体绑定互补形成完整方案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技术方案全面对比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多维度量化评估 — 选拔最优方案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Microsoft YaHei"/>
              </a:defRPr>
            </a:pPr>
            <a:r>
              <a:t>注：Control Rig和ML Deformer为引擎内配套工具，非自动绑定方案，以下对比仅供参考其产业定位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457200"/>
                <a:gridCol w="457200"/>
                <a:gridCol w="457200"/>
                <a:gridCol w="1097280"/>
                <a:gridCol w="1097280"/>
                <a:gridCol w="640080"/>
                <a:gridCol w="457200"/>
                <a:gridCol w="100584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技术路线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人形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四足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骨骼精度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蒙皮质量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速度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门槛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综合推荐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Maya GVB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规则+模板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秒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$1875/年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专业制作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UE5 Control Rig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程序化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引擎内程序化控制（非自动绑定）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UE5 ML Deformer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训练慢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LBS修复工具（非自动绑定）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Mixamo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AI+规则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(Stanford)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免费*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人形快速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Meshy 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秒-分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$20/月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AI一体化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 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纯AI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MIT开源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学术新标杆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RigNet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纯AI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分钟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GPLv3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学术经典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Blender Rigify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秒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开源首选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Anything World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分钟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免费+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通用绑定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▎最优方案评选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5166360"/>
            <a:ext cx="2788920" cy="15544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257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🏆 学术研究最佳 — UniRig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57784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623560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SIGGRAPH 2025，综合评分91/100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Skeleton Tree自回归生成，通用性极强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MIT许可，商业可用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综合评分91/100，新学术标杆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5166360"/>
            <a:ext cx="2788920" cy="15544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5257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🏆 引擎内最佳 — UE5生态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557784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5623560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Control Rig: 程序化绑定标杆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ML Deformer: AI蒙皮影视级质量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MetaHuman: 高保真人形一站式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适合产业落地和引擎集成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166360"/>
            <a:ext cx="2788920" cy="15544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257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🏆 AI一体化最佳 — Meshy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557784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623560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3D生成→绑定→动画全链路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API驱动，适合规模化集成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● 人形+四足支持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707088"/>
                </a:solidFill>
                <a:latin typeface="Microsoft YaHei"/>
              </a:defRPr>
            </a:pPr>
            <a:r>
              <a:t>● 商业化最成熟，但质量待提升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5166360"/>
            <a:ext cx="2788920" cy="15544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52578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🏆 综合推荐 — 分层策略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557784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5623560"/>
            <a:ext cx="2514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快速人形: Mixamo (免费即用)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生产级: UE5 ML Deformer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科研通用: 基于UniRig改进+DL蒙皮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前沿: 扩散模型+元学习预研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* Mixamo免费需注册Adobe ID  |  UniRig(MIT) vs RigNet(GPLv3) 许可差异对商业应用影响重大  |  Pinocchio(SIGGRAPH 2007)是经典先驱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选型决策矩阵 — 产业实际权重的方案选择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基于游戏行业实际需求的加权评估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▎选型考量指标与产业实际权重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0020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31520"/>
                <a:gridCol w="32004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评估指标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关键评估点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引擎兼容性(FBX/USD导出质量)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DCC→引擎导出是必经之路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骨骼映射准确度、蒙皮保真度、动画兼容性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蒙皮权重质量(精修工作量)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精修成本决定实际效率提升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关键区域质量、整体通过率、精修时间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换装系统支持(骨骼标准化)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抽卡游戏核心需求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骨骼命名规范、蒙皮一致性、LOD支持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移动端性能适配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手游市场占60%+份额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骨骼数上限、影响骨骼数≤4、面数约束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面部绑定能力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完整角色的另一半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ARKit兼容、Blend Shape支持、表情质量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批量处理能力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UGC/大规模资产场景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自动化管线、API支持、并发处理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学习曲线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团队推广成本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TA上手时间、文档质量、社区支持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成本/许可证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商业可行性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开源许可(MIT/GPLv3)、SaaS费用、部署成本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学术创新性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高校合作目标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论文发表空间、技术壁垒、原创性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▎决策树：什么场景选什么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5349240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6858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场景需求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推荐方案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学术研究/论文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基于UniRig改进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MIT许可+最高精度+创新空间大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换装系统支持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UniRig+骨骼标准化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自动命名+引擎约定对齐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引擎内生产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UE5生态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Control Rig+ML Deformer+MetaHuman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移动端游戏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UniRig+LOD简化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骨骼数约束+影响骨骼≤4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快速人形Demo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Mixamo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免费+零门槛+秒级出结果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3D生成一体化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Meshy AI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Text→3D→绑定→动画全链路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商业产品集成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UniRig(MIT)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MIT许可无GPLv3法律风险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高保真人形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MetaHuman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参数化+影视级质量（仅人形）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人工精修成本分析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自动绑定后仍需精修 — 实际效率提升2-14倍而非96-480x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▎自动绑定后的典型精修区域与耗时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600200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371600"/>
                <a:gridCol w="731520"/>
                <a:gridCol w="56692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精修区域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常见问题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精修耗时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难度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肩膀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举手穿模、腋下变形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10-20min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三角肌区域权重最难调，需手动刷权重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胯部/大腿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分腿穿模、骑乘变形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10-15min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裤裆区域多骨骼交叉影响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手指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糖纸效应、弯曲扭曲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10-15min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细长结构LBS缺陷严重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膝盖/肘部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体积坍缩、弯折处穿模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5-10min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关节弯曲处需精确的权重分布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脊椎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弯曲扭曲、侧弯异常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5-10min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多脊椎骨骼需平滑过渡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面部(蒙皮)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表情权重不自然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30-60min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面部蒙皮权重精修（不含Blend Shape制作）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整体审查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多姿态穿模检查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10-20min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walk/idle/jump/crouch等多姿态验证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65-120min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自动绑定产出70-85%质量后的精修量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526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▎各工具自动质量 vs 精修工作量对比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846320"/>
          <a:ext cx="9052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188720"/>
                <a:gridCol w="1371600"/>
                <a:gridCol w="228600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自动质量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需精修比例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精修时间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总耗时（自动+精修）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实际效率提升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手工绑定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240-480min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240-480min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1x（基线）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Maya GVB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80-85%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15-20%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30-60min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35-65min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4-10x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Mixamo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65-75%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25-35%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45-90min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50-95min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3-10x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70-80%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20-30%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40-80min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45-85min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3-11x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RigNet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65-75%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25-35%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45-90min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50-95min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3-10x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Meshy AI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55-65%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35-45%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60-120min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65-125min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2-7x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6263640"/>
            <a:ext cx="11430000" cy="4572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★ 关键结论：考虑精修后实际效率提升2-14倍（视工具和角色复杂度而异），精修工作量是选型的核心考量因素（权重20%）</a:t>
            </a:r>
            <a:br/>
            <a:r>
              <a:t>★ GVB在蒙皮维度质量最高(80-85%)，UniRig通用性更强但精修量稍大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22/28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推荐技术路线 — AI混合方案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基于调研的最优技术组合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▎推荐方案：基于UniRig改进 + DL直接蒙皮(Geodesic Voxel修正) + UE5集成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114300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11430000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Phase 1: 骨骼生成（基于UniRig架构）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1645920" cy="7772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输入Mesh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103120"/>
            <a:ext cx="1645920" cy="7772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UniRig</a:t>
            </a:r>
            <a:br/>
            <a:r>
              <a:t>Skeleton Tree</a:t>
            </a:r>
            <a:br/>
            <a:r>
              <a:t>Tokenization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103120"/>
            <a:ext cx="1645920" cy="7772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自回归</a:t>
            </a:r>
            <a:br/>
            <a:r>
              <a:t>Transformer</a:t>
            </a:r>
            <a:br/>
            <a:r>
              <a:t>骨骼序列生成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103120"/>
            <a:ext cx="1645920" cy="7772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GCN优化</a:t>
            </a:r>
            <a:br/>
            <a:r>
              <a:t>+对称性</a:t>
            </a:r>
            <a:br/>
            <a:r>
              <a:t>先验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103120"/>
            <a:ext cx="1645920" cy="7772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1945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完整骨骼树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200400"/>
            <a:ext cx="114300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200400"/>
            <a:ext cx="114300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Phase 2: 蒙皮权重（DL-first方案）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611880"/>
            <a:ext cx="1645920" cy="7772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骨骼树</a:t>
            </a:r>
            <a:br/>
            <a:r>
              <a:t>+Mesh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7490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3611880"/>
            <a:ext cx="1645920" cy="7772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4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UniRig/DL</a:t>
            </a:r>
            <a:br/>
            <a:r>
              <a:t>直接预测</a:t>
            </a:r>
            <a:br/>
            <a:r>
              <a:t>初始权重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37490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3611880"/>
            <a:ext cx="1645920" cy="7772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Geodesic</a:t>
            </a:r>
            <a:br/>
            <a:r>
              <a:t>Voxel修正</a:t>
            </a:r>
            <a:br/>
            <a:r>
              <a:t>边缘case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7490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3611880"/>
            <a:ext cx="2194560" cy="77724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最终权重</a:t>
            </a:r>
            <a:br/>
            <a:r>
              <a:t>W ∈ ℝ^(|V|×|J|)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4709160"/>
            <a:ext cx="11430000" cy="1188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709160"/>
            <a:ext cx="114300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Phase 3: 引擎集成与优化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074920"/>
            <a:ext cx="1737360" cy="685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510235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UniRig输出→</a:t>
            </a:r>
            <a:br/>
            <a:r>
              <a:t>FBX/glTF</a:t>
            </a:r>
            <a:br/>
            <a:r>
              <a:t>格式转换器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77440" y="5074920"/>
            <a:ext cx="1737360" cy="685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04872" y="510235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骨骼命名自动</a:t>
            </a:r>
            <a:br/>
            <a:r>
              <a:t>标准化</a:t>
            </a:r>
            <a:br/>
            <a:r>
              <a:t>（对齐引擎约定）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5074920"/>
            <a:ext cx="1737360" cy="685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6552" y="510235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UE5 ML Deformer</a:t>
            </a:r>
            <a:br/>
            <a:r>
              <a:t>训练优化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5074920"/>
            <a:ext cx="1737360" cy="685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8232" y="510235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运行时实时</a:t>
            </a:r>
            <a:br/>
            <a:r>
              <a:t>推理部署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12480" y="5074920"/>
            <a:ext cx="1737360" cy="685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9912" y="510235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质量验证</a:t>
            </a:r>
            <a:br/>
            <a:r>
              <a:t>+迭代优化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04120" y="5212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41280" y="5074920"/>
            <a:ext cx="1737360" cy="68580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68712" y="5102352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生产就绪</a:t>
            </a:r>
            <a:br/>
            <a:r>
              <a:t>完整管线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核心优势：① UniRig自回归Transformer综合评分较RigNet提升21%（91 vs 75）  ② DL-first蒙皮+Geodesic Voxel修正兼顾精度和鲁棒性  ③ FBX/glTF格式转换器+骨骼命名标准化确保引擎兼容  ④ UE5 ML Deformer保证影视级质量  ⑤ MIT许可无商业限制  ⑥ 扩散模型预研面向通用化未来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高校合作立项 — 研究目标与课题设计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以UniRig为基线的改进研究方向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83464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课题一：通用骨骼生成增强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256032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2560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研究目标：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在UniRig基础上进一步提升精度和泛化能力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技术路线：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UniRig(Skeleton Tree Tokenization)扩展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对称性检测先验增强拓扑一致性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连续物种嵌入空间设计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元学习快速适应新物种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核心子目标：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骨骼自动命名+语义标注(对齐UE5/Unity)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Socket/Attachment点自动检测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骨骼数上限约束(根据目标平台)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371600"/>
            <a:ext cx="283464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课题二：高质量神经蒙皮 + 换装专用蒙皮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83080"/>
            <a:ext cx="256032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828800"/>
            <a:ext cx="2560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研究目标：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实现DL-first蒙皮方案，含通用蒙皮和换装专用蒙皮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技术路线：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UniRig/DL直接预测初始权重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Geodesic Voxel修正边缘case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LBS Artifact感知损失函数设计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自监督一致性约束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核心约束：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最大影响骨骼数≤4（移动端硬约束）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换装场景：给定标准化骨骼→对新服装/皮肤自动蒙皮（核心需求）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83464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课题三：端到端实时绑定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256032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2560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研究目标：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实现&lt;100ms实时自动绑定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技术路线：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非自回归替代架构（一次预测全部骨骼位置）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自回归→非自回归知识蒸馏（用精度换速度）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TensorRT推理优化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解析方法+学习修正混合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平台约束：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移动端: 骨骼≤80, 影响≤4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WebGL: 骨骼≤50, 影响≤4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371600"/>
            <a:ext cx="283464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课题四：LOD-aware骨骼简化 ★NEW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783080"/>
            <a:ext cx="256032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828800"/>
            <a:ext cx="25603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研究目标：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自动生成多套LOD骨骼，保持动画兼容性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核心挑战：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● 骨骼简化≠网格简化，是全新研究问题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需保持动画Retargeting兼容性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LOD0(300骨骼)→LOD2(50骨骼)平滑过渡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权重自动重分配到剩余骨骼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产业价值：★★★★★（手游必备）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CF0A2C"/>
                </a:solidFill>
                <a:latin typeface="Microsoft YaHei"/>
              </a:defRPr>
            </a:pPr>
            <a:r>
              <a:t>学术空白：缺乏系统化自动优化框架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▎预期创新点与学术贡献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65760" y="4983480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创新点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学术贡献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产业价值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基于UniRig的通用骨骼增强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在SIGGRAPH 2025基础上进一步提升精度和泛化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UGC/元宇宙海量角色绑定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DL-first蒙皮方案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DL直接预测+几何修正的混合新范式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游戏/影视生产管线提效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实时推理方案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100ms内完成绑定的新方法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游戏内实时角色定制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自监督训练范式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减少90%标注数据需求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降低训练成本，加速落地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多物种统一框架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连续物种嵌入+元学习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支持游戏全品类角色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LOD-aware骨骼简化 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骨骼简化缺乏系统化学术框架，现有方案多为工程实践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手游LOD骨骼适配★★★★★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骨骼语义标注与标准化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自动命名对齐引擎约定的方法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换装系统/外包QC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换装专用蒙皮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保证同一骨骼体系下多套服装蒙皮一致性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抽卡游戏5-50套/角色★★★★★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核心思路：以UniRig（SIGGRAPH 2025，Skeleton Tree Tokenization+Autoregressive Transformer）为基线，引入Transformer/GNN/扩散模型等前沿技术，实现通用化+高质量+实时化的突破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高校合作立项 — 里程碑规划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18个月研究计划（含buffer和Go/No-Go评审节点）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78892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Phase 1: 基线搭建 (M1-M4)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28800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复现UniRig基线模型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构建统一评估基准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数据集收集与清洗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文献综述完成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M3+2周buffer + Go/No-Go评审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交付：UniRig基线代码+评估脚本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DC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371600"/>
            <a:ext cx="278892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Phase 2: 通用骨骼 (M5-M8)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8308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828800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UniRig自回归架构扩展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对称性检测先验引入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非人形数据集扩充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初步实验与消融分析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M7+2周buffer + Go/No-Go评审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交付：论文初稿+骨骼模型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78892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63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Phase 3: 高质量蒙皮 (M9-M12)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78308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DL-first蒙皮方案实现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Geodesic Voxel边缘case修正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自监督训练策略验证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LBS Artifact评估体系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M11+2周buffer + Go/No-Go评审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交付：蒙皮模型+对比实验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371600"/>
            <a:ext cx="2788920" cy="301752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463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Phase 4: 系统集成 (M13-M18)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78308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828800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端到端管线集成与优化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UE5插件原型开发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实时推理优化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论文投稿+开源发布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M16+2周buffer + Go/No-Go评审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交付：完整系统+论文+开源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▎预期交付成果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65760" y="4983480"/>
          <a:ext cx="114300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13716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成果类型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具体内容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质量要求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学术论文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SIGGRAPH/ACM TOG/CVPR顶级会议/期刊论文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CCF-A类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开源代码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完整Auto-Rigging框架，含训练/推理/评估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1套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GitHub Star 500+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多物种角色绑定数据集（含非人形）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1套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1000+模型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引擎插件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UE5/Blender自动绑定插件原型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2个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可用Demo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专利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通用骨骼生成/混合蒙皮相关发明专利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2-3项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已受理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技术报告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完整技术方案文档与评估报告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1份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含对比实验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高校合作立项 — 资源需求与风险管理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确保研究顺利推进的保障措施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▎资源需求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54480"/>
            <a:ext cx="2788920" cy="20116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计算资源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6596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GPU: 8×A100 80GB（训练）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GPU: 2×RTX 4090（推理验证）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存储: 10TB+（数据集+模型）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预算: ~¥50-80万/年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554480"/>
            <a:ext cx="2788920" cy="20116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45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人力资源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96596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011680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博士生: 2名（核心研究）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硕士生: 3-4名（工程+实验）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工程师: 1名（系统集成）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企业导师: 1名（产业对接）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788920" cy="20116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数据资源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96596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公开数据集: UniRig/RigNet/Mixamo/D4D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企业内部数据: 游戏角色资产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合成数据: SMPL/SMAL参数化生成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标注工具: 半自动标注管线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554480"/>
            <a:ext cx="2788920" cy="2011680"/>
          </a:xfrm>
          <a:prstGeom prst="roundRect">
            <a:avLst/>
          </a:prstGeom>
          <a:solidFill>
            <a:srgbClr val="0F3460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645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合作模式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1965960"/>
            <a:ext cx="2514600" cy="9144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011680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联合实验室：长期合作平台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课题委托：具体课题付费研究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人才联合培养：实习+就业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IP共享：专利+论文联合署名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▎风险管理矩阵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5760" y="41605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731520"/>
                <a:gridCol w="81381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应对策略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训练数据不足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合成数据+自监督+迁移学习三重保障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非人形泛化差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渐进式扩展：人形→四足→异形，元学习快速适应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实时性能不达标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模型蒸馏+TensorRT+解析方法备用方案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论文发表困难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多会议/期刊并行投稿，备选CCF-B/C期刊保底，至少1篇Workshop论文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引擎集成复杂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分阶段集成，先验证核心功能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产业落地差距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企业导师全程参与，定期产业评审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IP/许可证风险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主选UniRig(MIT)规避RigNet(GPLv3)商业风险，法务审核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数据版权/合规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仅使用开源/合成数据，企业数据签署授权协议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核心人员流失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双导师制+竞争性补贴+论文激励+知识产权保护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外包绑定规范不一致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制定QC检查清单（骨骼数/命名/层级/POSE/权重≤4），自动化验证工具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UniRig输出格式与引擎兼容性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开发FBX/glTF格式转换器+骨骼命名标准化模块，早期集成测试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高校合作立项 — 经费预算明细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749808"/>
            <a:ext cx="164592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年度预算分解与ROI分析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▎年度经费预算分解（¥100-170万/年）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645920"/>
          <a:ext cx="11612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1371600"/>
                <a:gridCol w="914400"/>
                <a:gridCol w="47548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预算科目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明细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年度预算（万元）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计算资源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GPU云服务器租赁（8×A100 + 2×4090）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电费+机房+网络带宽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50-80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40-50%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按需弹性扩缩，峰值训练期加量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研究人员补贴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2名博士生 + 3-4名硕士生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生活补贴+绩效奖金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30-50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25-30%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竞争性补贴吸引优质生源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数据采集/标注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合成数据生成 + 半自动标注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数据清洗+质量验证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10-20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主要使用开源/合成数据控制成本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软件许可证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Maya/UE5/ZBrush等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数据管理+版本控制工具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5-6%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教育版优惠+开源替代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学术交流/差旅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国际会议（SIGGRAPH/CVPR）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合作高校互访+Workshop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5-10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5-6%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确保论文发表和学术影响力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▎预算结构概览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计算资源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389120"/>
            <a:ext cx="2560320" cy="18288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¥50-80万 (40-50%)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27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研究人员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4773168"/>
            <a:ext cx="1920239" cy="1828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9" y="4727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¥30-50万 (25-30%)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114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数据采集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157216"/>
            <a:ext cx="960119" cy="1828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79" y="5111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¥10-20万 (10%)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955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Microsoft YaHei"/>
              </a:defRPr>
            </a:pPr>
            <a:r>
              <a:t>软件许可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5541264"/>
            <a:ext cx="512063" cy="1828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49423" y="5495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¥5-10万 (5-6%)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79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B5F6"/>
                </a:solidFill>
                <a:latin typeface="Microsoft YaHei"/>
              </a:defRPr>
            </a:pPr>
            <a:r>
              <a:t>学术交流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0" y="5925312"/>
            <a:ext cx="512063" cy="182880"/>
          </a:xfrm>
          <a:prstGeom prst="round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9423" y="5879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¥5-10万 (5-6%)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▎ROI分析 — 投入产出评估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217920" y="42519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64592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投入项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年度投入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预期产出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价值评估</a:t>
                      </a:r>
                    </a:p>
                  </a:txBody>
                  <a:tcPr>
                    <a:solidFill>
                      <a:srgbClr val="4ECD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¥100-170万/年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总预算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2-3篇顶会论文（学术声誉）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论文引用≥100次/年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1套开源框架（社区影响）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GitHub Star ≥ 500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2-3项发明专利（IP资产）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构建技术壁垒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2个引擎插件（产业价值）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赋能内部产品线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6-8名研究生（人才储备）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优先招聘权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65760" y="5577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▎量化商业ROI估算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当前年绑定成本：300角色 × 6h/角色 × ¥500/h = ¥90万/年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● 自动绑定后：300角色 × (精修2h+自动5min)/6h × ¥500/h + 精修¥200/h×2h = ¥20万/年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● 年节省：¥70万 | 投入回收期：¥170万/¥70万 ≈ 2.4年</a:t>
            </a:r>
          </a:p>
          <a:p>
            <a:pPr algn="l">
              <a:lnSpc>
                <a:spcPct val="140000"/>
              </a:lnSpc>
              <a:spcAft>
                <a:spcPts val="300"/>
              </a:spcAft>
              <a:defRPr sz="1100" b="0">
                <a:solidFill>
                  <a:srgbClr val="4ECDC4"/>
                </a:solidFill>
                <a:latin typeface="Microsoft YaHei"/>
              </a:defRPr>
            </a:pPr>
            <a:r>
              <a:t>● 额外价值：缩短上市周期30-50%、标准化质量减少返工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总结与建议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F0A2C"/>
                </a:solidFill>
                <a:latin typeface="Microsoft YaHei"/>
              </a:defRPr>
            </a:pPr>
            <a:r>
              <a:t>Auto-Rigging是3D内容生产管线的关键使能技术，AI驱动是确定性趋势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" cy="365760"/>
          </a:xfrm>
          <a:prstGeom prst="round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64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行业痛点明确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手工绑定效率低、门槛高、无法规模化，Auto-Rigging是3D内容生产的刚需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65760" cy="3657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58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技术路线清晰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AI驱动（UniRig改进+DL-first蒙皮）是最佳方向，综合评分较RigNet提升21%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36576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620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529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产学研机会大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80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通用非人形绑定、实时绑定、面部绑定均有大量学术创新空间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36576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564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447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产业价值巨大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游戏/影视/元宇宙/UGC/电商等场景对自动绑定需求爆发式增长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365760" cy="36576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507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444"/>
                </a:solidFill>
                <a:latin typeface="Microsoft YaHei"/>
              </a:defRPr>
            </a:pPr>
            <a:r>
              <a:t>竞争格局有利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69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UniRig(MIT许可)提供商业可行基线，抢先布局建立技术壁垒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▎下一步行动计划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31520" y="5074920"/>
          <a:ext cx="9052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200400"/>
                <a:gridCol w="1828800"/>
                <a:gridCol w="13716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行动项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交付物</a:t>
                      </a:r>
                    </a:p>
                  </a:txBody>
                  <a:tcPr>
                    <a:solidFill>
                      <a:srgbClr val="CF0A2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确定合作高校与研究团队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技术总监+HR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Month 1-2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3-5所候选高校评估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签署联合实验室协议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法务+高校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Month 2-3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正式合作协议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启动Phase 1：UniRig基线搭建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研究团队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Month 3-4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Phase 1基线搭建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数据集收集与清洗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工程师+学生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Month 3-6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标准化数据集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申请研究经费与计算资源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项目经理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Month 1-2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资源到位确认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建立周报/月报+Go/No-Go评审机制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项目经理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Month 1起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评审报告模板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088"/>
                </a:solidFill>
                <a:latin typeface="Microsoft YaHei"/>
              </a:defRPr>
            </a:pPr>
            <a:r>
              <a:t>28/28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