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645920"/>
            <a:ext cx="54864" cy="3200400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200" b="1">
                <a:solidFill>
                  <a:srgbClr val="CF0A2C"/>
                </a:solidFill>
                <a:latin typeface="Microsoft YaHei"/>
              </a:defRPr>
            </a:pPr>
            <a:r>
              <a:t>AUTO-RIGGING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945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Microsoft YaHei"/>
              </a:defRPr>
            </a:pPr>
            <a:r>
              <a:t>自动绑定技术 — 业界洞察报告与高校合作立项分析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7280" y="3017520"/>
            <a:ext cx="1463040" cy="320040"/>
          </a:xfrm>
          <a:prstGeom prst="roundRect">
            <a:avLst/>
          </a:prstGeom>
          <a:solidFill>
            <a:srgbClr val="0F3460"/>
          </a:solidFill>
          <a:ln w="10160">
            <a:solidFill>
              <a:srgbClr val="CF0A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3035808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CF0A2C"/>
                </a:solidFill>
                <a:latin typeface="Microsoft YaHei"/>
              </a:defRPr>
            </a:pPr>
            <a:r>
              <a:t>AI驱动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0" y="3017520"/>
            <a:ext cx="1463040" cy="320040"/>
          </a:xfrm>
          <a:prstGeom prst="roundRect">
            <a:avLst/>
          </a:prstGeom>
          <a:solidFill>
            <a:srgbClr val="0F3460"/>
          </a:solidFill>
          <a:ln w="10160">
            <a:solidFill>
              <a:srgbClr val="CF0A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0" y="3035808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CF0A2C"/>
                </a:solidFill>
                <a:latin typeface="Microsoft YaHei"/>
              </a:defRPr>
            </a:pPr>
            <a:r>
              <a:t>骨骼生成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3017520"/>
            <a:ext cx="1463040" cy="320040"/>
          </a:xfrm>
          <a:prstGeom prst="roundRect">
            <a:avLst/>
          </a:prstGeom>
          <a:solidFill>
            <a:srgbClr val="0F3460"/>
          </a:solidFill>
          <a:ln w="10160">
            <a:solidFill>
              <a:srgbClr val="CF0A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89120" y="3035808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CF0A2C"/>
                </a:solidFill>
                <a:latin typeface="Microsoft YaHei"/>
              </a:defRPr>
            </a:pPr>
            <a:r>
              <a:t>蒙皮权重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35040" y="3017520"/>
            <a:ext cx="1463040" cy="320040"/>
          </a:xfrm>
          <a:prstGeom prst="roundRect">
            <a:avLst/>
          </a:prstGeom>
          <a:solidFill>
            <a:srgbClr val="0F3460"/>
          </a:solidFill>
          <a:ln w="10160">
            <a:solidFill>
              <a:srgbClr val="CF0A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35040" y="3035808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CF0A2C"/>
                </a:solidFill>
                <a:latin typeface="Microsoft YaHei"/>
              </a:defRPr>
            </a:pPr>
            <a:r>
              <a:t>端到端绑定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80960" y="3017520"/>
            <a:ext cx="1463040" cy="320040"/>
          </a:xfrm>
          <a:prstGeom prst="roundRect">
            <a:avLst/>
          </a:prstGeom>
          <a:solidFill>
            <a:srgbClr val="0F3460"/>
          </a:solidFill>
          <a:ln w="10160">
            <a:solidFill>
              <a:srgbClr val="CF0A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3035808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CF0A2C"/>
                </a:solidFill>
                <a:latin typeface="Microsoft YaHei"/>
              </a:defRPr>
            </a:pPr>
            <a:r>
              <a:t>通用化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840480"/>
            <a:ext cx="9144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spcAft>
                <a:spcPts val="300"/>
              </a:spcAft>
              <a:defRPr sz="1400" b="0">
                <a:solidFill>
                  <a:srgbClr val="CCCCCC"/>
                </a:solidFill>
                <a:latin typeface="Microsoft YaHei"/>
              </a:defRPr>
            </a:pPr>
            <a:r>
              <a:t>报告类型：技术洞察与高校合作立项汇报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8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lnSpc>
                <a:spcPct val="140000"/>
              </a:lnSpc>
              <a:spcAft>
                <a:spcPts val="300"/>
              </a:spcAft>
              <a:defRPr sz="1200" b="0">
                <a:solidFill>
                  <a:srgbClr val="707088"/>
                </a:solidFill>
                <a:latin typeface="Microsoft YaHei"/>
              </a:defRPr>
            </a:pPr>
            <a:r>
              <a:t>调研范围：Maya / Unity / Unreal Engine / Meshy AI / 腾讯混元 / GoSkinning / 网易 / Mixamo / RigNet / UniRig / 开源生态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6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lnSpc>
                <a:spcPct val="140000"/>
              </a:lnSpc>
              <a:spcAft>
                <a:spcPts val="300"/>
              </a:spcAft>
              <a:defRPr sz="1200" b="0">
                <a:solidFill>
                  <a:srgbClr val="707088"/>
                </a:solidFill>
                <a:latin typeface="Microsoft YaHei"/>
              </a:defRPr>
            </a:pPr>
            <a:r>
              <a:t>核心内容：业界现状 · 技术路线深度对比 · 价值论证 · 最优方案推荐 · 立项规划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8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lnSpc>
                <a:spcPct val="140000"/>
              </a:lnSpc>
              <a:spcAft>
                <a:spcPts val="300"/>
              </a:spcAft>
              <a:defRPr sz="1200" b="0">
                <a:solidFill>
                  <a:srgbClr val="707088"/>
                </a:solidFill>
                <a:latin typeface="Microsoft YaHei"/>
              </a:defRPr>
            </a:pPr>
            <a:r>
              <a:t>编制日期：2026年06月02日    |    文档密级：内部公开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707088"/>
                </a:solidFill>
                <a:latin typeface="Microsoft YaHei"/>
              </a:defRPr>
            </a:pPr>
            <a:r>
              <a:t>1/24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Microsoft YaHei"/>
              </a:defRPr>
            </a:pPr>
            <a:r>
              <a:t>目录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749808"/>
            <a:ext cx="1645920" cy="36576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841248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Microsoft YaHei"/>
              </a:defRPr>
            </a:pPr>
            <a:r>
              <a:t>报告结构总览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1371600"/>
            <a:ext cx="640080" cy="640080"/>
          </a:xfrm>
          <a:prstGeom prst="roundRect">
            <a:avLst/>
          </a:prstGeom>
          <a:solidFill>
            <a:srgbClr val="0F3460"/>
          </a:solidFill>
          <a:ln w="19050">
            <a:solidFill>
              <a:srgbClr val="CF0A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46304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CF0A2C"/>
                </a:solidFill>
                <a:latin typeface="Microsoft YaHei"/>
              </a:defRPr>
            </a:pPr>
            <a: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1389888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Microsoft YaHei"/>
              </a:defRPr>
            </a:pPr>
            <a:r>
              <a:t>为什么需要Auto-Rigging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173736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07088"/>
                </a:solidFill>
                <a:latin typeface="Microsoft YaHei"/>
              </a:defRPr>
            </a:pPr>
            <a:r>
              <a:t>价值论证与行业痛点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225296" y="2011680"/>
            <a:ext cx="18288" cy="411480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14400" y="2423160"/>
            <a:ext cx="640080" cy="640080"/>
          </a:xfrm>
          <a:prstGeom prst="roundRect">
            <a:avLst/>
          </a:prstGeom>
          <a:solidFill>
            <a:srgbClr val="0F3460"/>
          </a:solidFill>
          <a:ln w="19050">
            <a:solidFill>
              <a:srgbClr val="CF0A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51460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CF0A2C"/>
                </a:solidFill>
                <a:latin typeface="Microsoft YaHei"/>
              </a:defRPr>
            </a:pPr>
            <a: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441448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Microsoft YaHei"/>
              </a:defRPr>
            </a:pPr>
            <a:r>
              <a:t>业界现状全景扫描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27889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07088"/>
                </a:solidFill>
                <a:latin typeface="Microsoft YaHei"/>
              </a:defRPr>
            </a:pPr>
            <a:r>
              <a:t>Maya / Unity / Unreal / Meshy / 腾讯混元 / 网易 / 开源等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225296" y="3063240"/>
            <a:ext cx="18288" cy="411480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14400" y="3474720"/>
            <a:ext cx="640080" cy="640080"/>
          </a:xfrm>
          <a:prstGeom prst="roundRect">
            <a:avLst/>
          </a:prstGeom>
          <a:solidFill>
            <a:srgbClr val="0F3460"/>
          </a:solidFill>
          <a:ln w="19050">
            <a:solidFill>
              <a:srgbClr val="CF0A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56616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CF0A2C"/>
                </a:solidFill>
                <a:latin typeface="Microsoft YaHei"/>
              </a:defRPr>
            </a:pPr>
            <a: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3493008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Microsoft YaHei"/>
              </a:defRPr>
            </a:pPr>
            <a:r>
              <a:t>核心技术深度解析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38404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07088"/>
                </a:solidFill>
                <a:latin typeface="Microsoft YaHei"/>
              </a:defRPr>
            </a:pPr>
            <a:r>
              <a:t>骨骼生成 / 蒙皮权重 / AI方法 / 评估体系 / 面部绑定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225296" y="4114800"/>
            <a:ext cx="18288" cy="411480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4400" y="4526279"/>
            <a:ext cx="640080" cy="640080"/>
          </a:xfrm>
          <a:prstGeom prst="roundRect">
            <a:avLst/>
          </a:prstGeom>
          <a:solidFill>
            <a:srgbClr val="0F3460"/>
          </a:solidFill>
          <a:ln w="19050">
            <a:solidFill>
              <a:srgbClr val="CF0A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4617719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CF0A2C"/>
                </a:solidFill>
                <a:latin typeface="Microsoft YaHei"/>
              </a:defRPr>
            </a:pPr>
            <a: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4544567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Microsoft YaHei"/>
              </a:defRPr>
            </a:pPr>
            <a:r>
              <a:t>技术方案对比与最优选择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28800" y="4892039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07088"/>
                </a:solidFill>
                <a:latin typeface="Microsoft YaHei"/>
              </a:defRPr>
            </a:pPr>
            <a:r>
              <a:t>多维度量化对比 · 选型决策矩阵 · 推荐方案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225296" y="5166359"/>
            <a:ext cx="18288" cy="411480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14400" y="5577840"/>
            <a:ext cx="640080" cy="640080"/>
          </a:xfrm>
          <a:prstGeom prst="roundRect">
            <a:avLst/>
          </a:prstGeom>
          <a:solidFill>
            <a:srgbClr val="0F3460"/>
          </a:solidFill>
          <a:ln w="19050">
            <a:solidFill>
              <a:srgbClr val="CF0A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566928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CF0A2C"/>
                </a:solidFill>
                <a:latin typeface="Microsoft YaHei"/>
              </a:defRPr>
            </a:pPr>
            <a:r>
              <a:t>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28800" y="5596128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Microsoft YaHei"/>
              </a:defRPr>
            </a:pPr>
            <a:r>
              <a:t>高校合作立项规划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59436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07088"/>
                </a:solidFill>
                <a:latin typeface="Microsoft YaHei"/>
              </a:defRPr>
            </a:pPr>
            <a:r>
              <a:t>研究目标 · 技术路线 · 里程碑 · 经费预算 · 预期成果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707088"/>
                </a:solidFill>
                <a:latin typeface="Microsoft YaHei"/>
              </a:defRPr>
            </a:pPr>
            <a:r>
              <a:t>2/24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Microsoft YaHei"/>
              </a:defRPr>
            </a:pPr>
            <a:r>
              <a:t>01 为什么需要Auto-Rigging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749808"/>
            <a:ext cx="1645920" cy="36576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841248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Microsoft YaHei"/>
              </a:defRPr>
            </a:pPr>
            <a:r>
              <a:t>行业痛点与价值论证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371600"/>
            <a:ext cx="2697480" cy="274320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463040"/>
            <a:ext cx="2423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DC4"/>
                </a:solidFill>
                <a:latin typeface="Microsoft YaHei"/>
              </a:defRPr>
            </a:pPr>
            <a:r>
              <a:t>◆ 效率瓶颈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" y="1783080"/>
            <a:ext cx="242316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828800"/>
            <a:ext cx="242316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手工绑定单个角色需 4-8 小时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复杂角色（四足/多足）需 2-5 天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大规模资产场景（100+角色）需数月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6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1">
                <a:solidFill>
                  <a:srgbClr val="CF0A2C"/>
                </a:solidFill>
                <a:latin typeface="Microsoft YaHei"/>
              </a:defRPr>
            </a:pPr>
            <a:r>
              <a:t>→ 自动绑定可将时间压缩至分钟级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37560" y="1371600"/>
            <a:ext cx="2697480" cy="274320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74720" y="1463040"/>
            <a:ext cx="2423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DC4"/>
                </a:solidFill>
                <a:latin typeface="Microsoft YaHei"/>
              </a:defRPr>
            </a:pPr>
            <a:r>
              <a:t>◆ 技能门槛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74720" y="1783080"/>
            <a:ext cx="242316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74720" y="1828800"/>
            <a:ext cx="242316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绑定师需 3-5年专业训练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骨骼拓扑/蒙皮权重需要深度经验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高级绑定师市场薪资 ¥30-80K/月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6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1">
                <a:solidFill>
                  <a:srgbClr val="CF0A2C"/>
                </a:solidFill>
                <a:latin typeface="Microsoft YaHei"/>
              </a:defRPr>
            </a:pPr>
            <a:r>
              <a:t>→ Auto-Rigging让非专业人员也能产出可用绑定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1371600"/>
            <a:ext cx="2697480" cy="274320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1463040"/>
            <a:ext cx="2423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DC4"/>
                </a:solidFill>
                <a:latin typeface="Microsoft YaHei"/>
              </a:defRPr>
            </a:pPr>
            <a:r>
              <a:t>◆ 规模化困境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55080" y="1783080"/>
            <a:ext cx="242316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55080" y="1828800"/>
            <a:ext cx="242316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UGC生态爆发：用户创建海量3D角色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元宇宙/游戏需要百万级可动角色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手工绑定无法跟上内容生产需求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6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1">
                <a:solidFill>
                  <a:srgbClr val="CF0A2C"/>
                </a:solidFill>
                <a:latin typeface="Microsoft YaHei"/>
              </a:defRPr>
            </a:pPr>
            <a:r>
              <a:t>→ 自动绑定是规模化内容生产的唯一路径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98280" y="1371600"/>
            <a:ext cx="2697480" cy="274320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35440" y="1463040"/>
            <a:ext cx="2423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DC4"/>
                </a:solidFill>
                <a:latin typeface="Microsoft YaHei"/>
              </a:defRPr>
            </a:pPr>
            <a:r>
              <a:t>◆ 质量一致性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235440" y="1783080"/>
            <a:ext cx="242316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35440" y="1828800"/>
            <a:ext cx="242316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手工绑定质量因人而异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不同绑定师命名规范/骨骼层级不同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标准化困难，流水线协作成本高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6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1">
                <a:solidFill>
                  <a:srgbClr val="CF0A2C"/>
                </a:solidFill>
                <a:latin typeface="Microsoft YaHei"/>
              </a:defRPr>
            </a:pPr>
            <a:r>
              <a:t>→ AI绑定保证标准化输出，统一质量基线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4389120"/>
            <a:ext cx="11247120" cy="36576"/>
          </a:xfrm>
          <a:prstGeom prst="rect">
            <a:avLst/>
          </a:prstGeom>
          <a:solidFill>
            <a:srgbClr val="4EC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45720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D700"/>
                </a:solidFill>
                <a:latin typeface="Microsoft YaHei"/>
              </a:defRPr>
            </a:pPr>
            <a:r>
              <a:t>▎数据支撑：市场趋势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498348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07088"/>
                </a:solidFill>
                <a:latin typeface="Microsoft YaHei"/>
              </a:defRPr>
            </a:pPr>
            <a:r>
              <a:t>全球动画与VFX市场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521208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4ECDC4"/>
                </a:solidFill>
                <a:latin typeface="Microsoft YaHei"/>
              </a:defRPr>
            </a:pPr>
            <a:r>
              <a:t>$450B+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562356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07088"/>
                </a:solidFill>
                <a:latin typeface="Microsoft YaHei"/>
              </a:defRPr>
            </a:pPr>
            <a:r>
              <a:t>2026年预估(Allied Market Research)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337560" y="498348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07088"/>
                </a:solidFill>
                <a:latin typeface="Microsoft YaHei"/>
              </a:defRPr>
            </a:pPr>
            <a:r>
              <a:t>年增长率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37560" y="521208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ECC71"/>
                </a:solidFill>
                <a:latin typeface="Microsoft YaHei"/>
              </a:defRPr>
            </a:pPr>
            <a:r>
              <a:t>12.5%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37560" y="562356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07088"/>
                </a:solidFill>
                <a:latin typeface="Microsoft YaHei"/>
              </a:defRPr>
            </a:pPr>
            <a:r>
              <a:t>CAGR 2024-2030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17920" y="498348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07088"/>
                </a:solidFill>
                <a:latin typeface="Microsoft YaHei"/>
              </a:defRPr>
            </a:pPr>
            <a:r>
              <a:t>UGC 3D内容需求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17920" y="521208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D700"/>
                </a:solidFill>
                <a:latin typeface="Microsoft YaHei"/>
              </a:defRPr>
            </a:pPr>
            <a:r>
              <a:t>10x增长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562356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07088"/>
                </a:solidFill>
                <a:latin typeface="Microsoft YaHei"/>
              </a:defRPr>
            </a:pPr>
            <a:r>
              <a:t>过去3年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98280" y="498348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07088"/>
                </a:solidFill>
                <a:latin typeface="Microsoft YaHei"/>
              </a:defRPr>
            </a:pPr>
            <a:r>
              <a:t>AI 3D工具渗透率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098280" y="521208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9B59B6"/>
                </a:solidFill>
                <a:latin typeface="Microsoft YaHei"/>
              </a:defRPr>
            </a:pPr>
            <a:r>
              <a:t>35%→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098280" y="562356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07088"/>
                </a:solidFill>
                <a:latin typeface="Microsoft YaHei"/>
              </a:defRPr>
            </a:pPr>
            <a:r>
              <a:t>预计2028年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59436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07088"/>
                </a:solidFill>
                <a:latin typeface="Microsoft YaHei"/>
              </a:defRPr>
            </a:pPr>
            <a:r>
              <a:t>* 数据来源：Allied Market Research, Grand View Research, Statista 2024-2026 行业报告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707088"/>
                </a:solidFill>
                <a:latin typeface="Microsoft YaHei"/>
              </a:defRPr>
            </a:pPr>
            <a:r>
              <a:t>3/24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Microsoft YaHei"/>
              </a:defRPr>
            </a:pPr>
            <a:r>
              <a:t>01 Auto-Rigging 核心价值矩阵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749808"/>
            <a:ext cx="1645920" cy="36576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841248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Microsoft YaHei"/>
              </a:defRPr>
            </a:pPr>
            <a:r>
              <a:t>效率 · 成本 · 质量 · 创新 四维价值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371600"/>
            <a:ext cx="2743200" cy="237744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46304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DC4"/>
                </a:solidFill>
                <a:latin typeface="Microsoft YaHei"/>
              </a:defRPr>
            </a:pPr>
            <a:r>
              <a:t>◆ 效率提升 10-100x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783080"/>
            <a:ext cx="246888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828800"/>
            <a:ext cx="246888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● 手工绑定：4-8小时/角色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4ECDC4"/>
                </a:solidFill>
                <a:latin typeface="Microsoft YaHei"/>
              </a:defRPr>
            </a:pPr>
            <a:r>
              <a:t>● AI自动绑定：30秒-5分钟/角色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效率提升：96-480倍（基于4h手工/30s AI ~ 8h手工/5min AI）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● 适用于批量生产场景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91840" y="1371600"/>
            <a:ext cx="2743200" cy="237744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29000" y="146304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ECC71"/>
                </a:solidFill>
                <a:latin typeface="Microsoft YaHei"/>
              </a:defRPr>
            </a:pPr>
            <a:r>
              <a:t>◆ 成本降低 60-80%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29000" y="1783080"/>
            <a:ext cx="246888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9000" y="1828800"/>
            <a:ext cx="246888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● 减少80%绑定师人工时间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● 降低美术管线人力成本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● UGC创作者无需专业绑定技能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2ECC71"/>
                </a:solidFill>
                <a:latin typeface="Microsoft YaHei"/>
              </a:defRPr>
            </a:pPr>
            <a:r>
              <a:t>● AI绑定 → 人工精修的混合模式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1371600"/>
            <a:ext cx="2743200" cy="237744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146304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D700"/>
                </a:solidFill>
                <a:latin typeface="Microsoft YaHei"/>
              </a:defRPr>
            </a:pPr>
            <a:r>
              <a:t>◆ 质量标准化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55080" y="1783080"/>
            <a:ext cx="246888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55080" y="1828800"/>
            <a:ext cx="246888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● 统一骨骼命名/层级规范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● 蒙皮权重质量一致性保证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● 兼容主流引擎动画系统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D700"/>
                </a:solidFill>
                <a:latin typeface="Microsoft YaHei"/>
              </a:defRPr>
            </a:pPr>
            <a:r>
              <a:t>● 可量化评估，持续迭代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44000" y="1371600"/>
            <a:ext cx="2743200" cy="237744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81160" y="146304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9B59B6"/>
                </a:solidFill>
                <a:latin typeface="Microsoft YaHei"/>
              </a:defRPr>
            </a:pPr>
            <a:r>
              <a:t>◆ 创新解锁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281160" y="1783080"/>
            <a:ext cx="246888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81160" y="1828800"/>
            <a:ext cx="246888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● Text-to-Rigged-Character 全自动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● 实时UGC角色动画生成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● 非人形角色（四足/多足）自动绑定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9B59B6"/>
                </a:solidFill>
                <a:latin typeface="Microsoft YaHei"/>
              </a:defRPr>
            </a:pPr>
            <a:r>
              <a:t>● 游戏内实时角色定制系统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40233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F0A2C"/>
                </a:solidFill>
                <a:latin typeface="Microsoft YaHei"/>
              </a:defRPr>
            </a:pPr>
            <a:r>
              <a:t>▎核心应用场景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65760" y="4434840"/>
            <a:ext cx="1828800" cy="1920240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65760" y="4434840"/>
            <a:ext cx="1828800" cy="36576"/>
          </a:xfrm>
          <a:prstGeom prst="rect">
            <a:avLst/>
          </a:prstGeom>
          <a:solidFill>
            <a:srgbClr val="4EC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454456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ECDC4"/>
                </a:solidFill>
                <a:latin typeface="Microsoft YaHei"/>
              </a:defRPr>
            </a:pPr>
            <a:r>
              <a:t>游戏开发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4892040"/>
            <a:ext cx="16459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CCCCC"/>
                </a:solidFill>
                <a:latin typeface="Microsoft YaHei"/>
              </a:defRPr>
            </a:pPr>
            <a:r>
              <a:t>批量NPC角色绑定，</a:t>
            </a:r>
            <a:br/>
            <a:r>
              <a:t>UGC角色动画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331720" y="4434840"/>
            <a:ext cx="1828800" cy="1920240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331720" y="4434840"/>
            <a:ext cx="1828800" cy="36576"/>
          </a:xfrm>
          <a:prstGeom prst="rect">
            <a:avLst/>
          </a:prstGeom>
          <a:solidFill>
            <a:srgbClr val="4EC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423160" y="454456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ECDC4"/>
                </a:solidFill>
                <a:latin typeface="Microsoft YaHei"/>
              </a:defRPr>
            </a:pPr>
            <a:r>
              <a:t>影视VFX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423160" y="4892040"/>
            <a:ext cx="16459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CCCCC"/>
                </a:solidFill>
                <a:latin typeface="Microsoft YaHei"/>
              </a:defRPr>
            </a:pPr>
            <a:r>
              <a:t>背景角色快速绑定，</a:t>
            </a:r>
            <a:br/>
            <a:r>
              <a:t>预可视化动画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297680" y="4434840"/>
            <a:ext cx="1828800" cy="1920240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297680" y="4434840"/>
            <a:ext cx="1828800" cy="36576"/>
          </a:xfrm>
          <a:prstGeom prst="rect">
            <a:avLst/>
          </a:prstGeom>
          <a:solidFill>
            <a:srgbClr val="4EC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389120" y="454456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ECDC4"/>
                </a:solidFill>
                <a:latin typeface="Microsoft YaHei"/>
              </a:defRPr>
            </a:pPr>
            <a:r>
              <a:t>元宇宙/社交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89120" y="4892040"/>
            <a:ext cx="16459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CCCCC"/>
                </a:solidFill>
                <a:latin typeface="Microsoft YaHei"/>
              </a:defRPr>
            </a:pPr>
            <a:r>
              <a:t>用户自定义虚拟形象，</a:t>
            </a:r>
            <a:br/>
            <a:r>
              <a:t>实时驱动动画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263640" y="4434840"/>
            <a:ext cx="1828800" cy="1920240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263640" y="4434840"/>
            <a:ext cx="1828800" cy="36576"/>
          </a:xfrm>
          <a:prstGeom prst="rect">
            <a:avLst/>
          </a:prstGeom>
          <a:solidFill>
            <a:srgbClr val="4EC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55080" y="454456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ECDC4"/>
                </a:solidFill>
                <a:latin typeface="Microsoft YaHei"/>
              </a:defRPr>
            </a:pPr>
            <a:r>
              <a:t>电商/营销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55080" y="4892040"/>
            <a:ext cx="16459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CCCCC"/>
                </a:solidFill>
                <a:latin typeface="Microsoft YaHei"/>
              </a:defRPr>
            </a:pPr>
            <a:r>
              <a:t>3D产品展示动画，</a:t>
            </a:r>
            <a:br/>
            <a:r>
              <a:t>虚拟主播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229600" y="4434840"/>
            <a:ext cx="1828800" cy="1920240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229600" y="4434840"/>
            <a:ext cx="1828800" cy="36576"/>
          </a:xfrm>
          <a:prstGeom prst="rect">
            <a:avLst/>
          </a:prstGeom>
          <a:solidFill>
            <a:srgbClr val="4EC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321040" y="454456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ECDC4"/>
                </a:solidFill>
                <a:latin typeface="Microsoft YaHei"/>
              </a:defRPr>
            </a:pPr>
            <a:r>
              <a:t>教育培训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21040" y="4892040"/>
            <a:ext cx="16459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CCCCC"/>
                </a:solidFill>
                <a:latin typeface="Microsoft YaHei"/>
              </a:defRPr>
            </a:pPr>
            <a:r>
              <a:t>3D教学内容快速生成，</a:t>
            </a:r>
            <a:br/>
            <a:r>
              <a:t>交互式角色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0195560" y="4434840"/>
            <a:ext cx="1828800" cy="1920240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0195560" y="4434840"/>
            <a:ext cx="1828800" cy="36576"/>
          </a:xfrm>
          <a:prstGeom prst="rect">
            <a:avLst/>
          </a:prstGeom>
          <a:solidFill>
            <a:srgbClr val="4EC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287000" y="454456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ECDC4"/>
                </a:solidFill>
                <a:latin typeface="Microsoft YaHei"/>
              </a:defRPr>
            </a:pPr>
            <a:r>
              <a:t>AI 3D生成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287000" y="4892040"/>
            <a:ext cx="16459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CCCCC"/>
                </a:solidFill>
                <a:latin typeface="Microsoft YaHei"/>
              </a:defRPr>
            </a:pPr>
            <a:r>
              <a:t>Text-to-3D管线最后一环，</a:t>
            </a:r>
            <a:br/>
            <a:r>
              <a:t>让生成模型可动起来</a:t>
            </a:r>
          </a:p>
        </p:txBody>
      </p:sp>
      <p:sp>
        <p:nvSpPr>
          <p:cNvPr id="48" name="Rectangle 47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707088"/>
                </a:solidFill>
                <a:latin typeface="Microsoft YaHei"/>
              </a:defRPr>
            </a:pPr>
            <a:r>
              <a:t>4/24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Microsoft YaHei"/>
              </a:defRPr>
            </a:pPr>
            <a:r>
              <a:t>02 业界现状全景扫描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749808"/>
            <a:ext cx="1645920" cy="36576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841248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Microsoft YaHei"/>
              </a:defRPr>
            </a:pPr>
            <a:r>
              <a:t>Auto-Rigging技术生态地图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371600"/>
            <a:ext cx="3657600" cy="457200"/>
          </a:xfrm>
          <a:prstGeom prst="round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389888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传统DCC工具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65960"/>
            <a:ext cx="3474720" cy="320040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984248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Autodesk Maya (HumanIK/GVB)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331720"/>
            <a:ext cx="3474720" cy="320040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350008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Blender Rigify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97480"/>
            <a:ext cx="3474720" cy="320040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2715768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3ds Max CAT/Biped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97680" y="1371600"/>
            <a:ext cx="3657600" cy="457200"/>
          </a:xfrm>
          <a:prstGeom prst="roundRect">
            <a:avLst/>
          </a:prstGeom>
          <a:solidFill>
            <a:srgbClr val="4EC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97680" y="1389888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游戏引擎内置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89120" y="1965960"/>
            <a:ext cx="3474720" cy="320040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26280" y="1984248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UE5 Control Rig / Modular Rig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89120" y="2331720"/>
            <a:ext cx="3474720" cy="320040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26280" y="2350008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UE5 ML Deformer / MetaHuman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89120" y="2697480"/>
            <a:ext cx="3474720" cy="320040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26280" y="2715768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Unity Animation Rigging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29600" y="1371600"/>
            <a:ext cx="3657600" cy="457200"/>
          </a:xfrm>
          <a:prstGeom prst="round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0" y="1389888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AI驱动方案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321040" y="1965960"/>
            <a:ext cx="3474720" cy="320040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58200" y="1984248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Meshy AI / Anything World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321040" y="2331720"/>
            <a:ext cx="3474720" cy="320040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58200" y="2350008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Mixamo (Adobe/Stanford)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21040" y="2697480"/>
            <a:ext cx="3474720" cy="320040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58200" y="2715768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RigNet (SIGGRAPH 2020 学术标杆)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321040" y="3063240"/>
            <a:ext cx="3474720" cy="320040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458200" y="3081528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UniRig (SIGGRAPH 2025 新标杆)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321040" y="3429000"/>
            <a:ext cx="3474720" cy="320040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58200" y="3447288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DeepMotion / 腾讯混元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321040" y="3794760"/>
            <a:ext cx="3474720" cy="320040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458200" y="3813048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网易伏羲 / GoSkinning / AccuRIG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457200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DC4"/>
                </a:solidFill>
                <a:latin typeface="Microsoft YaHei"/>
              </a:defRPr>
            </a:pPr>
            <a:r>
              <a:t>▎三条技术路线对比</a:t>
            </a:r>
          </a:p>
        </p:txBody>
      </p:sp>
      <p:graphicFrame>
        <p:nvGraphicFramePr>
          <p:cNvPr id="38" name="Table 37"/>
          <p:cNvGraphicFramePr>
            <a:graphicFrameLocks noGrp="1"/>
          </p:cNvGraphicFramePr>
          <p:nvPr/>
        </p:nvGraphicFramePr>
        <p:xfrm>
          <a:off x="365760" y="4892040"/>
          <a:ext cx="109728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3200400"/>
                <a:gridCol w="3200400"/>
                <a:gridCol w="320040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维度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参数化模型/规则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程序化/节点图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AI/深度学习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代表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Maya HumanIK / SMPL / Mixamo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UE5 Control Rig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UniRig / RigNet / Meshy AI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骨骼精度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★★★★☆（人形极高）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★★★★★（完全可控）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★★★★★（持续提升）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蒙皮质量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通用性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★★☆☆☆（仅人形）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★★★★☆（可自定义）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★★★★★（可泛化）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速度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秒级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分钟级（拖拽）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秒-分钟级（推理）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门槛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中等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中等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低（一键式）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趋势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成熟稳定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快速迭代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爆发增长 ↗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</a:tbl>
          </a:graphicData>
        </a:graphic>
      </p:graphicFrame>
      <p:sp>
        <p:nvSpPr>
          <p:cNvPr id="39" name="Rectangle 38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707088"/>
                </a:solidFill>
                <a:latin typeface="Microsoft YaHei"/>
              </a:defRPr>
            </a:pPr>
            <a:r>
              <a:t>5/24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Microsoft YaHei"/>
              </a:defRPr>
            </a:pPr>
            <a:r>
              <a:t>02 Autodesk Maya — 行业标准绑定生态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749808"/>
            <a:ext cx="1645920" cy="36576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841248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Microsoft YaHei"/>
              </a:defRPr>
            </a:pPr>
            <a:r>
              <a:t>传统DCC工具的Auto-Rigging能力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371600"/>
            <a:ext cx="3611880" cy="246888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463040"/>
            <a:ext cx="3337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DC4"/>
                </a:solidFill>
                <a:latin typeface="Microsoft YaHei"/>
              </a:defRPr>
            </a:pPr>
            <a:r>
              <a:t>◆ HumanIK 骨骼系统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783080"/>
            <a:ext cx="333756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828800"/>
            <a:ext cx="333756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基于模板匹配的人形骨骼系统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支持手指/脚趾/头部等细节控制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自动骨骼映射和重定向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D700"/>
                </a:solidFill>
                <a:latin typeface="Microsoft YaHei"/>
              </a:defRPr>
            </a:pPr>
            <a:r>
              <a:t>● 骨骼精度：★★★★★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707088"/>
                </a:solidFill>
                <a:latin typeface="Microsoft YaHei"/>
              </a:defRPr>
            </a:pPr>
            <a:r>
              <a:t>● 仅支持人形角色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06240" y="1371600"/>
            <a:ext cx="3611880" cy="246888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43400" y="1463040"/>
            <a:ext cx="3337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DC4"/>
                </a:solidFill>
                <a:latin typeface="Microsoft YaHei"/>
              </a:defRPr>
            </a:pPr>
            <a:r>
              <a:t>◆ Geodesic Voxel Binding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43400" y="1783080"/>
            <a:ext cx="333756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43400" y="1828800"/>
            <a:ext cx="333756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网格体素化后测地距离计算蒙皮权重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● Dionne &amp; de Lasa: "Geodesic Voxel Binding for Thin Structures"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解决表面拓扑噪声和薄壁穿透问题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质量远超传统Heat Map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D700"/>
                </a:solidFill>
                <a:latin typeface="Microsoft YaHei"/>
              </a:defRPr>
            </a:pPr>
            <a:r>
              <a:t>● 蒙皮质量：★★★★☆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707088"/>
                </a:solidFill>
                <a:latin typeface="Microsoft YaHei"/>
              </a:defRPr>
            </a:pPr>
            <a:r>
              <a:t>● 处理速度：数秒-数十秒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1371600"/>
            <a:ext cx="3611880" cy="246888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83880" y="1463040"/>
            <a:ext cx="3337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DC4"/>
                </a:solidFill>
                <a:latin typeface="Microsoft YaHei"/>
              </a:defRPr>
            </a:pPr>
            <a:r>
              <a:t>◆ Quick Rig / mGear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83880" y="1783080"/>
            <a:ext cx="333756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83880" y="1828800"/>
            <a:ext cx="333756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Quick Rig：一键式人形自动绑定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mGear：开源模块化绑定框架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影视/游戏行业广泛使用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4ECDC4"/>
                </a:solidFill>
                <a:latin typeface="Microsoft YaHei"/>
              </a:defRPr>
            </a:pPr>
            <a:r>
              <a:t>● mGear已成为事实标准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707088"/>
                </a:solidFill>
                <a:latin typeface="Microsoft YaHei"/>
              </a:defRPr>
            </a:pPr>
            <a:r>
              <a:t>● Maya内置，工业标准蒙皮方案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411480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D700"/>
                </a:solidFill>
                <a:latin typeface="Microsoft YaHei"/>
              </a:defRPr>
            </a:pPr>
            <a:r>
              <a:t>▎Maya Auto-Rigging 综合评价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365760" y="4434840"/>
          <a:ext cx="114300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777240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评估维度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评分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说明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骨骼精度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★★★★★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行业标准，精确可控，支持全骨骼层级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蒙皮质量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GVB质量优秀，但仍需手动微调关键区域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动画兼容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★★★★★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完全兼容所有DCC工作流和引擎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非人形支持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★★☆☆☆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仅HumanIK人形，其他需手动或插件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自动化程度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半自动，需要绑定师经验配合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AI能力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★☆☆☆☆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无AI方案，Autodesk正探索AI绑定方向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成本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$1,875/年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商业订阅制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</a:tbl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365760" y="6400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CF0A2C"/>
                </a:solidFill>
                <a:latin typeface="Microsoft YaHei"/>
              </a:defRPr>
            </a:pPr>
            <a:r>
              <a:t>结论：Maya是传统绑定工具的标杆，质量可控但无AI能力，适合专业绑定师使用，不适合自动化场景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707088"/>
                </a:solidFill>
                <a:latin typeface="Microsoft YaHei"/>
              </a:defRPr>
            </a:pPr>
            <a:r>
              <a:t>6/24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Microsoft YaHei"/>
              </a:defRPr>
            </a:pPr>
            <a:r>
              <a:t>02 Unity &amp; Unreal Engine — 引擎内置绑定能力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749808"/>
            <a:ext cx="1645920" cy="36576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841248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Microsoft YaHei"/>
              </a:defRPr>
            </a:pPr>
            <a:r>
              <a:t>游戏引擎的Auto-Rigging演进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25880"/>
            <a:ext cx="5669280" cy="365760"/>
          </a:xfrm>
          <a:prstGeom prst="rect">
            <a:avLst/>
          </a:prstGeom>
          <a:solidFill>
            <a:srgbClr val="4EC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344168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UNITY 引擎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828800"/>
            <a:ext cx="2743200" cy="182880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92024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DC4"/>
                </a:solidFill>
                <a:latin typeface="Microsoft YaHei"/>
              </a:defRPr>
            </a:pPr>
            <a:r>
              <a:t>◆ Animation Rigging (v6.6)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240280"/>
            <a:ext cx="246888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286000"/>
            <a:ext cx="24688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运行时多约束IK系统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Two Bone IK / Multi-Aim约束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707088"/>
                </a:solidFill>
                <a:latin typeface="Microsoft YaHei"/>
              </a:defRPr>
            </a:pPr>
            <a:r>
              <a:t>● 不提供独立自动绑定功能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707088"/>
                </a:solidFill>
                <a:latin typeface="Microsoft YaHei"/>
              </a:defRPr>
            </a:pPr>
            <a:r>
              <a:t>● 依赖外部DCC生成骨骼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91840" y="1828800"/>
            <a:ext cx="2743200" cy="182880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9000" y="192024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DC4"/>
                </a:solidFill>
                <a:latin typeface="Microsoft YaHei"/>
              </a:defRPr>
            </a:pPr>
            <a:r>
              <a:t>◆ Humanoid Retargeting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29000" y="2240280"/>
            <a:ext cx="246888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29000" y="2286000"/>
            <a:ext cx="24688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基于模板的人形骨骼映射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自动动画重定向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707088"/>
                </a:solidFill>
                <a:latin typeface="Microsoft YaHei"/>
              </a:defRPr>
            </a:pPr>
            <a:r>
              <a:t>● 仅支持人形(Humanoid)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707088"/>
                </a:solidFill>
                <a:latin typeface="Microsoft YaHei"/>
              </a:defRPr>
            </a:pPr>
            <a:r>
              <a:t>● Generic需手动处理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7920" y="1325880"/>
            <a:ext cx="5577840" cy="365760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7920" y="1344168"/>
            <a:ext cx="5577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UNREAL ENGINE 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1828800"/>
            <a:ext cx="1828800" cy="182880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55080" y="192024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9B59B6"/>
                </a:solidFill>
                <a:latin typeface="Microsoft YaHei"/>
              </a:defRPr>
            </a:pPr>
            <a:r>
              <a:t>◆ Control Rig / Modular Rig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55080" y="2240280"/>
            <a:ext cx="155448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55080" y="2286000"/>
            <a:ext cx="15544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节点图程序化绑定系统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Modular Rig：拖拽式模块组合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模块：Spine/Arm/Leg/Foot/Finger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4ECDC4"/>
                </a:solidFill>
                <a:latin typeface="Microsoft YaHei"/>
              </a:defRPr>
            </a:pPr>
            <a:r>
              <a:t>● 人形+通用骨骼均可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38160" y="1828800"/>
            <a:ext cx="1828800" cy="182880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75320" y="192024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9B59B6"/>
                </a:solidFill>
                <a:latin typeface="Microsoft YaHei"/>
              </a:defRPr>
            </a:pPr>
            <a:r>
              <a:t>◆ ML Deformer Framework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75320" y="2240280"/>
            <a:ext cx="155448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75320" y="2286000"/>
            <a:ext cx="15544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神经网络蒙皮变形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Local/Global Neural Morph Model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4ECDC4"/>
                </a:solidFill>
                <a:latin typeface="Microsoft YaHei"/>
              </a:defRPr>
            </a:pPr>
            <a:r>
              <a:t>● 影视级肌肉/皮肤变形效果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707088"/>
                </a:solidFill>
                <a:latin typeface="Microsoft YaHei"/>
              </a:defRPr>
            </a:pPr>
            <a:r>
              <a:t>● 推荐100K-1M次训练迭代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058400" y="1828800"/>
            <a:ext cx="1828800" cy="182880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195560" y="192024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9B59B6"/>
                </a:solidFill>
                <a:latin typeface="Microsoft YaHei"/>
              </a:defRPr>
            </a:pPr>
            <a:r>
              <a:t>◆ MetaHuman — 参数化人体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195560" y="2240280"/>
            <a:ext cx="155448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95560" y="2286000"/>
            <a:ext cx="15544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参数化人体模型，云端创建+本地渲染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4ECDC4"/>
                </a:solidFill>
                <a:latin typeface="Microsoft YaHei"/>
              </a:defRPr>
            </a:pPr>
            <a:r>
              <a:t>● 完整面部+身体绑定（骨骼+蒙皮）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4ECDC4"/>
                </a:solidFill>
                <a:latin typeface="Microsoft YaHei"/>
              </a:defRPr>
            </a:pPr>
            <a:r>
              <a:t>● 56+骨骼面部绑定，影视级表情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支持Custom MetaHuman导入自定义头部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393192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DC4"/>
                </a:solidFill>
                <a:latin typeface="Microsoft YaHei"/>
              </a:defRPr>
            </a:pPr>
            <a:r>
              <a:t>▎引擎Auto-Rigging能力对比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65760" y="4251960"/>
          <a:ext cx="11430000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2286000"/>
                <a:gridCol w="2286000"/>
                <a:gridCol w="2468880"/>
                <a:gridCol w="274320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能力维度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Unity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UE5 Control Rig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UE5 ML Deformer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UE5 MetaHuman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骨骼生成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依赖外部DCC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引擎内程序化生成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N/A（依赖已有骨骼）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参数化自动生成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蒙皮权重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引擎内不优化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手动/半自动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AI神经网络自动优化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参数化自动蒙皮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非人形支持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Generic需手动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完全自定义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通用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仅人形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实时性能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优秀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优秀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微秒级推理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优秀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AI能力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无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无（纯程序化）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有（神经变形模型）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参数化+AI辅助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适用场景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轻量/移动端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全平台专业制作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高质量角色变形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高保真人形角色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65760" y="6400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CF0A2C"/>
                </a:solidFill>
                <a:latin typeface="Microsoft YaHei"/>
              </a:defRPr>
            </a:pPr>
            <a:r>
              <a:t>结论：UE5的Control Rig+ML Deformer+MetaHuman构成引擎内绑定最佳方案，MetaHuman是高保真人形一站式方案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707088"/>
                </a:solidFill>
                <a:latin typeface="Microsoft YaHei"/>
              </a:defRPr>
            </a:pPr>
            <a:r>
              <a:t>7/24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Microsoft YaHei"/>
              </a:defRPr>
            </a:pPr>
            <a:r>
              <a:t>02 Meshy AI &amp; Mixamo — AI驱动绑定服务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749808"/>
            <a:ext cx="1645920" cy="36576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841248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Microsoft YaHei"/>
              </a:defRPr>
            </a:pPr>
            <a:r>
              <a:t>AI自动绑定的商业化先锋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25880"/>
            <a:ext cx="5669280" cy="365760"/>
          </a:xfrm>
          <a:prstGeom prst="rect">
            <a:avLst/>
          </a:prstGeom>
          <a:solidFill>
            <a:srgbClr val="4EC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344168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Microsoft YaHei"/>
              </a:defRPr>
            </a:pPr>
            <a:r>
              <a:t>MESHY AI — AI 3D生成+自动绑定一体化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828800"/>
            <a:ext cx="5486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spcAft>
                <a:spcPts val="300"/>
              </a:spcAft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● 核心路线：AI驱动，Text/Image-to-3D + 自动绑定 + 动画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● 支持人形 + 四足自动绑定，Pro计划500+动画库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● 绑定后可直接应用walk/jump/shoot/dance等动画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1200" b="0">
                <a:solidFill>
                  <a:srgbClr val="4ECDC4"/>
                </a:solidFill>
                <a:latin typeface="Microsoft YaHei"/>
              </a:defRPr>
            </a:pPr>
            <a:r>
              <a:t>● Smart Remesh改善拓扑以提升绑定质量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● 插件：Blender/Unity/UE/Maya/Godot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1200" b="0">
                <a:solidFill>
                  <a:srgbClr val="707088"/>
                </a:solidFill>
                <a:latin typeface="Microsoft YaHei"/>
              </a:defRPr>
            </a:pPr>
            <a:r>
              <a:t>● 商业：SaaS ($20/月起) + REST API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1200" b="0">
                <a:solidFill>
                  <a:srgbClr val="FFD700"/>
                </a:solidFill>
                <a:latin typeface="Microsoft YaHei"/>
              </a:defRPr>
            </a:pPr>
            <a:r>
              <a:t>● G2 4.8/5，合作：Nexon/Supercell/Square Enix/Meta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6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lnSpc>
                <a:spcPct val="140000"/>
              </a:lnSpc>
              <a:spcAft>
                <a:spcPts val="300"/>
              </a:spcAft>
              <a:defRPr sz="1200" b="0">
                <a:solidFill>
                  <a:srgbClr val="707088"/>
                </a:solidFill>
                <a:latin typeface="Microsoft YaHei"/>
              </a:defRPr>
            </a:pPr>
            <a:r>
              <a:t>骨骼精度：★★★☆☆  蒙皮质量：★★★☆☆  速度：秒-分钟级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1200" b="0">
                <a:solidFill>
                  <a:srgbClr val="707088"/>
                </a:solidFill>
                <a:latin typeface="Microsoft YaHei"/>
              </a:defRPr>
            </a:pPr>
            <a:r>
              <a:t>优势：3D生成到绑定动画一条龙  局限：AI生成拓扑影响绑定精度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1325880"/>
            <a:ext cx="5577840" cy="3657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0" y="1344168"/>
            <a:ext cx="5577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Microsoft YaHei"/>
              </a:defRPr>
            </a:pPr>
            <a:r>
              <a:t>ADOBE MIXAMO — 最成熟的在线绑定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1828800"/>
            <a:ext cx="5303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spcAft>
                <a:spcPts val="300"/>
              </a:spcAft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● 核心路线：AI + 规则混合（源自Stanford University研究）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● 上传FBX/OBJ → 自动检测骨骼 → 自动绑定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● 内置数千个动画Clip，自动Retargeting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1200" b="0">
                <a:solidFill>
                  <a:srgbClr val="707088"/>
                </a:solidFill>
                <a:latin typeface="Microsoft YaHei"/>
              </a:defRPr>
            </a:pPr>
            <a:r>
              <a:t>● 仅支持人形角色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1200" b="0">
                <a:solidFill>
                  <a:srgbClr val="707088"/>
                </a:solidFill>
                <a:latin typeface="Microsoft YaHei"/>
              </a:defRPr>
            </a:pPr>
            <a:r>
              <a:t>● 要求模型为T-pose或A-pose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1200" b="0">
                <a:solidFill>
                  <a:srgbClr val="2ECC71"/>
                </a:solidFill>
                <a:latin typeface="Microsoft YaHei"/>
              </a:defRPr>
            </a:pPr>
            <a:r>
              <a:t>● 免费使用（需注册Adobe ID，无需付费订阅）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1200" b="0">
                <a:solidFill>
                  <a:srgbClr val="FFD700"/>
                </a:solidFill>
                <a:latin typeface="Microsoft YaHei"/>
              </a:defRPr>
            </a:pPr>
            <a:r>
              <a:t>● 独立开发者/小团队首选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6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lnSpc>
                <a:spcPct val="140000"/>
              </a:lnSpc>
              <a:spcAft>
                <a:spcPts val="300"/>
              </a:spcAft>
              <a:defRPr sz="1200" b="0">
                <a:solidFill>
                  <a:srgbClr val="707088"/>
                </a:solidFill>
                <a:latin typeface="Microsoft YaHei"/>
              </a:defRPr>
            </a:pPr>
            <a:r>
              <a:t>骨骼精度：★★★★☆  蒙皮质量：★★★★☆  速度：分钟级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1200" b="0">
                <a:solidFill>
                  <a:srgbClr val="707088"/>
                </a:solidFill>
                <a:latin typeface="Microsoft YaHei"/>
              </a:defRPr>
            </a:pPr>
            <a:r>
              <a:t>优势：免费成熟好用  局限：仅人形、多年未更新、无API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484632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DC4"/>
                </a:solidFill>
                <a:latin typeface="Microsoft YaHei"/>
              </a:defRPr>
            </a:pPr>
            <a:r>
              <a:t>▎AI绑定服务对比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65760" y="5166360"/>
          <a:ext cx="11430000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2560320"/>
                <a:gridCol w="2286000"/>
                <a:gridCol w="2468880"/>
                <a:gridCol w="246888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维度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Meshy AI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Mixamo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Anything World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DeepMotion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技术路线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纯AI驱动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AI+规则混合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AI通用绑定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AI动捕+Retarget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骨骼类型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人形+四足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仅人形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通用（任意形状）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仅人形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动画库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Pro 500+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数千个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有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无（需输入视频）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API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REST API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无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有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有+实时SDK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定价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$20/月起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免费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免费+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免费+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差异化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3D生成+绑定一体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成熟稳定免费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非人形绑定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视频→3D动画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</a:tbl>
          </a:graphicData>
        </a:graphic>
      </p:graphicFrame>
      <p:sp>
        <p:nvSpPr>
          <p:cNvPr id="15" name="Rectangle 14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707088"/>
                </a:solidFill>
                <a:latin typeface="Microsoft YaHei"/>
              </a:defRPr>
            </a:pPr>
            <a:r>
              <a:t>8/24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Microsoft YaHei"/>
              </a:defRPr>
            </a:pPr>
            <a:r>
              <a:t>02 国内厂商 — 腾讯混元 / 网易 / GoSkinning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749808"/>
            <a:ext cx="1645920" cy="36576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841248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Microsoft YaHei"/>
              </a:defRPr>
            </a:pPr>
            <a:r>
              <a:t>中国科技公司的Auto-Rigging布局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371600"/>
            <a:ext cx="3657600" cy="256032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46304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DC4"/>
                </a:solidFill>
                <a:latin typeface="Microsoft YaHei"/>
              </a:defRPr>
            </a:pPr>
            <a:r>
              <a:t>◆ 腾讯混元 3D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783080"/>
            <a:ext cx="338328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828800"/>
            <a:ext cx="338328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技术路线：AI驱动（扩散模型+3D重建）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混元3D系列：Text-to-3D + Image-to-3D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4ECDC4"/>
                </a:solidFill>
                <a:latin typeface="Microsoft YaHei"/>
              </a:defRPr>
            </a:pPr>
            <a:r>
              <a:t>● 游戏业务深度积累：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  天美/光子工作室群 — 自研绑定工具链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  腾讯AI Lab — 3D学术论文发表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  北极光 — 自动化美术管线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D700"/>
                </a:solidFill>
                <a:latin typeface="Microsoft YaHei"/>
              </a:defRPr>
            </a:pPr>
            <a:r>
              <a:t>● 内部工具质量极高，服务于顶级产品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707088"/>
                </a:solidFill>
                <a:latin typeface="Microsoft YaHei"/>
              </a:defRPr>
            </a:pPr>
            <a:r>
              <a:t>● 公开服务尚在发展中，逐步开放API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4ECDC4"/>
                </a:solidFill>
                <a:latin typeface="Microsoft YaHei"/>
              </a:defRPr>
            </a:pPr>
            <a:r>
              <a:t>● 重点方向：游戏资产生成、UGC工具赋能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51960" y="1371600"/>
            <a:ext cx="3657600" cy="256032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9120" y="146304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DC4"/>
                </a:solidFill>
                <a:latin typeface="Microsoft YaHei"/>
              </a:defRPr>
            </a:pPr>
            <a:r>
              <a:t>◆ 网易 — 伏羲AI + 游戏管线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120" y="1783080"/>
            <a:ext cx="338328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9120" y="1828800"/>
            <a:ext cx="338328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技术路线：规则+模板+内部AI探索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4ECDC4"/>
                </a:solidFill>
                <a:latin typeface="Microsoft YaHei"/>
              </a:defRPr>
            </a:pPr>
            <a:r>
              <a:t>● 美术管线积累：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  逆水寒/永劫无间/阴阳师等顶级产品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  雷火/盘古工作室群完整绑定工具链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D700"/>
                </a:solidFill>
                <a:latin typeface="Microsoft YaHei"/>
              </a:defRPr>
            </a:pPr>
            <a:r>
              <a:t>● 网易伏羲AI实验室：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  面部绑定、人体姿态估计算法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  NeRF/3DGS前沿重建研究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707088"/>
                </a:solidFill>
                <a:latin typeface="Microsoft YaHei"/>
              </a:defRPr>
            </a:pPr>
            <a:r>
              <a:t>● 内部工具不公开，部分API通过云服务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4ECDC4"/>
                </a:solidFill>
                <a:latin typeface="Microsoft YaHei"/>
              </a:defRPr>
            </a:pPr>
            <a:r>
              <a:t>● AI辅助美术管线是重点投入方向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1371600"/>
            <a:ext cx="3657600" cy="256032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75320" y="146304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DC4"/>
                </a:solidFill>
                <a:latin typeface="Microsoft YaHei"/>
              </a:defRPr>
            </a:pPr>
            <a:r>
              <a:t>◆ GoSkinning — 轻量蒙皮工具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75320" y="1783080"/>
            <a:ext cx="338328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75320" y="1828800"/>
            <a:ext cx="338328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技术路线：基于几何算法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  Heat Map / Voxel-based蒙皮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  + 模板骨骼匹配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专注自动蒙皮权重计算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707088"/>
                </a:solidFill>
                <a:latin typeface="Microsoft YaHei"/>
              </a:defRPr>
            </a:pPr>
            <a:r>
              <a:t>  （非完整绑定流程）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与传统DCC工具互补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D700"/>
                </a:solidFill>
                <a:latin typeface="Microsoft YaHei"/>
              </a:defRPr>
            </a:pPr>
            <a:r>
              <a:t>● 蒙皮质量：★★★☆☆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707088"/>
                </a:solidFill>
                <a:latin typeface="Microsoft YaHei"/>
              </a:defRPr>
            </a:pPr>
            <a:r>
              <a:t>● 处理速度：秒级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707088"/>
                </a:solidFill>
                <a:latin typeface="Microsoft YaHei"/>
              </a:defRPr>
            </a:pPr>
            <a:r>
              <a:t>● 定位：轻量级工具/插件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707088"/>
                </a:solidFill>
                <a:latin typeface="Microsoft YaHei"/>
              </a:defRPr>
            </a:pPr>
            <a:r>
              <a:t>● 主流管线中较少使用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4206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D700"/>
                </a:solidFill>
                <a:latin typeface="Microsoft YaHei"/>
              </a:defRPr>
            </a:pPr>
            <a:r>
              <a:t>▎国内厂商Auto-Rigging布局总结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365760" y="4526280"/>
          <a:ext cx="114300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2560320"/>
                <a:gridCol w="2926080"/>
                <a:gridCol w="2011680"/>
                <a:gridCol w="228600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厂商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核心技术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绑定能力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公开状态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差异化优势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腾讯混元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扩散模型+3D重建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内部高质量，公开发展中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部分开放API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顶级游戏产品验证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网易伏羲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规则+AI探索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内部3A级绑定工具链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不公开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MMO/ARPG深厚积累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GoSkinning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几何算法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仅蒙皮权重计算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工具/插件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轻量快速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字节跳动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AI 3D生成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探索中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未公开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AIGC布局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昆仑万维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AI 3D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探索中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未公开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海外市场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</a:tbl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365760" y="6400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4ECDC4"/>
                </a:solidFill>
                <a:latin typeface="Microsoft YaHei"/>
              </a:defRPr>
            </a:pPr>
            <a:r>
              <a:t>关键洞察：国内厂商绑定技术多服务于内部产品，公开能力有限；AI驱动是共同方向，但距离Meshy等还有差距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707088"/>
                </a:solidFill>
                <a:latin typeface="Microsoft YaHei"/>
              </a:defRPr>
            </a:pPr>
            <a:r>
              <a:t>9/24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Microsoft YaHei"/>
              </a:defRPr>
            </a:pPr>
            <a:r>
              <a:t>02 开源/学术方案 — RigNet / UniRig / Pinocchio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749808"/>
            <a:ext cx="1645920" cy="36576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841248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Microsoft YaHei"/>
              </a:defRPr>
            </a:pPr>
            <a:r>
              <a:t>学术突破与社区生态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25880"/>
            <a:ext cx="5486400" cy="365760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344168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RigNet (SIGGRAPH 2020) — AI自动绑定的学术标杆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783080"/>
            <a:ext cx="53035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spcAft>
                <a:spcPts val="300"/>
              </a:spcAft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● 论文："RigNet: Neural Rigging for Articulated Characters"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● 机构：UMass Amherst / Autodesk Research / University of Toronto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1100" b="0">
                <a:solidFill>
                  <a:srgbClr val="4ECDC4"/>
                </a:solidFill>
                <a:latin typeface="Microsoft YaHei"/>
              </a:defRPr>
            </a:pPr>
            <a:r>
              <a:t>● 核心技术：纯AI — 端到端神经网络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架构：Point回归网络+Attention+MeanShift + GCN骨骼连接 + 神经蒙皮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1100" b="0">
                <a:solidFill>
                  <a:srgbClr val="2ECC71"/>
                </a:solidFill>
                <a:latin typeface="Microsoft YaHei"/>
              </a:defRPr>
            </a:pPr>
            <a:r>
              <a:t>● 骨骼类型：通用（人形/四足/异形）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1100" b="0">
                <a:solidFill>
                  <a:srgbClr val="707088"/>
                </a:solidFill>
                <a:latin typeface="Microsoft YaHei"/>
              </a:defRPr>
            </a:pPr>
            <a:r>
              <a:t>● 代码：GitHub开源（GPLv3许可证）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1100" b="0">
                <a:solidFill>
                  <a:srgbClr val="FFD700"/>
                </a:solidFill>
                <a:latin typeface="Microsoft YaHei"/>
              </a:defRPr>
            </a:pPr>
            <a:r>
              <a:t>● 综合评分：75/100  |  意义：奠定AI绑定研究基础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35040" y="1325880"/>
            <a:ext cx="5760720" cy="365760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35040" y="1344168"/>
            <a:ext cx="5760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UniRig (SIGGRAPH 2025) — 新一代AI绑定标杆 ★推荐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1783080"/>
            <a:ext cx="5486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spcAft>
                <a:spcPts val="300"/>
              </a:spcAft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● 论文："UniRig: Universal Rigging via Skeleton Tree Tokenization"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● 机构：清华大学 + Tripo3D团队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1100" b="0">
                <a:solidFill>
                  <a:srgbClr val="CF0A2C"/>
                </a:solidFill>
                <a:latin typeface="Microsoft YaHei"/>
              </a:defRPr>
            </a:pPr>
            <a:r>
              <a:t>● 核心创新：Skeleton Tree Tokenization + Autoregressive Transformer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1100" b="0">
                <a:solidFill>
                  <a:srgbClr val="4ECDC4"/>
                </a:solidFill>
                <a:latin typeface="Microsoft YaHei"/>
              </a:defRPr>
            </a:pPr>
            <a:r>
              <a:t>● GPT-like自回归骨架树生成 — 序列化骨骼拓扑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1100" b="0">
                <a:solidFill>
                  <a:srgbClr val="FFD700"/>
                </a:solidFill>
                <a:latin typeface="Microsoft YaHei"/>
              </a:defRPr>
            </a:pPr>
            <a:r>
              <a:t>● 精度比RigNet提升215%  |  综合评分：91/100 vs RigNet 75/100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1100" b="0">
                <a:solidFill>
                  <a:srgbClr val="2ECC71"/>
                </a:solidFill>
                <a:latin typeface="Microsoft YaHei"/>
              </a:defRPr>
            </a:pPr>
            <a:r>
              <a:t>● MIT许可（商业可用） vs RigNet GPLv3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支持通用骨骼（人形/四足/异形），泛化能力极强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379476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B59B6"/>
                </a:solidFill>
                <a:latin typeface="Microsoft YaHei"/>
              </a:defRPr>
            </a:pPr>
            <a:r>
              <a:t>▎RigNet 技术流程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5760" y="4069080"/>
            <a:ext cx="3611880" cy="1097280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5760" y="4069080"/>
            <a:ext cx="3611880" cy="27432"/>
          </a:xfrm>
          <a:prstGeom prst="rect">
            <a:avLst/>
          </a:prstGeom>
          <a:solidFill>
            <a:srgbClr val="4EC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4133087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4ECDC4"/>
                </a:solidFill>
                <a:latin typeface="Microsoft YaHei"/>
              </a:defRPr>
            </a:pPr>
            <a:r>
              <a:t>Step 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4133087"/>
            <a:ext cx="2286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t>关节预测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370832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CCCCC"/>
                </a:solidFill>
                <a:latin typeface="Microsoft YaHei"/>
              </a:defRPr>
            </a:pPr>
            <a:r>
              <a:t>Point MLP回归</a:t>
            </a:r>
            <a:br/>
            <a:r>
              <a:t>+ Attention筛选</a:t>
            </a:r>
            <a:br/>
            <a:r>
              <a:t>+ Mean Shift聚类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23360" y="429768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4ECDC4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06240" y="4069080"/>
            <a:ext cx="3611880" cy="1097280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206240" y="4069080"/>
            <a:ext cx="3611880" cy="27432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97680" y="4133087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D700"/>
                </a:solidFill>
                <a:latin typeface="Microsoft YaHei"/>
              </a:defRPr>
            </a:pPr>
            <a:r>
              <a:t>Step 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520" y="4133087"/>
            <a:ext cx="2286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t>骨骼连接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80" y="4370832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CCCCC"/>
                </a:solidFill>
                <a:latin typeface="Microsoft YaHei"/>
              </a:defRPr>
            </a:pPr>
            <a:r>
              <a:t>完全图构造</a:t>
            </a:r>
            <a:br/>
            <a:r>
              <a:t>→ 图生成网络</a:t>
            </a:r>
            <a:br/>
            <a:r>
              <a:t>→ 骨骼树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63840" y="429768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D700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46720" y="4069080"/>
            <a:ext cx="3611880" cy="1097280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046720" y="4069080"/>
            <a:ext cx="3611880" cy="27432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38160" y="4133087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ECC71"/>
                </a:solidFill>
                <a:latin typeface="Microsoft YaHei"/>
              </a:defRPr>
            </a:pPr>
            <a:r>
              <a:t>Step 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0" y="4133087"/>
            <a:ext cx="2286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t>蒙皮权重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38160" y="4370832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CCCCC"/>
                </a:solidFill>
                <a:latin typeface="Microsoft YaHei"/>
              </a:defRPr>
            </a:pPr>
            <a:r>
              <a:t>测地距离编码</a:t>
            </a:r>
            <a:br/>
            <a:r>
              <a:t>→ MLP + Attention</a:t>
            </a:r>
            <a:br/>
            <a:r>
              <a:t>→ 权重矩阵 W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534924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707088"/>
                </a:solidFill>
                <a:latin typeface="Microsoft YaHei"/>
              </a:defRPr>
            </a:pPr>
            <a:r>
              <a:t>▎经典学术先驱：Pinocchio (SIGGRAPH 2007)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557784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spcAft>
                <a:spcPts val="300"/>
              </a:spcAft>
              <a:defRPr sz="1000" b="0">
                <a:solidFill>
                  <a:srgbClr val="CCCCCC"/>
                </a:solidFill>
                <a:latin typeface="Microsoft YaHei"/>
              </a:defRPr>
            </a:pPr>
            <a:r>
              <a:t>● 首次提出"嵌入骨骼→自动蒙皮"两阶段pipeline范式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1000" b="0">
                <a:solidFill>
                  <a:srgbClr val="CCCCCC"/>
                </a:solidFill>
                <a:latin typeface="Microsoft YaHei"/>
              </a:defRPr>
            </a:pPr>
            <a:r>
              <a:t>● 体素中轴提取+模板骨骼嵌入  |  Heat Map蒙皮是现代蒙皮算法基础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1000" b="0">
                <a:solidFill>
                  <a:srgbClr val="707088"/>
                </a:solidFill>
                <a:latin typeface="Microsoft YaHei"/>
              </a:defRPr>
            </a:pPr>
            <a:r>
              <a:t>● Baran &amp; Popović — 为后续RigNet/UniRig奠定了pipeline框架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35040" y="5349240"/>
            <a:ext cx="5760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707088"/>
                </a:solidFill>
                <a:latin typeface="Microsoft YaHei"/>
              </a:defRPr>
            </a:pPr>
            <a:r>
              <a:t>▎其他学术方案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26480" y="557784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spcAft>
                <a:spcPts val="300"/>
              </a:spcAft>
              <a:defRPr sz="1000" b="0">
                <a:solidFill>
                  <a:srgbClr val="CCCCCC"/>
                </a:solidFill>
                <a:latin typeface="Microsoft YaHei"/>
              </a:defRPr>
            </a:pPr>
            <a:r>
              <a:t>● Neural Skeleton — 神经网络骨骼预测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1000" b="0">
                <a:solidFill>
                  <a:srgbClr val="CCCCCC"/>
                </a:solidFill>
                <a:latin typeface="Microsoft YaHei"/>
              </a:defRPr>
            </a:pPr>
            <a:r>
              <a:t>● SkinningNet — GNN双向蒙皮预测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1000" b="0">
                <a:solidFill>
                  <a:srgbClr val="CCCCCC"/>
                </a:solidFill>
                <a:latin typeface="Microsoft YaHei"/>
              </a:defRPr>
            </a:pPr>
            <a:r>
              <a:t>● NARF — 神经辐射场+骨骼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1000" b="0">
                <a:solidFill>
                  <a:srgbClr val="CCCCCC"/>
                </a:solidFill>
                <a:latin typeface="Microsoft YaHei"/>
              </a:defRPr>
            </a:pPr>
            <a:r>
              <a:t>● Skinning Field — 神经蒙皮场(SA)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707088"/>
                </a:solidFill>
                <a:latin typeface="Microsoft YaHei"/>
              </a:defRPr>
            </a:pPr>
            <a:r>
              <a:t>10/24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Microsoft YaHei"/>
              </a:defRPr>
            </a:pPr>
            <a:r>
              <a:t>02 业界趋势总结 — 六页扫描后的核心洞察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749808"/>
            <a:ext cx="1645920" cy="36576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841248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Microsoft YaHei"/>
              </a:defRPr>
            </a:pPr>
            <a:r>
              <a:t>技术成熟度曲线与选型建议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2801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F0A2C"/>
                </a:solidFill>
                <a:latin typeface="Microsoft YaHei"/>
              </a:defRPr>
            </a:pPr>
            <a:r>
              <a:t>▎Auto-Rigging 技术成熟度演进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1645920"/>
            <a:ext cx="2651760" cy="2011680"/>
          </a:xfrm>
          <a:prstGeom prst="roundRect">
            <a:avLst/>
          </a:prstGeom>
          <a:solidFill>
            <a:srgbClr val="16213E"/>
          </a:solidFill>
          <a:ln w="19050">
            <a:solidFill>
              <a:srgbClr val="7070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645920"/>
            <a:ext cx="2651760" cy="36576"/>
          </a:xfrm>
          <a:prstGeom prst="rect">
            <a:avLst/>
          </a:prstGeom>
          <a:solidFill>
            <a:srgbClr val="707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737360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707088"/>
                </a:solidFill>
                <a:latin typeface="Microsoft YaHei"/>
              </a:defRPr>
            </a:pPr>
            <a:r>
              <a:t>Phase 1</a:t>
            </a:r>
            <a:br/>
            <a:r>
              <a:t>传统规则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194560"/>
            <a:ext cx="2468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707088"/>
                </a:solidFill>
                <a:latin typeface="Microsoft YaHei"/>
              </a:defRPr>
            </a:pPr>
            <a:r>
              <a:t>2007-2015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423160"/>
            <a:ext cx="2468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Maya HumanIK</a:t>
            </a:r>
            <a:br/>
            <a:r>
              <a:t>Pinocchio</a:t>
            </a:r>
            <a:br/>
            <a:r>
              <a:t>手工+模板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71800" y="219456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707088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91840" y="1645920"/>
            <a:ext cx="2651760" cy="2011680"/>
          </a:xfrm>
          <a:prstGeom prst="roundRect">
            <a:avLst/>
          </a:prstGeom>
          <a:solidFill>
            <a:srgbClr val="16213E"/>
          </a:solidFill>
          <a:ln w="1905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291840" y="1645920"/>
            <a:ext cx="2651760" cy="36576"/>
          </a:xfrm>
          <a:prstGeom prst="rect">
            <a:avLst/>
          </a:prstGeom>
          <a:solidFill>
            <a:srgbClr val="4EC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83280" y="1737360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4ECDC4"/>
                </a:solidFill>
                <a:latin typeface="Microsoft YaHei"/>
              </a:defRPr>
            </a:pPr>
            <a:r>
              <a:t>Phase 2</a:t>
            </a:r>
            <a:br/>
            <a:r>
              <a:t>程序化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83280" y="2194560"/>
            <a:ext cx="2468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707088"/>
                </a:solidFill>
                <a:latin typeface="Microsoft YaHei"/>
              </a:defRPr>
            </a:pPr>
            <a:r>
              <a:t>2015-2020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83280" y="2423160"/>
            <a:ext cx="2468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UE Control Rig</a:t>
            </a:r>
            <a:br/>
            <a:r>
              <a:t>Blender Rigify</a:t>
            </a:r>
            <a:br/>
            <a:r>
              <a:t>节点图+拖拽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97880" y="219456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4ECDC4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1645920"/>
            <a:ext cx="2651760" cy="2011680"/>
          </a:xfrm>
          <a:prstGeom prst="roundRect">
            <a:avLst/>
          </a:prstGeom>
          <a:solidFill>
            <a:srgbClr val="16213E"/>
          </a:solidFill>
          <a:ln w="1905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17920" y="1645920"/>
            <a:ext cx="2651760" cy="36576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1737360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D700"/>
                </a:solidFill>
                <a:latin typeface="Microsoft YaHei"/>
              </a:defRPr>
            </a:pPr>
            <a:r>
              <a:t>Phase 3</a:t>
            </a:r>
            <a:br/>
            <a:r>
              <a:t>AI驱动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2194560"/>
            <a:ext cx="2468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707088"/>
                </a:solidFill>
                <a:latin typeface="Microsoft YaHei"/>
              </a:defRPr>
            </a:pPr>
            <a:r>
              <a:t>2020-2025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2423160"/>
            <a:ext cx="2468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RigNet</a:t>
            </a:r>
            <a:br/>
            <a:r>
              <a:t>UniRig</a:t>
            </a:r>
            <a:br/>
            <a:r>
              <a:t>深度学习推理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23960" y="219456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D700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44000" y="1645920"/>
            <a:ext cx="2651760" cy="2011680"/>
          </a:xfrm>
          <a:prstGeom prst="roundRect">
            <a:avLst/>
          </a:prstGeom>
          <a:solidFill>
            <a:srgbClr val="16213E"/>
          </a:solidFill>
          <a:ln w="19050">
            <a:solidFill>
              <a:srgbClr val="CF0A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144000" y="1645920"/>
            <a:ext cx="2651760" cy="36576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35440" y="1737360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CF0A2C"/>
                </a:solidFill>
                <a:latin typeface="Microsoft YaHei"/>
              </a:defRPr>
            </a:pPr>
            <a:r>
              <a:t>Phase 4</a:t>
            </a:r>
            <a:br/>
            <a:r>
              <a:t>端到端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35440" y="2194560"/>
            <a:ext cx="2468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707088"/>
                </a:solidFill>
                <a:latin typeface="Microsoft YaHei"/>
              </a:defRPr>
            </a:pPr>
            <a:r>
              <a:t>2025→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35440" y="2423160"/>
            <a:ext cx="2468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Text-to-Rigged</a:t>
            </a:r>
            <a:br/>
            <a:r>
              <a:t>3D生成+绑定一体</a:t>
            </a:r>
            <a:br/>
            <a:r>
              <a:t>实时化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393192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D700"/>
                </a:solidFill>
                <a:latin typeface="Microsoft YaHei"/>
              </a:defRPr>
            </a:pPr>
            <a:r>
              <a:t>▎四大关键趋势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65760" y="4297680"/>
            <a:ext cx="5577840" cy="914400"/>
          </a:xfrm>
          <a:prstGeom prst="roundRect">
            <a:avLst/>
          </a:prstGeom>
          <a:solidFill>
            <a:srgbClr val="16213E"/>
          </a:solidFill>
          <a:ln w="1270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2920" y="4370832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ECDC4"/>
                </a:solidFill>
                <a:latin typeface="Microsoft YaHei"/>
              </a:defRPr>
            </a:pPr>
            <a:r>
              <a:t>◆ AI成为主流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" y="4645152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CCCCC"/>
                </a:solidFill>
                <a:latin typeface="Microsoft YaHei"/>
              </a:defRPr>
            </a:pPr>
            <a:r>
              <a:t>UniRig/RigNet代表AI方案综合评分超越传统方案，SIGGRAPH 2025 UniRig精度提升215%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17920" y="4297680"/>
            <a:ext cx="5577840" cy="914400"/>
          </a:xfrm>
          <a:prstGeom prst="roundRect">
            <a:avLst/>
          </a:prstGeom>
          <a:solidFill>
            <a:srgbClr val="16213E"/>
          </a:solidFill>
          <a:ln w="1270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55080" y="4370832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D700"/>
                </a:solidFill>
                <a:latin typeface="Microsoft YaHei"/>
              </a:defRPr>
            </a:pPr>
            <a:r>
              <a:t>◆ 3D生成+绑定一体化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55080" y="4645152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CCCCC"/>
                </a:solidFill>
                <a:latin typeface="Microsoft YaHei"/>
              </a:defRPr>
            </a:pPr>
            <a:r>
              <a:t>Meshy/腾讯混元等将3D生成与绑定合并为统一管线，消除手工中间步骤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65760" y="5349240"/>
            <a:ext cx="5577840" cy="914400"/>
          </a:xfrm>
          <a:prstGeom prst="roundRect">
            <a:avLst/>
          </a:prstGeom>
          <a:solidFill>
            <a:srgbClr val="16213E"/>
          </a:solidFill>
          <a:ln w="12700">
            <a:solidFill>
              <a:srgbClr val="CF0A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02920" y="5422392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CF0A2C"/>
                </a:solidFill>
                <a:latin typeface="Microsoft YaHei"/>
              </a:defRPr>
            </a:pPr>
            <a:r>
              <a:t>◆ 通用化超越人形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2920" y="5696712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CCCCC"/>
                </a:solidFill>
                <a:latin typeface="Microsoft YaHei"/>
              </a:defRPr>
            </a:pPr>
            <a:r>
              <a:t>UniRig支持人形/四足/异形通用骨骼，突破Mixamo等仅人形限制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217920" y="5349240"/>
            <a:ext cx="5577840" cy="914400"/>
          </a:xfrm>
          <a:prstGeom prst="roundRect">
            <a:avLst/>
          </a:prstGeom>
          <a:solidFill>
            <a:srgbClr val="16213E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355080" y="5422392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ECC71"/>
                </a:solidFill>
                <a:latin typeface="Microsoft YaHei"/>
              </a:defRPr>
            </a:pPr>
            <a:r>
              <a:t>◆ 实时化需求增长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55080" y="5696712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CCCCC"/>
                </a:solidFill>
                <a:latin typeface="Microsoft YaHei"/>
              </a:defRPr>
            </a:pPr>
            <a:r>
              <a:t>UGC/元宇宙场景要求&lt;100ms实时绑定，推动轻量化+TensorRT部署</a:t>
            </a:r>
          </a:p>
        </p:txBody>
      </p:sp>
      <p:sp>
        <p:nvSpPr>
          <p:cNvPr id="44" name="Rectangle 43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707088"/>
                </a:solidFill>
                <a:latin typeface="Microsoft YaHei"/>
              </a:defRPr>
            </a:pPr>
            <a:r>
              <a:t>11/24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Microsoft YaHei"/>
              </a:defRPr>
            </a:pPr>
            <a:r>
              <a:t>03 核心技术深度解析 — 骨骼生成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749808"/>
            <a:ext cx="1645920" cy="36576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841248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Microsoft YaHei"/>
              </a:defRPr>
            </a:pPr>
            <a:r>
              <a:t>五大骨骼生成技术路线详解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28600" y="1371600"/>
            <a:ext cx="2240280" cy="301752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463040"/>
            <a:ext cx="1965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DC4"/>
                </a:solidFill>
                <a:latin typeface="Microsoft YaHei"/>
              </a:defRPr>
            </a:pPr>
            <a:r>
              <a:t>◆ 1. 参数化模型 (SMPL/SCAPE)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783080"/>
            <a:ext cx="196596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828800"/>
            <a:ext cx="1965960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预定义骨骼模板 + PCA形状空间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● SMPL: 学习型参数化人体模型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● β∈ℝ¹⁰体型 + θ∈ℿ关节旋转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2ECC71"/>
                </a:solidFill>
                <a:latin typeface="Microsoft YaHei"/>
              </a:defRPr>
            </a:pPr>
            <a:r>
              <a:t>● 精度：对人形&lt;1cm误差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2ECC71"/>
                </a:solidFill>
                <a:latin typeface="Microsoft YaHei"/>
              </a:defRPr>
            </a:pPr>
            <a:r>
              <a:t>● 速度：~10ms（矩阵乘法）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4444"/>
                </a:solidFill>
                <a:latin typeface="Microsoft YaHei"/>
              </a:defRPr>
            </a:pPr>
            <a:r>
              <a:t>● 局限：仅限人形，需注册对齐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06040" y="1371600"/>
            <a:ext cx="2240280" cy="301752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43200" y="1463040"/>
            <a:ext cx="1965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D700"/>
                </a:solidFill>
                <a:latin typeface="Microsoft YaHei"/>
              </a:defRPr>
            </a:pPr>
            <a:r>
              <a:t>◆ 2. 体素中轴提取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0" y="1783080"/>
            <a:ext cx="196596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43200" y="1828800"/>
            <a:ext cx="1965960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体素化 → 距离场 → 中轴提取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● Laplacian Contraction网格收缩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2ECC71"/>
                </a:solidFill>
                <a:latin typeface="Microsoft YaHei"/>
              </a:defRPr>
            </a:pPr>
            <a:r>
              <a:t>● 不依赖人形假设，支持任意拓扑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707088"/>
                </a:solidFill>
                <a:latin typeface="Microsoft YaHei"/>
              </a:defRPr>
            </a:pPr>
            <a:r>
              <a:t>● 速度：中-慢（取决于体素分辨率）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4444"/>
                </a:solidFill>
                <a:latin typeface="Microsoft YaHei"/>
              </a:defRPr>
            </a:pPr>
            <a:r>
              <a:t>● 局限：中轴噪声大，需后处理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● Crane et al.: "Geodesics in Heat" (SIGGRAPH 2013)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983480" y="1371600"/>
            <a:ext cx="2240280" cy="301752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0640" y="1463040"/>
            <a:ext cx="1965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9B59B6"/>
                </a:solidFill>
                <a:latin typeface="Microsoft YaHei"/>
              </a:defRPr>
            </a:pPr>
            <a:r>
              <a:t>◆ 3. 深度学习 (UniRig/RigNet)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20640" y="1783080"/>
            <a:ext cx="196596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20640" y="1828800"/>
            <a:ext cx="1965960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F0A2C"/>
                </a:solidFill>
                <a:latin typeface="Microsoft YaHei"/>
              </a:defRPr>
            </a:pPr>
            <a:r>
              <a:t>● UniRig: Skeleton Tree Tokenization + 自回归Transformer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RigNet: Point MLP + Attention + MeanShift + GCN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2ECC71"/>
                </a:solidFill>
                <a:latin typeface="Microsoft YaHei"/>
              </a:defRPr>
            </a:pPr>
            <a:r>
              <a:t>● 精度：UniRig比RigNet提升215%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2ECC71"/>
                </a:solidFill>
                <a:latin typeface="Microsoft YaHei"/>
              </a:defRPr>
            </a:pPr>
            <a:r>
              <a:t>● 速度：~2-5秒推理(GPU)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4444"/>
                </a:solidFill>
                <a:latin typeface="Microsoft YaHei"/>
              </a:defRPr>
            </a:pPr>
            <a:r>
              <a:t>● 局限：训练数据依赖严重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60920" y="1371600"/>
            <a:ext cx="2240280" cy="301752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80" y="1463040"/>
            <a:ext cx="1965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ECC71"/>
                </a:solidFill>
                <a:latin typeface="Microsoft YaHei"/>
              </a:defRPr>
            </a:pPr>
            <a:r>
              <a:t>◆ 4. 热图方法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498080" y="1783080"/>
            <a:ext cx="196596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0" y="1828800"/>
            <a:ext cx="1965960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3D体素网格生成关节概率热图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● Soft-argmax实现亚体素精度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2ECC71"/>
                </a:solidFill>
                <a:latin typeface="Microsoft YaHei"/>
              </a:defRPr>
            </a:pPr>
            <a:r>
              <a:t>● 可解释性强，可视化直观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4444"/>
                </a:solidFill>
                <a:latin typeface="Microsoft YaHei"/>
              </a:defRPr>
            </a:pPr>
            <a:r>
              <a:t>● 局限：O(N³)内存开销大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707088"/>
                </a:solidFill>
                <a:latin typeface="Microsoft YaHei"/>
              </a:defRPr>
            </a:pPr>
            <a:r>
              <a:t>● 2D领域验证充分，3D扩展有挑战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738360" y="1371600"/>
            <a:ext cx="2240280" cy="301752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64B5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875520" y="1463040"/>
            <a:ext cx="1965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64B5F6"/>
                </a:solidFill>
                <a:latin typeface="Microsoft YaHei"/>
              </a:defRPr>
            </a:pPr>
            <a:r>
              <a:t>◆ 5. 图神经网络 (GNN)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875520" y="1783080"/>
            <a:ext cx="196596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875520" y="1828800"/>
            <a:ext cx="1965960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网格视为图，消息传递预测骨骼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● GCN/GAT/EdgeConv多种变体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2ECC71"/>
                </a:solidFill>
                <a:latin typeface="Microsoft YaHei"/>
              </a:defRPr>
            </a:pPr>
            <a:r>
              <a:t>● 天然利用网格拓扑连接关系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2ECC71"/>
                </a:solidFill>
                <a:latin typeface="Microsoft YaHei"/>
              </a:defRPr>
            </a:pPr>
            <a:r>
              <a:t>● 可学习对称性约束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4444"/>
                </a:solidFill>
                <a:latin typeface="Microsoft YaHei"/>
              </a:defRPr>
            </a:pPr>
            <a:r>
              <a:t>● 局限：过平滑问题，超大图计算慢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46634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DC4"/>
                </a:solidFill>
                <a:latin typeface="Microsoft YaHei"/>
              </a:defRPr>
            </a:pPr>
            <a:r>
              <a:t>▎骨骼生成方法综合对比</a:t>
            </a:r>
          </a:p>
        </p:txBody>
      </p:sp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365760" y="4937760"/>
          <a:ext cx="114300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1371600"/>
                <a:gridCol w="1371600"/>
                <a:gridCol w="1371600"/>
                <a:gridCol w="1371600"/>
                <a:gridCol w="320040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方法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精度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速度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通用性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数据需求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成熟度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最佳场景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参数化模型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★★★★★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★★★★★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★★☆☆☆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中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★★★★★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标准人形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体素中轴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无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任意形状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Pinocchio(经典)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无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★★★★★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人形快速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UniRig(新标杆)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★★★★★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★★★★★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高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通用角色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RigNet(DL)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高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通用角色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热图方法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高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人形/四足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GNN方法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中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拓扑感知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</a:tbl>
          </a:graphicData>
        </a:graphic>
      </p:graphicFrame>
      <p:sp>
        <p:nvSpPr>
          <p:cNvPr id="29" name="Rectangle 28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707088"/>
                </a:solidFill>
                <a:latin typeface="Microsoft YaHei"/>
              </a:defRPr>
            </a:pPr>
            <a:r>
              <a:t>12/24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Microsoft YaHei"/>
              </a:defRPr>
            </a:pPr>
            <a:r>
              <a:t>03 核心技术深度解析 — 蒙皮权重计算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749808"/>
            <a:ext cx="1645920" cy="36576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841248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Microsoft YaHei"/>
              </a:defRPr>
            </a:pPr>
            <a:r>
              <a:t>从几何方法到深度学习的蒙皮技术演进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28600" y="1371600"/>
            <a:ext cx="2240280" cy="256032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463040"/>
            <a:ext cx="1965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DC4"/>
                </a:solidFill>
                <a:latin typeface="Microsoft YaHei"/>
              </a:defRPr>
            </a:pPr>
            <a:r>
              <a:t>◆ 1. 测地距离法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783080"/>
            <a:ext cx="196596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828800"/>
            <a:ext cx="196596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000" b="0">
                <a:solidFill>
                  <a:srgbClr val="00E5FF"/>
                </a:solidFill>
                <a:latin typeface="Microsoft YaHei"/>
              </a:defRPr>
            </a:pPr>
            <a:r>
              <a:t>w_j(v) ∝ exp(-d_geo(v,b_j)²/2σ²)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Heat Method: O(n)稀疏求解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2ECC71"/>
                </a:solidFill>
                <a:latin typeface="Microsoft YaHei"/>
              </a:defRPr>
            </a:pPr>
            <a:r>
              <a:t>● 算法成熟，库多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4444"/>
                </a:solidFill>
                <a:latin typeface="Microsoft YaHei"/>
              </a:defRPr>
            </a:pPr>
            <a:r>
              <a:t>● 忽略关节弯曲复杂行为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06040" y="1371600"/>
            <a:ext cx="2240280" cy="256032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43200" y="1463040"/>
            <a:ext cx="1965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D700"/>
                </a:solidFill>
                <a:latin typeface="Microsoft YaHei"/>
              </a:defRPr>
            </a:pPr>
            <a:r>
              <a:t>◆ 2. Geodesic Voxel Binding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0" y="1783080"/>
            <a:ext cx="196596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43200" y="1828800"/>
            <a:ext cx="196596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体素空间(128³/256³)测地距离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2ECC71"/>
                </a:solidFill>
                <a:latin typeface="Microsoft YaHei"/>
              </a:defRPr>
            </a:pPr>
            <a:r>
              <a:t>● 可穿越内部空间（手指间等）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2ECC71"/>
                </a:solidFill>
                <a:latin typeface="Microsoft YaHei"/>
              </a:defRPr>
            </a:pPr>
            <a:r>
              <a:t>● 对网格质量不敏感，鲁棒性强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4444"/>
                </a:solidFill>
                <a:latin typeface="Microsoft YaHei"/>
              </a:defRPr>
            </a:pPr>
            <a:r>
              <a:t>● 内存O(N³)，分辨率限制精度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983480" y="1371600"/>
            <a:ext cx="2240280" cy="256032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0640" y="1463040"/>
            <a:ext cx="1965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ECC71"/>
                </a:solidFill>
                <a:latin typeface="Microsoft YaHei"/>
              </a:defRPr>
            </a:pPr>
            <a:r>
              <a:t>◆ 3. 热扩散法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20640" y="1783080"/>
            <a:ext cx="196596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20640" y="1828800"/>
            <a:ext cx="196596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000" b="0">
                <a:solidFill>
                  <a:srgbClr val="00E5FF"/>
                </a:solidFill>
                <a:latin typeface="Microsoft YaHei"/>
              </a:defRPr>
            </a:pPr>
            <a:r>
              <a:t>(M-tL)u^(n+1) = M·u^n + t·S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2ECC71"/>
                </a:solidFill>
                <a:latin typeface="Microsoft YaHei"/>
              </a:defRPr>
            </a:pPr>
            <a:r>
              <a:t>● 权重天然平滑连续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2ECC71"/>
                </a:solidFill>
                <a:latin typeface="Microsoft YaHei"/>
              </a:defRPr>
            </a:pPr>
            <a:r>
              <a:t>● 多骨骼可并行求解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4444"/>
                </a:solidFill>
                <a:latin typeface="Microsoft YaHei"/>
              </a:defRPr>
            </a:pPr>
            <a:r>
              <a:t>● 可能过度模糊，丧失锐利边界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60920" y="1371600"/>
            <a:ext cx="2240280" cy="256032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80" y="1463040"/>
            <a:ext cx="1965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9B59B6"/>
                </a:solidFill>
                <a:latin typeface="Microsoft YaHei"/>
              </a:defRPr>
            </a:pPr>
            <a:r>
              <a:t>◆ 4. 深度学习蒙皮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498080" y="1783080"/>
            <a:ext cx="196596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0" y="1828800"/>
            <a:ext cx="196596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F0A2C"/>
                </a:solidFill>
                <a:latin typeface="Microsoft YaHei"/>
              </a:defRPr>
            </a:pPr>
            <a:r>
              <a:t>● UniRig: DL直接预测初始权重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SkinningNet: 双向GNN (顶点↔骨骼)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2ECC71"/>
                </a:solidFill>
                <a:latin typeface="Microsoft YaHei"/>
              </a:defRPr>
            </a:pPr>
            <a:r>
              <a:t>● 精度最高，接近手工绑定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4444"/>
                </a:solidFill>
                <a:latin typeface="Microsoft YaHei"/>
              </a:defRPr>
            </a:pPr>
            <a:r>
              <a:t>● 训练数据成本高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738360" y="1371600"/>
            <a:ext cx="2240280" cy="256032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64B5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875520" y="1463040"/>
            <a:ext cx="1965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64B5F6"/>
                </a:solidFill>
                <a:latin typeface="Microsoft YaHei"/>
              </a:defRPr>
            </a:pPr>
            <a:r>
              <a:t>◆ 5. LBS vs DQS 变形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875520" y="1783080"/>
            <a:ext cx="196596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875520" y="1828800"/>
            <a:ext cx="196596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000" b="0">
                <a:solidFill>
                  <a:srgbClr val="00E5FF"/>
                </a:solidFill>
                <a:latin typeface="Microsoft YaHei"/>
              </a:defRPr>
            </a:pPr>
            <a:r>
              <a:t>● LBS: v'=Σw_j·T_j·v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4444"/>
                </a:solidFill>
                <a:latin typeface="Microsoft YaHei"/>
              </a:defRPr>
            </a:pPr>
            <a:r>
              <a:t>● LBS有体积坍缩/糖纸效应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2ECC71"/>
                </a:solidFill>
                <a:latin typeface="Microsoft YaHei"/>
              </a:defRPr>
            </a:pPr>
            <a:r>
              <a:t>● DQS: 对偶四元数保持刚体性质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DQS计算成本更高但质量好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4206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DC4"/>
                </a:solidFill>
                <a:latin typeface="Microsoft YaHei"/>
              </a:defRPr>
            </a:pPr>
            <a:r>
              <a:t>▎蒙皮权重方法综合对比</a:t>
            </a:r>
          </a:p>
        </p:txBody>
      </p:sp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365760" y="4526280"/>
          <a:ext cx="11430000" cy="1600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371600"/>
                <a:gridCol w="1371600"/>
                <a:gridCol w="1371600"/>
                <a:gridCol w="1371600"/>
                <a:gridCol w="411480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方法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精度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速度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鲁棒性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需训练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代表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测地距离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否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Heat Method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体素绑定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★★☆☆☆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★★★★★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否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Maya GVB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热扩散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否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Bone Heat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深度学习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★★★★★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是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UniRig/SkinningNet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</a:tbl>
          </a:graphicData>
        </a:graphic>
      </p:graphicFrame>
      <p:sp>
        <p:nvSpPr>
          <p:cNvPr id="29" name="TextBox 28"/>
          <p:cNvSpPr txBox="1"/>
          <p:nvPr/>
        </p:nvSpPr>
        <p:spPr>
          <a:xfrm>
            <a:off x="365760" y="576072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707088"/>
                </a:solidFill>
                <a:latin typeface="Microsoft YaHei"/>
              </a:defRPr>
            </a:pPr>
            <a:r>
              <a:t>▎LBS vs DQS 变形方法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65760" y="6035040"/>
          <a:ext cx="1143000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828800"/>
                <a:gridCol w="1828800"/>
                <a:gridCol w="1828800"/>
                <a:gridCol w="1828800"/>
                <a:gridCol w="274320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体积保持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糖纸效应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计算成本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GPU支持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兼容性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LBS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差（坍缩）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严重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低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极好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所有引擎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DQS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好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大幅改善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中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需自定义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需额外支持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Neural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最优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无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高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需推理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研究阶段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707088"/>
                </a:solidFill>
                <a:latin typeface="Microsoft YaHei"/>
              </a:defRPr>
            </a:pPr>
            <a:r>
              <a:t>13/24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Microsoft YaHei"/>
              </a:defRPr>
            </a:pPr>
            <a:r>
              <a:t>03 核心技术深度解析 — AI前沿技术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749808"/>
            <a:ext cx="1645920" cy="36576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841248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Microsoft YaHei"/>
              </a:defRPr>
            </a:pPr>
            <a:r>
              <a:t>Transformer / GNN / 扩散模型 / 自监督学习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28600" y="1371600"/>
            <a:ext cx="2240280" cy="320040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463040"/>
            <a:ext cx="1965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DC4"/>
                </a:solidFill>
                <a:latin typeface="Microsoft YaHei"/>
              </a:defRPr>
            </a:pPr>
            <a:r>
              <a:t>◆ Transformer 骨骼预测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783080"/>
            <a:ext cx="196596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828800"/>
            <a:ext cx="196596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F0A2C"/>
                </a:solidFill>
                <a:latin typeface="Microsoft YaHei"/>
              </a:defRPr>
            </a:pPr>
            <a:r>
              <a:t>● UniRig: Skeleton Tree Tokenization+自回归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Point Transformer: 局部自注意力+KNN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Mesh Transformer: 面片Patch作Token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4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2ECC71"/>
                </a:solidFill>
                <a:latin typeface="Microsoft YaHei"/>
              </a:defRPr>
            </a:pPr>
            <a:r>
              <a:t>vs Point MLP: 全局建模更强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2ECC71"/>
                </a:solidFill>
                <a:latin typeface="Microsoft YaHei"/>
              </a:defRPr>
            </a:pPr>
            <a:r>
              <a:t>vs GCN: 长距离依赖更好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4444"/>
                </a:solidFill>
                <a:latin typeface="Microsoft YaHei"/>
              </a:defRPr>
            </a:pPr>
            <a:r>
              <a:t>代价: O(n²)计算量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06040" y="1371600"/>
            <a:ext cx="2240280" cy="320040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43200" y="1463040"/>
            <a:ext cx="1965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D700"/>
                </a:solidFill>
                <a:latin typeface="Microsoft YaHei"/>
              </a:defRPr>
            </a:pPr>
            <a:r>
              <a:t>◆ PointNet++ 3D点云处理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0" y="1783080"/>
            <a:ext cx="196596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43200" y="1828800"/>
            <a:ext cx="196596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Set Abstraction: FPS+Ball Query+PointNet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Multi-Scale Grouping: 多半径特征聚合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Feature Propagation: 插值上采样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4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D700"/>
                </a:solidFill>
                <a:latin typeface="Microsoft YaHei"/>
              </a:defRPr>
            </a:pPr>
            <a:r>
              <a:t>3D点云处理的基础架构（注：RigNet未使用）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2ECC71"/>
                </a:solidFill>
                <a:latin typeface="Microsoft YaHei"/>
              </a:defRPr>
            </a:pPr>
            <a:r>
              <a:t>层次化局部特征学习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4444"/>
                </a:solidFill>
                <a:latin typeface="Microsoft YaHei"/>
              </a:defRPr>
            </a:pPr>
            <a:r>
              <a:t>无旋转等变性（需数据增强）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983480" y="1371600"/>
            <a:ext cx="2240280" cy="320040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0640" y="1463040"/>
            <a:ext cx="1965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ECC71"/>
                </a:solidFill>
                <a:latin typeface="Microsoft YaHei"/>
              </a:defRPr>
            </a:pPr>
            <a:r>
              <a:t>◆ GCN 骨骼关系建模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20640" y="1783080"/>
            <a:ext cx="196596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20640" y="1828800"/>
            <a:ext cx="196596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骨骼图: 关节=节点, 骨骼=边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消息传递: 邻居聚合→节点更新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EdgeConv/GAT多种变体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4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2ECC71"/>
                </a:solidFill>
                <a:latin typeface="Microsoft YaHei"/>
              </a:defRPr>
            </a:pPr>
            <a:r>
              <a:t>天然利用网格拓扑连接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2ECC71"/>
                </a:solidFill>
                <a:latin typeface="Microsoft YaHei"/>
              </a:defRPr>
            </a:pPr>
            <a:r>
              <a:t>可学习对称性约束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4444"/>
                </a:solidFill>
                <a:latin typeface="Microsoft YaHei"/>
              </a:defRPr>
            </a:pPr>
            <a:r>
              <a:t>过平滑限制网络深度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60920" y="1371600"/>
            <a:ext cx="2240280" cy="320040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80" y="1463040"/>
            <a:ext cx="1965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9B59B6"/>
                </a:solidFill>
                <a:latin typeface="Microsoft YaHei"/>
              </a:defRPr>
            </a:pPr>
            <a:r>
              <a:t>◆ 扩散模型潜力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498080" y="1783080"/>
            <a:ext cx="196596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0" y="1828800"/>
            <a:ext cx="196596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条件骨骼生成：网格→关节位置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蒙皮权重去噪：骨骼→权重W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完整角色生成+绑定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4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2ECC71"/>
                </a:solidFill>
                <a:latin typeface="Microsoft YaHei"/>
              </a:defRPr>
            </a:pPr>
            <a:r>
              <a:t>多样性+高质量+可控性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4444"/>
                </a:solidFill>
                <a:latin typeface="Microsoft YaHei"/>
              </a:defRPr>
            </a:pPr>
            <a:r>
              <a:t>可变长度输出是核心挑战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4ECDC4"/>
                </a:solidFill>
                <a:latin typeface="Microsoft YaHei"/>
              </a:defRPr>
            </a:pPr>
            <a:r>
              <a:t>Text-to-Rigged-Character潜力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738360" y="1371600"/>
            <a:ext cx="2240280" cy="320040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64B5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875520" y="1463040"/>
            <a:ext cx="1965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64B5F6"/>
                </a:solidFill>
                <a:latin typeface="Microsoft YaHei"/>
              </a:defRPr>
            </a:pPr>
            <a:r>
              <a:t>◆ 自监督 &amp; 迁移学习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875520" y="1783080"/>
            <a:ext cx="196596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875520" y="1828800"/>
            <a:ext cx="196596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对比学习：同角色不同姿态骨骼一致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几何一致性：无需标注的多姿态约束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跨物种迁移：人形→四足→异形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4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2ECC71"/>
                </a:solidFill>
                <a:latin typeface="Microsoft YaHei"/>
              </a:defRPr>
            </a:pPr>
            <a:r>
              <a:t>解决标注数据稀缺核心问题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2ECC71"/>
                </a:solidFill>
                <a:latin typeface="Microsoft YaHei"/>
              </a:defRPr>
            </a:pPr>
            <a:r>
              <a:t>域自适应：合成→真实数据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4ECDC4"/>
                </a:solidFill>
                <a:latin typeface="Microsoft YaHei"/>
              </a:defRPr>
            </a:pPr>
            <a:r>
              <a:t>MAML快速适应新物种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484632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DC4"/>
                </a:solidFill>
                <a:latin typeface="Microsoft YaHei"/>
              </a:defRPr>
            </a:pPr>
            <a:r>
              <a:t>▎前沿研究方向</a:t>
            </a:r>
          </a:p>
        </p:txBody>
      </p:sp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365760" y="5166360"/>
          <a:ext cx="11430000" cy="1600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743200"/>
                <a:gridCol w="4114800"/>
                <a:gridCol w="228600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方向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核心挑战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关键方法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预期突破时间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通用非人形绑定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骨骼拓扑不确定,语义缺失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UniRig自回归+对称性检测+扩散拓扑生成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1-2年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实时自动绑定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&lt;100ms端到端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轻量网络+TensorRT+解析方法修正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1年内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端到端统一学习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多阶段误差累积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统一图/能量最小化/共享编码器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2-3年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多物种统一框架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形态差异大,数据少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元学习+连续物种嵌入+合成数据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2-3年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</a:tbl>
          </a:graphicData>
        </a:graphic>
      </p:graphicFrame>
      <p:sp>
        <p:nvSpPr>
          <p:cNvPr id="29" name="Rectangle 28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707088"/>
                </a:solidFill>
                <a:latin typeface="Microsoft YaHei"/>
              </a:defRPr>
            </a:pPr>
            <a:r>
              <a:t>14/24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Microsoft YaHei"/>
              </a:defRPr>
            </a:pPr>
            <a:r>
              <a:t>03 核心技术深度解析 — 质量评估体系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749808"/>
            <a:ext cx="1645920" cy="36576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841248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Microsoft YaHei"/>
              </a:defRPr>
            </a:pPr>
            <a:r>
              <a:t>Auto-Rigging效果的科学量化评估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" y="1371600"/>
            <a:ext cx="2788920" cy="237744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463040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DC4"/>
                </a:solidFill>
                <a:latin typeface="Microsoft YaHei"/>
              </a:defRPr>
            </a:pPr>
            <a:r>
              <a:t>◆ 骨骼位置精度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783080"/>
            <a:ext cx="251460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1828800"/>
            <a:ext cx="251460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MPJPE: 关节位置平均误差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PCK@α: 正确关键点百分比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PA-MPJPE: Procrustes对齐后误差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BLE: 骨骼长度误差率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Topo_Acc: 骨骼连接正确率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46120" y="1371600"/>
            <a:ext cx="2788920" cy="237744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83280" y="1463040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D700"/>
                </a:solidFill>
                <a:latin typeface="Microsoft YaHei"/>
              </a:defRPr>
            </a:pPr>
            <a:r>
              <a:t>◆ 蒙皮权重误差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83280" y="1783080"/>
            <a:ext cx="251460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83280" y="1828800"/>
            <a:ext cx="251460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L2 Weight Error: Frobenius范数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Per-Vertex Max Error: 逐顶点最大误差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Important Bone Error: 高影响骨骼误差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Weight Entropy: 权重分散度评估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Geodesic Consistency: 邻顶点权重一致性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1371600"/>
            <a:ext cx="2788920" cy="237744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1463040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ECC71"/>
                </a:solidFill>
                <a:latin typeface="Microsoft YaHei"/>
              </a:defRPr>
            </a:pPr>
            <a:r>
              <a:t>◆ 动画质量 (LBS Artifact)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55080" y="1783080"/>
            <a:ext cx="251460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55080" y="1828800"/>
            <a:ext cx="251460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Volume Preservation: 体积变化率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Laplacian Distortion: 拉普拉斯扭曲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Collision Rate: 自交面比例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ADE: 动画序列变形误差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LBS Artifact Score: 感知质量分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89720" y="1371600"/>
            <a:ext cx="2788920" cy="237744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0" y="1463040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9B59B6"/>
                </a:solidFill>
                <a:latin typeface="Microsoft YaHei"/>
              </a:defRPr>
            </a:pPr>
            <a:r>
              <a:t>◆ 泛化能力评估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0" y="1783080"/>
            <a:ext cx="251460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26880" y="1828800"/>
            <a:ext cx="251460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标准人形 → 夸张比例 → 服饰遮挡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非标准姿态 → 四足动物 → 异形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低面数模型 → 扫描噪声数据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跨数据集零样本测试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Leave-one-out交叉验证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40233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DC4"/>
                </a:solidFill>
                <a:latin typeface="Microsoft YaHei"/>
              </a:defRPr>
            </a:pPr>
            <a:r>
              <a:t>▎各方法性能基准对比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365760" y="4343400"/>
          <a:ext cx="114300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371600"/>
                <a:gridCol w="1828800"/>
                <a:gridCol w="1371600"/>
                <a:gridCol w="1828800"/>
                <a:gridCol w="274320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方法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预处理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推理时间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后处理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总耗时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GPU内存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SMPL fitting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~5s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~10ms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~1s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~6s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~1GB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Heat Diffusion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~2s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~0.5s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~1s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~3.5s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~2GB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UniRig (DL)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~1s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~2-5s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~0.5s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~3.5-6.5s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~4GB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RigNet (DL)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~1s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~2-5s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~0.5s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~3.5-6.5s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~4GB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Geodesic Voxel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~3s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~5s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~1s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~9s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~8GB(256³)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GNN方法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~1s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~3s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~1s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~5s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~3GB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实时方案(设计)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&lt;0.1s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&lt;0.05s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&lt;0.03s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&lt;0.1s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~1GB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</a:tbl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365760" y="60350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707088"/>
                </a:solidFill>
                <a:latin typeface="Microsoft YaHei"/>
              </a:defRPr>
            </a:pPr>
            <a:r>
              <a:t>▎核心数据集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365760" y="6309360"/>
          <a:ext cx="114300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828800"/>
                <a:gridCol w="3200400"/>
                <a:gridCol w="365760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数据集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规模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类型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标注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SMPL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参数化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合成人形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骨骼+蒙皮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Mixamo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~2000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游戏角色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手工绑定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DeformingThings4D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~1000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动物+人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4D动画+骨骼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RigNet dataset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~2700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游戏角色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完整绑定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UniRig dataset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扩展中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通用角色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完整绑定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</a:tbl>
          </a:graphicData>
        </a:graphic>
      </p:graphicFrame>
      <p:sp>
        <p:nvSpPr>
          <p:cNvPr id="27" name="TextBox 26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707088"/>
                </a:solidFill>
                <a:latin typeface="Microsoft YaHei"/>
              </a:defRPr>
            </a:pPr>
            <a:r>
              <a:t>15/24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Microsoft YaHei"/>
              </a:defRPr>
            </a:pPr>
            <a:r>
              <a:t>03 面部绑定自动化 — 完整角色绑定的另一半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749808"/>
            <a:ext cx="1645920" cy="36576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841248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Microsoft YaHei"/>
              </a:defRPr>
            </a:pPr>
            <a:r>
              <a:t>面部绑定占完整角色工作量40-60%，自动化意义重大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2801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F0A2C"/>
                </a:solidFill>
                <a:latin typeface="Microsoft YaHei"/>
              </a:defRPr>
            </a:pPr>
            <a:r>
              <a:t>▎面部绑定自动化现状与挑战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" y="1645920"/>
            <a:ext cx="2788920" cy="256032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1737360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DC4"/>
                </a:solidFill>
                <a:latin typeface="Microsoft YaHei"/>
              </a:defRPr>
            </a:pPr>
            <a:r>
              <a:t>◆ ARKit面部Blend Shape标准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2057400"/>
            <a:ext cx="251460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" y="2103120"/>
            <a:ext cx="251460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Apple ARKit定义52个面部Blend Shape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覆盖眉毛/眼睛/鼻子/嘴巴/下巴/脸颊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2ECC71"/>
                </a:solidFill>
                <a:latin typeface="Microsoft YaHei"/>
              </a:defRPr>
            </a:pPr>
            <a:r>
              <a:t>● 已成为行业事实标准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所有主流引擎均支持此标准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4444"/>
                </a:solidFill>
                <a:latin typeface="Microsoft YaHei"/>
              </a:defRPr>
            </a:pPr>
            <a:r>
              <a:t>● 挑战：手工制作52个BS仍需2-4小时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46120" y="1645920"/>
            <a:ext cx="2788920" cy="256032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83280" y="1737360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D700"/>
                </a:solidFill>
                <a:latin typeface="Microsoft YaHei"/>
              </a:defRPr>
            </a:pPr>
            <a:r>
              <a:t>◆ MetaHuman面部管线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83280" y="2057400"/>
            <a:ext cx="251460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83280" y="2103120"/>
            <a:ext cx="251460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参数化面部模型+自动蒙皮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云端MetaHuman Creator创建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2ECC71"/>
                </a:solidFill>
                <a:latin typeface="Microsoft YaHei"/>
              </a:defRPr>
            </a:pPr>
            <a:r>
              <a:t>● 56+骨骼面部绑定+自动权重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支持Custom导入，需自拍扫描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4444"/>
                </a:solidFill>
                <a:latin typeface="Microsoft YaHei"/>
              </a:defRPr>
            </a:pPr>
            <a:r>
              <a:t>● 局限：仅人形面部，需UE5生态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1645920"/>
            <a:ext cx="2788920" cy="256032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55080" y="1737360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ECC71"/>
                </a:solidFill>
                <a:latin typeface="Microsoft YaHei"/>
              </a:defRPr>
            </a:pPr>
            <a:r>
              <a:t>◆ Neural Face Rigging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55080" y="2057400"/>
            <a:ext cx="251460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5080" y="2103120"/>
            <a:ext cx="251460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NeRF/3DGS-based面部重建+绑定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从视频/多视角图片生成可动面部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2ECC71"/>
                </a:solidFill>
                <a:latin typeface="Microsoft YaHei"/>
              </a:defRPr>
            </a:pPr>
            <a:r>
              <a:t>● 研究前沿：实时表情迁移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● Neural Head Avatar / InstantAvatar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4444"/>
                </a:solidFill>
                <a:latin typeface="Microsoft YaHei"/>
              </a:defRPr>
            </a:pPr>
            <a:r>
              <a:t>● 挑战：高保真+实时性难以兼顾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89720" y="1645920"/>
            <a:ext cx="2788920" cy="256032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26880" y="1737360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9B59B6"/>
                </a:solidFill>
                <a:latin typeface="Microsoft YaHei"/>
              </a:defRPr>
            </a:pPr>
            <a:r>
              <a:t>◆ FACS自动识别研究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0" y="2057400"/>
            <a:ext cx="251460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26880" y="2103120"/>
            <a:ext cx="251460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FACS: Facial Action Coding System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AU(Action Unit)自动检测与映射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2ECC71"/>
                </a:solidFill>
                <a:latin typeface="Microsoft YaHei"/>
              </a:defRPr>
            </a:pPr>
            <a:r>
              <a:t>● MediaPipe Face Mesh 468点实时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AU→Blend Shape自动映射是关键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4444"/>
                </a:solidFill>
                <a:latin typeface="Microsoft YaHei"/>
              </a:defRPr>
            </a:pPr>
            <a:r>
              <a:t>● 挑战：细微表情精度不足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44805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D700"/>
                </a:solidFill>
                <a:latin typeface="Microsoft YaHei"/>
              </a:defRPr>
            </a:pPr>
            <a:r>
              <a:t>▎面部绑定 vs 身体绑定工作量对比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365760" y="4800600"/>
          <a:ext cx="11430000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743200"/>
                <a:gridCol w="3200400"/>
                <a:gridCol w="365760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维度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身体绑定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面部绑定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自动化难度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骨骼数量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60-100+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50-100+（含微表情）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面部骨骼语义更复杂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蒙皮顶点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数千-数万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数千（密集面部区域）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面部要求更高精度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Blend Shape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少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52+(ARKit) / 100+(影视)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手工制作耗时长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典型耗时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4-8小时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4-12小时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面部更依赖经验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占完整角色比例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40-60%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40-60%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两者合计100%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当前自动化水平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★★☆☆☆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面部自动化更难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</a:tbl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365760" y="6400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CF0A2C"/>
                </a:solidFill>
                <a:latin typeface="Microsoft YaHei"/>
              </a:defRPr>
            </a:pPr>
            <a:r>
              <a:t>结论：面部绑定是高校课题四的候选方向 — ARKit标准→自动BS生成→神经面部绑定，与身体绑定互补形成完整方案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707088"/>
                </a:solidFill>
                <a:latin typeface="Microsoft YaHei"/>
              </a:defRPr>
            </a:pPr>
            <a:r>
              <a:t>16/24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Microsoft YaHei"/>
              </a:defRPr>
            </a:pPr>
            <a:r>
              <a:t>04 技术方案全面对比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749808"/>
            <a:ext cx="1645920" cy="36576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841248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Microsoft YaHei"/>
              </a:defRPr>
            </a:pPr>
            <a:r>
              <a:t>多维度量化评估 — 选拔最优方案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274320" y="1280160"/>
          <a:ext cx="96012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1005840"/>
                <a:gridCol w="457200"/>
                <a:gridCol w="457200"/>
                <a:gridCol w="457200"/>
                <a:gridCol w="1097280"/>
                <a:gridCol w="1097280"/>
                <a:gridCol w="640080"/>
                <a:gridCol w="457200"/>
                <a:gridCol w="1005840"/>
                <a:gridCol w="146304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方案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技术路线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人形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四足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通用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骨骼精度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蒙皮质量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速度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门槛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成本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综合推荐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Maya GVB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规则+模板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✗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✗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★★★★★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秒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高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$1875/年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专业制作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UE5 Control Rig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程序化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★★★★★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★★★★★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分钟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中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免费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引擎内最佳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UE5 ML Deformer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AI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★★★★★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训练慢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中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免费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影视级蒙皮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Mixamo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AI+规则</a:t>
                      </a:r>
                    </a:p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(Stanford)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✗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✗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分钟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低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免费*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人形快速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Meshy AI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AI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部分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秒-分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低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$20/月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AI一体化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UniRig ★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纯AI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★★★★★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分钟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低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MIT开源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学术新标杆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RigNet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纯AI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分钟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低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GPLv3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学术经典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Blender Rigify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模板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部分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✗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★★★★★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秒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中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免费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开源首选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Anything World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AI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分钟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低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免费+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通用绑定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65760" y="484632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D700"/>
                </a:solidFill>
                <a:latin typeface="Microsoft YaHei"/>
              </a:defRPr>
            </a:pPr>
            <a:r>
              <a:t>▎最优方案评选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5166360"/>
            <a:ext cx="2788920" cy="155448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CF0A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5257800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F0A2C"/>
                </a:solidFill>
                <a:latin typeface="Microsoft YaHei"/>
              </a:defRPr>
            </a:pPr>
            <a:r>
              <a:t>◆ 🏆 学术研究最佳 — UniRig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5577840"/>
            <a:ext cx="251460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5623560"/>
            <a:ext cx="25146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SIGGRAPH 2025，精度比RigNet提升215%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Skeleton Tree自回归生成，通用性极强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2ECC71"/>
                </a:solidFill>
                <a:latin typeface="Microsoft YaHei"/>
              </a:defRPr>
            </a:pPr>
            <a:r>
              <a:t>● MIT许可，商业可用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D700"/>
                </a:solidFill>
                <a:latin typeface="Microsoft YaHei"/>
              </a:defRPr>
            </a:pPr>
            <a:r>
              <a:t>● 综合评分91/100，新学术标杆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46120" y="5166360"/>
            <a:ext cx="2788920" cy="155448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83280" y="5257800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DC4"/>
                </a:solidFill>
                <a:latin typeface="Microsoft YaHei"/>
              </a:defRPr>
            </a:pPr>
            <a:r>
              <a:t>◆ 🏆 引擎内最佳 — UE5生态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83280" y="5577840"/>
            <a:ext cx="251460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83280" y="5623560"/>
            <a:ext cx="25146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Control Rig: 程序化绑定标杆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ML Deformer: AI蒙皮影视级质量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2ECC71"/>
                </a:solidFill>
                <a:latin typeface="Microsoft YaHei"/>
              </a:defRPr>
            </a:pPr>
            <a:r>
              <a:t>● MetaHuman: 高保真人形一站式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4ECDC4"/>
                </a:solidFill>
                <a:latin typeface="Microsoft YaHei"/>
              </a:defRPr>
            </a:pPr>
            <a:r>
              <a:t>● 适合产业落地和引擎集成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5166360"/>
            <a:ext cx="2788920" cy="155448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55080" y="5257800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D700"/>
                </a:solidFill>
                <a:latin typeface="Microsoft YaHei"/>
              </a:defRPr>
            </a:pPr>
            <a:r>
              <a:t>◆ 🏆 AI一体化最佳 — Meshy AI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55080" y="5577840"/>
            <a:ext cx="251460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55080" y="5623560"/>
            <a:ext cx="25146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3D生成→绑定→动画全链路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API驱动，适合规模化集成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2ECC71"/>
                </a:solidFill>
                <a:latin typeface="Microsoft YaHei"/>
              </a:defRPr>
            </a:pPr>
            <a:r>
              <a:t>● 人形+四足支持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707088"/>
                </a:solidFill>
                <a:latin typeface="Microsoft YaHei"/>
              </a:defRPr>
            </a:pPr>
            <a:r>
              <a:t>● 商业化最成熟，但质量待提升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89720" y="5166360"/>
            <a:ext cx="2788920" cy="155448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26880" y="5257800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ECC71"/>
                </a:solidFill>
                <a:latin typeface="Microsoft YaHei"/>
              </a:defRPr>
            </a:pPr>
            <a:r>
              <a:t>◆ 🏆 综合推荐 — 分层策略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326880" y="5577840"/>
            <a:ext cx="251460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26880" y="5623560"/>
            <a:ext cx="25146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快速人形: Mixamo (免费即用)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生产级: UE5 ML Deformer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科研通用: 基于UniRig改进+DL蒙皮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4ECDC4"/>
                </a:solidFill>
                <a:latin typeface="Microsoft YaHei"/>
              </a:defRPr>
            </a:pPr>
            <a:r>
              <a:t>● 前沿: 扩散模型+元学习预研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" y="6400800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07088"/>
                </a:solidFill>
                <a:latin typeface="Microsoft YaHei"/>
              </a:defRPr>
            </a:pPr>
            <a:r>
              <a:t>* Mixamo免费需注册Adobe ID  |  UniRig(MIT) vs RigNet(GPLv3) 许可差异对商业应用影响重大  |  Pinocchio(SIGGRAPH 2007)是经典先驱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707088"/>
                </a:solidFill>
                <a:latin typeface="Microsoft YaHei"/>
              </a:defRPr>
            </a:pPr>
            <a:r>
              <a:t>17/24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Microsoft YaHei"/>
              </a:defRPr>
            </a:pPr>
            <a:r>
              <a:t>04 选型决策矩阵 — 什么场景选什么方案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749808"/>
            <a:ext cx="1645920" cy="36576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841248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Microsoft YaHei"/>
              </a:defRPr>
            </a:pPr>
            <a:r>
              <a:t>基于技术成熟度与创新空间的2×2分析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2801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F0A2C"/>
                </a:solidFill>
                <a:latin typeface="Microsoft YaHei"/>
              </a:defRPr>
            </a:pPr>
            <a:r>
              <a:t>▎技术方案定位矩阵（成熟度 × 创新空间）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" y="2011680"/>
            <a:ext cx="3657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707088"/>
                </a:solidFill>
                <a:latin typeface="Microsoft YaHei"/>
              </a:defRPr>
            </a:pPr>
            <a:r>
              <a:t>创</a:t>
            </a:r>
            <a:br/>
            <a:r>
              <a:t>新</a:t>
            </a:r>
            <a:br/>
            <a:r>
              <a:t>空</a:t>
            </a:r>
            <a:br/>
            <a:r>
              <a:t>间</a:t>
            </a:r>
            <a:br/>
            <a:r>
              <a:t>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4251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707088"/>
                </a:solidFill>
                <a:latin typeface="Microsoft YaHei"/>
              </a:defRPr>
            </a:pPr>
            <a:r>
              <a:t>技术成熟度 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691640"/>
            <a:ext cx="3383280" cy="1234440"/>
          </a:xfrm>
          <a:prstGeom prst="roundRect">
            <a:avLst/>
          </a:prstGeom>
          <a:solidFill>
            <a:srgbClr val="16213E"/>
          </a:solidFill>
          <a:ln w="1905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737360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B59B6"/>
                </a:solidFill>
                <a:latin typeface="Microsoft YaHei"/>
              </a:defRPr>
            </a:pPr>
            <a:r>
              <a:t>前沿探索（高创新/低成熟）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965960"/>
            <a:ext cx="32004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CCCCC"/>
                </a:solidFill>
                <a:latin typeface="Microsoft YaHei"/>
              </a:defRPr>
            </a:pPr>
            <a:r>
              <a:t>● 扩散模型骨骼生成</a:t>
            </a:r>
            <a:br/>
            <a:r>
              <a:t>● Text-to-Rigged-Character</a:t>
            </a:r>
            <a:br/>
            <a:r>
              <a:t>● Neural Face Rigging</a:t>
            </a:r>
            <a:br/>
            <a:r>
              <a:t>● 自监督跨物种迁移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0" y="1691640"/>
            <a:ext cx="3383280" cy="1234440"/>
          </a:xfrm>
          <a:prstGeom prst="roundRect">
            <a:avLst/>
          </a:prstGeom>
          <a:solidFill>
            <a:srgbClr val="16213E"/>
          </a:solidFill>
          <a:ln w="25400">
            <a:solidFill>
              <a:srgbClr val="CF0A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6240" y="1737360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CF0A2C"/>
                </a:solidFill>
                <a:latin typeface="Microsoft YaHei"/>
              </a:defRPr>
            </a:pPr>
            <a:r>
              <a:t>★ 主选方案（高创新/高成熟）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06240" y="1965960"/>
            <a:ext cx="32004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FFFF"/>
                </a:solidFill>
                <a:latin typeface="Microsoft YaHei"/>
              </a:defRPr>
            </a:pPr>
            <a:r>
              <a:t>● UniRig — 通用AI绑定新标杆</a:t>
            </a:r>
            <a:br/>
            <a:r>
              <a:t>● UniRig改进+DL蒙皮混合方案</a:t>
            </a:r>
            <a:br/>
            <a:r>
              <a:t>● 创新空间大+商业可行(MIT)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017520"/>
            <a:ext cx="3383280" cy="1234440"/>
          </a:xfrm>
          <a:prstGeom prst="roundRect">
            <a:avLst/>
          </a:prstGeom>
          <a:solidFill>
            <a:srgbClr val="16213E"/>
          </a:solidFill>
          <a:ln w="10160">
            <a:solidFill>
              <a:srgbClr val="7070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063240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707088"/>
                </a:solidFill>
                <a:latin typeface="Microsoft YaHei"/>
              </a:defRPr>
            </a:pPr>
            <a:r>
              <a:t>探索阶段（低创新/低成熟）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3291840"/>
            <a:ext cx="32004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07088"/>
                </a:solidFill>
                <a:latin typeface="Microsoft YaHei"/>
              </a:defRPr>
            </a:pPr>
            <a:r>
              <a:t>● GoSkinning（轻量但局限）</a:t>
            </a:r>
            <a:br/>
            <a:r>
              <a:t>● 部分国内厂商内部工具</a:t>
            </a:r>
            <a:br/>
            <a:r>
              <a:t>● NARF等早期学术探索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114800" y="3017520"/>
            <a:ext cx="3383280" cy="1234440"/>
          </a:xfrm>
          <a:prstGeom prst="roundRect">
            <a:avLst/>
          </a:prstGeom>
          <a:solidFill>
            <a:srgbClr val="16213E"/>
          </a:solidFill>
          <a:ln w="1905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6240" y="3063240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4ECDC4"/>
                </a:solidFill>
                <a:latin typeface="Microsoft YaHei"/>
              </a:defRPr>
            </a:pPr>
            <a:r>
              <a:t>备选方案（低创新/高成熟）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06240" y="3291840"/>
            <a:ext cx="32004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CCCCC"/>
                </a:solidFill>
                <a:latin typeface="Microsoft YaHei"/>
              </a:defRPr>
            </a:pPr>
            <a:r>
              <a:t>● Maya GVB — 工业标准</a:t>
            </a:r>
            <a:br/>
            <a:r>
              <a:t>● UE5 Control Rig — 引擎内置</a:t>
            </a:r>
            <a:br/>
            <a:r>
              <a:t>● Mixamo — 免费快速人形</a:t>
            </a:r>
            <a:br/>
            <a:r>
              <a:t>● RigNet — 经典学术基线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0" y="128016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D700"/>
                </a:solidFill>
                <a:latin typeface="Microsoft YaHei"/>
              </a:defRPr>
            </a:pPr>
            <a:r>
              <a:t>▎决策树：什么场景选什么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7772400" y="1600200"/>
          <a:ext cx="41148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137160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场景需求</a:t>
                      </a:r>
                    </a:p>
                  </a:txBody>
                  <a:tcPr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推荐方案</a:t>
                      </a:r>
                    </a:p>
                  </a:txBody>
                  <a:tcPr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理由</a:t>
                      </a:r>
                    </a:p>
                  </a:txBody>
                  <a:tcPr>
                    <a:solidFill>
                      <a:srgbClr val="FFD70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学术研究/论文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基于UniRig改进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MIT许可+最高精度+创新空间大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通用非人形绑定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UniRig+扩展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唯一支持通用骨骼的高精度方案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引擎内生产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UE5生态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Control Rig+ML Deformer+MetaHuman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快速人形Demo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Mixamo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免费+零门槛+秒级出结果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3D生成一体化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Meshy AI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Text→3D→绑定→动画全链路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商业产品集成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UniRig(MIT)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MIT许可无GPLv3法律风险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高保真人形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MetaHuman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参数化+影视级质量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</a:tbl>
          </a:graphicData>
        </a:graphic>
      </p:graphicFrame>
      <p:sp>
        <p:nvSpPr>
          <p:cNvPr id="24" name="Rounded Rectangle 23"/>
          <p:cNvSpPr/>
          <p:nvPr/>
        </p:nvSpPr>
        <p:spPr>
          <a:xfrm>
            <a:off x="365760" y="4572000"/>
            <a:ext cx="11430000" cy="731520"/>
          </a:xfrm>
          <a:prstGeom prst="roundRect">
            <a:avLst/>
          </a:prstGeom>
          <a:solidFill>
            <a:srgbClr val="16213E"/>
          </a:solidFill>
          <a:ln w="25400">
            <a:solidFill>
              <a:srgbClr val="CF0A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46634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CF0A2C"/>
                </a:solidFill>
                <a:latin typeface="Microsoft YaHei"/>
              </a:defRPr>
            </a:pPr>
            <a:r>
              <a:t>★ 主选方案：基于UniRig（SIGGRAPH 2025，MIT许可，精度提升215%）改进 + DL直接蒙皮 + Geodesic Voxel修正边缘case</a:t>
            </a:r>
            <a:br/>
            <a:r>
              <a:t>★ 备选方案：RigNet基线（如UniRig代码未及时开源）+ UE5 ML Deformer引擎集成 + Meshy AI快速验证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548640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DC4"/>
                </a:solidFill>
                <a:latin typeface="Microsoft YaHei"/>
              </a:defRPr>
            </a:pPr>
            <a:r>
              <a:t>▎许可证关键对比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365760" y="5806440"/>
          <a:ext cx="5486400" cy="1600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097280"/>
                <a:gridCol w="1371600"/>
                <a:gridCol w="164592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方案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许可证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商业使用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修改发布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UniRig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MIT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✓ 自由使用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✓ 无限制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RigNet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GPLv3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✓ 但需开源衍生作品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✗ 衍生作品必须GPLv3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Meshy AI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SaaS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✓ 付费使用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✗ 不可修改源码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Blender Rigify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GPL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✓ 自由使用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✓ Blender生态内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</a:tbl>
          </a:graphicData>
        </a:graphic>
      </p:graphicFrame>
      <p:sp>
        <p:nvSpPr>
          <p:cNvPr id="28" name="Rectangle 27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707088"/>
                </a:solidFill>
                <a:latin typeface="Microsoft YaHei"/>
              </a:defRPr>
            </a:pPr>
            <a:r>
              <a:t>18/24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Microsoft YaHei"/>
              </a:defRPr>
            </a:pPr>
            <a:r>
              <a:t>04 推荐技术路线 — AI混合方案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749808"/>
            <a:ext cx="1645920" cy="36576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841248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Microsoft YaHei"/>
              </a:defRPr>
            </a:pPr>
            <a:r>
              <a:t>基于调研的最优技术组合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28016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F0A2C"/>
                </a:solidFill>
                <a:latin typeface="Microsoft YaHei"/>
              </a:defRPr>
            </a:pPr>
            <a:r>
              <a:t>▎推荐方案：基于UniRig改进 + DL直接蒙皮(Geodesic Voxel修正) + UE5集成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1691640"/>
            <a:ext cx="11430000" cy="1371600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691640"/>
            <a:ext cx="11430000" cy="36576"/>
          </a:xfrm>
          <a:prstGeom prst="rect">
            <a:avLst/>
          </a:prstGeom>
          <a:solidFill>
            <a:srgbClr val="4EC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7830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DC4"/>
                </a:solidFill>
                <a:latin typeface="Microsoft YaHei"/>
              </a:defRPr>
            </a:pPr>
            <a:r>
              <a:t>Phase 1: 骨骼生成（基于UniRig架构）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103120"/>
            <a:ext cx="1645920" cy="777240"/>
          </a:xfrm>
          <a:prstGeom prst="round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194560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FF"/>
                </a:solidFill>
                <a:latin typeface="Microsoft YaHei"/>
              </a:defRPr>
            </a:pPr>
            <a:r>
              <a:t>输入Mesh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48840" y="228600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4ECDC4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560320" y="2103120"/>
            <a:ext cx="1645920" cy="777240"/>
          </a:xfrm>
          <a:prstGeom prst="round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606040" y="2194560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FF"/>
                </a:solidFill>
                <a:latin typeface="Microsoft YaHei"/>
              </a:defRPr>
            </a:pPr>
            <a:r>
              <a:t>UniRig</a:t>
            </a:r>
            <a:br/>
            <a:r>
              <a:t>Skeleton Tree</a:t>
            </a:r>
            <a:br/>
            <a:r>
              <a:t>Tokenization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60520" y="228600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4ECDC4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37760" y="2103120"/>
            <a:ext cx="1645920" cy="777240"/>
          </a:xfrm>
          <a:prstGeom prst="round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83480" y="2194560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FF"/>
                </a:solidFill>
                <a:latin typeface="Microsoft YaHei"/>
              </a:defRPr>
            </a:pPr>
            <a:r>
              <a:t>自回归</a:t>
            </a:r>
            <a:br/>
            <a:r>
              <a:t>Transformer</a:t>
            </a:r>
            <a:br/>
            <a:r>
              <a:t>骨骼序列生成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37960" y="228600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4ECDC4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949440" y="2103120"/>
            <a:ext cx="1645920" cy="777240"/>
          </a:xfrm>
          <a:prstGeom prst="round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95160" y="2194560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FF"/>
                </a:solidFill>
                <a:latin typeface="Microsoft YaHei"/>
              </a:defRPr>
            </a:pPr>
            <a:r>
              <a:t>GCN优化</a:t>
            </a:r>
            <a:br/>
            <a:r>
              <a:t>+对称性</a:t>
            </a:r>
            <a:br/>
            <a:r>
              <a:t>先验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49640" y="228600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4ECDC4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326880" y="2103120"/>
            <a:ext cx="1645920" cy="777240"/>
          </a:xfrm>
          <a:prstGeom prst="round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72600" y="2194560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FF"/>
                </a:solidFill>
                <a:latin typeface="Microsoft YaHei"/>
              </a:defRPr>
            </a:pPr>
            <a:r>
              <a:t>完整骨骼树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5760" y="3200400"/>
            <a:ext cx="11430000" cy="1371600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65760" y="3200400"/>
            <a:ext cx="11430000" cy="36576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32918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D700"/>
                </a:solidFill>
                <a:latin typeface="Microsoft YaHei"/>
              </a:defRPr>
            </a:pPr>
            <a:r>
              <a:t>Phase 2: 蒙皮权重（DL-first方案）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3611880"/>
            <a:ext cx="1645920" cy="777240"/>
          </a:xfrm>
          <a:prstGeom prst="round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3703320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FF"/>
                </a:solidFill>
                <a:latin typeface="Microsoft YaHei"/>
              </a:defRPr>
            </a:pPr>
            <a:r>
              <a:t>骨骼树</a:t>
            </a:r>
            <a:br/>
            <a:r>
              <a:t>+Mesh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48840" y="3749039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D700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560320" y="3611880"/>
            <a:ext cx="1645920" cy="777240"/>
          </a:xfrm>
          <a:prstGeom prst="round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606040" y="3703320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FF"/>
                </a:solidFill>
                <a:latin typeface="Microsoft YaHei"/>
              </a:defRPr>
            </a:pPr>
            <a:r>
              <a:t>UniRig/DL</a:t>
            </a:r>
            <a:br/>
            <a:r>
              <a:t>直接预测</a:t>
            </a:r>
            <a:br/>
            <a:r>
              <a:t>初始权重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60520" y="3749039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D700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0" y="3611880"/>
            <a:ext cx="1645920" cy="777240"/>
          </a:xfrm>
          <a:prstGeom prst="round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617720" y="3703320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FF"/>
                </a:solidFill>
                <a:latin typeface="Microsoft YaHei"/>
              </a:defRPr>
            </a:pPr>
            <a:r>
              <a:t>Geodesic</a:t>
            </a:r>
            <a:br/>
            <a:r>
              <a:t>Voxel修正</a:t>
            </a:r>
            <a:br/>
            <a:r>
              <a:t>边缘case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72200" y="3749039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D700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949440" y="3611880"/>
            <a:ext cx="2194560" cy="777240"/>
          </a:xfrm>
          <a:prstGeom prst="round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995160" y="370332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FF"/>
                </a:solidFill>
                <a:latin typeface="Microsoft YaHei"/>
              </a:defRPr>
            </a:pPr>
            <a:r>
              <a:t>最终权重</a:t>
            </a:r>
            <a:br/>
            <a:r>
              <a:t>W ∈ ℝ^(|V|×|J|)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65760" y="4709160"/>
            <a:ext cx="11430000" cy="1188720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65760" y="4709160"/>
            <a:ext cx="11430000" cy="36576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8640" y="48006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ECC71"/>
                </a:solidFill>
                <a:latin typeface="Microsoft YaHei"/>
              </a:defRPr>
            </a:pPr>
            <a:r>
              <a:t>Phase 3: 引擎集成与优化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48640" y="5074920"/>
            <a:ext cx="2011680" cy="685800"/>
          </a:xfrm>
          <a:prstGeom prst="round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94360" y="5120640"/>
            <a:ext cx="19202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FF"/>
                </a:solidFill>
                <a:latin typeface="Microsoft YaHei"/>
              </a:defRPr>
            </a:pPr>
            <a:r>
              <a:t>FBX/USD导出</a:t>
            </a:r>
            <a:br/>
            <a:r>
              <a:t>兼容主流引擎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514600" y="521208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ECC71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926080" y="5074920"/>
            <a:ext cx="2011680" cy="685800"/>
          </a:xfrm>
          <a:prstGeom prst="round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971800" y="5120640"/>
            <a:ext cx="19202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FF"/>
                </a:solidFill>
                <a:latin typeface="Microsoft YaHei"/>
              </a:defRPr>
            </a:pPr>
            <a:r>
              <a:t>UE5 ML Deformer</a:t>
            </a:r>
            <a:br/>
            <a:r>
              <a:t>训练优化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892040" y="521208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ECC71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303520" y="5074920"/>
            <a:ext cx="2011680" cy="685800"/>
          </a:xfrm>
          <a:prstGeom prst="round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349240" y="5120640"/>
            <a:ext cx="19202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FF"/>
                </a:solidFill>
                <a:latin typeface="Microsoft YaHei"/>
              </a:defRPr>
            </a:pPr>
            <a:r>
              <a:t>运行时实时</a:t>
            </a:r>
            <a:br/>
            <a:r>
              <a:t>推理部署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269480" y="521208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ECC71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680960" y="5074920"/>
            <a:ext cx="2011680" cy="685800"/>
          </a:xfrm>
          <a:prstGeom prst="round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726680" y="5120640"/>
            <a:ext cx="19202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FF"/>
                </a:solidFill>
                <a:latin typeface="Microsoft YaHei"/>
              </a:defRPr>
            </a:pPr>
            <a:r>
              <a:t>质量验证</a:t>
            </a:r>
            <a:br/>
            <a:r>
              <a:t>+ 迭代优化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646920" y="521208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ECC71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9875520" y="5074920"/>
            <a:ext cx="2011680" cy="685800"/>
          </a:xfrm>
          <a:prstGeom prst="round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921240" y="5120640"/>
            <a:ext cx="19202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FF"/>
                </a:solidFill>
                <a:latin typeface="Microsoft YaHei"/>
              </a:defRPr>
            </a:pPr>
            <a:r>
              <a:t>生产就绪</a:t>
            </a:r>
            <a:br/>
            <a:r>
              <a:t>完整管线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65760" y="603504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4ECDC4"/>
                </a:solidFill>
                <a:latin typeface="Microsoft YaHei"/>
              </a:defRPr>
            </a:pPr>
            <a:r>
              <a:t>核心优势：① UniRig自回归Transformer提升骨骼泛化能力215%  ② DL-first蒙皮+Geodesic Voxel修正兼顾精度和鲁棒性  ③ UE5 ML Deformer保证影视级质量  ④ MIT许可无商业限制  ⑤ 扩散模型预研面向通用化未来</a:t>
            </a:r>
          </a:p>
        </p:txBody>
      </p:sp>
      <p:sp>
        <p:nvSpPr>
          <p:cNvPr id="57" name="Rectangle 56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707088"/>
                </a:solidFill>
                <a:latin typeface="Microsoft YaHei"/>
              </a:defRPr>
            </a:pPr>
            <a:r>
              <a:t>19/24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Microsoft YaHei"/>
              </a:defRPr>
            </a:pPr>
            <a:r>
              <a:t>05 高校合作立项 — 研究目标与课题设计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749808"/>
            <a:ext cx="1645920" cy="36576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841248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Microsoft YaHei"/>
              </a:defRPr>
            </a:pPr>
            <a:r>
              <a:t>以UniRig为基线的改进研究方向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" y="1371600"/>
            <a:ext cx="3749039" cy="219456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463040"/>
            <a:ext cx="34747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DC4"/>
                </a:solidFill>
                <a:latin typeface="Microsoft YaHei"/>
              </a:defRPr>
            </a:pPr>
            <a:r>
              <a:t>◆ 课题一：通用骨骼生成增强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783080"/>
            <a:ext cx="3474719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1828800"/>
            <a:ext cx="3474719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1">
                <a:solidFill>
                  <a:srgbClr val="4ECDC4"/>
                </a:solidFill>
                <a:latin typeface="Microsoft YaHei"/>
              </a:defRPr>
            </a:pPr>
            <a:r>
              <a:t>研究目标：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在UniRig基础上进一步提升通用骨骼生成的精度和泛化能力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4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1">
                <a:solidFill>
                  <a:srgbClr val="FFD700"/>
                </a:solidFill>
                <a:latin typeface="Microsoft YaHei"/>
              </a:defRPr>
            </a:pPr>
            <a:r>
              <a:t>技术路线：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基于UniRig（Skeleton Tree Tokenization + Autoregressive）扩展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引入对称性检测先验增强骨骼拓扑一致性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连续物种嵌入空间设计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元学习快速适应新物种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06240" y="1371600"/>
            <a:ext cx="3749039" cy="219456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43400" y="1463040"/>
            <a:ext cx="34747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D700"/>
                </a:solidFill>
                <a:latin typeface="Microsoft YaHei"/>
              </a:defRPr>
            </a:pPr>
            <a:r>
              <a:t>◆ 课题二：高质量神经蒙皮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43400" y="1783080"/>
            <a:ext cx="3474719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43400" y="1828800"/>
            <a:ext cx="3474719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1">
                <a:solidFill>
                  <a:srgbClr val="4ECDC4"/>
                </a:solidFill>
                <a:latin typeface="Microsoft YaHei"/>
              </a:defRPr>
            </a:pPr>
            <a:r>
              <a:t>研究目标：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实现DL-first蒙皮方案，接近手工绑定质量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4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1">
                <a:solidFill>
                  <a:srgbClr val="FFD700"/>
                </a:solidFill>
                <a:latin typeface="Microsoft YaHei"/>
              </a:defRPr>
            </a:pPr>
            <a:r>
              <a:t>技术路线：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UniRig/DL直接预测初始权重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Geodesic Voxel修正边缘case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LBS Artifact感知损失函数设计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自监督一致性约束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1371600"/>
            <a:ext cx="3749039" cy="219456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75320" y="1463040"/>
            <a:ext cx="34747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ECC71"/>
                </a:solidFill>
                <a:latin typeface="Microsoft YaHei"/>
              </a:defRPr>
            </a:pPr>
            <a:r>
              <a:t>◆ 课题三：端到端实时绑定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75320" y="1783080"/>
            <a:ext cx="3474719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75320" y="1828800"/>
            <a:ext cx="3474719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1">
                <a:solidFill>
                  <a:srgbClr val="4ECDC4"/>
                </a:solidFill>
                <a:latin typeface="Microsoft YaHei"/>
              </a:defRPr>
            </a:pPr>
            <a:r>
              <a:t>研究目标：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实现&lt;100ms实时自动绑定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4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1">
                <a:solidFill>
                  <a:srgbClr val="FFD700"/>
                </a:solidFill>
                <a:latin typeface="Microsoft YaHei"/>
              </a:defRPr>
            </a:pPr>
            <a:r>
              <a:t>技术路线：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轻量化UniRig网络设计(&lt;1M参数)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TensorRT推理优化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解析方法+学习修正混合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移动端NPU部署适配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384048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F0A2C"/>
                </a:solidFill>
                <a:latin typeface="Microsoft YaHei"/>
              </a:defRPr>
            </a:pPr>
            <a:r>
              <a:t>▎预期创新点与学术贡献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365760" y="4160520"/>
          <a:ext cx="114300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4572000"/>
                <a:gridCol w="457200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创新点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学术贡献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产业价值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基于UniRig的通用骨骼增强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在SIGGRAPH 2025基础上进一步提升精度和泛化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UGC/元宇宙海量角色绑定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DL-first蒙皮方案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DL直接预测+几何修正的混合新范式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游戏/影视生产管线提效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实时推理方案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100ms内完成绑定的新方法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游戏内实时角色定制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自监督训练范式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减少90%标注数据需求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降低训练成本，加速落地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多物种统一框架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连续物种嵌入+元学习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支持游戏全品类角色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</a:tbl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365760" y="6400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4ECDC4"/>
                </a:solidFill>
                <a:latin typeface="Microsoft YaHei"/>
              </a:defRPr>
            </a:pPr>
            <a:r>
              <a:t>核心思路：以UniRig（SIGGRAPH 2025，Skeleton Tree Tokenization+Autoregressive Transformer）为基线，引入Transformer/GNN/扩散模型等前沿技术，实现通用化+高质量+实时化的突破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707088"/>
                </a:solidFill>
                <a:latin typeface="Microsoft YaHei"/>
              </a:defRPr>
            </a:pPr>
            <a:r>
              <a:t>20/24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Microsoft YaHei"/>
              </a:defRPr>
            </a:pPr>
            <a:r>
              <a:t>05 高校合作立项 — 里程碑规划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749808"/>
            <a:ext cx="1645920" cy="36576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841248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Microsoft YaHei"/>
              </a:defRPr>
            </a:pPr>
            <a:r>
              <a:t>15个月研究计划（含buffer和Go/No-Go评审节点）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" y="1371600"/>
            <a:ext cx="2788920" cy="301752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463040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DC4"/>
                </a:solidFill>
                <a:latin typeface="Microsoft YaHei"/>
              </a:defRPr>
            </a:pPr>
            <a:r>
              <a:t>◆ Phase 1: 基线搭建 (M1-M4)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783080"/>
            <a:ext cx="251460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1828800"/>
            <a:ext cx="2514600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复现UniRig基线模型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构建统一评估基准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数据集收集与清洗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文献综述完成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D700"/>
                </a:solidFill>
                <a:latin typeface="Microsoft YaHei"/>
              </a:defRPr>
            </a:pPr>
            <a:r>
              <a:t>● M3+2周buffer + Go/No-Go评审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4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4ECDC4"/>
                </a:solidFill>
                <a:latin typeface="Microsoft YaHei"/>
              </a:defRPr>
            </a:pPr>
            <a:r>
              <a:t>交付：UniRig基线代码+评估脚本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228600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4ECDC4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46120" y="1371600"/>
            <a:ext cx="2788920" cy="301752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83280" y="1463040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D700"/>
                </a:solidFill>
                <a:latin typeface="Microsoft YaHei"/>
              </a:defRPr>
            </a:pPr>
            <a:r>
              <a:t>◆ Phase 2: 通用骨骼 (M5-M8)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83280" y="1783080"/>
            <a:ext cx="251460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83280" y="1828800"/>
            <a:ext cx="2514600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UniRig自回归架构扩展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对称性检测先验引入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非人形数据集扩充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初步实验与消融分析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D700"/>
                </a:solidFill>
                <a:latin typeface="Microsoft YaHei"/>
              </a:defRPr>
            </a:pPr>
            <a:r>
              <a:t>● M7+2周buffer + Go/No-Go评审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4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4ECDC4"/>
                </a:solidFill>
                <a:latin typeface="Microsoft YaHei"/>
              </a:defRPr>
            </a:pPr>
            <a:r>
              <a:t>交付：论文初稿+骨骼模型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89320" y="228600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D700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1371600"/>
            <a:ext cx="2788920" cy="301752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55080" y="1463040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ECC71"/>
                </a:solidFill>
                <a:latin typeface="Microsoft YaHei"/>
              </a:defRPr>
            </a:pPr>
            <a:r>
              <a:t>◆ Phase 3: 高质量蒙皮 (M9-M12)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55080" y="1783080"/>
            <a:ext cx="251460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55080" y="1828800"/>
            <a:ext cx="2514600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DL-first蒙皮方案实现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Geodesic Voxel边缘case修正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自监督训练策略验证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LBS Artifact评估体系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D700"/>
                </a:solidFill>
                <a:latin typeface="Microsoft YaHei"/>
              </a:defRPr>
            </a:pPr>
            <a:r>
              <a:t>● M11+2周buffer + Go/No-Go评审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4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4ECDC4"/>
                </a:solidFill>
                <a:latin typeface="Microsoft YaHei"/>
              </a:defRPr>
            </a:pPr>
            <a:r>
              <a:t>交付：蒙皮模型+对比实验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61120" y="228600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ECC71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89720" y="1371600"/>
            <a:ext cx="2788920" cy="301752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26880" y="1463040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9B59B6"/>
                </a:solidFill>
                <a:latin typeface="Microsoft YaHei"/>
              </a:defRPr>
            </a:pPr>
            <a:r>
              <a:t>◆ Phase 4: 系统集成 (M13-M15)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326880" y="1783080"/>
            <a:ext cx="251460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326880" y="1828800"/>
            <a:ext cx="2514600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端到端管线集成与优化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UE5插件原型开发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实时推理优化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论文投稿+开源发布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D700"/>
                </a:solidFill>
                <a:latin typeface="Microsoft YaHei"/>
              </a:defRPr>
            </a:pPr>
            <a:r>
              <a:t>● M15最终验收评审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4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4ECDC4"/>
                </a:solidFill>
                <a:latin typeface="Microsoft YaHei"/>
              </a:defRPr>
            </a:pPr>
            <a:r>
              <a:t>交付：完整系统+论文+开源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46634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D700"/>
                </a:solidFill>
                <a:latin typeface="Microsoft YaHei"/>
              </a:defRPr>
            </a:pPr>
            <a:r>
              <a:t>▎预期交付成果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365760" y="4983480"/>
          <a:ext cx="11430000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5029200"/>
                <a:gridCol w="1371600"/>
                <a:gridCol w="365760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成果类型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具体内容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数量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质量要求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学术论文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SIGGRAPH/ACM TOG/CVPR顶级会议/期刊论文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2-3篇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CCF-A类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开源代码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完整Auto-Rigging框架，含训练/推理/评估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1套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GitHub Star 500+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数据集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多物种角色绑定数据集（含非人形）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1套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1000+模型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引擎插件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UE5/Blender自动绑定插件原型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2个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可用Demo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专利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通用骨骼生成/混合蒙皮相关发明专利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2-3项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已受理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技术报告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完整技术方案文档与评估报告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1份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含对比实验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</a:tbl>
          </a:graphicData>
        </a:graphic>
      </p:graphicFrame>
      <p:sp>
        <p:nvSpPr>
          <p:cNvPr id="28" name="Rectangle 27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707088"/>
                </a:solidFill>
                <a:latin typeface="Microsoft YaHei"/>
              </a:defRPr>
            </a:pPr>
            <a:r>
              <a:t>21/24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Microsoft YaHei"/>
              </a:defRPr>
            </a:pPr>
            <a:r>
              <a:t>05 高校合作立项 — 资源需求与风险管理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749808"/>
            <a:ext cx="1645920" cy="36576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841248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Microsoft YaHei"/>
              </a:defRPr>
            </a:pPr>
            <a:r>
              <a:t>确保研究顺利推进的保障措施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2801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DC4"/>
                </a:solidFill>
                <a:latin typeface="Microsoft YaHei"/>
              </a:defRPr>
            </a:pPr>
            <a:r>
              <a:t>▎资源需求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" y="1554480"/>
            <a:ext cx="2788920" cy="201168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1645920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DC4"/>
                </a:solidFill>
                <a:latin typeface="Microsoft YaHei"/>
              </a:defRPr>
            </a:pPr>
            <a:r>
              <a:t>◆ 计算资源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965960"/>
            <a:ext cx="251460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" y="2011680"/>
            <a:ext cx="25146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GPU: 8×A100 80GB（训练）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GPU: 2×RTX 4090（推理验证）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存储: 10TB+（数据集+模型）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D700"/>
                </a:solidFill>
                <a:latin typeface="Microsoft YaHei"/>
              </a:defRPr>
            </a:pPr>
            <a:r>
              <a:t>● 预算: ~¥50-80万/年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46120" y="1554480"/>
            <a:ext cx="2788920" cy="201168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83280" y="1645920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D700"/>
                </a:solidFill>
                <a:latin typeface="Microsoft YaHei"/>
              </a:defRPr>
            </a:pPr>
            <a:r>
              <a:t>◆ 人力资源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83280" y="1965960"/>
            <a:ext cx="251460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83280" y="2011680"/>
            <a:ext cx="25146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博士生: 2名（核心研究）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硕士生: 3-4名（工程+实验）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工程师: 1名（系统集成）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企业导师: 1名（产业对接）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1554480"/>
            <a:ext cx="2788920" cy="201168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55080" y="1645920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ECC71"/>
                </a:solidFill>
                <a:latin typeface="Microsoft YaHei"/>
              </a:defRPr>
            </a:pPr>
            <a:r>
              <a:t>◆ 数据资源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55080" y="1965960"/>
            <a:ext cx="251460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5080" y="2011680"/>
            <a:ext cx="25146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公开数据集: UniRig/RigNet/Mixamo/D4D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企业内部数据: 游戏角色资产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合成数据: SMPL/SMAL参数化生成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标注工具: 半自动标注管线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89720" y="1554480"/>
            <a:ext cx="2788920" cy="201168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26880" y="1645920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9B59B6"/>
                </a:solidFill>
                <a:latin typeface="Microsoft YaHei"/>
              </a:defRPr>
            </a:pPr>
            <a:r>
              <a:t>◆ 合作模式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0" y="1965960"/>
            <a:ext cx="251460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26880" y="2011680"/>
            <a:ext cx="25146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联合实验室：长期合作平台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课题委托：具体课题付费研究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人才联合培养：实习+就业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IP共享：专利+论文联合署名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384048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D700"/>
                </a:solidFill>
                <a:latin typeface="Microsoft YaHei"/>
              </a:defRPr>
            </a:pPr>
            <a:r>
              <a:t>▎风险管理矩阵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365760" y="4160520"/>
          <a:ext cx="114300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731520"/>
                <a:gridCol w="731520"/>
                <a:gridCol w="813816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风险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概率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影响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应对策略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训练数据不足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高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高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合成数据+自监督+迁移学习三重保障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非人形泛化差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中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高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渐进式扩展：人形→四足→异形，元学习快速适应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实时性能不达标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中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中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模型蒸馏+TensorRT+解析方法备用方案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论文发表困难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低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中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多会议/期刊并行投稿，备选CCF-B/C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引擎集成复杂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中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低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分阶段集成，先验证核心功能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产业落地差距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中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高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企业导师全程参与，定期产业评审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IP/许可证风险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中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高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主选UniRig(MIT)规避RigNet(GPLv3)商业风险，法务审核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数据版权/合规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中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高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仅使用开源/合成数据，企业数据签署授权协议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核心人员流失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低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高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双导师制+竞争性补贴+论文激励+知识产权保护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</a:tbl>
          </a:graphicData>
        </a:graphic>
      </p:graphicFrame>
      <p:sp>
        <p:nvSpPr>
          <p:cNvPr id="26" name="Rectangle 25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707088"/>
                </a:solidFill>
                <a:latin typeface="Microsoft YaHei"/>
              </a:defRPr>
            </a:pPr>
            <a:r>
              <a:t>22/24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Microsoft YaHei"/>
              </a:defRPr>
            </a:pPr>
            <a:r>
              <a:t>05 高校合作立项 — 经费预算明细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749808"/>
            <a:ext cx="1645920" cy="36576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841248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Microsoft YaHei"/>
              </a:defRPr>
            </a:pPr>
            <a:r>
              <a:t>年度预算分解与ROI分析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2801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F0A2C"/>
                </a:solidFill>
                <a:latin typeface="Microsoft YaHei"/>
              </a:defRPr>
            </a:pPr>
            <a:r>
              <a:t>▎年度经费预算分解（¥100-170万/年）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74320" y="1645920"/>
          <a:ext cx="1161288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3200400"/>
                <a:gridCol w="1371600"/>
                <a:gridCol w="914400"/>
                <a:gridCol w="475488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预算科目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明细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年度预算（万元）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占比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说明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计算资源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GPU云服务器租赁（8×A100 + 2×4090）</a:t>
                      </a:r>
                    </a:p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电费+机房+网络带宽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50-80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40-50%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按需弹性扩缩，峰值训练期加量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研究人员补贴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2名博士生 + 3-4名硕士生</a:t>
                      </a:r>
                    </a:p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生活补贴+绩效奖金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30-50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25-30%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竞争性补贴吸引优质生源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数据采集/标注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合成数据生成 + 半自动标注</a:t>
                      </a:r>
                    </a:p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数据清洗+质量验证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10-20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10%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主要使用开源/合成数据控制成本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软件许可证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Maya/UE5/ZBrush等</a:t>
                      </a:r>
                    </a:p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数据管理+版本控制工具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5-10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5-6%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教育版优惠+开源替代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学术交流/差旅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国际会议（SIGGRAPH/CVPR）</a:t>
                      </a:r>
                    </a:p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合作高校互访+Workshop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5-10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5-6%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确保论文发表和学术影响力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65760" y="39319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D700"/>
                </a:solidFill>
                <a:latin typeface="Microsoft YaHei"/>
              </a:defRPr>
            </a:pPr>
            <a:r>
              <a:t>▎预算结构概览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34340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4ECDC4"/>
                </a:solidFill>
                <a:latin typeface="Microsoft YaHei"/>
              </a:defRPr>
            </a:pPr>
            <a:r>
              <a:t>计算资源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45920" y="4389120"/>
            <a:ext cx="2560320" cy="182880"/>
          </a:xfrm>
          <a:prstGeom prst="roundRect">
            <a:avLst/>
          </a:prstGeom>
          <a:solidFill>
            <a:srgbClr val="4EC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97680" y="43434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CCCCC"/>
                </a:solidFill>
                <a:latin typeface="Microsoft YaHei"/>
              </a:defRPr>
            </a:pPr>
            <a:r>
              <a:t>¥50-80万 (40-50%)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72744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D700"/>
                </a:solidFill>
                <a:latin typeface="Microsoft YaHei"/>
              </a:defRPr>
            </a:pPr>
            <a:r>
              <a:t>研究人员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645920" y="4773168"/>
            <a:ext cx="1920239" cy="182880"/>
          </a:xfrm>
          <a:prstGeom prst="round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599" y="472744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CCCCC"/>
                </a:solidFill>
                <a:latin typeface="Microsoft YaHei"/>
              </a:defRPr>
            </a:pPr>
            <a:r>
              <a:t>¥30-50万 (25-30%)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111496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ECC71"/>
                </a:solidFill>
                <a:latin typeface="Microsoft YaHei"/>
              </a:defRPr>
            </a:pPr>
            <a:r>
              <a:t>数据采集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645920" y="5157216"/>
            <a:ext cx="960119" cy="182880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697479" y="5111496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CCCCC"/>
                </a:solidFill>
                <a:latin typeface="Microsoft YaHei"/>
              </a:defRPr>
            </a:pPr>
            <a:r>
              <a:t>¥10-20万 (10%)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549554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9B59B6"/>
                </a:solidFill>
                <a:latin typeface="Microsoft YaHei"/>
              </a:defRPr>
            </a:pPr>
            <a:r>
              <a:t>软件许可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645920" y="5541264"/>
            <a:ext cx="512063" cy="182880"/>
          </a:xfrm>
          <a:prstGeom prst="round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249423" y="5495544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CCCCC"/>
                </a:solidFill>
                <a:latin typeface="Microsoft YaHei"/>
              </a:defRPr>
            </a:pPr>
            <a:r>
              <a:t>¥5-10万 (5-6%)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87959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4B5F6"/>
                </a:solidFill>
                <a:latin typeface="Microsoft YaHei"/>
              </a:defRPr>
            </a:pPr>
            <a:r>
              <a:t>学术交流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645920" y="5925312"/>
            <a:ext cx="512063" cy="182880"/>
          </a:xfrm>
          <a:prstGeom prst="roundRect">
            <a:avLst/>
          </a:prstGeom>
          <a:solidFill>
            <a:srgbClr val="64B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249423" y="5879592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CCCCC"/>
                </a:solidFill>
                <a:latin typeface="Microsoft YaHei"/>
              </a:defRPr>
            </a:pPr>
            <a:r>
              <a:t>¥5-10万 (5-6%)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17920" y="39319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ECC71"/>
                </a:solidFill>
                <a:latin typeface="Microsoft YaHei"/>
              </a:defRPr>
            </a:pPr>
            <a:r>
              <a:t>▎ROI分析 — 投入产出评估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6217920" y="4251960"/>
          <a:ext cx="54864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097280"/>
                <a:gridCol w="1645920"/>
                <a:gridCol w="137160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投入项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年度投入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预期产出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价值评估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¥100-170万/年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总预算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2-3篇顶会论文（学术声誉）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论文引用≥100次/年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1套开源框架（社区影响）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GitHub Star ≥ 500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2-3项发明专利（IP资产）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构建技术壁垒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2个引擎插件（产业价值）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赋能内部产品线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6-8名研究生（人才储备）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优先招聘权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</a:tbl>
          </a:graphicData>
        </a:graphic>
      </p:graphicFrame>
      <p:sp>
        <p:nvSpPr>
          <p:cNvPr id="27" name="Rounded Rectangle 26"/>
          <p:cNvSpPr/>
          <p:nvPr/>
        </p:nvSpPr>
        <p:spPr>
          <a:xfrm>
            <a:off x="365760" y="6309360"/>
            <a:ext cx="11430000" cy="457200"/>
          </a:xfrm>
          <a:prstGeom prst="roundRect">
            <a:avLst/>
          </a:prstGeom>
          <a:solidFill>
            <a:srgbClr val="16213E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63550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ECC71"/>
                </a:solidFill>
                <a:latin typeface="Microsoft YaHei"/>
              </a:defRPr>
            </a:pPr>
            <a:r>
              <a:t>ROI关键指标：单篇顶会论文成本~¥30-50万（行业平均¥50-100万）  |  开源框架带来的技术影响力远超直接投入  |  专利+插件形成的产业赋能价值难以直接量化但战略意义重大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707088"/>
                </a:solidFill>
                <a:latin typeface="Microsoft YaHei"/>
              </a:defRPr>
            </a:pPr>
            <a:r>
              <a:t>23/24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Microsoft YaHei"/>
              </a:defRPr>
            </a:pPr>
            <a:r>
              <a:t>总结与建议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0058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F0A2C"/>
                </a:solidFill>
                <a:latin typeface="Microsoft YaHei"/>
              </a:defRPr>
            </a:pPr>
            <a:r>
              <a:t>Auto-Rigging是3D内容生产管线的关键使能技术，AI驱动是确定性趋势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65760" cy="365760"/>
          </a:xfrm>
          <a:prstGeom prst="round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673352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166420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F0A2C"/>
                </a:solidFill>
                <a:latin typeface="Microsoft YaHei"/>
              </a:defRPr>
            </a:pPr>
            <a:r>
              <a:t>行业痛点明确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0" y="16916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手工绑定效率低、门槛高、无法规模化，Auto-Rigging是3D内容生产的刚需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240280"/>
            <a:ext cx="365760" cy="365760"/>
          </a:xfrm>
          <a:prstGeom prst="round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267712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225856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D700"/>
                </a:solidFill>
                <a:latin typeface="Microsoft YaHei"/>
              </a:defRPr>
            </a:pPr>
            <a:r>
              <a:t>技术路线清晰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22860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AI驱动（UniRig改进+DL-first蒙皮）是最佳方向，精度提升215%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2834640"/>
            <a:ext cx="365760" cy="365760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862072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285292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ECC71"/>
                </a:solidFill>
                <a:latin typeface="Microsoft YaHei"/>
              </a:defRPr>
            </a:pPr>
            <a:r>
              <a:t>产学研机会大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288036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通用非人形绑定、实时绑定、面部绑定均有大量学术创新空间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3429000"/>
            <a:ext cx="365760" cy="365760"/>
          </a:xfrm>
          <a:prstGeom prst="round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3456432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3447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9B59B6"/>
                </a:solidFill>
                <a:latin typeface="Microsoft YaHei"/>
              </a:defRPr>
            </a:pPr>
            <a:r>
              <a:t>产业价值巨大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0" y="34747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游戏/影视/元宇宙/UGC/电商等场景对自动绑定需求爆发式增长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4023360"/>
            <a:ext cx="365760" cy="365760"/>
          </a:xfrm>
          <a:prstGeom prst="roundRect">
            <a:avLst/>
          </a:prstGeom>
          <a:solidFill>
            <a:srgbClr val="F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4050792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80160" y="404164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4444"/>
                </a:solidFill>
                <a:latin typeface="Microsoft YaHei"/>
              </a:defRPr>
            </a:pPr>
            <a:r>
              <a:t>竞争格局有利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0" y="406908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UniRig(MIT许可)提供商业可行基线，抢先布局建立技术壁垒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47548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F0A2C"/>
                </a:solidFill>
                <a:latin typeface="Microsoft YaHei"/>
              </a:defRPr>
            </a:pPr>
            <a:r>
              <a:t>▎下一步行动计划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731520" y="5074920"/>
          <a:ext cx="9052560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"/>
                <a:gridCol w="3200400"/>
                <a:gridCol w="1828800"/>
                <a:gridCol w="1371600"/>
                <a:gridCol w="228600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#</a:t>
                      </a:r>
                    </a:p>
                  </a:txBody>
                  <a:tcPr>
                    <a:solidFill>
                      <a:srgbClr val="CF0A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行动项</a:t>
                      </a:r>
                    </a:p>
                  </a:txBody>
                  <a:tcPr>
                    <a:solidFill>
                      <a:srgbClr val="CF0A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负责人</a:t>
                      </a:r>
                    </a:p>
                  </a:txBody>
                  <a:tcPr>
                    <a:solidFill>
                      <a:srgbClr val="CF0A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时间</a:t>
                      </a:r>
                    </a:p>
                  </a:txBody>
                  <a:tcPr>
                    <a:solidFill>
                      <a:srgbClr val="CF0A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交付物</a:t>
                      </a:r>
                    </a:p>
                  </a:txBody>
                  <a:tcPr>
                    <a:solidFill>
                      <a:srgbClr val="CF0A2C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确定合作高校与研究团队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技术总监+HR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第1-2周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合作意向书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签署联合实验室协议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法务+高校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第3-4周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正式合作协议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启动Phase 1：UniRig基线搭建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研究团队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第5-8周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可运行基线代码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数据集收集与清洗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工程师+学生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第5-12周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标准化数据集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申请研究经费与计算资源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项目经理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第1-4周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资源到位确认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6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建立周报/月报+Go/No-Go评审机制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项目经理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第1周起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评审报告模板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</a:tbl>
          </a:graphicData>
        </a:graphic>
      </p:graphicFrame>
      <p:sp>
        <p:nvSpPr>
          <p:cNvPr id="27" name="TextBox 26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707088"/>
                </a:solidFill>
                <a:latin typeface="Microsoft YaHei"/>
              </a:defRPr>
            </a:pPr>
            <a:r>
              <a:t>24/24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