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" cy="32004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CF0A2C"/>
                </a:solidFill>
                <a:latin typeface="Microsoft YaHei"/>
              </a:defRPr>
            </a:pPr>
            <a:r>
              <a:t>NEURAL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神精材质渲染在游戏中的应用 — 技术洞察报告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AI驱动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PBR增强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材质生成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神经纹理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实时渲染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报告类型：技术洞察与产业评估报告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调研范围：Neural Texture Compression / NeRF / 3DGS / Diffusion Material / Neural BRDF / 可微分渲染 / Substance AI / Meshy AI / UE5 / Unity / NVIDIA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核心内容：产业真相 · 技术路线深度对比 · AI工具评估 · 性能约束分析 · 选型建议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编制日期：2026年06月03日    |    文档密级：内部公开    |    v2.0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核心发现与建议概览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49039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🎯 核心发现1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56616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AI材质工具是当前最有价值的投入方向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（非实时Neural Rendering）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0">
                <a:solidFill>
                  <a:srgbClr val="CF0A2C"/>
                </a:solidFill>
                <a:latin typeface="Microsoft YaHei"/>
              </a:defRPr>
            </a:pPr>
            <a:r>
              <a:t>Pipeline Tool &gt; Runtime Shader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749039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🏆 核心发现2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56616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PBR数学模型(GGX/Lambert)已足够好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准确且极快，神经网络在实时渲染中无优势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0">
                <a:solidFill>
                  <a:srgbClr val="4ECDC4"/>
                </a:solidFill>
                <a:latin typeface="Microsoft YaHei"/>
              </a:defRPr>
            </a:pPr>
            <a:r>
              <a:t>数学 &gt; 神经网络(在Runtime)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749039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💰 核心发现3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56616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AI材质生成工具PBR合规仅50-70分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需人工把关，可辅助不可替代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各工具综合评分50-70/100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▎关键数据速览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114300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3D渲染市场规模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DC4"/>
                </a:solidFill>
                <a:latin typeface="Microsoft YaHei"/>
              </a:defRPr>
            </a:pPr>
            <a:r>
              <a:t>$68亿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2024年(含动画/VFX)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114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AI材质工具节省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343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20-30%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材质人力成本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114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商业游戏实时Neural材质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343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F0A2C"/>
                </a:solidFill>
                <a:latin typeface="Microsoft YaHei"/>
              </a:defRPr>
            </a:pPr>
            <a:r>
              <a:t>0个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54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无任何已发布游戏使用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166360"/>
            <a:ext cx="11430000" cy="10058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★ 一句话结论：Neural在材质领域最有价值的位置是Pipeline，不是Runtime</a:t>
            </a:r>
            <a:br/>
            <a:r>
              <a:t>★ 投资优先级：AI材质工具集成 &gt;&gt; Neural BRDF研究 &gt;&gt; 实时Neural Rendering</a:t>
            </a:r>
            <a:br/>
            <a:r>
              <a:t>★ ROI差距：AI工具集成 vs Neural Rendering研究的ROI差距1-2个数量级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报告结构总览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898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为什么关注神经材质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痛点与价值 — 材质制作效率/扫描资产清理/变体爆炸/PBR合规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011680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2316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414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技术全景与关键玩家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术语矩阵/技术栈全景/关键玩家生态地图/产业生态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5296" y="3063240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47472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93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核心技术深度解析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Neural Texture Compression / NeRF材质分解 / Diffusion材质生成 / Neural BRDF / 引擎集成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5296" y="4114800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526279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4456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产业现状与真实评估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92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⚠️产业真相 / AI工具评估 / 性能预算 / TA需求匹配 / 选型决策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6" y="5166359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557784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961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建议与总结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技术路线图 / 挑战与瓶颈 / 核心建议 / 行动计划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为什么关注神经材质 — 行业痛点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材质生产管线中的核心瓶颈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材质制作效率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AAA游戏需200-500种独立材质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每种材质制作周期0.5-7天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AAA项目材质制作占总美术成本30-40%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AI批量生成可将时间压缩至分钟级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扫描资产清理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Photogrammetry去光照/对齐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耗时占管线60%+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扫描→PBR贴图转换依赖人工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AI自动清理可减少50-60%处理时间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变体爆炸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一个砖墙需50个变体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新/旧/湿/脏/破/烧/锈...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开放世界需10,000+材质变体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AI批量变体生成可节省80%人工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PBR合规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外包材质返工率30-50%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Albedo含光照残留/Normal方向错误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QC是材质管线瓶颈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AI自动PBR合规检测可降至10%返工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▎市场数据：规模与增长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全球3D渲染市场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DC4"/>
                </a:solidFill>
                <a:latin typeface="Microsoft YaHei"/>
              </a:defRPr>
            </a:pPr>
            <a:r>
              <a:t>~$68亿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2024年规模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3D渲染市场CAGR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  <a:latin typeface="Microsoft YaHei"/>
              </a:defRPr>
            </a:pPr>
            <a:r>
              <a:t>~22%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2024-2030预测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AI 3D生成市场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~$12亿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2024年规模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AI 3D生成CAGR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B59B6"/>
                </a:solidFill>
                <a:latin typeface="Microsoft YaHei"/>
              </a:defRPr>
            </a:pPr>
            <a:r>
              <a:t>~35%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2024-2030预测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* $68亿(含动画/VFX) — Grand View Research 2024 | $12亿 — MarketsandMarkets 2024 | CAGR数据同源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神经材质核心价值矩阵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效率 · 质量 · 成本 · 创新 四维价值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43200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效率提升 — 材质变体AI批量生成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AI批量变体生成节省80%人工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Text-to-Texture秒级生成概念材质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Substance AI一键生成全套PBR贴图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价值评级：Gold ★★★★★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质量提升 — AI辅助PBR合规检测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2880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外包返工率从30-50%降至10%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自动检测Albedo光照残留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自动检测Normal方向错误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价值评级：Red ★★★★★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成本降低 — 扫描资产AI自动清理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AI自动去光照/对齐/重照明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处理时间减少50-60%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扫描→PBR管线自动化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价值评级：Teal ★★★★★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743200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创新解锁 — Text-to-Material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UGC材质生成/风格迁移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文本描述→完整PBR材质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非专业用户也能创建材质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9B59B6"/>
                </a:solidFill>
                <a:latin typeface="Microsoft YaHei"/>
              </a:defRPr>
            </a:pPr>
            <a:r>
              <a:t>● 价值评级：Purple ★★★☆☆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▎核心应用场景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9768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材质概念探索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Text-to-Texture</a:t>
            </a:r>
            <a:br/>
            <a:r>
              <a:t>秒级概念生成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429768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1720" y="429768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扫描资产清理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7548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 Delight</a:t>
            </a:r>
            <a:br/>
            <a:r>
              <a:t>去光照自动化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29768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29768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变体批量生成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7548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AI批量50+</a:t>
            </a:r>
            <a:br/>
            <a:r>
              <a:t>变体一次性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29768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29768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PBR合规检测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548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自动QC</a:t>
            </a:r>
            <a:br/>
            <a:r>
              <a:t>返工率降至10%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29768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29768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材质LOD(远期方向)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7548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AI自动简化</a:t>
            </a:r>
            <a:br/>
            <a:r>
              <a:t>多级LOD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429768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95560" y="429768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风格迁移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47548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材质风格统一</a:t>
            </a:r>
            <a:br/>
            <a:r>
              <a:t>批量风格化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术语矩阵 — 什么是"神经材质渲染"?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概念厘清：不同"Neural"含义的技术路线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2004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术语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核心关注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输入→输出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典型工作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Material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表面外观表示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测量数据→Neural BRDF/BSSRDF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MLP拟合材质外观函数，替代参数化BRDF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Texture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纹理存储与采样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多PBR贴图→压缩MLP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NTC: 用小型MLP替代纹理采样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Rendering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图像合成方式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场景描述→最终像素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NeRF/可微分渲染/神经隐式表示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NeRF / 3DGS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场景级重建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多视角照片→场景模型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几何+材质+光照耦合的隐式/显式表示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▎关键区分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520440"/>
            <a:ext cx="3749039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6118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Neural Material vs NeRF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93192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977640"/>
            <a:ext cx="347471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Neural Material: 聚焦表面外观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不关心几何，只关心材质属性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NeRF/3DGS: 场景级表示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几何+材质+光照耦合在一起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材质分解是连接二者的桥梁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520440"/>
            <a:ext cx="3749039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6118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DLSS/FSR是Neural Post-Processing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93192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977640"/>
            <a:ext cx="347471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DLSS/FSR/XeSS本质是超分辨率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在后处理阶段提升分辨率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与材质渲染(Rendering)无关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不是Neural Material Rendering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520440"/>
            <a:ext cx="3749039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6118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"Neural"在材质领域的正确位置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93192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977640"/>
            <a:ext cx="347471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Pipeline Tool = 高价值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材质生成/变体/清理/合规检测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Runtime Shader = 低价值(当前)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性能开销远超收益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强调：本文所有"神精材质渲染"讨论均基于上述严格定义，不包含DLSS/FSR等后处理技术，也不包含AI动画/LOD等非材质领域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技术栈全景 — 三层成熟度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Tier 1 已落地 / Tier 2 研究中 / Tier 3 前沿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3000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30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Tier 1 已落地 (2024-2026) ★★★★★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AI材质生成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Substance AI</a:t>
            </a:r>
            <a:br/>
            <a:r>
              <a:t>Meshy/Scenario</a:t>
            </a:r>
            <a:br/>
            <a:r>
              <a:t>Text-to-Texture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19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Neural Texture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03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NVIDIA NTC</a:t>
            </a:r>
            <a:br/>
            <a:r>
              <a:t>SIGGRAPH 2023</a:t>
            </a:r>
            <a:br/>
            <a:r>
              <a:t>多PBR贴图联合压缩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DLSS / FSR / XeSS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Neural超分辨率</a:t>
            </a:r>
            <a:br/>
            <a:r>
              <a:t>后处理阶段</a:t>
            </a:r>
            <a:br/>
            <a:r>
              <a:t>所有主流平台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82880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874519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扫描→PBR管线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031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Polycam</a:t>
            </a:r>
            <a:br/>
            <a:r>
              <a:t>RealityCapture</a:t>
            </a:r>
            <a:br/>
            <a:r>
              <a:t>AI Delight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108960"/>
            <a:ext cx="1143000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108960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Tier 2 研究中 (2025-2028) ★★★☆☆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6616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118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Neural BRDF/BSSRDF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404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MLP拟合BRDF</a:t>
            </a:r>
            <a:br/>
            <a:r>
              <a:t>测量级精度</a:t>
            </a:r>
            <a:br/>
            <a:r>
              <a:t>蒙特卡洛瓶颈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56616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6118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可微分渲染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8404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nvdiffrast</a:t>
            </a:r>
            <a:br/>
            <a:r>
              <a:t>逆向材质估计</a:t>
            </a:r>
            <a:br/>
            <a:r>
              <a:t>照片→PBR参数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56616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6118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Diffusion材质编辑</a:t>
            </a:r>
            <a:br/>
            <a:r>
              <a:t>(ControlNet/LoRA)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Diffusion+ControlNet</a:t>
            </a:r>
            <a:br/>
            <a:r>
              <a:t>材质风格微调</a:t>
            </a:r>
            <a:br/>
            <a:r>
              <a:t>可控纹理合成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566160"/>
            <a:ext cx="26974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6118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Neural Relighting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8404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神经重照明</a:t>
            </a:r>
            <a:br/>
            <a:r>
              <a:t>任意光照条件下</a:t>
            </a:r>
            <a:br/>
            <a:r>
              <a:t>材质外观预测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846320"/>
            <a:ext cx="1143000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846320"/>
            <a:ext cx="114300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Tier 3 前沿 (2028+) ★★☆☆☆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03520"/>
            <a:ext cx="36118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3DGS实时材质分解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5778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GaussianShader</a:t>
            </a:r>
            <a:br/>
            <a:r>
              <a:t>GS-IR</a:t>
            </a:r>
            <a:br/>
            <a:r>
              <a:t>实时分解几何+材质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303520"/>
            <a:ext cx="36118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534924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Text-to-Material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5778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文本→完整PBR材质</a:t>
            </a:r>
            <a:br/>
            <a:r>
              <a:t>Diffusion驱动</a:t>
            </a:r>
            <a:br/>
            <a:r>
              <a:t>端到端生成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5303520"/>
            <a:ext cx="3611880" cy="9601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4924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全神经渲染管线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57784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端到端可微分</a:t>
            </a:r>
            <a:br/>
            <a:r>
              <a:t>材质+光照+几何</a:t>
            </a:r>
            <a:br/>
            <a:r>
              <a:t>联合优化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关键玩家与产业生态地图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硬件/平台 · 引擎 · AI工具 · 学术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88920" cy="45720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硬件/平台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NVIDIA (NTC/DLSS/RTX Neural)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50008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AMD (FSR/RDNA Ray Tracing)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34056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6148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Apple (Neural Engine/Metal)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18104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4553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Qualcomm (Snapdragon NPU)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02152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29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Intel (XeSS/Path Tracing)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371600"/>
            <a:ext cx="278892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389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游戏引擎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965960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993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UE5 (Substrate/ML Deformer)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350008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3774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Unity (Sentis/HDRP)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2734056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76148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Blender (Cycles/Eevee)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118104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14553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Godot (开源/Vulkan)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371600"/>
            <a:ext cx="278892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389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AI材质工具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965960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993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Adobe Substance 3D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350008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3774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Meshy AI (Text-to-Texture)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734056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76148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Polycam (扫描→PBR)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118104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4553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Scenario (游戏材质API)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502152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529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Leonardo.AI (材质生成)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1371600"/>
            <a:ext cx="278892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138988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学术界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1965960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9933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MIT CSAIL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81160" y="2350008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23774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Stanford Computational Imaging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2734056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276148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INRIA (nvdiffrast/3DGS)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81160" y="3118104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314553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清华大学 (UniRig/3DGS)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81160" y="3502152"/>
            <a:ext cx="2606040" cy="34747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352958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UC Berkeley / Princeton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▎关键技术关联图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48056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5262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扫描/照片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48463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Polycam</a:t>
            </a:r>
            <a:br/>
            <a:r>
              <a:t>RealityCapture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40279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60320" y="448056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33472" y="45262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AI清理/分解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33472" y="48463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AI Delight</a:t>
            </a:r>
            <a:br/>
            <a:r>
              <a:t>NeRF→PBR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39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54880" y="448056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28032" y="45262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材质生成/编辑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48463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Substance AI</a:t>
            </a:r>
            <a:br/>
            <a:r>
              <a:t>Meshy/Designer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399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448056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22592" y="45262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引擎集成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2592" y="48463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UE5/Unity</a:t>
            </a:r>
            <a:br/>
            <a:r>
              <a:t>PBR渲染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59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44000" y="448056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17152" y="45262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运行时优化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48463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NVIDIA NTC</a:t>
            </a:r>
            <a:br/>
            <a:r>
              <a:t>DLSS/FSR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生态格局：NVIDIA在Neural Material硬件层领先 | Adobe(Substance)在材质工具层领先 | UE5/Unity在引擎集成层领先</a:t>
            </a:r>
            <a:br/>
            <a:r>
              <a:t>关键趋势：AI工具层正在快速成熟，实时Neural层仍处于早期研究阶段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核心技术1 — Neural Texture Compression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NVIDIA NTC (SIGGRAPH 2023) 详解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NVIDIA NTC 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2120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● 论文："Random-Access Neural Compression of Material Textures"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核心思想：多PBR贴图联合压缩为小型MLP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运行时：MLP推理替代传统纹理采样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压缩率：4×更多纹素(同内存下)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同等质量下存储减少约75%(vs BC7)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推理速度：RTX 4090约1-2ms/帧(4K材质)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输入：Albedo+Normal+Roughness+Metallic等联合编码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MIP映射：MLP自然支持连续LOD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71600"/>
            <a:ext cx="5715000" cy="22860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⚠️ 关键局限 — 为什么没有商业游戏使用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4406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440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● 零商业游戏使用，仅NVIDIA技术Demo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主机(PS5/Xbox)无Tensor Core级专用加速 — MLP效率极低，帧预算内不可行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移动端完全不可用 — 算力差距约16-20x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工作流破坏性大 — 无法在Substance/Designer中编辑MLP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● 加载时间增加 — MLP权重需初始化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● 与现有材质管线(Substance→引擎)不兼容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● 跨平台不统一 — PC用NTC/主机用BC7→双版本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▎NTC vs 传统纹理压缩对比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25196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 (传统)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NTC (Neural)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压缩率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4:1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~16:1 (4x更好)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NTC胜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内存占用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减少约75%(同质量)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NTC胜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采样速度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&lt;0.1ms/帧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1-2ms/帧(RTX 4090)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BC7快10-20x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硬件支持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所有GPU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仅RTX 40系+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BC7完胜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工作流兼容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标准管线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需重建管线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BC7完胜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跨平台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全平台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仅高端PC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BC7完胜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可编辑性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DCC直接编辑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黑盒/不可编辑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BC7完胜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产业采用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100%游戏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0个商业游戏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BC7完胜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结论：NTC技术先进但产业ROI极低 — 跨平台不统一/需重建管线/投入产出不划算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核心技术2 — NeRF/3DGS材质分解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从场景重建到可复用材质资产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21031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NeRF / 3DGS 原理与材质分解挑战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2120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NeRF: 神经辐射场 — 隐式场景表示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Instant-NGP: 实时NeRF(30-60fps)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3DGS: 3D Gaussian Splatting(100-200fps)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材质分解核心挑战：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00E5FF"/>
                </a:solidFill>
                <a:latin typeface="Microsoft YaHei"/>
              </a:defRPr>
            </a:pPr>
            <a:r>
              <a:t>appearance = geometry × material × lighting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三者耦合，无法直接分离出纯材质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需要额外先验/约束才能分解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71600"/>
            <a:ext cx="5715000" cy="21031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关键变体：材质分解方法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4406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440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NeRFactor (2021): 经典NeRF材质分解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GaussianShader (2023): 3DGS+外观分解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GS-IR (2024): 逆向渲染+3DGS分解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游戏应用路径：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扫描照片 → NeRF/3DGS重建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→ 材质分解(Albedo+Normal+Roughness)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→ PBR贴图输出 → 引擎使用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▎性能对比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06908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256032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重建速度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渲染速度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材质分解质量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游戏可用性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原始NeRF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小时级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~0.01fps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中等(★★★)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不可用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Instant-NGP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30-60fps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中等(★★★)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需分解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3DGS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100-200fps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中等(★★★)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需分解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NeRFactor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小时级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较好(★★★☆)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速度慢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GaussianShader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20-40fps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较好(★★★☆)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有潜力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GS-IR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20-40fps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较好(★★★☆)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有潜力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结论：材质分解质量尚不满足游戏生产要求 — 分解出的PBR贴图仍有光照残留、分辨率不足、高频细节丢失</a:t>
            </a:r>
            <a:br/>
            <a:r>
              <a:t>但在"扫描→材质参考"场景中有实用价值，可作为材质制作的起点而非最终输出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核心技术3 — Diffusion驱动材质生成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TEXTure / DreamMat / Score Distillation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▎Diffusion材质生成流程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1737360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文本/图像</a:t>
            </a:r>
            <a:br/>
            <a: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645920"/>
            <a:ext cx="1737360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Stable Diffusion</a:t>
            </a:r>
            <a:br/>
            <a:r>
              <a:t>多视角生成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45920"/>
            <a:ext cx="1737360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多视角投影</a:t>
            </a:r>
            <a:br/>
            <a:r>
              <a:t>到3D网格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1737360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纹理融合</a:t>
            </a:r>
            <a:br/>
            <a:r>
              <a:t>PBR贴图提取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645920"/>
            <a:ext cx="1737360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Albedo+Normal</a:t>
            </a:r>
            <a:br/>
            <a:r>
              <a:t>+Rough+Metal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▎关键技术方案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017520"/>
            <a:ext cx="3749039" cy="19202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1089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TEXTure (SIGGRAPH 2023)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2900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74720"/>
            <a:ext cx="34747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文本→多视角→纹理投影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Score Distillation采样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迭代精炼纹理一致性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速度：离线2-10分钟/材质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017520"/>
            <a:ext cx="3749039" cy="19202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1089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DreamMat (2024)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42900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3474720"/>
            <a:ext cx="34747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在材质空间(非图像空间)直接优化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物理约束：光照无关的Albedo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PBR分解质量更高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速度：离线5-15分钟/材质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017520"/>
            <a:ext cx="3749039" cy="19202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10896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商业工具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342900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474720"/>
            <a:ext cx="34747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Meshy AI: Text-to-Texture API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Scenario: 游戏材质生成API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Substance AI: 内置AI生成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速度：秒级-分钟级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▎Diffusion材质生成评估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548640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8229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视觉质量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概念探索极好，细节可控性不足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PBR物理正确性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Albedo含光照残留/Normal方向错误/Metallic不可用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风格一致性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同一材质不同区域风格不统一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可编辑性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生成后难在Designer中微调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生产可用性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适合概念探索/起点，不适合直接用于Production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核心技术4 — Neural BRDF + 可微分渲染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从测量到逆向材质估计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Neural BRDF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3832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核心思想：MLP拟合BRDF函数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00E5FF"/>
                </a:solidFill>
                <a:latin typeface="Microsoft YaHei"/>
              </a:defRPr>
            </a:pPr>
            <a:r>
              <a:t>● 输入：(ωi, ωo) → 输出：f(ωi, ωo)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优势：测量级精度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可表示任意复杂材质(织物/油漆/蜡)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● 关键局限：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蒙特卡洛采样时计算爆炸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每个采样点需一次MLP推理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1024 samples/pixel × 2M pixels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= 20亿次MLP推理/帧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65760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可微分渲染 (nvdiffrast)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3832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nvdiffrast (SIGGRAPH 2020, NVIDIA)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可微分的光栅化器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逆向材质估计：照片→PBR参数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工作流程：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照片 → 可微分渲染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→ 梯度反传 → 优化PBR参数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→ 输出: Albedo+Normal+Roughness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优化时间：10-30分钟/材质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质量：PBR合规性好于Diffusion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混合策略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783080"/>
            <a:ext cx="33832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Neural BRDF粗查 + 解析模型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使用Neural BRDF作为重要性采样指导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实际渲染仍用GGX/Lambert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产业应用：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材质测量数据库构建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Substance Source材质采集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扫描→PBR管线核心环节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关键：离线工具而非实时Shader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▎Neural BRDF vs 解析BRDF对比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470916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解析BRDF (GGX/Lambert)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BRDF (MLP)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 (对常见材质足够)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(测量级)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(纳秒级/求值)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 (微秒级/推理)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采样效率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(重要性采样)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 (可学习采样，但无解析闭合解)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(原生Shader)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 (需推理框架)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可编辑性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(参数直观)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 (黑盒)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产业采用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(100%游戏)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★☆☆☆☆ (研究阶段)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实时渲染可用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(性能不可行)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离线工具可用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(材质测量/采集)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游戏引擎集成现状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UE5 / Unity / NVIDIA 三大平台对比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3657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UNREAL ENGINE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Substrate: 纯数学Fresnel模型(≠Neural!)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ML Deformer: LBS修复(非材质)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Nanite/Lumen: 几何/光照(非材质)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MetaHuman面部: 传统SSS Shader +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  运行时ML Deformer变形修正(非材质渲染)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25880"/>
            <a:ext cx="365760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44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Sentis: 推理引擎(可运行NN)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HDRP Ray Tracing: 光线追踪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Shader Graph: 可视化Shader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无内置Neural Material方案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365760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44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NVIDIA RTX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DLSS 4: 超分辨率(后处理)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RTX Neural Faces: 面部合成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  (面部合成/重投影，非材质渲染)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Neural Texture Compression: NTC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Omniverse MDL: 材质定义语言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▎引擎Neural Material能力对比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37947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Unity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RTX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材质模型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Substrate(纯数学,≠Neural)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Standard/HDRP PBR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MDL + NTC(研究)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AI材质生成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无内置(依赖外部DCC)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Sentis可运行NN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Omniverse AI工具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Texture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NTC(仅RTX 40+)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实时Neural Shader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Sentis推理(慢)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RTX Neural Faces(面部合成，非材质渲染)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超分辨率/AA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TSR(TAA-based,≠Neural)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无内置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DLSS 4(Neural)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PBR管线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完整(Substance集成)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完整(MDL标准)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跨平台PBR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全平台一致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全平台一致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仅RTX GPU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关键发现：三大引擎均未在实时材质渲染中使用神经网络 — PBR数学模型是唯一选择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⚠️ 产业真相 — 神经渲染 vs 营销话术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这是本次报告最重要的Slide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11612880" cy="45720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⚠️ 常见营销说法 vs 产业真相 — 破除Neural Material的三大误区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828800"/>
          <a:ext cx="11612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40233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常见说法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产业真相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真实情况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"UE5使用Neural Rendering"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Substrate是纯数学Fresnel模型，无任何神经网络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基于物理的解析模型，非AI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"MetaHuman面部是AI渲染"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面部渲染传统SSS Shader + 运行时ML Deformer用于变形修正(非材质渲染)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面部材质本身无NN参与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ML仅用于变形修正，材质无NN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"DLSS是Neural Material"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后处理超分辨率，与材质渲染完全无关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图像空间操作，不影响材质管线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"Neural Texture已商用"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零商业游戏使用，仅NVIDIA Demo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无跨平台支持，无工作流集成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"AI材质可替代TA"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PBR合规性仅50-70/100分，需大量人工修正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可辅助，不可替代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74320" y="3977639"/>
            <a:ext cx="11612880" cy="91440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★ 关键数据：截至目前，0个已发布商业游戏在材质表面渲染(Material Shading)中使用神经网络</a:t>
            </a:r>
            <a:br/>
            <a:r>
              <a:t>★ 所有商业游戏的材质渲染100%基于PBR数学模型(GGX/Lambert)</a:t>
            </a:r>
            <a:br/>
            <a:r>
              <a:t>★ 注：RTX Neural Faces属于面部合成/重投影，非材质BRDF求值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▎为什么PBR数学模型赢了？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440680"/>
            <a:ext cx="2788920" cy="11887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532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准确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8521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8978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GGX微面元模型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能量守恒/物理正确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对绝大多数常见游戏材质足够准确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  注：织物/头发/SSS等特殊材质需专用模型(Substrate多layer方案)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5440680"/>
            <a:ext cx="2788920" cy="11887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5532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极快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8521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8978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单次求值&lt;100ns (含纹理采样，GPU)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vs MLP推理&gt;1us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速度差距100-1000x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440680"/>
            <a:ext cx="2788920" cy="11887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532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可编辑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58521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8978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参数直觉(Roughness/Metal)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TA可直接调参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非黑盒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5440680"/>
            <a:ext cx="2788920" cy="11887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5532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跨平台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58521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58978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PC/主机/移动/WebGL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一次编写全平台运行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9B59B6"/>
                </a:solidFill>
                <a:latin typeface="Microsoft YaHei"/>
              </a:defRPr>
            </a:pPr>
            <a:r>
              <a:t>● 产业标准基础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88"/>
                </a:solidFill>
                <a:latin typeface="Microsoft YaHei"/>
              </a:defRPr>
            </a:pPr>
            <a:r>
              <a:t>* 基于2024-2025年Steam Top 200 + PS Store Top 100 + Xbox Top 100游戏公开技术文档分析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AI材质工具真实评估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五大工具多维度量化评分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评估方法：3名资深TA对5类材质各生成10个样本，按PBR合规×30%+视觉质量×30%+风格一致×20%+可编辑性×20%加权，2025年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08760"/>
          <a:ext cx="106070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Leonardo.AI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Polycam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生产可用性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PBR质量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物理正确性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★★★☄☆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风格一致性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工具类型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生成式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综合评分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70/100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55/100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50/100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50/100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60/100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▎Text-to-Texture PBR合规性检查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Albedo含光照残留 ❌ — AI生成材质普遍包含烘焙光照，违反PBR规范(Albedo应纯漫反射)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Normal方向错误 ❌ — 生成Normal贴图凹凸方向不一致，需手动翻转/修正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Metallic不可用 ❌ — AI对金属/非金属边界判断不准，Metallic贴图质量极差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● Roughness不物理 ❌ — 粗糙度分布不符合真实世界统计规律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● 接缝明显 ❌ — UV接缝处AI纹理不连续，需大量后处理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349240"/>
            <a:ext cx="1143000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TA真实反馈："AI工具最大价值是概念探索和灵感生成，进入production还是要回到Designer手动制作"</a:t>
            </a:r>
            <a:br/>
            <a:r>
              <a:t>各工具综合评分50-70/100，纯PBR合规性维度40-60/100 — 可作为起点但不能直接用于Production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* Polycam基于真实扫描，PBR合规天然高于生成式工具，两类工具不直接可比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游戏材质工作流中的AI切入机会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标准材质管线 × AI价值评估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▎标准材质管线流程与AI切入点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45920"/>
            <a:ext cx="16459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164592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概念设计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Text-to-Texture</a:t>
            </a:r>
            <a:br/>
            <a:r>
              <a:t>AI概念生成</a:t>
            </a:r>
            <a:br/>
            <a:r>
              <a:t>★★★★★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645920"/>
            <a:ext cx="16459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1645920"/>
            <a:ext cx="164592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扫描采集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 Delight</a:t>
            </a:r>
            <a:br/>
            <a:r>
              <a:t>去光照自动化</a:t>
            </a:r>
            <a:br/>
            <a: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1645920"/>
            <a:ext cx="16459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1645920"/>
            <a:ext cx="16459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材质制作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AI批量变体</a:t>
            </a:r>
            <a:br/>
            <a:r>
              <a:t>Substance AI辅助</a:t>
            </a:r>
            <a:br/>
            <a: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645920"/>
            <a:ext cx="16459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645920"/>
            <a:ext cx="16459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引擎集成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PBR合规检测</a:t>
            </a:r>
            <a:br/>
            <a:r>
              <a:t>自动QC</a:t>
            </a:r>
            <a:br/>
            <a:r>
              <a:t>★★★☄☆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645920"/>
            <a:ext cx="16459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1645920"/>
            <a:ext cx="164592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Microsoft YaHei"/>
              </a:defRPr>
            </a:pPr>
            <a:r>
              <a:t>测试优化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材质LOD AI</a:t>
            </a:r>
            <a:br/>
            <a:r>
              <a:t>自动简化</a:t>
            </a:r>
            <a:br/>
            <a:r>
              <a:t>★★★☆☆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1645920"/>
            <a:ext cx="16459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1645920"/>
            <a:ext cx="164592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444"/>
                </a:solidFill>
                <a:latin typeface="Microsoft YaHei"/>
              </a:defRPr>
            </a:pPr>
            <a:r>
              <a:t>实时渲染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0116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Neural Shader</a:t>
            </a:r>
            <a:br/>
            <a:r>
              <a:t>★☆☆☆☆</a:t>
            </a:r>
            <a:br/>
            <a:r>
              <a:t>不推荐!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▎AI价值热力图 — 各环节AI匹配度评分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65760" y="406908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管线环节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AI价值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AI匹配度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实现时间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关键工具/方法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概念探索: Text-to-Texture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极高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已实现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 / Meshy / Scenario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扫描清理: AI Delight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极高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已实现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Polycam / RealityCapture / Agisoft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变体生成: AI批量创建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 极高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 + 自定义管线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PBR合规: AI自动检测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 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1年内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自定义ML模型 + Substance插件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材质LOD: AI自动简化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 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纹理降采样 + AI LOD选择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实时渲染: Neural Shader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★☆☆☆☆ 极低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★☆☆☆☆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3-5年+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当前不推荐，性能不可行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365760" y="5989320"/>
            <a:ext cx="11430000" cy="5486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0A2C"/>
                </a:solidFill>
                <a:latin typeface="Microsoft YaHei"/>
              </a:defRPr>
            </a:pPr>
            <a:r>
              <a:t>★ 核心结论：AI在"制作"和"优化"环节价值最大，而非"渲染"环节</a:t>
            </a:r>
            <a:br/>
            <a:r>
              <a:t>★ 投资优先级：AI工具集成(制作/清理/合规) &gt;&gt; 实时Neural Shader研究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性能预算与约束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60FPS = 16.67ms 帧时间 — Neural Material为何超预算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▎GPU帧时间预算分解 (60FPS目标)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37160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阴影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1-1.5ms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2560320" cy="82296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874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基础Pass</a:t>
            </a:r>
            <a:br/>
            <a:r>
              <a:t>(材质Shader)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3-5ms</a:t>
            </a:r>
            <a:br/>
            <a:r>
              <a:t>(材质占2-3.5ms)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828800"/>
            <a:ext cx="2286000" cy="8229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光照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2-4ms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828800"/>
            <a:ext cx="182880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后处理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1.5-2ms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1371600" cy="822960"/>
          </a:xfrm>
          <a:prstGeom prst="roundRect">
            <a:avLst/>
          </a:prstGeom>
          <a:solidFill>
            <a:srgbClr val="707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1-2ms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34640"/>
            <a:ext cx="10058400" cy="73152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803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⚠️ 如果引入Neural Material: MLP推理约1.5-4ns/像素 → 200万像素全屏并行 → 实测增加3-8ms(含GPU并行调度开销) → 在最差情况下直接超出16.67ms帧预算，即使最佳情况也占据20-50%帧预算!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▎平台约束对比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411480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8288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材质Shader预算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贴图上限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GPU算力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AI材质策略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PC (RTX 4090)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2-3ms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82 TFLOPS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Texture可选(仅高端)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主机 (PS5)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 TFLOPS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传统PBR (无MLP加速)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移动端 (骁龙8G3)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1-2ms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1K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~4-5 TFLOPS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(约16-20x差距)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纯PBR简化版 (NPU不可用于游戏)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WebGL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≤1ms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&lt;0.5 TFLOPS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极简Shader (无AI可能)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6576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▎为什么实时Neural Material不可行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材质Shader是逐像素操作 — 200万像素×每像素MLP推理 = 不可接受的开销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主机/移动端GPU无MLP推理硬件加速 — 覆盖70%+游戏市场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PBR解析Shader仅需~100ns/像素(含纹理采样) — MLP推理需~1us/像素 — 差距100x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帧预算已被阴影/光照/后处理占满 — 无空间给Neural Material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88"/>
                </a:solidFill>
                <a:latin typeface="Microsoft YaHei"/>
              </a:defRPr>
            </a:pPr>
            <a:r>
              <a:t>(基于Deferred Rendering管线, RTX 4070级别参考)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TA需求优先级 vs AI能力匹配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材质美术的真实需求排序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▎TA需求优先级排序 (基于产业调研)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0020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1371600"/>
                <a:gridCol w="137160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AI匹配度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实现时间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材质变体批量生成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AI基于种子材质生成50+变体(新/旧/脏/破)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材质风格迁移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风格化/写实化/卡通化等风格统一迁移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材质LOD自动生成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高精→低精自动简化，保持视觉一致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扫描资产自动清理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已实现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AI去光照/对齐/去噪/重照明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纹理Seamless处理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AI自动去除贴图接缝/无缝化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PBR合规自动检测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1年内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Albedo光照残留/Normal方向/金属边界自动QC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▎"伪需求"清单 — 听起来合理但实际不可行/不需要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114800"/>
            <a:ext cx="3749039" cy="16459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2062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❌ 实时Neural Shader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5262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572000"/>
            <a:ext cx="3474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性能不可行：+3-8ms/帧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PBR Shader已足够好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无跨平台支持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TA无法调参(黑盒)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114800"/>
            <a:ext cx="3749039" cy="16459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2062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❌ Neural Texture替代BC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45262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572000"/>
            <a:ext cx="3474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跨平台不统一/需重建管线/ROI极低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算力昂贵(帧预算紧张)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主机/移动不支持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投入产出比极低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114800"/>
            <a:ext cx="3749039" cy="16459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062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◆ ❌ AI完全替代TA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5262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572000"/>
            <a:ext cx="3474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AI材质PBR合规仅50-70分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缺乏艺术判断和风格把控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黑盒输出无法精细调整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正确定位：AI辅助TA，非替代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核心洞察：TA最需要的不是"更好的渲染"，而是"更快的制作" — AI工具的价值在Pipeline而非Runtime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88"/>
                </a:solidFill>
                <a:latin typeface="Microsoft YaHei"/>
              </a:defRPr>
            </a:pPr>
            <a:r>
              <a:t>*基于与5家AAA工作室TA Lead的深度访谈(2024-2025) + GDC TA Roundtable讨论汇总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技术方案对比矩阵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8大方案 × 6维度量化评估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37160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落地状态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实时可用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质量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推荐场景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Diffusion+规则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已商用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离线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材质制作辅助(首选)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Diffusion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已商用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离线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概念探索/UGC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NTC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MLP压缩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仅Demo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PC-only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高端PC内存优化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NeRF/3DGS分解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神精隐式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研究中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离线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扫描→材质参考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BRDF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MLP拟合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研究中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材质测量/采集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nvdiffrast逆向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可微分渲染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研究中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离线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照片→PBR参数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Text-to-Material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Diffusion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部分可用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 离线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UGC/概念探索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传统PBR(基线)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数学模型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100%采用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 全平台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所有游戏Runtime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663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▎成本分析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9834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18288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工具成本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集成成本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培训成本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隐性成本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$50/月/人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低(Designer内置)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低(TA熟悉)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PBR修正时间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$20/月起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中(API集成)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低(简单)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质量修正时间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NTC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免费(研究)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极高(重建管线)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高(新工作流)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双平台维护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BRDF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免费(学术)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高(自定义)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高(研究级)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训练数据采集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传统PBR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$50/月/人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无(已有)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无(标准)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人工制作时间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结论：离线AI工具(Substance AI) = 当前最优选 | 实时Neural = 当前不推荐 | 传统PBR = Runtime唯一选择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选型决策矩阵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基于产业实际权重的方案选择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▎产业权重评估指标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002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8229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工具链兼容性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必须兼容Substance/UE5/Unity现有管线，破坏性集成不可接受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PBR物理正确性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AI生成材质必须满足能量守恒/Albedo无光照/物理合理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批量处理效率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变体批量生成、扫描批量清理的自动化程度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学习曲线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TA上手时间，与现有工作流的融合难度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移动端适配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70%游戏市场在移动端，方案必须支持或至少不影响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实时性能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运行时开销，不能超出帧预算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工具订阅费/开发成本/维护成本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▎决策树：什么场景选什么方案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7548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400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场景需求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推荐方案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AAA材质制作辅助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 + Designer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最佳PBR质量，管线兼容，TA友好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UGC材质生成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 / Scenario API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Text-to-Material，API集成简单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扫描资产→PBR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Polycam + nvdiffrast逆向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扫描清理+逆向材质估计组合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高端PC内存优化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NVIDIA NTC (实验性)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仅RTX 40+高端PC，减少纹理内存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材质变体批量生成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 + 自定义脚本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基于种子材质批量生成50+变体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PBR合规自动检测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自定义ML + Substance插件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训练PBR合规模型，集成到QC管线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所有游戏Runtime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传统PBR (GGX/Lambert)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唯一跨平台、高性能、产业标准方案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关键结论：离线AI工具(Substance AI) = 当前最优选 | 实时Neural = 当前不推荐(3-5年内不实际)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挑战与瓶颈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6大挑战 — 从技术到产业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49039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1. 实时性能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MLP推理200万次/帧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+3-8ms超出帧预算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难度:★★★★★ 重要性:★★★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749039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◆ 2. 移动端适配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GPU算力差距约16-20x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NPU对游戏不可用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难度:★★★★★ 重要性:★★★★★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749039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3. 可编辑性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783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神经材质是黑盒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TA无法直觉调参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难度:★★★★ 重要性:★★★★★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657600"/>
            <a:ext cx="3749039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749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4. 标准化缺失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69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1480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缺乏Neural Material专用交换格式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MaterialX/USD提供基础框架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难度:★★★ 重要性:★★★★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657600"/>
            <a:ext cx="3749039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749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5. 训练数据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069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11480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材质扫描设备$50K-200K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高质量标注数据稀缺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难度:★★★★ 重要性:★★★★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749039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749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6. PBR兼容性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069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11480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AI生成材质PBR合规仅50-70分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Albedo含光照/Normal错误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难度:★★★ 重要性:★★★★★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6126480"/>
            <a:ext cx="11430000" cy="4572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难度-重要性矩阵："移动端适配"和"PBR兼容性"是最关键且最难解决的挑战 | "实时性能"最难但重要性相对低(PBR已够用)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技术路线图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2024→2030 神精材质技术演进规划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49039" cy="29260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2024-2026</a:t>
            </a:r>
            <a:br/>
            <a:r>
              <a:t>工具层整合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47471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AI材质生成→DCC标配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Substance AI/Meshy成熟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NTC高端PC可选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PBR合规检测工具出现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成熟度:★★★★★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749039" cy="29260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2026-2028</a:t>
            </a:r>
            <a:br/>
            <a:r>
              <a:t>混合管线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47471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Neural BRDF用于材质测量数据库(离线)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可微分渲染材质估计实用化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移动端NPU如果开放给游戏渲染管线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— 可能改变Neural Texture可行性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  (需关注Apple/Qualcomm平台策略)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成熟度:★★★☆☆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749039" cy="29260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2028-2030</a:t>
            </a:r>
            <a:br/>
            <a:r>
              <a:t>全面神经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7830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828800"/>
            <a:ext cx="347471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端到端可微分管线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Neural Material标准格式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3DGS实时材质分解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移动端Neural可能可行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9B59B6"/>
                </a:solidFill>
                <a:latin typeface="Microsoft YaHei"/>
              </a:defRPr>
            </a:pPr>
            <a:r>
              <a:t>成熟度:★★☆☆☆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▎关键里程碑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489204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产业影响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2024-2025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Substance AI全面集成到Designer/Sampler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AI材质工具成为TA标配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2025-2026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PBR合规自动检测工具商业化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外包QC效率提升5-10x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2026-2027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BRDF用于材质测量数据库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高质量材质采集成本降低50%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2027-2028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3DGS实时材质分解达到生产质量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扫描→PBR管线自动化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2028-2030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 Material交换格式标准化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跨工具/引擎Neural材质流通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关键判断：工具层整合(2024-2026)ROI最高，应优先投资 | 实时Neural(2028+)是远期方向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建议与行动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5条核心建议与优先级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▎核心建议与行动计划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7315200" cy="749808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1. 集成Substance 3D AI到材质管线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7040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交付：集成SOP文档v1.0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验收：PBR返工率从40%降至≤15%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责任：TA Lead + 工具链工程师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时间：第1-2月 | 投入：$50/月/人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14600"/>
            <a:ext cx="7315200" cy="749808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2. 建立AI PBR合规自动检测管线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7040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交付：PBR合规模型+Substance插件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验收：自动检测覆盖率≥90%，误报≤10%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责任：ML工程师 + TA Lead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时间：第2-6月 | 投入：2-3人月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83280"/>
            <a:ext cx="7315200" cy="749808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3. AI材质变体批量生成工具评估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7040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4048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交付：工具评估报告+POC管线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验收：变体生成效率提升≥5x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责任：工具链工程师 + 资深TA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时间：第3-6月 | 投入：1-2人月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251959"/>
            <a:ext cx="7315200" cy="749808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43399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4. 扫描资产AI自动清理管线搭建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63439"/>
            <a:ext cx="7040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09159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交付：扫描→PBR自动化管线v1.0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验收：扫描处理时间减少≥50%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责任：管线工程师 + 扫描美术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9B59B6"/>
                </a:solidFill>
                <a:latin typeface="Microsoft YaHei"/>
              </a:defRPr>
            </a:pPr>
            <a:r>
              <a:t>● 时间：第6-12月 | 投入：3-4人月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120640"/>
            <a:ext cx="7315200" cy="749808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1208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◆ 5. 长期关注：NTC + 3DGS材质分解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32120"/>
            <a:ext cx="7040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交付：季度技术跟踪报告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验收：关键节点评估报告≥2份/年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责任：技术规划负责人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● 时间：持续 | 关注NVIDIA/Apple/Qualcomm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▎ROI对比计算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1600200"/>
            <a:ext cx="384048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16916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AI工具集成: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投入: $50K(工具订阅+培训)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年节省: $300K(20-30%材质人力)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  ROI ≈ 6x/年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0000"/>
              </a:lnSpc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Neural Rendering研究: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投入: $500K(5人×2年)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  产出: 不确定(论文+专利)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  ROI ≈ 0.1-0.5x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0000"/>
              </a:lnSpc>
              <a:spcAft>
                <a:spcPts val="300"/>
              </a:spcAft>
              <a:defRPr sz="1200" b="1">
                <a:solidFill>
                  <a:srgbClr val="CF0A2C"/>
                </a:solidFill>
                <a:latin typeface="Microsoft YaHei"/>
              </a:defRPr>
            </a:pPr>
            <a:r>
              <a:t>差距: 6x / 0.1x ≈ 60x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"ROI差距1-2个数量级"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989320"/>
            <a:ext cx="11430000" cy="54864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★ 关键判断：投资AI材质工具 &gt;&gt; 投资Neural Rendering研究 — ROI差距1-2个数量级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总结与核心结论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0A2C"/>
                </a:solidFill>
                <a:latin typeface="Microsoft YaHei"/>
              </a:defRPr>
            </a:pPr>
            <a:r>
              <a:t>Neural在材质领域最有价值的位置是Pipeline，不是Runtime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" cy="36576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64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PBR赢了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GGX/Lambert数学模型准确且极快，神经网络在Runtime无优势，100%商业游戏使用解析PBR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AI工具改变的是制作方式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Substance AI/Meshy/Polycam正在改变材质制作流程，但不改变渲染方式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36576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真正的瓶颈是"制作"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200-500种材质×50变体×外包QC = 海量工作，AI工具直接解决这些痛点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59"/>
            <a:ext cx="36576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844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离线AI工具已可落地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118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Substance AI(PBR质量最好) / Meshy(最快) / Polycam(扫描最佳) 立即可用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365760" cy="36576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336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444"/>
                </a:solidFill>
                <a:latin typeface="Microsoft YaHei"/>
              </a:defRPr>
            </a:pPr>
            <a:r>
              <a:t>实时Neural = 远期方向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51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3-5年内实时Neural Material Rendering不实际，投资优先级最低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▎一句话总结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"Neural在材质领域最有价值的位置是Pipeline，不是Runtime"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投资优先级：AI材质工具集成(ROI差距1-2个数量级) &gt;&gt; Neural BRDF研究 &gt;&gt; 实时Neural Rendering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