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4572000" cy="3657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868680"/>
            <a:ext cx="100584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4F46E5"/>
                </a:solidFill>
                <a:latin typeface="Microsoft YaHei"/>
              </a:rPr>
              <a:t>AI GAME ASSET GENERATION · 创新方向盘点与挖掘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97280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>
                <a:solidFill>
                  <a:srgbClr val="161B2E"/>
                </a:solidFill>
                <a:latin typeface="Microsoft YaHei"/>
              </a:rPr>
              <a:t>AI 游戏资产生成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>
                <a:solidFill>
                  <a:srgbClr val="161B2E"/>
                </a:solidFill>
                <a:latin typeface="Microsoft YaHei"/>
              </a:rPr>
              <a:t>创新方向全景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926080"/>
            <a:ext cx="10058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6B7280"/>
                </a:solidFill>
                <a:latin typeface="Microsoft YaHei"/>
              </a:rPr>
              <a:t>21个创新idea · 6大赛道 · 按「场景 · 价值 · 竞品 · 技术创新」四维系统梳理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657600"/>
            <a:ext cx="813816" cy="420624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675887"/>
            <a:ext cx="813816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Microsoft YaHei"/>
              </a:rPr>
              <a:t>2D美术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47088" y="3657600"/>
            <a:ext cx="813816" cy="420624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47088" y="3675887"/>
            <a:ext cx="813816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563EB"/>
                </a:solidFill>
                <a:latin typeface="Microsoft YaHei"/>
              </a:rPr>
              <a:t>3D模型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25496" y="3657600"/>
            <a:ext cx="1554480" cy="420624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25496" y="3675887"/>
            <a:ext cx="155448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动画/Rigging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44568" y="3657600"/>
            <a:ext cx="566928" cy="420624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3675887"/>
            <a:ext cx="566928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9488"/>
                </a:solidFill>
                <a:latin typeface="Microsoft YaHei"/>
              </a:rPr>
              <a:t>音频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76088" y="3657600"/>
            <a:ext cx="937259" cy="420624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76088" y="3675887"/>
            <a:ext cx="937259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59669"/>
                </a:solidFill>
                <a:latin typeface="Microsoft YaHei"/>
              </a:rPr>
              <a:t>叙事/关卡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77940" y="3657600"/>
            <a:ext cx="937259" cy="420624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7940" y="3675887"/>
            <a:ext cx="937259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DC2626"/>
                </a:solidFill>
                <a:latin typeface="Microsoft YaHei"/>
              </a:rPr>
              <a:t>突破性方向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79792" y="3657600"/>
            <a:ext cx="937259" cy="420624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C2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9792" y="3675887"/>
            <a:ext cx="937259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2820A"/>
                </a:solidFill>
                <a:latin typeface="Microsoft YaHei"/>
              </a:rPr>
              <a:t>优先级矩阵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81644" y="3657600"/>
            <a:ext cx="813816" cy="420624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81644" y="3675887"/>
            <a:ext cx="813816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891B2"/>
                </a:solidFill>
                <a:latin typeface="Microsoft YaHei"/>
              </a:rPr>
              <a:t>竞品对标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60052" y="3657600"/>
            <a:ext cx="1060704" cy="420624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60052" y="3675887"/>
            <a:ext cx="106070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4F46E5"/>
                </a:solidFill>
                <a:latin typeface="Microsoft YaHei"/>
              </a:rPr>
              <a:t>12月路线图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120640"/>
            <a:ext cx="10561320" cy="658368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" y="5193792"/>
            <a:ext cx="102412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4F46E5"/>
                </a:solidFill>
                <a:latin typeface="Microsoft YaHei"/>
              </a:rPr>
              <a:t>核心发现：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AI资产生成的最大蓝海不在单点工具，而在「全链路管线+资产一致性引擎」——目前业界无完整方案。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6126480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出品：xhyha/insight · 数据源：GitHub/HuggingFace/各厂商官网/行业报告 · 2026.06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1/24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AI游戏资产生成 · 创新方向盘点与挖掘 · xhyha/insight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4F46E5"/>
                </a:solidFill>
                <a:latin typeface="Microsoft YaHei"/>
              </a:rPr>
              <a:t>CONTENTS · 报告导航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七层分析 · 21个创新方向全景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561320" cy="65836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371600"/>
            <a:ext cx="91440" cy="658368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426464"/>
            <a:ext cx="8229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435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E"/>
                </a:solidFill>
                <a:latin typeface="Microsoft YaHei"/>
              </a:rPr>
              <a:t>市场全景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1746504"/>
            <a:ext cx="84124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AI游戏资产生成生态地图与分析框架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103120"/>
            <a:ext cx="10561320" cy="65836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103120"/>
            <a:ext cx="91440" cy="658368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157984"/>
            <a:ext cx="8229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167127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E"/>
                </a:solidFill>
                <a:latin typeface="Microsoft YaHei"/>
              </a:rPr>
              <a:t>2D美术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478024"/>
            <a:ext cx="84124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概念设计/纹理/UI/动画帧（4个idea）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834639"/>
            <a:ext cx="10561320" cy="65836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2834639"/>
            <a:ext cx="91440" cy="658368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2889503"/>
            <a:ext cx="8229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2563EB"/>
                </a:solidFill>
                <a:latin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2898647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E"/>
                </a:solidFill>
                <a:latin typeface="Microsoft YaHei"/>
              </a:rPr>
              <a:t>3D模型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3209544"/>
            <a:ext cx="84124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角色/环境/材质/LOD（4个idea）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566159"/>
            <a:ext cx="10561320" cy="65836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3566159"/>
            <a:ext cx="91440" cy="658368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3621023"/>
            <a:ext cx="8229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EA580C"/>
                </a:solidFill>
                <a:latin typeface="Microsoft YaHe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3630167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E"/>
                </a:solidFill>
                <a:latin typeface="Microsoft YaHei"/>
              </a:rPr>
              <a:t>动画与Rigging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3941063"/>
            <a:ext cx="84124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视频重定向/面部/自动绑定/物理（4个idea）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297679"/>
            <a:ext cx="10561320" cy="65836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" y="4297679"/>
            <a:ext cx="91440" cy="658368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352543"/>
            <a:ext cx="8229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436168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E"/>
                </a:solidFill>
                <a:latin typeface="Microsoft YaHei"/>
              </a:rPr>
              <a:t>音频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4672583"/>
            <a:ext cx="84124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自适应音乐/SFX/语音合成（3个idea）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029199"/>
            <a:ext cx="10561320" cy="65836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2960" y="5029199"/>
            <a:ext cx="91440" cy="658368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084063"/>
            <a:ext cx="8229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59669"/>
                </a:solidFill>
                <a:latin typeface="Microsoft YaHei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5093207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E"/>
                </a:solidFill>
                <a:latin typeface="Microsoft YaHei"/>
              </a:rPr>
              <a:t>叙事与关卡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5404103"/>
            <a:ext cx="84124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关卡设计/动态叙事/生态（3个idea）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5760719"/>
            <a:ext cx="10561320" cy="65836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2960" y="5760719"/>
            <a:ext cx="91440" cy="658368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5815583"/>
            <a:ext cx="8229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DC2626"/>
                </a:solidFill>
                <a:latin typeface="Microsoft YaHei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5824727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E"/>
                </a:solidFill>
                <a:latin typeface="Microsoft YaHei"/>
              </a:rPr>
              <a:t>突破性方向+总结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6135623"/>
            <a:ext cx="84124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全链路/风格迁移/一致性+优先级+路线图（3个idea）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2/24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AI游戏资产生成 · 创新方向盘点与挖掘 · xhyha/insight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3484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45720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0" b="1">
                <a:solidFill>
                  <a:srgbClr val="0D9488"/>
                </a:solidFill>
                <a:latin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697480"/>
            <a:ext cx="8686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D9488"/>
                </a:solidFill>
                <a:latin typeface="Microsoft YaHei"/>
              </a:rPr>
              <a:t>MARKET LANDSCAPE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108960"/>
            <a:ext cx="91440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61B2E"/>
                </a:solidFill>
                <a:latin typeface="Microsoft YaHei"/>
              </a:rPr>
              <a:t>市场全景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886200"/>
            <a:ext cx="84124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74151"/>
                </a:solidFill>
                <a:latin typeface="Microsoft YaHei"/>
              </a:rPr>
              <a:t>AI游戏资产生成生态地图 · 四维分析框架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3/24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AI游戏资产生成 · 创新方向盘点与挖掘 · xhyha/insight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9488"/>
                </a:solidFill>
                <a:latin typeface="Microsoft YaHei"/>
              </a:rPr>
              <a:t>01 · 市场全景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AI游戏资产生成 · 生态地图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36192"/>
            <a:ext cx="1645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61B2E"/>
                </a:solidFill>
                <a:latin typeface="Microsoft YaHei"/>
              </a:rPr>
              <a:t>赛道＼阶段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40" y="1481328"/>
            <a:ext cx="1600200" cy="310896"/>
          </a:xfrm>
          <a:prstGeom prst="roundRect">
            <a:avLst>
              <a:gd name="adj" fmla="val 10000"/>
            </a:avLst>
          </a:prstGeom>
          <a:solidFill>
            <a:srgbClr val="EFF3F9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06040" y="1499616"/>
            <a:ext cx="16002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6B7280"/>
                </a:solidFill>
                <a:latin typeface="Microsoft YaHei"/>
              </a:rPr>
              <a:t>概念设计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81328"/>
            <a:ext cx="1600200" cy="310896"/>
          </a:xfrm>
          <a:prstGeom prst="roundRect">
            <a:avLst>
              <a:gd name="adj" fmla="val 10000"/>
            </a:avLst>
          </a:prstGeom>
          <a:solidFill>
            <a:srgbClr val="EFF3F9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499616"/>
            <a:ext cx="16002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6B7280"/>
                </a:solidFill>
                <a:latin typeface="Microsoft YaHei"/>
              </a:rPr>
              <a:t>资产制作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481328"/>
            <a:ext cx="1600200" cy="310896"/>
          </a:xfrm>
          <a:prstGeom prst="roundRect">
            <a:avLst>
              <a:gd name="adj" fmla="val 10000"/>
            </a:avLst>
          </a:prstGeom>
          <a:solidFill>
            <a:srgbClr val="EFF3F9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1499616"/>
            <a:ext cx="16002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6B7280"/>
                </a:solidFill>
                <a:latin typeface="Microsoft YaHei"/>
              </a:rPr>
              <a:t>动画/Rig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481328"/>
            <a:ext cx="1600200" cy="310896"/>
          </a:xfrm>
          <a:prstGeom prst="roundRect">
            <a:avLst>
              <a:gd name="adj" fmla="val 10000"/>
            </a:avLst>
          </a:prstGeom>
          <a:solidFill>
            <a:srgbClr val="EFF3F9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1499616"/>
            <a:ext cx="16002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6B7280"/>
                </a:solidFill>
                <a:latin typeface="Microsoft YaHei"/>
              </a:rPr>
              <a:t>音频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72600" y="1481328"/>
            <a:ext cx="1600200" cy="310896"/>
          </a:xfrm>
          <a:prstGeom prst="roundRect">
            <a:avLst>
              <a:gd name="adj" fmla="val 10000"/>
            </a:avLst>
          </a:prstGeom>
          <a:solidFill>
            <a:srgbClr val="EFF3F9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1499616"/>
            <a:ext cx="16002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6B7280"/>
                </a:solidFill>
                <a:latin typeface="Microsoft YaHei"/>
              </a:rPr>
              <a:t>优化集成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1874519"/>
            <a:ext cx="1691640" cy="713232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1984248"/>
            <a:ext cx="16002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2D美术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06040" y="1874519"/>
            <a:ext cx="1600200" cy="71323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63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60904" y="1911095"/>
            <a:ext cx="1490472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Midjourney/SD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1874519"/>
            <a:ext cx="1600200" cy="71323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63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52544" y="1911095"/>
            <a:ext cx="1490472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Leonardo.ai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1874519"/>
            <a:ext cx="1600200" cy="71323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63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44184" y="1911095"/>
            <a:ext cx="1490472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Scenario.com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0" y="1874519"/>
            <a:ext cx="1600200" cy="71323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63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35824" y="1911095"/>
            <a:ext cx="1490472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Blockade Labs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72600" y="1874519"/>
            <a:ext cx="1600200" cy="71323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63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27464" y="1911095"/>
            <a:ext cx="1490472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Galileo 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2697479"/>
            <a:ext cx="1691640" cy="71323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2807208"/>
            <a:ext cx="16002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3D模型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06040" y="2697479"/>
            <a:ext cx="1600200" cy="71323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60904" y="2734056"/>
            <a:ext cx="1490472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Meshy.ai/Tripo3D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2697479"/>
            <a:ext cx="1600200" cy="71323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52544" y="2734056"/>
            <a:ext cx="1490472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CSM.ai/Luma AI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89320" y="2697479"/>
            <a:ext cx="1600200" cy="71323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44184" y="2734056"/>
            <a:ext cx="1490472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WithPoly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80960" y="2697479"/>
            <a:ext cx="1600200" cy="71323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35824" y="2734056"/>
            <a:ext cx="1490472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Promethean AI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72600" y="2697479"/>
            <a:ext cx="1600200" cy="71323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27464" y="2734056"/>
            <a:ext cx="1490472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InstaLOD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3520439"/>
            <a:ext cx="1691640" cy="713232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3630168"/>
            <a:ext cx="16002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动画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06040" y="3520439"/>
            <a:ext cx="1600200" cy="71323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63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60904" y="3557015"/>
            <a:ext cx="1490472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Kinetix/Wonder Dynamics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97680" y="3520439"/>
            <a:ext cx="1600200" cy="71323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63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52544" y="3557015"/>
            <a:ext cx="1490472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Plask/Radical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89320" y="3520439"/>
            <a:ext cx="1600200" cy="71323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63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44184" y="3557015"/>
            <a:ext cx="1490472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NVIDIA Audio2Face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680960" y="3520439"/>
            <a:ext cx="1600200" cy="71323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63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35824" y="3557015"/>
            <a:ext cx="1490472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Mixamo/AccuRIG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372600" y="3520439"/>
            <a:ext cx="1600200" cy="71323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63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27464" y="3557015"/>
            <a:ext cx="1490472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Massive/Ziva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2960" y="4343400"/>
            <a:ext cx="1691640" cy="713232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4453128"/>
            <a:ext cx="16002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音频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606040" y="4343400"/>
            <a:ext cx="1600200" cy="71323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63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660904" y="4379976"/>
            <a:ext cx="1490472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Suno/AIVA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297680" y="4343400"/>
            <a:ext cx="1600200" cy="71323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63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52544" y="4379976"/>
            <a:ext cx="1490472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ElevenLabs SFX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989320" y="4343400"/>
            <a:ext cx="1600200" cy="71323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63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044184" y="4379976"/>
            <a:ext cx="1490472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ElevenLabs TTS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680960" y="4343400"/>
            <a:ext cx="1600200" cy="71323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63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35824" y="4379976"/>
            <a:ext cx="1490472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Inworld AI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372600" y="4343400"/>
            <a:ext cx="1600200" cy="71323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63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427464" y="4379976"/>
            <a:ext cx="1490472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Convai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22960" y="5166360"/>
            <a:ext cx="1691640" cy="713232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68680" y="5276088"/>
            <a:ext cx="16002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叙事/关卡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606040" y="5166360"/>
            <a:ext cx="1600200" cy="71323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63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660904" y="5202936"/>
            <a:ext cx="1490472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Ubisoft Ghostwriter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297680" y="5166360"/>
            <a:ext cx="1600200" cy="71323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63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352544" y="5202936"/>
            <a:ext cx="1490472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Inworld AI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989320" y="5166360"/>
            <a:ext cx="1600200" cy="71323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63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044184" y="5202936"/>
            <a:ext cx="1490472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Latitude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680960" y="5166360"/>
            <a:ext cx="1600200" cy="71323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63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735824" y="5202936"/>
            <a:ext cx="1490472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Promethean AI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372600" y="5166360"/>
            <a:ext cx="1600200" cy="71323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63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427464" y="5202936"/>
            <a:ext cx="1490472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Unity ML-Agents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22960" y="6035040"/>
            <a:ext cx="10561320" cy="502920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24128" y="6080760"/>
            <a:ext cx="1024128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D9488"/>
                </a:solidFill>
                <a:latin typeface="Microsoft YaHei"/>
              </a:rPr>
              <a:t>🔍 关键洞察：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各赛道单点工具百花齐放，但跨赛道</a:t>
            </a:r>
            <a:r>
              <a:rPr sz="1000" b="1">
                <a:solidFill>
                  <a:srgbClr val="DC2626"/>
                </a:solidFill>
                <a:latin typeface="Microsoft YaHei"/>
              </a:rPr>
              <a:t>全链路一体化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和</a:t>
            </a:r>
            <a:r>
              <a:rPr sz="1000" b="1">
                <a:solidFill>
                  <a:srgbClr val="DC2626"/>
                </a:solidFill>
                <a:latin typeface="Microsoft YaHei"/>
              </a:rPr>
              <a:t>资产一致性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仍是巨大空白。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4/24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AI游戏资产生成 · 创新方向盘点与挖掘 · xhyha/insight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9488"/>
                </a:solidFill>
                <a:latin typeface="Microsoft YaHei"/>
              </a:rPr>
              <a:t>01 · 市场全景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四维分析框架：每个创新idea均按此模型拆解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10561320" cy="74980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91440" cy="749808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43000" y="1664207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664207"/>
            <a:ext cx="54864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645920"/>
            <a:ext cx="2011680" cy="5943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7C3AED"/>
                </a:solidFill>
                <a:latin typeface="Microsoft YaHei"/>
              </a:rPr>
              <a:t>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1673352"/>
            <a:ext cx="72237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用户在什么情境下使用？解决什么具体痛点？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395728"/>
            <a:ext cx="10561320" cy="74980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2395728"/>
            <a:ext cx="91440" cy="749808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43000" y="2505456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505456"/>
            <a:ext cx="54864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487168"/>
            <a:ext cx="2011680" cy="5943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59669"/>
                </a:solidFill>
                <a:latin typeface="Microsoft YaHei"/>
              </a:rPr>
              <a:t>价值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2514600"/>
            <a:ext cx="72237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效率提升多少？成本降低多少？体验如何改善？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236976"/>
            <a:ext cx="10561320" cy="74980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3236976"/>
            <a:ext cx="91440" cy="749808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43000" y="3346704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3346704"/>
            <a:ext cx="54864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328416"/>
            <a:ext cx="2011680" cy="5943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A580C"/>
                </a:solidFill>
                <a:latin typeface="Microsoft YaHei"/>
              </a:rPr>
              <a:t>竞品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3355848"/>
            <a:ext cx="72237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现有玩家是谁？做到什么程度？格局如何？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078224"/>
            <a:ext cx="10561320" cy="74980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4078224"/>
            <a:ext cx="91440" cy="749808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43000" y="4187952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4187952"/>
            <a:ext cx="54864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4169663"/>
            <a:ext cx="2011680" cy="5943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Microsoft YaHei"/>
              </a:rPr>
              <a:t>技术创新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39" y="4197096"/>
            <a:ext cx="72237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底层技术路径是什么？有什么差异化突破点？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919472"/>
            <a:ext cx="10561320" cy="74980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960" y="4919472"/>
            <a:ext cx="91440" cy="749808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143000" y="502920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5029200"/>
            <a:ext cx="54864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74519" y="5010912"/>
            <a:ext cx="2011680" cy="5943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DC2626"/>
                </a:solidFill>
                <a:latin typeface="Microsoft YaHei"/>
              </a:rPr>
              <a:t>💡 创新机会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77639" y="5038344"/>
            <a:ext cx="72237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现有方案的空白点在哪里？我们可以切入的角度？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5/24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AI游戏资产生成 · 创新方向盘点与挖掘 · xhyha/insight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3484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45720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0" b="1">
                <a:solidFill>
                  <a:srgbClr val="7C3AED"/>
                </a:solidFill>
                <a:latin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697480"/>
            <a:ext cx="8686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7C3AED"/>
                </a:solidFill>
                <a:latin typeface="Microsoft YaHei"/>
              </a:rPr>
              <a:t>2D 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108960"/>
            <a:ext cx="91440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61B2E"/>
                </a:solidFill>
                <a:latin typeface="Microsoft YaHei"/>
              </a:rPr>
              <a:t>2D美术资产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886200"/>
            <a:ext cx="84124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74151"/>
                </a:solidFill>
                <a:latin typeface="Microsoft YaHei"/>
              </a:rPr>
              <a:t>概念设计 / 纹理材质 / UI资产 / 动画帧（4个idea）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6/24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AI游戏资产生成 · 创新方向盘点与挖掘 · xhyha/insight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Microsoft YaHei"/>
              </a:rPr>
              <a:t>02 · 2D美术  |  4个创新方向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场景 · 价值 · 竞品 · 技术 · 创新机会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5166360" cy="233172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82296" cy="233172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72184"/>
            <a:ext cx="4800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7C3AED"/>
                </a:solidFill>
                <a:latin typeface="Microsoft YaHei"/>
              </a:rPr>
              <a:t>#1  </a:t>
            </a:r>
            <a:r>
              <a:rPr sz="1050" b="1">
                <a:solidFill>
                  <a:srgbClr val="161B2E"/>
                </a:solidFill>
                <a:latin typeface="Microsoft YaHei"/>
              </a:rPr>
              <a:t>风格一致性概念设计引擎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28216"/>
            <a:ext cx="48463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6B7280"/>
                </a:solidFill>
                <a:latin typeface="Microsoft YaHei"/>
              </a:rPr>
              <a:t>竞品: </a:t>
            </a:r>
            <a:r>
              <a:rPr sz="800" b="0">
                <a:solidFill>
                  <a:srgbClr val="9AA5BC"/>
                </a:solidFill>
                <a:latin typeface="Microsoft YaHei"/>
              </a:rPr>
              <a:t>Leonardo.ai · Scenario.com · Midjourney · Blockade Labs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29384"/>
            <a:ext cx="484632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7C3AED"/>
                </a:solidFill>
                <a:latin typeface="Microsoft YaHei"/>
              </a:rPr>
              <a:t>场景  </a:t>
            </a:r>
            <a:r>
              <a:rPr sz="800" b="0">
                <a:solidFill>
                  <a:srgbClr val="374151"/>
                </a:solidFill>
                <a:latin typeface="Microsoft YaHei"/>
              </a:rPr>
              <a:t>概念设计阶段，需大量探索性概念图（角色/场景/道具）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059669"/>
                </a:solidFill>
                <a:latin typeface="Microsoft YaHei"/>
              </a:rPr>
              <a:t>价值  </a:t>
            </a:r>
            <a:r>
              <a:rPr sz="800" b="0">
                <a:solidFill>
                  <a:srgbClr val="374151"/>
                </a:solidFill>
                <a:latin typeface="Microsoft YaHei"/>
              </a:rPr>
              <a:t>设计探索效率10×，风格统一不跑偏，量产与迭代兼顾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67712"/>
            <a:ext cx="48463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技术  </a:t>
            </a:r>
            <a:r>
              <a:rPr sz="780" b="0">
                <a:solidFill>
                  <a:srgbClr val="374151"/>
                </a:solidFill>
                <a:latin typeface="Microsoft YaHei"/>
              </a:rPr>
              <a:t>LoRA风格微调 + ControlNet构图控制 + 参考图引导/IP-Adapter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9264" y="3383279"/>
            <a:ext cx="4873752" cy="310896"/>
          </a:xfrm>
          <a:prstGeom prst="roundRect">
            <a:avLst>
              <a:gd name="adj" fmla="val 10000"/>
            </a:avLst>
          </a:prstGeom>
          <a:solidFill>
            <a:srgbClr val="EF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3401568"/>
            <a:ext cx="48006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EA580C"/>
                </a:solidFill>
                <a:latin typeface="Microsoft YaHei"/>
              </a:rPr>
              <a:t>💡 </a:t>
            </a:r>
            <a:r>
              <a:rPr sz="800" b="1">
                <a:solidFill>
                  <a:srgbClr val="161B2E"/>
                </a:solidFill>
                <a:latin typeface="Microsoft YaHei"/>
              </a:rPr>
              <a:t>游戏专属风格库(按品类) + 多角色同框风格一致性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17320"/>
            <a:ext cx="5166360" cy="233172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82296" cy="233172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72184"/>
            <a:ext cx="4800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7C3AED"/>
                </a:solidFill>
                <a:latin typeface="Microsoft YaHei"/>
              </a:rPr>
              <a:t>#2  </a:t>
            </a:r>
            <a:r>
              <a:rPr sz="1050" b="1">
                <a:solidFill>
                  <a:srgbClr val="161B2E"/>
                </a:solidFill>
                <a:latin typeface="Microsoft YaHei"/>
              </a:rPr>
              <a:t>程序化纹理与材质贴图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728216"/>
            <a:ext cx="48463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6B7280"/>
                </a:solidFill>
                <a:latin typeface="Microsoft YaHei"/>
              </a:rPr>
              <a:t>竞品: </a:t>
            </a:r>
            <a:r>
              <a:rPr sz="800" b="0">
                <a:solidFill>
                  <a:srgbClr val="9AA5BC"/>
                </a:solidFill>
                <a:latin typeface="Microsoft YaHei"/>
              </a:rPr>
              <a:t>WithPoly · Adobe Substance · Materialine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929384"/>
            <a:ext cx="484632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7C3AED"/>
                </a:solidFill>
                <a:latin typeface="Microsoft YaHei"/>
              </a:rPr>
              <a:t>场景  </a:t>
            </a:r>
            <a:r>
              <a:rPr sz="800" b="0">
                <a:solidFill>
                  <a:srgbClr val="374151"/>
                </a:solidFill>
                <a:latin typeface="Microsoft YaHei"/>
              </a:rPr>
              <a:t>3D模型贴图制作，需大量PBR无缝纹理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059669"/>
                </a:solidFill>
                <a:latin typeface="Microsoft YaHei"/>
              </a:rPr>
              <a:t>价值  </a:t>
            </a:r>
            <a:r>
              <a:rPr sz="800" b="0">
                <a:solidFill>
                  <a:srgbClr val="374151"/>
                </a:solidFill>
                <a:latin typeface="Microsoft YaHei"/>
              </a:rPr>
              <a:t>纹理制作从小时级→分钟级，一键生成多通道PBR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267712"/>
            <a:ext cx="48463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技术  </a:t>
            </a:r>
            <a:r>
              <a:rPr sz="780" b="0">
                <a:solidFill>
                  <a:srgbClr val="374151"/>
                </a:solidFill>
                <a:latin typeface="Microsoft YaHei"/>
              </a:rPr>
              <a:t>扩散模型生成seamless tileable + 多通道(Albedo/Normal/Rough)联合生成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64224" y="3383279"/>
            <a:ext cx="4873752" cy="310896"/>
          </a:xfrm>
          <a:prstGeom prst="roundRect">
            <a:avLst>
              <a:gd name="adj" fmla="val 10000"/>
            </a:avLst>
          </a:prstGeom>
          <a:solidFill>
            <a:srgbClr val="EF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3401568"/>
            <a:ext cx="48006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EA580C"/>
                </a:solidFill>
                <a:latin typeface="Microsoft YaHei"/>
              </a:rPr>
              <a:t>💡 </a:t>
            </a:r>
            <a:r>
              <a:rPr sz="800" b="1">
                <a:solidFill>
                  <a:srgbClr val="161B2E"/>
                </a:solidFill>
                <a:latin typeface="Microsoft YaHei"/>
              </a:rPr>
              <a:t>游戏风格化纹理(二次元/NPR) + 程序化变体批量生成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886200"/>
            <a:ext cx="5166360" cy="233172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" y="3886200"/>
            <a:ext cx="82296" cy="233172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941063"/>
            <a:ext cx="4800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7C3AED"/>
                </a:solidFill>
                <a:latin typeface="Microsoft YaHei"/>
              </a:rPr>
              <a:t>#3  </a:t>
            </a:r>
            <a:r>
              <a:rPr sz="1050" b="1">
                <a:solidFill>
                  <a:srgbClr val="161B2E"/>
                </a:solidFill>
                <a:latin typeface="Microsoft YaHei"/>
              </a:rPr>
              <a:t>智能UI/UX资产生成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197096"/>
            <a:ext cx="48463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6B7280"/>
                </a:solidFill>
                <a:latin typeface="Microsoft YaHei"/>
              </a:rPr>
              <a:t>竞品: </a:t>
            </a:r>
            <a:r>
              <a:rPr sz="800" b="0">
                <a:solidFill>
                  <a:srgbClr val="9AA5BC"/>
                </a:solidFill>
                <a:latin typeface="Microsoft YaHei"/>
              </a:rPr>
              <a:t>Galileo AI · Uizard · Visily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398264"/>
            <a:ext cx="484632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7C3AED"/>
                </a:solidFill>
                <a:latin typeface="Microsoft YaHei"/>
              </a:rPr>
              <a:t>场景  </a:t>
            </a:r>
            <a:r>
              <a:rPr sz="800" b="0">
                <a:solidFill>
                  <a:srgbClr val="374151"/>
                </a:solidFill>
                <a:latin typeface="Microsoft YaHei"/>
              </a:rPr>
              <a:t>游戏UI图标/按钮/面板/Loading页/引导图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059669"/>
                </a:solidFill>
                <a:latin typeface="Microsoft YaHei"/>
              </a:rPr>
              <a:t>价值  </a:t>
            </a:r>
            <a:r>
              <a:rPr sz="800" b="0">
                <a:solidFill>
                  <a:srgbClr val="374151"/>
                </a:solidFill>
                <a:latin typeface="Microsoft YaHei"/>
              </a:rPr>
              <a:t>UI资产量产效率，快速A/B测试不同视觉风格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736592"/>
            <a:ext cx="48463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技术  </a:t>
            </a:r>
            <a:r>
              <a:rPr sz="780" b="0">
                <a:solidFill>
                  <a:srgbClr val="374151"/>
                </a:solidFill>
                <a:latin typeface="Microsoft YaHei"/>
              </a:rPr>
              <a:t>图标集一致性生成 + 多分辨率自适应 + 风格嵌入向量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9264" y="5852159"/>
            <a:ext cx="4873752" cy="310896"/>
          </a:xfrm>
          <a:prstGeom prst="roundRect">
            <a:avLst>
              <a:gd name="adj" fmla="val 10000"/>
            </a:avLst>
          </a:prstGeom>
          <a:solidFill>
            <a:srgbClr val="EF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2416" y="5870448"/>
            <a:ext cx="48006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EA580C"/>
                </a:solidFill>
                <a:latin typeface="Microsoft YaHei"/>
              </a:rPr>
              <a:t>💡 </a:t>
            </a:r>
            <a:r>
              <a:rPr sz="800" b="1">
                <a:solidFill>
                  <a:srgbClr val="161B2E"/>
                </a:solidFill>
                <a:latin typeface="Microsoft YaHei"/>
              </a:rPr>
              <a:t>游戏UI按品类自适应(RPG/MOBA/休闲) + 动效UI资产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886200"/>
            <a:ext cx="5166360" cy="233172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17920" y="3886200"/>
            <a:ext cx="82296" cy="233172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941063"/>
            <a:ext cx="4800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7C3AED"/>
                </a:solidFill>
                <a:latin typeface="Microsoft YaHei"/>
              </a:rPr>
              <a:t>#4  </a:t>
            </a:r>
            <a:r>
              <a:rPr sz="1050" b="1">
                <a:solidFill>
                  <a:srgbClr val="161B2E"/>
                </a:solidFill>
                <a:latin typeface="Microsoft YaHei"/>
              </a:rPr>
              <a:t>2D动画帧生成与插值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197096"/>
            <a:ext cx="48463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6B7280"/>
                </a:solidFill>
                <a:latin typeface="Microsoft YaHei"/>
              </a:rPr>
              <a:t>竞品: </a:t>
            </a:r>
            <a:r>
              <a:rPr sz="800" b="0">
                <a:solidFill>
                  <a:srgbClr val="9AA5BC"/>
                </a:solidFill>
                <a:latin typeface="Microsoft YaHei"/>
              </a:rPr>
              <a:t>EbSynth · CartoonCraft · ToonCrafter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398264"/>
            <a:ext cx="484632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7C3AED"/>
                </a:solidFill>
                <a:latin typeface="Microsoft YaHei"/>
              </a:rPr>
              <a:t>场景  </a:t>
            </a:r>
            <a:r>
              <a:rPr sz="800" b="0">
                <a:solidFill>
                  <a:srgbClr val="374151"/>
                </a:solidFill>
                <a:latin typeface="Microsoft YaHei"/>
              </a:rPr>
              <a:t>2D游戏角色Sprite/Spine动画，逐帧手绘成本高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059669"/>
                </a:solidFill>
                <a:latin typeface="Microsoft YaHei"/>
              </a:rPr>
              <a:t>价值  </a:t>
            </a:r>
            <a:r>
              <a:rPr sz="800" b="0">
                <a:solidFill>
                  <a:srgbClr val="374151"/>
                </a:solidFill>
                <a:latin typeface="Microsoft YaHei"/>
              </a:rPr>
              <a:t>手绘帧动画从数十帧→关键帧AI补间，制作量减少70%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736592"/>
            <a:ext cx="48463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技术  </a:t>
            </a:r>
            <a:r>
              <a:rPr sz="780" b="0">
                <a:solidFill>
                  <a:srgbClr val="374151"/>
                </a:solidFill>
                <a:latin typeface="Microsoft YaHei"/>
              </a:rPr>
              <a:t>关键帧→光流插值 + 时序一致性扩散 + 风格保持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64224" y="5852159"/>
            <a:ext cx="4873752" cy="310896"/>
          </a:xfrm>
          <a:prstGeom prst="roundRect">
            <a:avLst>
              <a:gd name="adj" fmla="val 10000"/>
            </a:avLst>
          </a:prstGeom>
          <a:solidFill>
            <a:srgbClr val="EF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37376" y="5870448"/>
            <a:ext cx="48006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EA580C"/>
                </a:solidFill>
                <a:latin typeface="Microsoft YaHei"/>
              </a:rPr>
              <a:t>💡 </a:t>
            </a:r>
            <a:r>
              <a:rPr sz="800" b="1">
                <a:solidFill>
                  <a:srgbClr val="161B2E"/>
                </a:solidFill>
                <a:latin typeface="Microsoft YaHei"/>
              </a:rPr>
              <a:t>Spine骨骼2D动画自动绑定 + AI表情动画生成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7/24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AI游戏资产生成 · 创新方向盘点与挖掘 · xhyha/insight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3484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45720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0" b="1">
                <a:solidFill>
                  <a:srgbClr val="2563EB"/>
                </a:solidFill>
                <a:latin typeface="Microsoft Ya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697480"/>
            <a:ext cx="8686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563EB"/>
                </a:solidFill>
                <a:latin typeface="Microsoft YaHei"/>
              </a:rPr>
              <a:t>3D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108960"/>
            <a:ext cx="91440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61B2E"/>
                </a:solidFill>
                <a:latin typeface="Microsoft YaHei"/>
              </a:rPr>
              <a:t>3D模型与材质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886200"/>
            <a:ext cx="84124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74151"/>
                </a:solidFill>
                <a:latin typeface="Microsoft YaHei"/>
              </a:rPr>
              <a:t>角色 / 环境 / PBR材质 / LOD优化（4个idea）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8/24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AI游戏资产生成 · 创新方向盘点与挖掘 · xhyha/insight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563EB"/>
                </a:solidFill>
                <a:latin typeface="Microsoft YaHei"/>
              </a:rPr>
              <a:t>03 · 3D模型  |  4个创新方向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场景 · 价值 · 竞品 · 技术 · 创新机会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5166360" cy="233172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82296" cy="23317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72184"/>
            <a:ext cx="4800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Microsoft YaHei"/>
              </a:rPr>
              <a:t>#5  </a:t>
            </a:r>
            <a:r>
              <a:rPr sz="1050" b="1">
                <a:solidFill>
                  <a:srgbClr val="161B2E"/>
                </a:solidFill>
                <a:latin typeface="Microsoft YaHei"/>
              </a:rPr>
              <a:t>文本/草图→3D角色一键生成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28216"/>
            <a:ext cx="48463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6B7280"/>
                </a:solidFill>
                <a:latin typeface="Microsoft YaHei"/>
              </a:rPr>
              <a:t>竞品: </a:t>
            </a:r>
            <a:r>
              <a:rPr sz="800" b="0">
                <a:solidFill>
                  <a:srgbClr val="9AA5BC"/>
                </a:solidFill>
                <a:latin typeface="Microsoft YaHei"/>
              </a:rPr>
              <a:t>Meshy.ai · Tripo3D · CSM.ai · Luma AI · Rodin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29384"/>
            <a:ext cx="484632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场景  </a:t>
            </a:r>
            <a:r>
              <a:rPr sz="800" b="0">
                <a:solidFill>
                  <a:srgbClr val="374151"/>
                </a:solidFill>
                <a:latin typeface="Microsoft YaHei"/>
              </a:rPr>
              <a:t>快速原型 / NPC量产 / 角色设计验证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059669"/>
                </a:solidFill>
                <a:latin typeface="Microsoft YaHei"/>
              </a:rPr>
              <a:t>价值  </a:t>
            </a:r>
            <a:r>
              <a:rPr sz="800" b="0">
                <a:solidFill>
                  <a:srgbClr val="374151"/>
                </a:solidFill>
                <a:latin typeface="Microsoft YaHei"/>
              </a:rPr>
              <a:t>3D角色制作从周级→小时级，降低3D创作门槛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67712"/>
            <a:ext cx="48463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技术  </a:t>
            </a:r>
            <a:r>
              <a:rPr sz="780" b="0">
                <a:solidFill>
                  <a:srgbClr val="374151"/>
                </a:solidFill>
                <a:latin typeface="Microsoft YaHei"/>
              </a:rPr>
              <a:t>多视图扩散→NeRF/3DGS重建 → 拓扑优化 → UV自动展开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9264" y="3383279"/>
            <a:ext cx="4873752" cy="310896"/>
          </a:xfrm>
          <a:prstGeom prst="roundRect">
            <a:avLst>
              <a:gd name="adj" fmla="val 10000"/>
            </a:avLst>
          </a:prstGeom>
          <a:solidFill>
            <a:srgbClr val="EF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3401568"/>
            <a:ext cx="48006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EA580C"/>
                </a:solidFill>
                <a:latin typeface="Microsoft YaHei"/>
              </a:rPr>
              <a:t>💡 </a:t>
            </a:r>
            <a:r>
              <a:rPr sz="800" b="1">
                <a:solidFill>
                  <a:srgbClr val="161B2E"/>
                </a:solidFill>
                <a:latin typeface="Microsoft YaHei"/>
              </a:rPr>
              <a:t>游戏级Low-poly混合拓扑 + 可定制化角色(换装/换脸)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17320"/>
            <a:ext cx="5166360" cy="233172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82296" cy="23317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72184"/>
            <a:ext cx="4800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Microsoft YaHei"/>
              </a:rPr>
              <a:t>#6  </a:t>
            </a:r>
            <a:r>
              <a:rPr sz="1050" b="1">
                <a:solidFill>
                  <a:srgbClr val="161B2E"/>
                </a:solidFill>
                <a:latin typeface="Microsoft YaHei"/>
              </a:rPr>
              <a:t>程序化环境/城市构建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728216"/>
            <a:ext cx="48463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6B7280"/>
                </a:solidFill>
                <a:latin typeface="Microsoft YaHei"/>
              </a:rPr>
              <a:t>竞品: </a:t>
            </a:r>
            <a:r>
              <a:rPr sz="800" b="0">
                <a:solidFill>
                  <a:srgbClr val="9AA5BC"/>
                </a:solidFill>
                <a:latin typeface="Microsoft YaHei"/>
              </a:rPr>
              <a:t>Promethean AI · GAEA · Houdini+AI · Townscaper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929384"/>
            <a:ext cx="484632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场景  </a:t>
            </a:r>
            <a:r>
              <a:rPr sz="800" b="0">
                <a:solidFill>
                  <a:srgbClr val="374151"/>
                </a:solidFill>
                <a:latin typeface="Microsoft YaHei"/>
              </a:rPr>
              <a:t>开放世界 / 关卡环境 / 城市街区批量构建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059669"/>
                </a:solidFill>
                <a:latin typeface="Microsoft YaHei"/>
              </a:rPr>
              <a:t>价值  </a:t>
            </a:r>
            <a:r>
              <a:rPr sz="800" b="0">
                <a:solidFill>
                  <a:srgbClr val="374151"/>
                </a:solidFill>
                <a:latin typeface="Microsoft YaHei"/>
              </a:rPr>
              <a:t>城市级环境搭建从月级→天级，大幅降低场景美术人力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267712"/>
            <a:ext cx="48463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技术  </a:t>
            </a:r>
            <a:r>
              <a:rPr sz="780" b="0">
                <a:solidFill>
                  <a:srgbClr val="374151"/>
                </a:solidFill>
                <a:latin typeface="Microsoft YaHei"/>
              </a:rPr>
              <a:t>规则约束扩散生成 + 程序化布局 + 地形融合 + 语义放置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64224" y="3383279"/>
            <a:ext cx="4873752" cy="310896"/>
          </a:xfrm>
          <a:prstGeom prst="roundRect">
            <a:avLst>
              <a:gd name="adj" fmla="val 10000"/>
            </a:avLst>
          </a:prstGeom>
          <a:solidFill>
            <a:srgbClr val="EF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3401568"/>
            <a:ext cx="48006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EA580C"/>
                </a:solidFill>
                <a:latin typeface="Microsoft YaHei"/>
              </a:rPr>
              <a:t>💡 </a:t>
            </a:r>
            <a:r>
              <a:rPr sz="800" b="1">
                <a:solidFill>
                  <a:srgbClr val="161B2E"/>
                </a:solidFill>
                <a:latin typeface="Microsoft YaHei"/>
              </a:rPr>
              <a:t>风格化环境生成(二次元/赛博朋克) + AI智能物件布局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886200"/>
            <a:ext cx="5166360" cy="233172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" y="3886200"/>
            <a:ext cx="82296" cy="23317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941063"/>
            <a:ext cx="4800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Microsoft YaHei"/>
              </a:rPr>
              <a:t>#7  </a:t>
            </a:r>
            <a:r>
              <a:rPr sz="1050" b="1">
                <a:solidFill>
                  <a:srgbClr val="161B2E"/>
                </a:solidFill>
                <a:latin typeface="Microsoft YaHei"/>
              </a:rPr>
              <a:t>AI PBR材质生成（全通道）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197096"/>
            <a:ext cx="48463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6B7280"/>
                </a:solidFill>
                <a:latin typeface="Microsoft YaHei"/>
              </a:rPr>
              <a:t>竞品: </a:t>
            </a:r>
            <a:r>
              <a:rPr sz="800" b="0">
                <a:solidFill>
                  <a:srgbClr val="9AA5BC"/>
                </a:solidFill>
                <a:latin typeface="Microsoft YaHei"/>
              </a:rPr>
              <a:t>WithPoly · Polycam · Materialine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398264"/>
            <a:ext cx="484632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场景  </a:t>
            </a:r>
            <a:r>
              <a:rPr sz="800" b="0">
                <a:solidFill>
                  <a:srgbClr val="374151"/>
                </a:solidFill>
                <a:latin typeface="Microsoft YaHei"/>
              </a:rPr>
              <a:t>3D场景材质制作（Albedo/Normal/Roughness/Metallic/AO）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059669"/>
                </a:solidFill>
                <a:latin typeface="Microsoft YaHei"/>
              </a:rPr>
              <a:t>价值  </a:t>
            </a:r>
            <a:r>
              <a:rPr sz="800" b="0">
                <a:solidFill>
                  <a:srgbClr val="374151"/>
                </a:solidFill>
                <a:latin typeface="Microsoft YaHei"/>
              </a:rPr>
              <a:t>多通道PBR材质一键生成，保证物理一致性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736592"/>
            <a:ext cx="48463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技术  </a:t>
            </a:r>
            <a:r>
              <a:rPr sz="780" b="0">
                <a:solidFill>
                  <a:srgbClr val="374151"/>
                </a:solidFill>
                <a:latin typeface="Microsoft YaHei"/>
              </a:rPr>
              <a:t>多通道联合扩散（物理一致性约束） + 材质库风格学习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9264" y="5852159"/>
            <a:ext cx="4873752" cy="310896"/>
          </a:xfrm>
          <a:prstGeom prst="roundRect">
            <a:avLst>
              <a:gd name="adj" fmla="val 10000"/>
            </a:avLst>
          </a:prstGeom>
          <a:solidFill>
            <a:srgbClr val="EF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2416" y="5870448"/>
            <a:ext cx="48006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EA580C"/>
                </a:solidFill>
                <a:latin typeface="Microsoft YaHei"/>
              </a:rPr>
              <a:t>💡 </a:t>
            </a:r>
            <a:r>
              <a:rPr sz="800" b="1">
                <a:solidFill>
                  <a:srgbClr val="161B2E"/>
                </a:solidFill>
                <a:latin typeface="Microsoft YaHei"/>
              </a:rPr>
              <a:t>游戏风格化PBR(NPR渲染) + 材质智能变体生成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886200"/>
            <a:ext cx="5166360" cy="233172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17920" y="3886200"/>
            <a:ext cx="82296" cy="23317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941063"/>
            <a:ext cx="4800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Microsoft YaHei"/>
              </a:rPr>
              <a:t>#8  </a:t>
            </a:r>
            <a:r>
              <a:rPr sz="1050" b="1">
                <a:solidFill>
                  <a:srgbClr val="161B2E"/>
                </a:solidFill>
                <a:latin typeface="Microsoft YaHei"/>
              </a:rPr>
              <a:t>智能LOD与减面优化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197096"/>
            <a:ext cx="48463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6B7280"/>
                </a:solidFill>
                <a:latin typeface="Microsoft YaHei"/>
              </a:rPr>
              <a:t>竞品: </a:t>
            </a:r>
            <a:r>
              <a:rPr sz="800" b="0">
                <a:solidFill>
                  <a:srgbClr val="9AA5BC"/>
                </a:solidFill>
                <a:latin typeface="Microsoft YaHei"/>
              </a:rPr>
              <a:t>InstaLOD · Simplygon · Unity HLOD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398264"/>
            <a:ext cx="484632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场景  </a:t>
            </a:r>
            <a:r>
              <a:rPr sz="800" b="0">
                <a:solidFill>
                  <a:srgbClr val="374151"/>
                </a:solidFill>
                <a:latin typeface="Microsoft YaHei"/>
              </a:rPr>
              <a:t>多平台适配（手机/PC/主机），性能优化与包体控制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059669"/>
                </a:solidFill>
                <a:latin typeface="Microsoft YaHei"/>
              </a:rPr>
              <a:t>价值  </a:t>
            </a:r>
            <a:r>
              <a:rPr sz="800" b="0">
                <a:solidFill>
                  <a:srgbClr val="374151"/>
                </a:solidFill>
                <a:latin typeface="Microsoft YaHei"/>
              </a:rPr>
              <a:t>自动生成多级LOD，减面保持视觉质量，适配成本-80%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736592"/>
            <a:ext cx="48463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技术  </a:t>
            </a:r>
            <a:r>
              <a:rPr sz="780" b="0">
                <a:solidFill>
                  <a:srgbClr val="374151"/>
                </a:solidFill>
                <a:latin typeface="Microsoft YaHei"/>
              </a:rPr>
              <a:t>AI感知重要性加权减面 + 轮廓/UV保持 + 纹理烘焙合并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64224" y="5852159"/>
            <a:ext cx="4873752" cy="310896"/>
          </a:xfrm>
          <a:prstGeom prst="roundRect">
            <a:avLst>
              <a:gd name="adj" fmla="val 10000"/>
            </a:avLst>
          </a:prstGeom>
          <a:solidFill>
            <a:srgbClr val="EF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37376" y="5870448"/>
            <a:ext cx="48006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EA580C"/>
                </a:solidFill>
                <a:latin typeface="Microsoft YaHei"/>
              </a:rPr>
              <a:t>💡 </a:t>
            </a:r>
            <a:r>
              <a:rPr sz="800" b="1">
                <a:solidFill>
                  <a:srgbClr val="161B2E"/>
                </a:solidFill>
                <a:latin typeface="Microsoft YaHei"/>
              </a:rPr>
              <a:t>实时动态LOD(基于视角) + AI预测最优LOD切换策略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9/24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AI游戏资产生成 · 创新方向盘点与挖掘 · xhyha/insight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3484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45720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0" b="1">
                <a:solidFill>
                  <a:srgbClr val="EA580C"/>
                </a:solidFill>
                <a:latin typeface="Microsoft Ya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697480"/>
            <a:ext cx="8686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A580C"/>
                </a:solidFill>
                <a:latin typeface="Microsoft YaHei"/>
              </a:rPr>
              <a:t>ANIMATION &amp; RIGGING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108960"/>
            <a:ext cx="91440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61B2E"/>
                </a:solidFill>
                <a:latin typeface="Microsoft YaHei"/>
              </a:rPr>
              <a:t>动画与Rigging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886200"/>
            <a:ext cx="84124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74151"/>
                </a:solidFill>
                <a:latin typeface="Microsoft YaHei"/>
              </a:rPr>
              <a:t>视频重定向 / 面部动画 / 自动绑定 / 物理动画（4个idea）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10/24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AI游戏资产生成 · 创新方向盘点与挖掘 · xhyha/insight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04 · 动画与Rigging  |  4个创新方向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场景 · 价值 · 竞品 · 技术 · 创新机会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5166360" cy="233172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82296" cy="233172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72184"/>
            <a:ext cx="4800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A580C"/>
                </a:solidFill>
                <a:latin typeface="Microsoft YaHei"/>
              </a:rPr>
              <a:t>#9  </a:t>
            </a:r>
            <a:r>
              <a:rPr sz="1050" b="1">
                <a:solidFill>
                  <a:srgbClr val="161B2E"/>
                </a:solidFill>
                <a:latin typeface="Microsoft YaHei"/>
              </a:rPr>
              <a:t>视频→游戏动画重定向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28216"/>
            <a:ext cx="48463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6B7280"/>
                </a:solidFill>
                <a:latin typeface="Microsoft YaHei"/>
              </a:rPr>
              <a:t>竞品: </a:t>
            </a:r>
            <a:r>
              <a:rPr sz="800" b="0">
                <a:solidFill>
                  <a:srgbClr val="9AA5BC"/>
                </a:solidFill>
                <a:latin typeface="Microsoft YaHei"/>
              </a:rPr>
              <a:t>Kinetix · Wonder Dynamics · Plask · Radical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29384"/>
            <a:ext cx="484632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EA580C"/>
                </a:solidFill>
                <a:latin typeface="Microsoft YaHei"/>
              </a:rPr>
              <a:t>场景  </a:t>
            </a:r>
            <a:r>
              <a:rPr sz="800" b="0">
                <a:solidFill>
                  <a:srgbClr val="374151"/>
                </a:solidFill>
                <a:latin typeface="Microsoft YaHei"/>
              </a:rPr>
              <a:t>动画师参考视频/动捕数据→游戏角色动画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059669"/>
                </a:solidFill>
                <a:latin typeface="Microsoft YaHei"/>
              </a:rPr>
              <a:t>价值  </a:t>
            </a:r>
            <a:r>
              <a:rPr sz="800" b="0">
                <a:solidFill>
                  <a:srgbClr val="374151"/>
                </a:solidFill>
                <a:latin typeface="Microsoft YaHei"/>
              </a:rPr>
              <a:t>无需专业动捕设备，手机视频即可提取高质量3D动画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67712"/>
            <a:ext cx="48463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技术  </a:t>
            </a:r>
            <a:r>
              <a:rPr sz="780" b="0">
                <a:solidFill>
                  <a:srgbClr val="374151"/>
                </a:solidFill>
                <a:latin typeface="Microsoft YaHei"/>
              </a:rPr>
              <a:t>视频2D pose estimation → 3D骨骼重建 → 跨角色重定向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9264" y="3383279"/>
            <a:ext cx="4873752" cy="310896"/>
          </a:xfrm>
          <a:prstGeom prst="roundRect">
            <a:avLst>
              <a:gd name="adj" fmla="val 10000"/>
            </a:avLst>
          </a:prstGeom>
          <a:solidFill>
            <a:srgbClr val="EF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3401568"/>
            <a:ext cx="48006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EA580C"/>
                </a:solidFill>
                <a:latin typeface="Microsoft YaHei"/>
              </a:rPr>
              <a:t>💡 </a:t>
            </a:r>
            <a:r>
              <a:rPr sz="800" b="1">
                <a:solidFill>
                  <a:srgbClr val="161B2E"/>
                </a:solidFill>
                <a:latin typeface="Microsoft YaHei"/>
              </a:rPr>
              <a:t>多角色交互动画提取 + 风格化动画(夸张/卡通)生成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17320"/>
            <a:ext cx="5166360" cy="233172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82296" cy="233172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72184"/>
            <a:ext cx="4800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A580C"/>
                </a:solidFill>
                <a:latin typeface="Microsoft YaHei"/>
              </a:rPr>
              <a:t>#10  </a:t>
            </a:r>
            <a:r>
              <a:rPr sz="1050" b="1">
                <a:solidFill>
                  <a:srgbClr val="161B2E"/>
                </a:solidFill>
                <a:latin typeface="Microsoft YaHei"/>
              </a:rPr>
              <a:t>AI面部表情与口型同步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728216"/>
            <a:ext cx="48463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6B7280"/>
                </a:solidFill>
                <a:latin typeface="Microsoft YaHei"/>
              </a:rPr>
              <a:t>竞品: </a:t>
            </a:r>
            <a:r>
              <a:rPr sz="800" b="0">
                <a:solidFill>
                  <a:srgbClr val="9AA5BC"/>
                </a:solidFill>
                <a:latin typeface="Microsoft YaHei"/>
              </a:rPr>
              <a:t>NVIDIA Audio2Face · Faceware · Reallusion · Polywink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929384"/>
            <a:ext cx="484632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EA580C"/>
                </a:solidFill>
                <a:latin typeface="Microsoft YaHei"/>
              </a:rPr>
              <a:t>场景  </a:t>
            </a:r>
            <a:r>
              <a:rPr sz="800" b="0">
                <a:solidFill>
                  <a:srgbClr val="374151"/>
                </a:solidFill>
                <a:latin typeface="Microsoft YaHei"/>
              </a:rPr>
              <a:t>角色对话/过场动画面部表情制作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059669"/>
                </a:solidFill>
                <a:latin typeface="Microsoft YaHei"/>
              </a:rPr>
              <a:t>价值  </a:t>
            </a:r>
            <a:r>
              <a:rPr sz="800" b="0">
                <a:solidFill>
                  <a:srgbClr val="374151"/>
                </a:solidFill>
                <a:latin typeface="Microsoft YaHei"/>
              </a:rPr>
              <a:t>面部动画从手工BlendShape→音频/文本自动驱动，效率×50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267712"/>
            <a:ext cx="48463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技术  </a:t>
            </a:r>
            <a:r>
              <a:rPr sz="780" b="0">
                <a:solidFill>
                  <a:srgbClr val="374151"/>
                </a:solidFill>
                <a:latin typeface="Microsoft YaHei"/>
              </a:rPr>
              <a:t>音频→Phoneme→Viseme映射 + 情绪推理 + BlendShape权重预测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64224" y="3383279"/>
            <a:ext cx="4873752" cy="310896"/>
          </a:xfrm>
          <a:prstGeom prst="roundRect">
            <a:avLst>
              <a:gd name="adj" fmla="val 10000"/>
            </a:avLst>
          </a:prstGeom>
          <a:solidFill>
            <a:srgbClr val="EF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3401568"/>
            <a:ext cx="48006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EA580C"/>
                </a:solidFill>
                <a:latin typeface="Microsoft YaHei"/>
              </a:rPr>
              <a:t>💡 </a:t>
            </a:r>
            <a:r>
              <a:rPr sz="800" b="1">
                <a:solidFill>
                  <a:srgbClr val="161B2E"/>
                </a:solidFill>
                <a:latin typeface="Microsoft YaHei"/>
              </a:rPr>
              <a:t>多语言口型自适应 + 情绪感知表情(非中性呆板)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886200"/>
            <a:ext cx="5166360" cy="233172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" y="3886200"/>
            <a:ext cx="82296" cy="233172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941063"/>
            <a:ext cx="4800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A580C"/>
                </a:solidFill>
                <a:latin typeface="Microsoft YaHei"/>
              </a:rPr>
              <a:t>#11  </a:t>
            </a:r>
            <a:r>
              <a:rPr sz="1050" b="1">
                <a:solidFill>
                  <a:srgbClr val="161B2E"/>
                </a:solidFill>
                <a:latin typeface="Microsoft YaHei"/>
              </a:rPr>
              <a:t>一键Auto-Rig + Auto-Skin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197096"/>
            <a:ext cx="48463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6B7280"/>
                </a:solidFill>
                <a:latin typeface="Microsoft YaHei"/>
              </a:rPr>
              <a:t>竞品: </a:t>
            </a:r>
            <a:r>
              <a:rPr sz="800" b="0">
                <a:solidFill>
                  <a:srgbClr val="9AA5BC"/>
                </a:solidFill>
                <a:latin typeface="Microsoft YaHei"/>
              </a:rPr>
              <a:t>Mixamo(Adobe) · AccuRIG · RapidRig · Maya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398264"/>
            <a:ext cx="484632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EA580C"/>
                </a:solidFill>
                <a:latin typeface="Microsoft YaHei"/>
              </a:rPr>
              <a:t>场景  </a:t>
            </a:r>
            <a:r>
              <a:rPr sz="800" b="0">
                <a:solidFill>
                  <a:srgbClr val="374151"/>
                </a:solidFill>
                <a:latin typeface="Microsoft YaHei"/>
              </a:rPr>
              <a:t>3D角色模型→可动画角色（骨骼+权重绑定）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059669"/>
                </a:solidFill>
                <a:latin typeface="Microsoft YaHei"/>
              </a:rPr>
              <a:t>价值  </a:t>
            </a:r>
            <a:r>
              <a:rPr sz="800" b="0">
                <a:solidFill>
                  <a:srgbClr val="374151"/>
                </a:solidFill>
                <a:latin typeface="Microsoft YaHei"/>
              </a:rPr>
              <a:t>Rigging从天级→分钟级，大幅降低技术门槛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736592"/>
            <a:ext cx="48463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技术  </a:t>
            </a:r>
            <a:r>
              <a:rPr sz="780" b="0">
                <a:solidFill>
                  <a:srgbClr val="374151"/>
                </a:solidFill>
                <a:latin typeface="Microsoft YaHei"/>
              </a:rPr>
              <a:t>人体拓扑识别 + 自动骨骼放置 + LBS/DQ权重预测网络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9264" y="5852159"/>
            <a:ext cx="4873752" cy="310896"/>
          </a:xfrm>
          <a:prstGeom prst="roundRect">
            <a:avLst>
              <a:gd name="adj" fmla="val 10000"/>
            </a:avLst>
          </a:prstGeom>
          <a:solidFill>
            <a:srgbClr val="EF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2416" y="5870448"/>
            <a:ext cx="48006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EA580C"/>
                </a:solidFill>
                <a:latin typeface="Microsoft YaHei"/>
              </a:rPr>
              <a:t>💡 </a:t>
            </a:r>
            <a:r>
              <a:rPr sz="800" b="1">
                <a:solidFill>
                  <a:srgbClr val="161B2E"/>
                </a:solidFill>
                <a:latin typeface="Microsoft YaHei"/>
              </a:rPr>
              <a:t>非人形角色(怪物/动物)Auto-Rig + 实时权重交互修正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886200"/>
            <a:ext cx="5166360" cy="233172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17920" y="3886200"/>
            <a:ext cx="82296" cy="233172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941063"/>
            <a:ext cx="4800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A580C"/>
                </a:solidFill>
                <a:latin typeface="Microsoft YaHei"/>
              </a:rPr>
              <a:t>#12  </a:t>
            </a:r>
            <a:r>
              <a:rPr sz="1050" b="1">
                <a:solidFill>
                  <a:srgbClr val="161B2E"/>
                </a:solidFill>
                <a:latin typeface="Microsoft YaHei"/>
              </a:rPr>
              <a:t>AI群体动画与物理代理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197096"/>
            <a:ext cx="48463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6B7280"/>
                </a:solidFill>
                <a:latin typeface="Microsoft YaHei"/>
              </a:rPr>
              <a:t>竞品: </a:t>
            </a:r>
            <a:r>
              <a:rPr sz="800" b="0">
                <a:solidFill>
                  <a:srgbClr val="9AA5BC"/>
                </a:solidFill>
                <a:latin typeface="Microsoft YaHei"/>
              </a:rPr>
              <a:t>Massive · Marvelous Designer · Ziva Dynamics · Wonder Dynamics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398264"/>
            <a:ext cx="484632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EA580C"/>
                </a:solidFill>
                <a:latin typeface="Microsoft YaHei"/>
              </a:rPr>
              <a:t>场景  </a:t>
            </a:r>
            <a:r>
              <a:rPr sz="800" b="0">
                <a:solidFill>
                  <a:srgbClr val="374151"/>
                </a:solidFill>
                <a:latin typeface="Microsoft YaHei"/>
              </a:rPr>
              <a:t>大规模NPC群体 + 布料/毛发物理模拟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059669"/>
                </a:solidFill>
                <a:latin typeface="Microsoft YaHei"/>
              </a:rPr>
              <a:t>价值  </a:t>
            </a:r>
            <a:r>
              <a:rPr sz="800" b="0">
                <a:solidFill>
                  <a:srgbClr val="374151"/>
                </a:solidFill>
                <a:latin typeface="Microsoft YaHei"/>
              </a:rPr>
              <a:t>群体动画消除重复感 + 物理模拟用AI加速(替代FEM)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736592"/>
            <a:ext cx="48463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技术  </a:t>
            </a:r>
            <a:r>
              <a:rPr sz="780" b="0">
                <a:solidFill>
                  <a:srgbClr val="374151"/>
                </a:solidFill>
                <a:latin typeface="Microsoft YaHei"/>
              </a:rPr>
              <a:t>神经网络代理物理模拟(Neural Physics) + 群体行为风格化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64224" y="5852159"/>
            <a:ext cx="4873752" cy="310896"/>
          </a:xfrm>
          <a:prstGeom prst="roundRect">
            <a:avLst>
              <a:gd name="adj" fmla="val 10000"/>
            </a:avLst>
          </a:prstGeom>
          <a:solidFill>
            <a:srgbClr val="EF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37376" y="5870448"/>
            <a:ext cx="48006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EA580C"/>
                </a:solidFill>
                <a:latin typeface="Microsoft YaHei"/>
              </a:rPr>
              <a:t>💡 </a:t>
            </a:r>
            <a:r>
              <a:rPr sz="800" b="1">
                <a:solidFill>
                  <a:srgbClr val="161B2E"/>
                </a:solidFill>
                <a:latin typeface="Microsoft YaHei"/>
              </a:rPr>
              <a:t>实时布料AI预测(替代物理引擎) + 战场群体AI驱动动画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11/24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AI游戏资产生成 · 创新方向盘点与挖掘 · xhyha/insight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3484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45720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0" b="1">
                <a:solidFill>
                  <a:srgbClr val="0D9488"/>
                </a:solidFill>
                <a:latin typeface="Microsoft YaHe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697480"/>
            <a:ext cx="8686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D9488"/>
                </a:solidFill>
                <a:latin typeface="Microsoft YaHei"/>
              </a:rPr>
              <a:t>AUDIO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108960"/>
            <a:ext cx="91440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61B2E"/>
                </a:solidFill>
                <a:latin typeface="Microsoft YaHei"/>
              </a:rPr>
              <a:t>音频资产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886200"/>
            <a:ext cx="84124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74151"/>
                </a:solidFill>
                <a:latin typeface="Microsoft YaHei"/>
              </a:rPr>
              <a:t>自适应音乐 / 程序化SFX / NPC语音合成（3个idea）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12/24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AI游戏资产生成 · 创新方向盘点与挖掘 · xhyha/insight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9488"/>
                </a:solidFill>
                <a:latin typeface="Microsoft YaHei"/>
              </a:rPr>
              <a:t>05 · 音频  |  3个创新方向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场景 · 价值 · 竞品 · 技术 · 创新机会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3429000" cy="402336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82296" cy="402336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72184"/>
            <a:ext cx="3063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D9488"/>
                </a:solidFill>
                <a:latin typeface="Microsoft YaHei"/>
              </a:rPr>
              <a:t>#13  </a:t>
            </a:r>
            <a:r>
              <a:rPr sz="1050" b="1">
                <a:solidFill>
                  <a:srgbClr val="161B2E"/>
                </a:solidFill>
                <a:latin typeface="Microsoft YaHei"/>
              </a:rPr>
              <a:t>自适应游戏音乐引擎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28216"/>
            <a:ext cx="31089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6B7280"/>
                </a:solidFill>
                <a:latin typeface="Microsoft YaHei"/>
              </a:rPr>
              <a:t>竞品: </a:t>
            </a:r>
            <a:r>
              <a:rPr sz="800" b="0">
                <a:solidFill>
                  <a:srgbClr val="9AA5BC"/>
                </a:solidFill>
                <a:latin typeface="Microsoft YaHei"/>
              </a:rPr>
              <a:t>Suno · AIVA · Harmonai · EA GenMusic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29384"/>
            <a:ext cx="31089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0D9488"/>
                </a:solidFill>
                <a:latin typeface="Microsoft YaHei"/>
              </a:rPr>
              <a:t>场景  </a:t>
            </a:r>
            <a:r>
              <a:rPr sz="800" b="0">
                <a:solidFill>
                  <a:srgbClr val="374151"/>
                </a:solidFill>
                <a:latin typeface="Microsoft YaHei"/>
              </a:rPr>
              <a:t>游戏BGM随场景/情绪/战斗动态变化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059669"/>
                </a:solidFill>
                <a:latin typeface="Microsoft YaHei"/>
              </a:rPr>
              <a:t>价值  </a:t>
            </a:r>
            <a:r>
              <a:rPr sz="800" b="0">
                <a:solidFill>
                  <a:srgbClr val="374151"/>
                </a:solidFill>
                <a:latin typeface="Microsoft YaHei"/>
              </a:rPr>
              <a:t>不再预录制多版本，实时生成无缝过渡BGM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67712"/>
            <a:ext cx="31089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技术  </a:t>
            </a:r>
            <a:r>
              <a:rPr sz="780" b="0">
                <a:solidFill>
                  <a:srgbClr val="374151"/>
                </a:solidFill>
                <a:latin typeface="Microsoft YaHei"/>
              </a:rPr>
              <a:t>条件扩散生成 + 情绪标签控制 + 实时编曲/混音引擎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9264" y="5074920"/>
            <a:ext cx="3136392" cy="310896"/>
          </a:xfrm>
          <a:prstGeom prst="roundRect">
            <a:avLst>
              <a:gd name="adj" fmla="val 10000"/>
            </a:avLst>
          </a:prstGeom>
          <a:solidFill>
            <a:srgbClr val="EF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5093208"/>
            <a:ext cx="306324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EA580C"/>
                </a:solidFill>
                <a:latin typeface="Microsoft YaHei"/>
              </a:rPr>
              <a:t>💡 </a:t>
            </a:r>
            <a:r>
              <a:rPr sz="800" b="1">
                <a:solidFill>
                  <a:srgbClr val="161B2E"/>
                </a:solidFill>
                <a:latin typeface="Microsoft YaHei"/>
              </a:rPr>
              <a:t>玩家行为驱动个性化BGM + 跨场景无缝音乐过渡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417320"/>
            <a:ext cx="3429000" cy="402336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1417320"/>
            <a:ext cx="82296" cy="402336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472184"/>
            <a:ext cx="3063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D9488"/>
                </a:solidFill>
                <a:latin typeface="Microsoft YaHei"/>
              </a:rPr>
              <a:t>#14  </a:t>
            </a:r>
            <a:r>
              <a:rPr sz="1050" b="1">
                <a:solidFill>
                  <a:srgbClr val="161B2E"/>
                </a:solidFill>
                <a:latin typeface="Microsoft YaHei"/>
              </a:rPr>
              <a:t>程序化SFX音效生成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728216"/>
            <a:ext cx="31089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6B7280"/>
                </a:solidFill>
                <a:latin typeface="Microsoft YaHei"/>
              </a:rPr>
              <a:t>竞品: </a:t>
            </a:r>
            <a:r>
              <a:rPr sz="800" b="0">
                <a:solidFill>
                  <a:srgbClr val="9AA5BC"/>
                </a:solidFill>
                <a:latin typeface="Microsoft YaHei"/>
              </a:rPr>
              <a:t>ElevenLabs SFX · Krotos Studio · MyEdit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929384"/>
            <a:ext cx="31089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0D9488"/>
                </a:solidFill>
                <a:latin typeface="Microsoft YaHei"/>
              </a:rPr>
              <a:t>场景  </a:t>
            </a:r>
            <a:r>
              <a:rPr sz="800" b="0">
                <a:solidFill>
                  <a:srgbClr val="374151"/>
                </a:solidFill>
                <a:latin typeface="Microsoft YaHei"/>
              </a:rPr>
              <a:t>游戏音效（脚步/武器/环境/UI/魔法）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059669"/>
                </a:solidFill>
                <a:latin typeface="Microsoft YaHei"/>
              </a:rPr>
              <a:t>价值  </a:t>
            </a:r>
            <a:r>
              <a:rPr sz="800" b="0">
                <a:solidFill>
                  <a:srgbClr val="374151"/>
                </a:solidFill>
                <a:latin typeface="Microsoft YaHei"/>
              </a:rPr>
              <a:t>音效库依赖降低，定制化SFX即时生成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267712"/>
            <a:ext cx="31089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技术  </a:t>
            </a:r>
            <a:r>
              <a:rPr sz="780" b="0">
                <a:solidFill>
                  <a:srgbClr val="374151"/>
                </a:solidFill>
                <a:latin typeface="Microsoft YaHei"/>
              </a:rPr>
              <a:t>文本→音频扩散 + 物理参数化合成 + 层叠混合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35424" y="5074920"/>
            <a:ext cx="3136392" cy="310896"/>
          </a:xfrm>
          <a:prstGeom prst="roundRect">
            <a:avLst>
              <a:gd name="adj" fmla="val 10000"/>
            </a:avLst>
          </a:prstGeom>
          <a:solidFill>
            <a:srgbClr val="EF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8576" y="5093208"/>
            <a:ext cx="306324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EA580C"/>
                </a:solidFill>
                <a:latin typeface="Microsoft YaHei"/>
              </a:rPr>
              <a:t>💡 </a:t>
            </a:r>
            <a:r>
              <a:rPr sz="800" b="1">
                <a:solidFill>
                  <a:srgbClr val="161B2E"/>
                </a:solidFill>
                <a:latin typeface="Microsoft YaHei"/>
              </a:rPr>
              <a:t>交互式SFX(材质×力度×距离组合) + 3D空间音效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79" y="1417320"/>
            <a:ext cx="3429000" cy="402336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55279" y="1417320"/>
            <a:ext cx="82296" cy="402336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59" y="1472184"/>
            <a:ext cx="3063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D9488"/>
                </a:solidFill>
                <a:latin typeface="Microsoft YaHei"/>
              </a:rPr>
              <a:t>#15  </a:t>
            </a:r>
            <a:r>
              <a:rPr sz="1050" b="1">
                <a:solidFill>
                  <a:srgbClr val="161B2E"/>
                </a:solidFill>
                <a:latin typeface="Microsoft YaHei"/>
              </a:rPr>
              <a:t>AI NPC语音合成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59" y="1728216"/>
            <a:ext cx="31089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6B7280"/>
                </a:solidFill>
                <a:latin typeface="Microsoft YaHei"/>
              </a:rPr>
              <a:t>竞品: </a:t>
            </a:r>
            <a:r>
              <a:rPr sz="800" b="0">
                <a:solidFill>
                  <a:srgbClr val="9AA5BC"/>
                </a:solidFill>
                <a:latin typeface="Microsoft YaHei"/>
              </a:rPr>
              <a:t>ElevenLabs · Inworld AI · Convai · Replica Studios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59" y="1929384"/>
            <a:ext cx="31089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0D9488"/>
                </a:solidFill>
                <a:latin typeface="Microsoft YaHei"/>
              </a:rPr>
              <a:t>场景  </a:t>
            </a:r>
            <a:r>
              <a:rPr sz="800" b="0">
                <a:solidFill>
                  <a:srgbClr val="374151"/>
                </a:solidFill>
                <a:latin typeface="Microsoft YaHei"/>
              </a:rPr>
              <a:t>NPC对话配音，多角色多语言海量台词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059669"/>
                </a:solidFill>
                <a:latin typeface="Microsoft YaHei"/>
              </a:rPr>
              <a:t>价值  </a:t>
            </a:r>
            <a:r>
              <a:rPr sz="800" b="0">
                <a:solidFill>
                  <a:srgbClr val="374151"/>
                </a:solidFill>
                <a:latin typeface="Microsoft YaHei"/>
              </a:rPr>
              <a:t>配音成本从录音棚→文本输入，多语言一键生成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59" y="2267712"/>
            <a:ext cx="31089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技术  </a:t>
            </a:r>
            <a:r>
              <a:rPr sz="780" b="0">
                <a:solidFill>
                  <a:srgbClr val="374151"/>
                </a:solidFill>
                <a:latin typeface="Microsoft YaHei"/>
              </a:rPr>
              <a:t>TTS + 情感控制 + 角色音色克隆 + 多语言 zero-shot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01583" y="5074920"/>
            <a:ext cx="3136392" cy="310896"/>
          </a:xfrm>
          <a:prstGeom prst="roundRect">
            <a:avLst>
              <a:gd name="adj" fmla="val 10000"/>
            </a:avLst>
          </a:prstGeom>
          <a:solidFill>
            <a:srgbClr val="EF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74736" y="5093208"/>
            <a:ext cx="306324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EA580C"/>
                </a:solidFill>
                <a:latin typeface="Microsoft YaHei"/>
              </a:rPr>
              <a:t>💡 </a:t>
            </a:r>
            <a:r>
              <a:rPr sz="800" b="1">
                <a:solidFill>
                  <a:srgbClr val="161B2E"/>
                </a:solidFill>
                <a:latin typeface="Microsoft YaHei"/>
              </a:rPr>
              <a:t>实时对话式NPC(非预录配音) + 情绪动态语音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13/24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AI游戏资产生成 · 创新方向盘点与挖掘 · xhyha/insight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3484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45720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0" b="1">
                <a:solidFill>
                  <a:srgbClr val="059669"/>
                </a:solidFill>
                <a:latin typeface="Microsoft YaHe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697480"/>
            <a:ext cx="8686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59669"/>
                </a:solidFill>
                <a:latin typeface="Microsoft YaHei"/>
              </a:rPr>
              <a:t>NARRATIVE &amp; LEVELS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108960"/>
            <a:ext cx="91440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61B2E"/>
                </a:solidFill>
                <a:latin typeface="Microsoft YaHei"/>
              </a:rPr>
              <a:t>叙事与关卡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886200"/>
            <a:ext cx="84124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74151"/>
                </a:solidFill>
                <a:latin typeface="Microsoft YaHei"/>
              </a:rPr>
              <a:t>关卡设计 / 动态叙事 / 程序化生态（3个idea）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14/24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AI游戏资产生成 · 创新方向盘点与挖掘 · xhyha/insight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59669"/>
                </a:solidFill>
                <a:latin typeface="Microsoft YaHei"/>
              </a:rPr>
              <a:t>06 · 叙事与关卡  |  3个创新方向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场景 · 价值 · 竞品 · 技术 · 创新机会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3429000" cy="402336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82296" cy="402336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72184"/>
            <a:ext cx="3063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#16  </a:t>
            </a:r>
            <a:r>
              <a:rPr sz="1050" b="1">
                <a:solidFill>
                  <a:srgbClr val="161B2E"/>
                </a:solidFill>
                <a:latin typeface="Microsoft YaHei"/>
              </a:rPr>
              <a:t>AI辅助关卡设计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28216"/>
            <a:ext cx="31089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6B7280"/>
                </a:solidFill>
                <a:latin typeface="Microsoft YaHei"/>
              </a:rPr>
              <a:t>竞品: </a:t>
            </a:r>
            <a:r>
              <a:rPr sz="800" b="0">
                <a:solidFill>
                  <a:srgbClr val="9AA5BC"/>
                </a:solidFill>
                <a:latin typeface="Microsoft YaHei"/>
              </a:rPr>
              <a:t>Promethean AI · Unity ML-Agents · Townscaper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29384"/>
            <a:ext cx="31089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059669"/>
                </a:solidFill>
                <a:latin typeface="Microsoft YaHei"/>
              </a:rPr>
              <a:t>场景  </a:t>
            </a:r>
            <a:r>
              <a:rPr sz="800" b="0">
                <a:solidFill>
                  <a:srgbClr val="374151"/>
                </a:solidFill>
                <a:latin typeface="Microsoft YaHei"/>
              </a:rPr>
              <a:t>关卡布局/谜题/路径/难度曲线设计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059669"/>
                </a:solidFill>
                <a:latin typeface="Microsoft YaHei"/>
              </a:rPr>
              <a:t>价值  </a:t>
            </a:r>
            <a:r>
              <a:rPr sz="800" b="0">
                <a:solidFill>
                  <a:srgbClr val="374151"/>
                </a:solidFill>
                <a:latin typeface="Microsoft YaHei"/>
              </a:rPr>
              <a:t>关卡原型快速验证 + 难度曲线AI自动调优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67712"/>
            <a:ext cx="31089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技术  </a:t>
            </a:r>
            <a:r>
              <a:rPr sz="780" b="0">
                <a:solidFill>
                  <a:srgbClr val="374151"/>
                </a:solidFill>
                <a:latin typeface="Microsoft YaHei"/>
              </a:rPr>
              <a:t>强化学习关卡评估 + 约束满足布局生成 + 玩家行为模拟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9264" y="5074920"/>
            <a:ext cx="3136392" cy="310896"/>
          </a:xfrm>
          <a:prstGeom prst="roundRect">
            <a:avLst>
              <a:gd name="adj" fmla="val 10000"/>
            </a:avLst>
          </a:prstGeom>
          <a:solidFill>
            <a:srgbClr val="EF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5093208"/>
            <a:ext cx="306324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EA580C"/>
                </a:solidFill>
                <a:latin typeface="Microsoft YaHei"/>
              </a:rPr>
              <a:t>💡 </a:t>
            </a:r>
            <a:r>
              <a:rPr sz="800" b="1">
                <a:solidFill>
                  <a:srgbClr val="161B2E"/>
                </a:solidFill>
                <a:latin typeface="Microsoft YaHei"/>
              </a:rPr>
              <a:t>玩家技能自适应关卡(DDA驱动) + A/B关卡自动化测试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417320"/>
            <a:ext cx="3429000" cy="402336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1417320"/>
            <a:ext cx="82296" cy="402336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472184"/>
            <a:ext cx="3063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#17  </a:t>
            </a:r>
            <a:r>
              <a:rPr sz="1050" b="1">
                <a:solidFill>
                  <a:srgbClr val="161B2E"/>
                </a:solidFill>
                <a:latin typeface="Microsoft YaHei"/>
              </a:rPr>
              <a:t>动态叙事/对话生成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728216"/>
            <a:ext cx="31089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6B7280"/>
                </a:solidFill>
                <a:latin typeface="Microsoft YaHei"/>
              </a:rPr>
              <a:t>竞品: </a:t>
            </a:r>
            <a:r>
              <a:rPr sz="800" b="0">
                <a:solidFill>
                  <a:srgbClr val="9AA5BC"/>
                </a:solidFill>
                <a:latin typeface="Microsoft YaHei"/>
              </a:rPr>
              <a:t>Ubisoft Ghostwriter · Inworld AI · Latitude · AI Dungeon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929384"/>
            <a:ext cx="31089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059669"/>
                </a:solidFill>
                <a:latin typeface="Microsoft YaHei"/>
              </a:rPr>
              <a:t>场景  </a:t>
            </a:r>
            <a:r>
              <a:rPr sz="800" b="0">
                <a:solidFill>
                  <a:srgbClr val="374151"/>
                </a:solidFill>
                <a:latin typeface="Microsoft YaHei"/>
              </a:rPr>
              <a:t>NPC对话/任务文本/剧情分支/世界观填充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059669"/>
                </a:solidFill>
                <a:latin typeface="Microsoft YaHei"/>
              </a:rPr>
              <a:t>价值  </a:t>
            </a:r>
            <a:r>
              <a:rPr sz="800" b="0">
                <a:solidFill>
                  <a:srgbClr val="374151"/>
                </a:solidFill>
                <a:latin typeface="Microsoft YaHei"/>
              </a:rPr>
              <a:t>对话内容量级×100，每玩家独特叙事体验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267712"/>
            <a:ext cx="31089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技术  </a:t>
            </a:r>
            <a:r>
              <a:rPr sz="780" b="0">
                <a:solidFill>
                  <a:srgbClr val="374151"/>
                </a:solidFill>
                <a:latin typeface="Microsoft YaHei"/>
              </a:rPr>
              <a:t>LLM + 世界观约束 + 角色人格RAG + 对话安全过滤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35424" y="5074920"/>
            <a:ext cx="3136392" cy="310896"/>
          </a:xfrm>
          <a:prstGeom prst="roundRect">
            <a:avLst>
              <a:gd name="adj" fmla="val 10000"/>
            </a:avLst>
          </a:prstGeom>
          <a:solidFill>
            <a:srgbClr val="EF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8576" y="5093208"/>
            <a:ext cx="306324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EA580C"/>
                </a:solidFill>
                <a:latin typeface="Microsoft YaHei"/>
              </a:rPr>
              <a:t>💡 </a:t>
            </a:r>
            <a:r>
              <a:rPr sz="800" b="1">
                <a:solidFill>
                  <a:srgbClr val="161B2E"/>
                </a:solidFill>
                <a:latin typeface="Microsoft YaHei"/>
              </a:rPr>
              <a:t>玩家选择驱动动态分支叙事 + 跨任务记忆NPC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79" y="1417320"/>
            <a:ext cx="3429000" cy="402336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55279" y="1417320"/>
            <a:ext cx="82296" cy="402336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59" y="1472184"/>
            <a:ext cx="3063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#18  </a:t>
            </a:r>
            <a:r>
              <a:rPr sz="1050" b="1">
                <a:solidFill>
                  <a:srgbClr val="161B2E"/>
                </a:solidFill>
                <a:latin typeface="Microsoft YaHei"/>
              </a:rPr>
              <a:t>程序化生态与植被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59" y="1728216"/>
            <a:ext cx="31089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6B7280"/>
                </a:solidFill>
                <a:latin typeface="Microsoft YaHei"/>
              </a:rPr>
              <a:t>竞品: </a:t>
            </a:r>
            <a:r>
              <a:rPr sz="800" b="0">
                <a:solidFill>
                  <a:srgbClr val="9AA5BC"/>
                </a:solidFill>
                <a:latin typeface="Microsoft YaHei"/>
              </a:rPr>
              <a:t>GAEA · SpeedTree · Houdini · World Creator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59" y="1929384"/>
            <a:ext cx="31089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059669"/>
                </a:solidFill>
                <a:latin typeface="Microsoft YaHei"/>
              </a:rPr>
              <a:t>场景  </a:t>
            </a:r>
            <a:r>
              <a:rPr sz="800" b="0">
                <a:solidFill>
                  <a:srgbClr val="374151"/>
                </a:solidFill>
                <a:latin typeface="Microsoft YaHei"/>
              </a:rPr>
              <a:t>游戏世界植被/生态/天气/季节系统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059669"/>
                </a:solidFill>
                <a:latin typeface="Microsoft YaHei"/>
              </a:rPr>
              <a:t>价值  </a:t>
            </a:r>
            <a:r>
              <a:rPr sz="800" b="0">
                <a:solidFill>
                  <a:srgbClr val="374151"/>
                </a:solidFill>
                <a:latin typeface="Microsoft YaHei"/>
              </a:rPr>
              <a:t>自然环境从手工摆放→生态规则自动生成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59" y="2267712"/>
            <a:ext cx="31089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技术  </a:t>
            </a:r>
            <a:r>
              <a:rPr sz="780" b="0">
                <a:solidFill>
                  <a:srgbClr val="374151"/>
                </a:solidFill>
                <a:latin typeface="Microsoft YaHei"/>
              </a:rPr>
              <a:t>生态分布模型 + AI树种识别/放置 + 季节/天气联动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01583" y="5074920"/>
            <a:ext cx="3136392" cy="310896"/>
          </a:xfrm>
          <a:prstGeom prst="roundRect">
            <a:avLst>
              <a:gd name="adj" fmla="val 10000"/>
            </a:avLst>
          </a:prstGeom>
          <a:solidFill>
            <a:srgbClr val="EF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74736" y="5093208"/>
            <a:ext cx="306324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EA580C"/>
                </a:solidFill>
                <a:latin typeface="Microsoft YaHei"/>
              </a:rPr>
              <a:t>💡 </a:t>
            </a:r>
            <a:r>
              <a:rPr sz="800" b="1">
                <a:solidFill>
                  <a:srgbClr val="161B2E"/>
                </a:solidFill>
                <a:latin typeface="Microsoft YaHei"/>
              </a:rPr>
              <a:t>动态季节变化 + 玩家行为影响生态(砍伐→再生)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15/24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AI游戏资产生成 · 创新方向盘点与挖掘 · xhyha/insight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3484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45720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0" b="1">
                <a:solidFill>
                  <a:srgbClr val="DC2626"/>
                </a:solidFill>
                <a:latin typeface="Microsoft YaHe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697480"/>
            <a:ext cx="8686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DC2626"/>
                </a:solidFill>
                <a:latin typeface="Microsoft YaHei"/>
              </a:rPr>
              <a:t>BREAKTHROUGH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108960"/>
            <a:ext cx="91440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61B2E"/>
                </a:solidFill>
                <a:latin typeface="Microsoft YaHei"/>
              </a:rPr>
              <a:t>突破性方向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886200"/>
            <a:ext cx="84124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74151"/>
                </a:solidFill>
                <a:latin typeface="Microsoft YaHei"/>
              </a:rPr>
              <a:t>全链路管线 / 实时风格迁移 / 资产一致性（3个idea）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16/24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AI游戏资产生成 · 创新方向盘点与挖掘 · xhyha/insight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DC2626"/>
                </a:solidFill>
                <a:latin typeface="Microsoft YaHei"/>
              </a:rPr>
              <a:t>07 · 突破性方向  |  3个蓝海机会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当前业界空白 · 最具颠覆性的方向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3429000" cy="402336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82296" cy="402336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72184"/>
            <a:ext cx="3063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DC2626"/>
                </a:solidFill>
                <a:latin typeface="Microsoft YaHei"/>
              </a:rPr>
              <a:t>#19  </a:t>
            </a:r>
            <a:r>
              <a:rPr sz="1050" b="1">
                <a:solidFill>
                  <a:srgbClr val="161B2E"/>
                </a:solidFill>
                <a:latin typeface="Microsoft YaHei"/>
              </a:rPr>
              <a:t>全链路资产生成管线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28216"/>
            <a:ext cx="31089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6B7280"/>
                </a:solidFill>
                <a:latin typeface="Microsoft YaHei"/>
              </a:rPr>
              <a:t>竞品: </a:t>
            </a:r>
            <a:r>
              <a:rPr sz="800" b="0">
                <a:solidFill>
                  <a:srgbClr val="9AA5BC"/>
                </a:solidFill>
                <a:latin typeface="Microsoft YaHei"/>
              </a:rPr>
              <a:t>⚠ 暂无完整方案（各环节碎片化）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29384"/>
            <a:ext cx="31089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DC2626"/>
                </a:solidFill>
                <a:latin typeface="Microsoft YaHei"/>
              </a:rPr>
              <a:t>场景  </a:t>
            </a:r>
            <a:r>
              <a:rPr sz="800" b="0">
                <a:solidFill>
                  <a:srgbClr val="374151"/>
                </a:solidFill>
                <a:latin typeface="Microsoft YaHei"/>
              </a:rPr>
              <a:t>从需求描述→全套资产（模型+纹理+动画+音效）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059669"/>
                </a:solidFill>
                <a:latin typeface="Microsoft YaHei"/>
              </a:rPr>
              <a:t>价值  </a:t>
            </a:r>
            <a:r>
              <a:rPr sz="800" b="0">
                <a:solidFill>
                  <a:srgbClr val="374151"/>
                </a:solidFill>
                <a:latin typeface="Microsoft YaHei"/>
              </a:rPr>
              <a:t>一句话生成可用的游戏资产包，端到端自动化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67712"/>
            <a:ext cx="31089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技术  </a:t>
            </a:r>
            <a:r>
              <a:rPr sz="780" b="0">
                <a:solidFill>
                  <a:srgbClr val="374151"/>
                </a:solidFill>
                <a:latin typeface="Microsoft YaHei"/>
              </a:rPr>
              <a:t>多模态编排Agent + 资产一致性引擎 + 管线自动化 + 质量门控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9264" y="5074920"/>
            <a:ext cx="3136392" cy="310896"/>
          </a:xfrm>
          <a:prstGeom prst="roundRect">
            <a:avLst>
              <a:gd name="adj" fmla="val 10000"/>
            </a:avLst>
          </a:prstGeom>
          <a:solidFill>
            <a:srgbClr val="EF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5093208"/>
            <a:ext cx="306324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EA580C"/>
                </a:solidFill>
                <a:latin typeface="Microsoft YaHei"/>
              </a:rPr>
              <a:t>💡 </a:t>
            </a:r>
            <a:r>
              <a:rPr sz="800" b="1">
                <a:solidFill>
                  <a:srgbClr val="161B2E"/>
                </a:solidFill>
                <a:latin typeface="Microsoft YaHei"/>
              </a:rPr>
              <a:t>最大蓝海：打通2D→3D→动画→音频全链路的一体化平台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417320"/>
            <a:ext cx="3429000" cy="402336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1417320"/>
            <a:ext cx="82296" cy="402336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472184"/>
            <a:ext cx="3063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DC2626"/>
                </a:solidFill>
                <a:latin typeface="Microsoft YaHei"/>
              </a:rPr>
              <a:t>#20  </a:t>
            </a:r>
            <a:r>
              <a:rPr sz="1050" b="1">
                <a:solidFill>
                  <a:srgbClr val="161B2E"/>
                </a:solidFill>
                <a:latin typeface="Microsoft YaHei"/>
              </a:rPr>
              <a:t>实时风格迁移引擎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728216"/>
            <a:ext cx="31089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6B7280"/>
                </a:solidFill>
                <a:latin typeface="Microsoft YaHei"/>
              </a:rPr>
              <a:t>竞品: </a:t>
            </a:r>
            <a:r>
              <a:rPr sz="800" b="0">
                <a:solidFill>
                  <a:srgbClr val="9AA5BC"/>
                </a:solidFill>
                <a:latin typeface="Microsoft YaHei"/>
              </a:rPr>
              <a:t>Stable Fast Style · NVIDIA StyleGAN · Adobe Neural Filters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929384"/>
            <a:ext cx="31089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DC2626"/>
                </a:solidFill>
                <a:latin typeface="Microsoft YaHei"/>
              </a:rPr>
              <a:t>场景  </a:t>
            </a:r>
            <a:r>
              <a:rPr sz="800" b="0">
                <a:solidFill>
                  <a:srgbClr val="374151"/>
                </a:solidFill>
                <a:latin typeface="Microsoft YaHei"/>
              </a:rPr>
              <a:t>同一游戏资产多风格渲染（写实/卡通/水墨/像素）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059669"/>
                </a:solidFill>
                <a:latin typeface="Microsoft YaHei"/>
              </a:rPr>
              <a:t>价值  </a:t>
            </a:r>
            <a:r>
              <a:rPr sz="800" b="0">
                <a:solidFill>
                  <a:srgbClr val="374151"/>
                </a:solidFill>
                <a:latin typeface="Microsoft YaHei"/>
              </a:rPr>
              <a:t>一次制作→多风格输出，跨市场/跨品类适配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267712"/>
            <a:ext cx="31089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技术  </a:t>
            </a:r>
            <a:r>
              <a:rPr sz="780" b="0">
                <a:solidFill>
                  <a:srgbClr val="374151"/>
                </a:solidFill>
                <a:latin typeface="Microsoft YaHei"/>
              </a:rPr>
              <a:t>实时神经风格迁移 + 3D一致性保持 + 光照自适应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35424" y="5074920"/>
            <a:ext cx="3136392" cy="310896"/>
          </a:xfrm>
          <a:prstGeom prst="roundRect">
            <a:avLst>
              <a:gd name="adj" fmla="val 10000"/>
            </a:avLst>
          </a:prstGeom>
          <a:solidFill>
            <a:srgbClr val="EF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8576" y="5093208"/>
            <a:ext cx="306324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EA580C"/>
                </a:solidFill>
                <a:latin typeface="Microsoft YaHei"/>
              </a:rPr>
              <a:t>💡 </a:t>
            </a:r>
            <a:r>
              <a:rPr sz="800" b="1">
                <a:solidFill>
                  <a:srgbClr val="161B2E"/>
                </a:solidFill>
                <a:latin typeface="Microsoft YaHei"/>
              </a:rPr>
              <a:t>游戏运行时风格切换 + 玩家自定义视觉风格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79" y="1417320"/>
            <a:ext cx="3429000" cy="402336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55279" y="1417320"/>
            <a:ext cx="82296" cy="402336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59" y="1472184"/>
            <a:ext cx="3063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DC2626"/>
                </a:solidFill>
                <a:latin typeface="Microsoft YaHei"/>
              </a:rPr>
              <a:t>#21  </a:t>
            </a:r>
            <a:r>
              <a:rPr sz="1050" b="1">
                <a:solidFill>
                  <a:srgbClr val="161B2E"/>
                </a:solidFill>
                <a:latin typeface="Microsoft YaHei"/>
              </a:rPr>
              <a:t>资产一致性引擎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59" y="1728216"/>
            <a:ext cx="31089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6B7280"/>
                </a:solidFill>
                <a:latin typeface="Microsoft YaHei"/>
              </a:rPr>
              <a:t>竞品: </a:t>
            </a:r>
            <a:r>
              <a:rPr sz="800" b="0">
                <a:solidFill>
                  <a:srgbClr val="9AA5BC"/>
                </a:solidFill>
                <a:latin typeface="Microsoft YaHei"/>
              </a:rPr>
              <a:t>⚠ 暂无成熟方案（各工具各自为战）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59" y="1929384"/>
            <a:ext cx="31089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DC2626"/>
                </a:solidFill>
                <a:latin typeface="Microsoft YaHei"/>
              </a:rPr>
              <a:t>场景  </a:t>
            </a:r>
            <a:r>
              <a:rPr sz="800" b="0">
                <a:solidFill>
                  <a:srgbClr val="374151"/>
                </a:solidFill>
                <a:latin typeface="Microsoft YaHei"/>
              </a:rPr>
              <a:t>多个AI生成的资产需保持世界观/风格统一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059669"/>
                </a:solidFill>
                <a:latin typeface="Microsoft YaHei"/>
              </a:rPr>
              <a:t>价值  </a:t>
            </a:r>
            <a:r>
              <a:rPr sz="800" b="0">
                <a:solidFill>
                  <a:srgbClr val="374151"/>
                </a:solidFill>
                <a:latin typeface="Microsoft YaHei"/>
              </a:rPr>
              <a:t>解决AI生成的最大痛点——跨资产一致性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59" y="2267712"/>
            <a:ext cx="31089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技术  </a:t>
            </a:r>
            <a:r>
              <a:rPr sz="780" b="0">
                <a:solidFill>
                  <a:srgbClr val="374151"/>
                </a:solidFill>
                <a:latin typeface="Microsoft YaHei"/>
              </a:rPr>
              <a:t>全局风格嵌入向量 + 跨模态一致性约束 + 参考锚点网络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01583" y="5074920"/>
            <a:ext cx="3136392" cy="310896"/>
          </a:xfrm>
          <a:prstGeom prst="roundRect">
            <a:avLst>
              <a:gd name="adj" fmla="val 10000"/>
            </a:avLst>
          </a:prstGeom>
          <a:solidFill>
            <a:srgbClr val="EF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74736" y="5093208"/>
            <a:ext cx="306324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EA580C"/>
                </a:solidFill>
                <a:latin typeface="Microsoft YaHei"/>
              </a:rPr>
              <a:t>💡 </a:t>
            </a:r>
            <a:r>
              <a:rPr sz="800" b="1">
                <a:solidFill>
                  <a:srgbClr val="161B2E"/>
                </a:solidFill>
                <a:latin typeface="Microsoft YaHei"/>
              </a:rPr>
              <a:t>AI资产生成的核心瓶颈——解决者定义行业标准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17/24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AI游戏资产生成 · 创新方向盘点与挖掘 · xhyha/insight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2820A"/>
                </a:solidFill>
                <a:latin typeface="Microsoft YaHei"/>
              </a:rPr>
              <a:t>全景优先级矩阵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21个创新方向 · 影响力 × 技术门槛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600200"/>
            <a:ext cx="7772400" cy="3931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0" y="3566160"/>
            <a:ext cx="7772400" cy="18288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72200" y="1600200"/>
            <a:ext cx="18288" cy="3931920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40864" y="1618488"/>
            <a:ext cx="914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59669"/>
                </a:solidFill>
                <a:latin typeface="Microsoft YaHei"/>
              </a:rPr>
              <a:t>速赢区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0">
                <a:solidFill>
                  <a:srgbClr val="6B7280"/>
                </a:solidFill>
                <a:latin typeface="Microsoft YaHei"/>
              </a:rPr>
              <a:t>高影响·低门槛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1618488"/>
            <a:ext cx="100584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DC2626"/>
                </a:solidFill>
                <a:latin typeface="Microsoft YaHei"/>
              </a:rPr>
              <a:t>战略制高点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0">
                <a:solidFill>
                  <a:srgbClr val="6B7280"/>
                </a:solidFill>
                <a:latin typeface="Microsoft YaHei"/>
              </a:rPr>
              <a:t>高影响·高门槛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40864" y="5202936"/>
            <a:ext cx="914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6B7280"/>
                </a:solidFill>
                <a:latin typeface="Microsoft YaHei"/>
              </a:rPr>
              <a:t>补位区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0">
                <a:solidFill>
                  <a:srgbClr val="9AA5BC"/>
                </a:solidFill>
                <a:latin typeface="Microsoft YaHei"/>
              </a:rPr>
              <a:t>低影响·低门槛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5202936"/>
            <a:ext cx="100584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9AA5BC"/>
                </a:solidFill>
                <a:latin typeface="Microsoft YaHei"/>
              </a:rPr>
              <a:t>暂缓区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0">
                <a:solidFill>
                  <a:srgbClr val="9AA5BC"/>
                </a:solidFill>
                <a:latin typeface="Microsoft YaHei"/>
              </a:rPr>
              <a:t>低影响·高门槛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1325880"/>
            <a:ext cx="77724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</a:rPr>
              <a:t>影响力（高 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5559552"/>
            <a:ext cx="77724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</a:rPr>
              <a:t>技术门槛/投入（低 ← → 高）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756562"/>
            <a:ext cx="768096" cy="237744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1765706"/>
            <a:ext cx="768096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>
                <a:solidFill>
                  <a:srgbClr val="FFFFFF"/>
                </a:solidFill>
                <a:latin typeface="Microsoft YaHei"/>
              </a:rPr>
              <a:t>风格概念引擎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33672" y="2267712"/>
            <a:ext cx="768096" cy="237744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33672" y="2276856"/>
            <a:ext cx="768096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>
                <a:solidFill>
                  <a:srgbClr val="FFFFFF"/>
                </a:solidFill>
                <a:latin typeface="Microsoft YaHei"/>
              </a:rPr>
              <a:t>程序化纹理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40" y="2739542"/>
            <a:ext cx="768096" cy="237744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40" y="2748686"/>
            <a:ext cx="768096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>
                <a:solidFill>
                  <a:srgbClr val="FFFFFF"/>
                </a:solidFill>
                <a:latin typeface="Microsoft YaHei"/>
              </a:rPr>
              <a:t>UI资产生成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78224" y="3368649"/>
            <a:ext cx="768096" cy="237744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78224" y="3377793"/>
            <a:ext cx="768096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>
                <a:solidFill>
                  <a:srgbClr val="FFFFFF"/>
                </a:solidFill>
                <a:latin typeface="Microsoft YaHei"/>
              </a:rPr>
              <a:t>2D动画帧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0016" y="1874519"/>
            <a:ext cx="768096" cy="237744"/>
          </a:xfrm>
          <a:prstGeom prst="roundRect">
            <a:avLst>
              <a:gd name="adj" fmla="val 3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0016" y="1883663"/>
            <a:ext cx="768096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>
                <a:solidFill>
                  <a:srgbClr val="FFFFFF"/>
                </a:solidFill>
                <a:latin typeface="Microsoft YaHei"/>
              </a:rPr>
              <a:t>Auto-Rig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66360" y="2424988"/>
            <a:ext cx="768096" cy="237744"/>
          </a:xfrm>
          <a:prstGeom prst="roundRect">
            <a:avLst>
              <a:gd name="adj" fmla="val 3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66360" y="2434132"/>
            <a:ext cx="768096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>
                <a:solidFill>
                  <a:srgbClr val="FFFFFF"/>
                </a:solidFill>
                <a:latin typeface="Microsoft YaHei"/>
              </a:rPr>
              <a:t>视频→动画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0016" y="2896819"/>
            <a:ext cx="768096" cy="237744"/>
          </a:xfrm>
          <a:prstGeom prst="roundRect">
            <a:avLst>
              <a:gd name="adj" fmla="val 3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0016" y="2905963"/>
            <a:ext cx="768096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>
                <a:solidFill>
                  <a:srgbClr val="FFFFFF"/>
                </a:solidFill>
                <a:latin typeface="Microsoft YaHei"/>
              </a:rPr>
              <a:t>面部动画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0" y="3643884"/>
            <a:ext cx="768096" cy="237744"/>
          </a:xfrm>
          <a:prstGeom prst="roundRect">
            <a:avLst>
              <a:gd name="adj" fmla="val 3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0" y="3653028"/>
            <a:ext cx="768096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>
                <a:solidFill>
                  <a:srgbClr val="FFFFFF"/>
                </a:solidFill>
                <a:latin typeface="Microsoft YaHei"/>
              </a:rPr>
              <a:t>AI物理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9944" y="1795881"/>
            <a:ext cx="768096" cy="23774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9944" y="1805025"/>
            <a:ext cx="768096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>
                <a:solidFill>
                  <a:srgbClr val="FFFFFF"/>
                </a:solidFill>
                <a:latin typeface="Microsoft YaHei"/>
              </a:rPr>
              <a:t>3D角色生成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6772" y="2267712"/>
            <a:ext cx="768096" cy="23774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6772" y="2276856"/>
            <a:ext cx="768096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>
                <a:solidFill>
                  <a:srgbClr val="FFFFFF"/>
                </a:solidFill>
                <a:latin typeface="Microsoft YaHei"/>
              </a:rPr>
              <a:t>PBR材质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20840" y="2896819"/>
            <a:ext cx="768096" cy="23774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2905963"/>
            <a:ext cx="768096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>
                <a:solidFill>
                  <a:srgbClr val="FFFFFF"/>
                </a:solidFill>
                <a:latin typeface="Microsoft YaHei"/>
              </a:rPr>
              <a:t>智能LOD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42631" y="3368649"/>
            <a:ext cx="768096" cy="23774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42631" y="3377793"/>
            <a:ext cx="768096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>
                <a:solidFill>
                  <a:srgbClr val="FFFFFF"/>
                </a:solidFill>
                <a:latin typeface="Microsoft YaHei"/>
              </a:rPr>
              <a:t>程序化环境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145536" y="3761841"/>
            <a:ext cx="768096" cy="237744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45536" y="3770985"/>
            <a:ext cx="768096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>
                <a:solidFill>
                  <a:srgbClr val="FFFFFF"/>
                </a:solidFill>
                <a:latin typeface="Microsoft YaHei"/>
              </a:rPr>
              <a:t>自适应音乐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10912" y="3525926"/>
            <a:ext cx="768096" cy="237744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10912" y="3535070"/>
            <a:ext cx="768096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>
                <a:solidFill>
                  <a:srgbClr val="FFFFFF"/>
                </a:solidFill>
                <a:latin typeface="Microsoft YaHei"/>
              </a:rPr>
              <a:t>程序化SFX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32704" y="3132734"/>
            <a:ext cx="768096" cy="237744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32704" y="3141878"/>
            <a:ext cx="768096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>
                <a:solidFill>
                  <a:srgbClr val="FFFFFF"/>
                </a:solidFill>
                <a:latin typeface="Microsoft YaHei"/>
              </a:rPr>
              <a:t>NPC语音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399532" y="3997756"/>
            <a:ext cx="768096" cy="237744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99532" y="4006900"/>
            <a:ext cx="768096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>
                <a:solidFill>
                  <a:srgbClr val="FFFFFF"/>
                </a:solidFill>
                <a:latin typeface="Microsoft YaHei"/>
              </a:rPr>
              <a:t>AI关卡设计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54012" y="4037076"/>
            <a:ext cx="768096" cy="237744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54012" y="4046220"/>
            <a:ext cx="768096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>
                <a:solidFill>
                  <a:srgbClr val="FFFFFF"/>
                </a:solidFill>
                <a:latin typeface="Microsoft YaHei"/>
              </a:rPr>
              <a:t>动态叙事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9944" y="4548225"/>
            <a:ext cx="768096" cy="237744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9944" y="4557369"/>
            <a:ext cx="768096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>
                <a:solidFill>
                  <a:srgbClr val="FFFFFF"/>
                </a:solidFill>
                <a:latin typeface="Microsoft YaHei"/>
              </a:rPr>
              <a:t>程序化生态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808976" y="1756562"/>
            <a:ext cx="768096" cy="237744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08976" y="1765706"/>
            <a:ext cx="768096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>
                <a:solidFill>
                  <a:srgbClr val="FFFFFF"/>
                </a:solidFill>
                <a:latin typeface="Microsoft YaHei"/>
              </a:rPr>
              <a:t>全链路管线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42631" y="2424988"/>
            <a:ext cx="768096" cy="237744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42631" y="2434132"/>
            <a:ext cx="768096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>
                <a:solidFill>
                  <a:srgbClr val="FFFFFF"/>
                </a:solidFill>
                <a:latin typeface="Microsoft YaHei"/>
              </a:rPr>
              <a:t>实时风格迁移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430768" y="2110435"/>
            <a:ext cx="768096" cy="237744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30768" y="2119579"/>
            <a:ext cx="768096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>
                <a:solidFill>
                  <a:srgbClr val="FFFFFF"/>
                </a:solidFill>
                <a:latin typeface="Microsoft YaHei"/>
              </a:rPr>
              <a:t>一致性引擎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332720" y="1600200"/>
            <a:ext cx="1097280" cy="393192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24160" y="1691640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▎图例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469880" y="2093976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698480" y="2057400"/>
            <a:ext cx="73152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2D美术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469880" y="2441448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698480" y="2404872"/>
            <a:ext cx="73152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3D模型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469880" y="2788920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698480" y="2752344"/>
            <a:ext cx="73152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动画/Rig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469880" y="3136391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698480" y="3099815"/>
            <a:ext cx="73152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音频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469880" y="3483863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698480" y="3447287"/>
            <a:ext cx="73152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叙事/关卡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469880" y="3831335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698480" y="3794759"/>
            <a:ext cx="73152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突破方向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424160" y="4233671"/>
            <a:ext cx="914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280"/>
                </a:solidFill>
                <a:latin typeface="Microsoft YaHei"/>
              </a:rPr>
              <a:t>右上方=高价值高门槛，应重点投入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18/24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AI游戏资产生成 · 创新方向盘点与挖掘 · xhyha/insight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891B2"/>
                </a:solidFill>
                <a:latin typeface="Microsoft YaHei"/>
              </a:rPr>
              <a:t>竞品深度对标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15家代表公司 · 能力矩阵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1600200" cy="301752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600200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公司/工具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1417320"/>
            <a:ext cx="1051560" cy="301752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1417320"/>
            <a:ext cx="1051560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领域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417320"/>
            <a:ext cx="2514600" cy="301752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417320"/>
            <a:ext cx="2514600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核心能力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17320"/>
            <a:ext cx="1143000" cy="301752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417320"/>
            <a:ext cx="1143000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融资/阶段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417320"/>
            <a:ext cx="1965960" cy="301752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1417320"/>
            <a:ext cx="1965960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差异化优势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1417320"/>
            <a:ext cx="1965960" cy="301752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417320"/>
            <a:ext cx="1965960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不足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1737360"/>
            <a:ext cx="1600200" cy="301752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1737360"/>
            <a:ext cx="153619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374151"/>
                </a:solidFill>
                <a:latin typeface="Microsoft YaHei"/>
              </a:rPr>
              <a:t>Meshy.ai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68880" y="1737360"/>
            <a:ext cx="1051560" cy="301752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05456" y="1737360"/>
            <a:ext cx="98755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3D生成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66160" y="1737360"/>
            <a:ext cx="2514600" cy="301752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02736" y="1737360"/>
            <a:ext cx="2450591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文本/图→3D模型+纹理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1737360"/>
            <a:ext cx="1143000" cy="301752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63056" y="1737360"/>
            <a:ext cx="107899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280"/>
                </a:solidFill>
                <a:latin typeface="Microsoft YaHei"/>
              </a:rPr>
              <a:t>A轮$18M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1737360"/>
            <a:ext cx="1965960" cy="301752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1737360"/>
            <a:ext cx="190195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速度快(&lt;1min)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26880" y="1737360"/>
            <a:ext cx="1965960" cy="301752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63455" y="1737360"/>
            <a:ext cx="190195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DC2626"/>
                </a:solidFill>
                <a:latin typeface="Microsoft YaHei"/>
              </a:rPr>
              <a:t>拓扑质量待提升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2039112"/>
            <a:ext cx="1600200" cy="3017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2039112"/>
            <a:ext cx="153619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374151"/>
                </a:solidFill>
                <a:latin typeface="Microsoft YaHei"/>
              </a:rPr>
              <a:t>Luma AI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68880" y="2039112"/>
            <a:ext cx="1051560" cy="3017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05456" y="2039112"/>
            <a:ext cx="98755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3D生成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66160" y="2039112"/>
            <a:ext cx="2514600" cy="3017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02736" y="2039112"/>
            <a:ext cx="2450591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NeRF/3DGS扫描+生成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2039112"/>
            <a:ext cx="1143000" cy="3017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63056" y="2039112"/>
            <a:ext cx="107899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280"/>
                </a:solidFill>
                <a:latin typeface="Microsoft YaHei"/>
              </a:rPr>
              <a:t>C轮$43M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0" y="2039112"/>
            <a:ext cx="1965960" cy="3017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51775" y="2039112"/>
            <a:ext cx="190195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照片级重建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326880" y="2039112"/>
            <a:ext cx="1965960" cy="3017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63455" y="2039112"/>
            <a:ext cx="190195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DC2626"/>
                </a:solidFill>
                <a:latin typeface="Microsoft YaHei"/>
              </a:rPr>
              <a:t>游戏级拓扑缺失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" y="2340864"/>
            <a:ext cx="1600200" cy="301752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9536" y="2340864"/>
            <a:ext cx="153619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374151"/>
                </a:solidFill>
                <a:latin typeface="Microsoft YaHei"/>
              </a:rPr>
              <a:t>Wonder Dynamics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468880" y="2340864"/>
            <a:ext cx="1051560" cy="301752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05456" y="2340864"/>
            <a:ext cx="98755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动画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566160" y="2340864"/>
            <a:ext cx="2514600" cy="301752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02736" y="2340864"/>
            <a:ext cx="2450591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视频→3D角色动画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26480" y="2340864"/>
            <a:ext cx="1143000" cy="301752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63056" y="2340864"/>
            <a:ext cx="107899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280"/>
                </a:solidFill>
                <a:latin typeface="Microsoft YaHei"/>
              </a:rPr>
              <a:t>A轮$70M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0" y="2340864"/>
            <a:ext cx="1965960" cy="301752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51775" y="2340864"/>
            <a:ext cx="190195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全自动CG角色替换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326880" y="2340864"/>
            <a:ext cx="1965960" cy="301752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63455" y="2340864"/>
            <a:ext cx="190195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DC2626"/>
                </a:solidFill>
                <a:latin typeface="Microsoft YaHei"/>
              </a:rPr>
              <a:t>场景复杂度有限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2960" y="2642616"/>
            <a:ext cx="1600200" cy="3017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9536" y="2642616"/>
            <a:ext cx="153619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374151"/>
                </a:solidFill>
                <a:latin typeface="Microsoft YaHei"/>
              </a:rPr>
              <a:t>Kinetix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468880" y="2642616"/>
            <a:ext cx="1051560" cy="3017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505456" y="2642616"/>
            <a:ext cx="98755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动画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566160" y="2642616"/>
            <a:ext cx="2514600" cy="3017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02736" y="2642616"/>
            <a:ext cx="2450591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视频→3D动捕动画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26480" y="2642616"/>
            <a:ext cx="1143000" cy="3017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63056" y="2642616"/>
            <a:ext cx="107899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280"/>
                </a:solidFill>
                <a:latin typeface="Microsoft YaHei"/>
              </a:rPr>
              <a:t>A轮$13M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315200" y="2642616"/>
            <a:ext cx="1965960" cy="3017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51775" y="2642616"/>
            <a:ext cx="190195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无需动捕设备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326880" y="2642616"/>
            <a:ext cx="1965960" cy="3017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363455" y="2642616"/>
            <a:ext cx="190195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DC2626"/>
                </a:solidFill>
                <a:latin typeface="Microsoft YaHei"/>
              </a:rPr>
              <a:t>精度不及专业动捕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22960" y="2944368"/>
            <a:ext cx="1600200" cy="301752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9536" y="2944368"/>
            <a:ext cx="153619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374151"/>
                </a:solidFill>
                <a:latin typeface="Microsoft YaHei"/>
              </a:rPr>
              <a:t>Leonardo.ai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468880" y="2944368"/>
            <a:ext cx="1051560" cy="301752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505456" y="2944368"/>
            <a:ext cx="98755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2D美术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566160" y="2944368"/>
            <a:ext cx="2514600" cy="301752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02736" y="2944368"/>
            <a:ext cx="2450591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游戏美术风格化生成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126480" y="2944368"/>
            <a:ext cx="1143000" cy="301752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163056" y="2944368"/>
            <a:ext cx="107899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280"/>
                </a:solidFill>
                <a:latin typeface="Microsoft YaHei"/>
              </a:rPr>
              <a:t>A轮$31M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315200" y="2944368"/>
            <a:ext cx="1965960" cy="301752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51775" y="2944368"/>
            <a:ext cx="190195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游戏专属模型丰富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326880" y="2944368"/>
            <a:ext cx="1965960" cy="301752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63455" y="2944368"/>
            <a:ext cx="190195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DC2626"/>
                </a:solidFill>
                <a:latin typeface="Microsoft YaHei"/>
              </a:rPr>
              <a:t>3D能力缺失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22960" y="3246120"/>
            <a:ext cx="1600200" cy="3017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59536" y="3246120"/>
            <a:ext cx="153619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374151"/>
                </a:solidFill>
                <a:latin typeface="Microsoft YaHei"/>
              </a:rPr>
              <a:t>Scenario.com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2468880" y="3246120"/>
            <a:ext cx="1051560" cy="3017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505456" y="3246120"/>
            <a:ext cx="98755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2D美术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566160" y="3246120"/>
            <a:ext cx="2514600" cy="3017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602736" y="3246120"/>
            <a:ext cx="2450591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游戏资产训练定制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126480" y="3246120"/>
            <a:ext cx="1143000" cy="3017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163056" y="3246120"/>
            <a:ext cx="107899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280"/>
                </a:solidFill>
                <a:latin typeface="Microsoft YaHei"/>
              </a:rPr>
              <a:t>A轮$6M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15200" y="3246120"/>
            <a:ext cx="1965960" cy="3017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351775" y="3246120"/>
            <a:ext cx="190195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IP风格一致性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326880" y="3246120"/>
            <a:ext cx="1965960" cy="3017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363455" y="3246120"/>
            <a:ext cx="190195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DC2626"/>
                </a:solidFill>
                <a:latin typeface="Microsoft YaHei"/>
              </a:rPr>
              <a:t>仅限2D图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22960" y="3547872"/>
            <a:ext cx="1600200" cy="301752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59536" y="3547872"/>
            <a:ext cx="153619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374151"/>
                </a:solidFill>
                <a:latin typeface="Microsoft YaHei"/>
              </a:rPr>
              <a:t>Inworld AI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2468880" y="3547872"/>
            <a:ext cx="1051560" cy="301752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505456" y="3547872"/>
            <a:ext cx="98755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NPC/叙事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3566160" y="3547872"/>
            <a:ext cx="2514600" cy="301752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602736" y="3547872"/>
            <a:ext cx="2450591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AI NPC对话+语音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126480" y="3547872"/>
            <a:ext cx="1143000" cy="301752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163056" y="3547872"/>
            <a:ext cx="107899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280"/>
                </a:solidFill>
                <a:latin typeface="Microsoft YaHei"/>
              </a:rPr>
              <a:t>A轮$50M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7315200" y="3547872"/>
            <a:ext cx="1965960" cy="301752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351775" y="3547872"/>
            <a:ext cx="190195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实时对话式NPC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326880" y="3547872"/>
            <a:ext cx="1965960" cy="301752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363455" y="3547872"/>
            <a:ext cx="190195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DC2626"/>
                </a:solidFill>
                <a:latin typeface="Microsoft YaHei"/>
              </a:rPr>
              <a:t>动作集成弱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822960" y="3849624"/>
            <a:ext cx="1600200" cy="3017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59536" y="3849624"/>
            <a:ext cx="153619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374151"/>
                </a:solidFill>
                <a:latin typeface="Microsoft YaHei"/>
              </a:rPr>
              <a:t>Suno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2468880" y="3849624"/>
            <a:ext cx="1051560" cy="3017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505456" y="3849624"/>
            <a:ext cx="98755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音乐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3566160" y="3849624"/>
            <a:ext cx="2514600" cy="3017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602736" y="3849624"/>
            <a:ext cx="2450591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文本→完整歌曲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6126480" y="3849624"/>
            <a:ext cx="1143000" cy="3017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163056" y="3849624"/>
            <a:ext cx="107899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280"/>
                </a:solidFill>
                <a:latin typeface="Microsoft YaHei"/>
              </a:rPr>
              <a:t>B轮$125M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315200" y="3849624"/>
            <a:ext cx="1965960" cy="3017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351775" y="3849624"/>
            <a:ext cx="190195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音乐质量惊艳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9326880" y="3849624"/>
            <a:ext cx="1965960" cy="3017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363455" y="3849624"/>
            <a:ext cx="190195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DC2626"/>
                </a:solidFill>
                <a:latin typeface="Microsoft YaHei"/>
              </a:rPr>
              <a:t>游戏实时适配弱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822960" y="4151376"/>
            <a:ext cx="1600200" cy="301752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59536" y="4151376"/>
            <a:ext cx="153619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374151"/>
                </a:solidFill>
                <a:latin typeface="Microsoft YaHei"/>
              </a:rPr>
              <a:t>ElevenLabs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2468880" y="4151376"/>
            <a:ext cx="1051560" cy="301752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505456" y="4151376"/>
            <a:ext cx="98755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语音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3566160" y="4151376"/>
            <a:ext cx="2514600" cy="301752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602736" y="4151376"/>
            <a:ext cx="2450591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TTS/音色克隆/SFX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6126480" y="4151376"/>
            <a:ext cx="1143000" cy="301752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163056" y="4151376"/>
            <a:ext cx="107899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280"/>
                </a:solidFill>
                <a:latin typeface="Microsoft YaHei"/>
              </a:rPr>
              <a:t>C轮$180M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7315200" y="4151376"/>
            <a:ext cx="1965960" cy="301752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351775" y="4151376"/>
            <a:ext cx="190195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语音质量最高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9326880" y="4151376"/>
            <a:ext cx="1965960" cy="301752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363455" y="4151376"/>
            <a:ext cx="190195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DC2626"/>
                </a:solidFill>
                <a:latin typeface="Microsoft YaHei"/>
              </a:rPr>
              <a:t>实时延迟优化中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822960" y="4453128"/>
            <a:ext cx="1600200" cy="3017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59536" y="4453128"/>
            <a:ext cx="153619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374151"/>
                </a:solidFill>
                <a:latin typeface="Microsoft YaHei"/>
              </a:rPr>
              <a:t>Promethean AI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2468880" y="4453128"/>
            <a:ext cx="1051560" cy="3017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505456" y="4453128"/>
            <a:ext cx="98755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环境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3566160" y="4453128"/>
            <a:ext cx="2514600" cy="3017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3602736" y="4453128"/>
            <a:ext cx="2450591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AI辅助环境搭建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6126480" y="4453128"/>
            <a:ext cx="1143000" cy="3017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163056" y="4453128"/>
            <a:ext cx="107899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280"/>
                </a:solidFill>
                <a:latin typeface="Microsoft YaHei"/>
              </a:rPr>
              <a:t>A轮$8M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7315200" y="4453128"/>
            <a:ext cx="1965960" cy="3017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351775" y="4453128"/>
            <a:ext cx="190195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3A级场景工作流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9326880" y="4453128"/>
            <a:ext cx="1965960" cy="3017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363455" y="4453128"/>
            <a:ext cx="190195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DC2626"/>
                </a:solidFill>
                <a:latin typeface="Microsoft YaHei"/>
              </a:rPr>
              <a:t>非自动生成,辅助性质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822960" y="4754880"/>
            <a:ext cx="1600200" cy="301752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59536" y="4754880"/>
            <a:ext cx="153619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374151"/>
                </a:solidFill>
                <a:latin typeface="Microsoft YaHei"/>
              </a:rPr>
              <a:t>CSM.ai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2468880" y="4754880"/>
            <a:ext cx="1051560" cy="301752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505456" y="4754880"/>
            <a:ext cx="98755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3D生成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3566160" y="4754880"/>
            <a:ext cx="2514600" cy="301752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602736" y="4754880"/>
            <a:ext cx="2450591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图/视频→3D+动画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6126480" y="4754880"/>
            <a:ext cx="1143000" cy="301752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163056" y="4754880"/>
            <a:ext cx="107899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280"/>
                </a:solidFill>
                <a:latin typeface="Microsoft YaHei"/>
              </a:rPr>
              <a:t>A轮$14M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7315200" y="4754880"/>
            <a:ext cx="1965960" cy="301752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351775" y="4754880"/>
            <a:ext cx="190195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视频到3D管线完整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9326880" y="4754880"/>
            <a:ext cx="1965960" cy="301752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9363455" y="4754880"/>
            <a:ext cx="190195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DC2626"/>
                </a:solidFill>
                <a:latin typeface="Microsoft YaHei"/>
              </a:rPr>
              <a:t>模型精度待提升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822960" y="5056632"/>
            <a:ext cx="1600200" cy="3017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859536" y="5056632"/>
            <a:ext cx="153619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374151"/>
                </a:solidFill>
                <a:latin typeface="Microsoft YaHei"/>
              </a:rPr>
              <a:t>Blockade Labs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2468880" y="5056632"/>
            <a:ext cx="1051560" cy="3017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2505456" y="5056632"/>
            <a:ext cx="98755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2D环境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3566160" y="5056632"/>
            <a:ext cx="2514600" cy="3017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3602736" y="5056632"/>
            <a:ext cx="2450591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文本→360°全景天空盒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126480" y="5056632"/>
            <a:ext cx="1143000" cy="3017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163056" y="5056632"/>
            <a:ext cx="107899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280"/>
                </a:solidFill>
                <a:latin typeface="Microsoft YaHei"/>
              </a:rPr>
              <a:t>种子轮$3M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7315200" y="5056632"/>
            <a:ext cx="1965960" cy="3017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7351775" y="5056632"/>
            <a:ext cx="190195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天空盒/HDR一站式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9326880" y="5056632"/>
            <a:ext cx="1965960" cy="3017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9363455" y="5056632"/>
            <a:ext cx="190195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DC2626"/>
                </a:solidFill>
                <a:latin typeface="Microsoft YaHei"/>
              </a:rPr>
              <a:t>仅限环境背景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822960" y="5358384"/>
            <a:ext cx="1600200" cy="301752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859536" y="5358384"/>
            <a:ext cx="153619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374151"/>
                </a:solidFill>
                <a:latin typeface="Microsoft YaHei"/>
              </a:rPr>
              <a:t>Tripo3D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2468880" y="5358384"/>
            <a:ext cx="1051560" cy="301752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2505456" y="5358384"/>
            <a:ext cx="98755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3D生成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3566160" y="5358384"/>
            <a:ext cx="2514600" cy="301752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3602736" y="5358384"/>
            <a:ext cx="2450591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文本→3D模型(开源)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6126480" y="5358384"/>
            <a:ext cx="1143000" cy="301752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163056" y="5358384"/>
            <a:ext cx="107899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280"/>
                </a:solidFill>
                <a:latin typeface="Microsoft YaHei"/>
              </a:rPr>
              <a:t>种子轮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7315200" y="5358384"/>
            <a:ext cx="1965960" cy="301752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7351775" y="5358384"/>
            <a:ext cx="190195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开源+速度快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9326880" y="5358384"/>
            <a:ext cx="1965960" cy="301752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9363455" y="5358384"/>
            <a:ext cx="190195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DC2626"/>
                </a:solidFill>
                <a:latin typeface="Microsoft YaHei"/>
              </a:rPr>
              <a:t>细节精度有限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822960" y="5660136"/>
            <a:ext cx="1600200" cy="3017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859536" y="5660136"/>
            <a:ext cx="153619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374151"/>
                </a:solidFill>
                <a:latin typeface="Microsoft YaHei"/>
              </a:rPr>
              <a:t>AccuRIG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2468880" y="5660136"/>
            <a:ext cx="1051560" cy="3017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2505456" y="5660136"/>
            <a:ext cx="98755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Rigging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3566160" y="5660136"/>
            <a:ext cx="2514600" cy="3017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3602736" y="5660136"/>
            <a:ext cx="2450591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3D角色自动绑定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6126480" y="5660136"/>
            <a:ext cx="1143000" cy="3017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6163056" y="5660136"/>
            <a:ext cx="107899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280"/>
                </a:solidFill>
                <a:latin typeface="Microsoft YaHei"/>
              </a:rPr>
              <a:t>免费工具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7315200" y="5660136"/>
            <a:ext cx="1965960" cy="3017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7351775" y="5660136"/>
            <a:ext cx="190195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人形Rig成熟稳定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9326880" y="5660136"/>
            <a:ext cx="1965960" cy="3017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9363455" y="5660136"/>
            <a:ext cx="190195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DC2626"/>
                </a:solidFill>
                <a:latin typeface="Microsoft YaHei"/>
              </a:rPr>
              <a:t>非人形支持弱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822960" y="5961888"/>
            <a:ext cx="1600200" cy="301752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859536" y="5961888"/>
            <a:ext cx="153619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374151"/>
                </a:solidFill>
                <a:latin typeface="Microsoft YaHei"/>
              </a:rPr>
              <a:t>Ubisoft Ghostwriter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2468880" y="5961888"/>
            <a:ext cx="1051560" cy="301752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2505456" y="5961888"/>
            <a:ext cx="98755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叙事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3566160" y="5961888"/>
            <a:ext cx="2514600" cy="301752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3602736" y="5961888"/>
            <a:ext cx="2450591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NPC对话草稿生成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6126480" y="5961888"/>
            <a:ext cx="1143000" cy="301752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6163056" y="5961888"/>
            <a:ext cx="107899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280"/>
                </a:solidFill>
                <a:latin typeface="Microsoft YaHei"/>
              </a:rPr>
              <a:t>内部工具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7315200" y="5961888"/>
            <a:ext cx="1965960" cy="301752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7351775" y="5961888"/>
            <a:ext cx="190195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3A游戏实战验证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9326880" y="5961888"/>
            <a:ext cx="1965960" cy="301752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9363455" y="5961888"/>
            <a:ext cx="1901952" cy="3017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DC2626"/>
                </a:solidFill>
                <a:latin typeface="Microsoft YaHei"/>
              </a:rPr>
              <a:t>不对外,仅辅助写作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19/24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AI游戏资产生成 · 创新方向盘点与挖掘 · xhyha/insight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4F46E5"/>
                </a:solidFill>
                <a:latin typeface="Microsoft YaHei"/>
              </a:rPr>
              <a:t>12个月创新路线图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21个方向 · 季度排布 · 速赢→攻坚→突破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22860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61B2E"/>
                </a:solidFill>
                <a:latin typeface="Microsoft YaHei"/>
              </a:rPr>
              <a:t>创新方向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554480"/>
            <a:ext cx="681990" cy="274320"/>
          </a:xfrm>
          <a:prstGeom prst="rect">
            <a:avLst/>
          </a:prstGeom>
          <a:solidFill>
            <a:srgbClr val="EFF3F9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1554480"/>
            <a:ext cx="68199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6B7280"/>
                </a:solidFill>
                <a:latin typeface="Microsoft YaHei"/>
              </a:rPr>
              <a:t>Q1M1</a:t>
            </a:r>
          </a:p>
        </p:txBody>
      </p:sp>
      <p:sp>
        <p:nvSpPr>
          <p:cNvPr id="8" name="Rectangle 7"/>
          <p:cNvSpPr/>
          <p:nvPr/>
        </p:nvSpPr>
        <p:spPr>
          <a:xfrm>
            <a:off x="3882390" y="1554480"/>
            <a:ext cx="681990" cy="274320"/>
          </a:xfrm>
          <a:prstGeom prst="rect">
            <a:avLst/>
          </a:prstGeom>
          <a:solidFill>
            <a:srgbClr val="F7F9FC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82390" y="1554480"/>
            <a:ext cx="68199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6B7280"/>
                </a:solidFill>
                <a:latin typeface="Microsoft YaHei"/>
              </a:rPr>
              <a:t>Q1M2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64380" y="1554480"/>
            <a:ext cx="681990" cy="274320"/>
          </a:xfrm>
          <a:prstGeom prst="rect">
            <a:avLst/>
          </a:prstGeom>
          <a:solidFill>
            <a:srgbClr val="EFF3F9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4380" y="1554480"/>
            <a:ext cx="68199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6B7280"/>
                </a:solidFill>
                <a:latin typeface="Microsoft YaHei"/>
              </a:rPr>
              <a:t>Q1M3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46370" y="1554480"/>
            <a:ext cx="681990" cy="274320"/>
          </a:xfrm>
          <a:prstGeom prst="rect">
            <a:avLst/>
          </a:prstGeom>
          <a:solidFill>
            <a:srgbClr val="F7F9FC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46370" y="1554480"/>
            <a:ext cx="68199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6B7280"/>
                </a:solidFill>
                <a:latin typeface="Microsoft YaHei"/>
              </a:rPr>
              <a:t>Q2M4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8360" y="1554480"/>
            <a:ext cx="681990" cy="274320"/>
          </a:xfrm>
          <a:prstGeom prst="rect">
            <a:avLst/>
          </a:prstGeom>
          <a:solidFill>
            <a:srgbClr val="EFF3F9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8360" y="1554480"/>
            <a:ext cx="68199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6B7280"/>
                </a:solidFill>
                <a:latin typeface="Microsoft YaHei"/>
              </a:rPr>
              <a:t>Q2M5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10350" y="1554480"/>
            <a:ext cx="681990" cy="274320"/>
          </a:xfrm>
          <a:prstGeom prst="rect">
            <a:avLst/>
          </a:prstGeom>
          <a:solidFill>
            <a:srgbClr val="F7F9FC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0350" y="1554480"/>
            <a:ext cx="68199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6B7280"/>
                </a:solidFill>
                <a:latin typeface="Microsoft YaHei"/>
              </a:rPr>
              <a:t>Q2M6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92340" y="1554480"/>
            <a:ext cx="681990" cy="274320"/>
          </a:xfrm>
          <a:prstGeom prst="rect">
            <a:avLst/>
          </a:prstGeom>
          <a:solidFill>
            <a:srgbClr val="EFF3F9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92340" y="1554480"/>
            <a:ext cx="68199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6B7280"/>
                </a:solidFill>
                <a:latin typeface="Microsoft YaHei"/>
              </a:rPr>
              <a:t>Q3M7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74330" y="1554480"/>
            <a:ext cx="681990" cy="274320"/>
          </a:xfrm>
          <a:prstGeom prst="rect">
            <a:avLst/>
          </a:prstGeom>
          <a:solidFill>
            <a:srgbClr val="F7F9FC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4330" y="1554480"/>
            <a:ext cx="68199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6B7280"/>
                </a:solidFill>
                <a:latin typeface="Microsoft YaHei"/>
              </a:rPr>
              <a:t>Q3M8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56320" y="1554480"/>
            <a:ext cx="681990" cy="274320"/>
          </a:xfrm>
          <a:prstGeom prst="rect">
            <a:avLst/>
          </a:prstGeom>
          <a:solidFill>
            <a:srgbClr val="EFF3F9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56320" y="1554480"/>
            <a:ext cx="68199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6B7280"/>
                </a:solidFill>
                <a:latin typeface="Microsoft YaHei"/>
              </a:rPr>
              <a:t>Q3M9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38310" y="1554480"/>
            <a:ext cx="681990" cy="274320"/>
          </a:xfrm>
          <a:prstGeom prst="rect">
            <a:avLst/>
          </a:prstGeom>
          <a:solidFill>
            <a:srgbClr val="F7F9FC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38310" y="1554480"/>
            <a:ext cx="68199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6B7280"/>
                </a:solidFill>
                <a:latin typeface="Microsoft YaHei"/>
              </a:rPr>
              <a:t>Q4M10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20300" y="1554480"/>
            <a:ext cx="681990" cy="274320"/>
          </a:xfrm>
          <a:prstGeom prst="rect">
            <a:avLst/>
          </a:prstGeom>
          <a:solidFill>
            <a:srgbClr val="EFF3F9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20300" y="1554480"/>
            <a:ext cx="68199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6B7280"/>
                </a:solidFill>
                <a:latin typeface="Microsoft YaHei"/>
              </a:rPr>
              <a:t>Q4M11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702290" y="1554480"/>
            <a:ext cx="681990" cy="274320"/>
          </a:xfrm>
          <a:prstGeom prst="rect">
            <a:avLst/>
          </a:prstGeom>
          <a:solidFill>
            <a:srgbClr val="F7F9FC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02290" y="1554480"/>
            <a:ext cx="68199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6B7280"/>
                </a:solidFill>
                <a:latin typeface="Microsoft YaHei"/>
              </a:rPr>
              <a:t>Q4M12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1847088"/>
            <a:ext cx="2286000" cy="1920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61B2E"/>
                </a:solidFill>
                <a:latin typeface="Microsoft YaHei"/>
              </a:rPr>
              <a:t>风格概念引擎(2D)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1847088"/>
            <a:ext cx="8183880" cy="192024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218688" y="1874519"/>
            <a:ext cx="2691384" cy="13716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2057400"/>
            <a:ext cx="2286000" cy="1920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61B2E"/>
                </a:solidFill>
                <a:latin typeface="Microsoft YaHei"/>
              </a:rPr>
              <a:t>程序化纹理(2D)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0" y="2057400"/>
            <a:ext cx="8183880" cy="192024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218688" y="2084831"/>
            <a:ext cx="2691384" cy="13716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2267712"/>
            <a:ext cx="2286000" cy="1920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61B2E"/>
                </a:solidFill>
                <a:latin typeface="Microsoft YaHei"/>
              </a:rPr>
              <a:t>UI资产生成(2D)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0" y="2267712"/>
            <a:ext cx="8183880" cy="192024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900678" y="2295144"/>
            <a:ext cx="2009394" cy="13716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2478024"/>
            <a:ext cx="2286000" cy="1920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61B2E"/>
                </a:solidFill>
                <a:latin typeface="Microsoft YaHei"/>
              </a:rPr>
              <a:t>2D动画帧(2D)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2478024"/>
            <a:ext cx="8183880" cy="192024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82668" y="2505456"/>
            <a:ext cx="2691384" cy="13716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2688336"/>
            <a:ext cx="2286000" cy="1920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61B2E"/>
                </a:solidFill>
                <a:latin typeface="Microsoft YaHei"/>
              </a:rPr>
              <a:t>Auto-Rig+Skin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0" y="2688336"/>
            <a:ext cx="8183880" cy="192024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218688" y="2715768"/>
            <a:ext cx="3373374" cy="137160"/>
          </a:xfrm>
          <a:prstGeom prst="roundRect">
            <a:avLst>
              <a:gd name="adj" fmla="val 3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2898648"/>
            <a:ext cx="2286000" cy="1920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61B2E"/>
                </a:solidFill>
                <a:latin typeface="Microsoft YaHei"/>
              </a:rPr>
              <a:t>视频→动画重定向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0" y="2898648"/>
            <a:ext cx="8183880" cy="192024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900678" y="2926079"/>
            <a:ext cx="3373374" cy="137160"/>
          </a:xfrm>
          <a:prstGeom prst="roundRect">
            <a:avLst>
              <a:gd name="adj" fmla="val 3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3108960"/>
            <a:ext cx="2286000" cy="1920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61B2E"/>
                </a:solidFill>
                <a:latin typeface="Microsoft YaHei"/>
              </a:rPr>
              <a:t>面部动画/口型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0" y="3108960"/>
            <a:ext cx="8183880" cy="192024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582668" y="3136391"/>
            <a:ext cx="3373374" cy="137160"/>
          </a:xfrm>
          <a:prstGeom prst="roundRect">
            <a:avLst>
              <a:gd name="adj" fmla="val 3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" y="3319272"/>
            <a:ext cx="2286000" cy="1920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61B2E"/>
                </a:solidFill>
                <a:latin typeface="Microsoft YaHei"/>
              </a:rPr>
              <a:t>3D角色生成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0" y="3319272"/>
            <a:ext cx="8183880" cy="192024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582668" y="3346703"/>
            <a:ext cx="4055364" cy="13716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3529584"/>
            <a:ext cx="2286000" cy="1920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61B2E"/>
                </a:solidFill>
                <a:latin typeface="Microsoft YaHei"/>
              </a:rPr>
              <a:t>PBR材质生成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0" y="3529584"/>
            <a:ext cx="8183880" cy="192024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3900678" y="3557015"/>
            <a:ext cx="3373374" cy="13716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2960" y="3739896"/>
            <a:ext cx="2286000" cy="1920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61B2E"/>
                </a:solidFill>
                <a:latin typeface="Microsoft YaHei"/>
              </a:rPr>
              <a:t>程序化环境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0" y="3739896"/>
            <a:ext cx="8183880" cy="192024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5264658" y="3767328"/>
            <a:ext cx="4055364" cy="13716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2960" y="3950208"/>
            <a:ext cx="2286000" cy="1920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61B2E"/>
                </a:solidFill>
                <a:latin typeface="Microsoft YaHei"/>
              </a:rPr>
              <a:t>智能LOD优化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0" y="3950208"/>
            <a:ext cx="8183880" cy="192024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264658" y="3977640"/>
            <a:ext cx="2691384" cy="13716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2960" y="4160520"/>
            <a:ext cx="2286000" cy="1920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61B2E"/>
                </a:solidFill>
                <a:latin typeface="Microsoft YaHei"/>
              </a:rPr>
              <a:t>自适应音乐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0" y="4160520"/>
            <a:ext cx="8183880" cy="192024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3900678" y="4187952"/>
            <a:ext cx="2691384" cy="137160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2960" y="4370832"/>
            <a:ext cx="2286000" cy="1920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61B2E"/>
                </a:solidFill>
                <a:latin typeface="Microsoft YaHei"/>
              </a:rPr>
              <a:t>程序化SFX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0" y="4370832"/>
            <a:ext cx="8183880" cy="192024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4582668" y="4398264"/>
            <a:ext cx="2691384" cy="137160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2960" y="4581144"/>
            <a:ext cx="2286000" cy="1920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61B2E"/>
                </a:solidFill>
                <a:latin typeface="Microsoft YaHei"/>
              </a:rPr>
              <a:t>NPC语音合成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00400" y="4581144"/>
            <a:ext cx="8183880" cy="192024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4582668" y="4608576"/>
            <a:ext cx="3373374" cy="137160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22960" y="4791456"/>
            <a:ext cx="2286000" cy="1920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61B2E"/>
                </a:solidFill>
                <a:latin typeface="Microsoft YaHei"/>
              </a:rPr>
              <a:t>AI关卡设计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00400" y="4791456"/>
            <a:ext cx="8183880" cy="192024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5946648" y="4818888"/>
            <a:ext cx="3373374" cy="137160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2960" y="5001768"/>
            <a:ext cx="2286000" cy="1920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61B2E"/>
                </a:solidFill>
                <a:latin typeface="Microsoft YaHei"/>
              </a:rPr>
              <a:t>动态叙事生成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00400" y="5001768"/>
            <a:ext cx="8183880" cy="192024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5946648" y="5029200"/>
            <a:ext cx="4055364" cy="137160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22960" y="5212080"/>
            <a:ext cx="2286000" cy="1920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61B2E"/>
                </a:solidFill>
                <a:latin typeface="Microsoft YaHei"/>
              </a:rPr>
              <a:t>程序化生态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00400" y="5212080"/>
            <a:ext cx="8183880" cy="192024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6628638" y="5239512"/>
            <a:ext cx="2691384" cy="137160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2960" y="5422392"/>
            <a:ext cx="2286000" cy="1920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61B2E"/>
                </a:solidFill>
                <a:latin typeface="Microsoft YaHei"/>
              </a:rPr>
              <a:t>AI物理代理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200400" y="5422392"/>
            <a:ext cx="8183880" cy="192024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6628638" y="5449824"/>
            <a:ext cx="3373374" cy="137160"/>
          </a:xfrm>
          <a:prstGeom prst="roundRect">
            <a:avLst>
              <a:gd name="adj" fmla="val 3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22960" y="5632704"/>
            <a:ext cx="2286000" cy="1920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61B2E"/>
                </a:solidFill>
                <a:latin typeface="Microsoft YaHei"/>
              </a:rPr>
              <a:t>全链路管线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00400" y="5632704"/>
            <a:ext cx="8183880" cy="192024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7310628" y="5660136"/>
            <a:ext cx="4055364" cy="137160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22960" y="5843016"/>
            <a:ext cx="2286000" cy="1920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61B2E"/>
                </a:solidFill>
                <a:latin typeface="Microsoft YaHei"/>
              </a:rPr>
              <a:t>实时风格迁移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200400" y="5843016"/>
            <a:ext cx="8183880" cy="192024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7992618" y="5870448"/>
            <a:ext cx="3373374" cy="137160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22960" y="6053328"/>
            <a:ext cx="2286000" cy="1920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161B2E"/>
                </a:solidFill>
                <a:latin typeface="Microsoft YaHei"/>
              </a:rPr>
              <a:t>资产一致性引擎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200400" y="6053328"/>
            <a:ext cx="8183880" cy="192024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7310628" y="6080760"/>
            <a:ext cx="4055364" cy="137160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22960" y="6172200"/>
            <a:ext cx="10561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B7280"/>
                </a:solidFill>
                <a:latin typeface="Microsoft YaHei"/>
              </a:rPr>
              <a:t>Q1速赢(2D+Rig) → Q2攻坚(3D+音频) → Q3-Q4突破(全链路+一致性)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20/24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AI游戏资产生成 · 创新方向盘点与挖掘 · xhyha/insight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DC2626"/>
                </a:solidFill>
                <a:latin typeface="Microsoft YaHei"/>
              </a:rPr>
              <a:t>核心启示与风险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5个关键判断 · 3大风险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10561320" cy="80467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91440" cy="804672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536192"/>
            <a:ext cx="71323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E"/>
                </a:solidFill>
                <a:latin typeface="Microsoft YaHei"/>
              </a:rPr>
              <a:t>蓝海在「全链路+一致性」而非单点工具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47088"/>
            <a:ext cx="713232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各赛道单点工具已拥挤(15+公司)，但打通2D→3D→动画→音频→集成的全链路平台尚无完整方案。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627632"/>
            <a:ext cx="1920240" cy="475488"/>
          </a:xfrm>
          <a:prstGeom prst="roundRect">
            <a:avLst>
              <a:gd name="adj" fmla="val 15000"/>
            </a:avLst>
          </a:prstGeom>
          <a:solidFill>
            <a:srgbClr val="EF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627632"/>
            <a:ext cx="192024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DC2626"/>
                </a:solidFill>
                <a:latin typeface="Microsoft YaHei"/>
              </a:rPr>
              <a:t>#19/#21是最大机会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340864"/>
            <a:ext cx="10561320" cy="80467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2340864"/>
            <a:ext cx="91440" cy="804672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414016"/>
            <a:ext cx="71323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E"/>
                </a:solidFill>
                <a:latin typeface="Microsoft YaHei"/>
              </a:rPr>
              <a:t>「资产一致性」是AI生成的阿喀琉斯之踵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724912"/>
            <a:ext cx="713232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当前AI各自生成2D/3D/动画，风格不统一是最大落地障碍。解决一致性=建立行业标准。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2505456"/>
            <a:ext cx="1920240" cy="475488"/>
          </a:xfrm>
          <a:prstGeom prst="roundRect">
            <a:avLst>
              <a:gd name="adj" fmla="val 15000"/>
            </a:avLst>
          </a:prstGeom>
          <a:solidFill>
            <a:srgbClr val="EF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505456"/>
            <a:ext cx="192024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DC2626"/>
                </a:solidFill>
                <a:latin typeface="Microsoft YaHei"/>
              </a:rPr>
              <a:t>核心瓶颈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218688"/>
            <a:ext cx="10561320" cy="80467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3218688"/>
            <a:ext cx="91440" cy="804672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291840"/>
            <a:ext cx="71323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E"/>
                </a:solidFill>
                <a:latin typeface="Microsoft YaHei"/>
              </a:rPr>
              <a:t>游戏级质量≠通用AI，需要垂直深耕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602736"/>
            <a:ext cx="713232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通用3D生成(Meshy/Luma)的拓扑/精度达不到游戏标准，需游戏专属训练与优化。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3383280"/>
            <a:ext cx="1920240" cy="475488"/>
          </a:xfrm>
          <a:prstGeom prst="roundRect">
            <a:avLst>
              <a:gd name="adj" fmla="val 15000"/>
            </a:avLst>
          </a:prstGeom>
          <a:solidFill>
            <a:srgbClr val="EF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3383280"/>
            <a:ext cx="192024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A580C"/>
                </a:solidFill>
                <a:latin typeface="Microsoft YaHei"/>
              </a:rPr>
              <a:t>垂直护城河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096512"/>
            <a:ext cx="10561320" cy="80467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4096512"/>
            <a:ext cx="91440" cy="804672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169664"/>
            <a:ext cx="71323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E"/>
                </a:solidFill>
                <a:latin typeface="Microsoft YaHei"/>
              </a:rPr>
              <a:t>速赢路径：2D美术+Auto-Rig先落地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480560"/>
            <a:ext cx="713232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2D概念设计和Auto-Rig门槛低、见效快，Q1-Q2可出成果验证ROI。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0" y="4261104"/>
            <a:ext cx="1920240" cy="475488"/>
          </a:xfrm>
          <a:prstGeom prst="roundRect">
            <a:avLst>
              <a:gd name="adj" fmla="val 15000"/>
            </a:avLst>
          </a:prstGeom>
          <a:solidFill>
            <a:srgbClr val="EF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4261104"/>
            <a:ext cx="192024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先易后难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974336"/>
            <a:ext cx="10561320" cy="80467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960" y="4974336"/>
            <a:ext cx="91440" cy="804672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5047488"/>
            <a:ext cx="71323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E"/>
                </a:solidFill>
                <a:latin typeface="Microsoft YaHei"/>
              </a:rPr>
              <a:t>实时风格迁移是中长期杀手锏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358384"/>
            <a:ext cx="713232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一次制作→多风格输出，彻底改变游戏美术生产模式，但需3-4年技术成熟。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0" y="5138928"/>
            <a:ext cx="1920240" cy="475488"/>
          </a:xfrm>
          <a:prstGeom prst="roundRect">
            <a:avLst>
              <a:gd name="adj" fmla="val 15000"/>
            </a:avLst>
          </a:prstGeom>
          <a:solidFill>
            <a:srgbClr val="EF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5138928"/>
            <a:ext cx="192024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Microsoft YaHei"/>
              </a:rPr>
              <a:t>中长期布局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5870448"/>
            <a:ext cx="10561320" cy="566928"/>
          </a:xfrm>
          <a:prstGeom prst="roundRect">
            <a:avLst>
              <a:gd name="adj" fmla="val 6000"/>
            </a:avLst>
          </a:prstGeom>
          <a:solidFill>
            <a:srgbClr val="EFF3F9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4128" y="5907024"/>
            <a:ext cx="1024128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DC2626"/>
                </a:solidFill>
                <a:latin typeface="Microsoft YaHei"/>
              </a:rPr>
              <a:t>⚠ 风险：</a:t>
            </a:r>
            <a:r>
              <a:rPr sz="950" b="0">
                <a:solidFill>
                  <a:srgbClr val="6B7280"/>
                </a:solidFill>
                <a:latin typeface="Microsoft YaHei"/>
              </a:rPr>
              <a:t>①AI生成资产的法律版权归属未明确  ②游戏CP对AI工具接受度参差(需培训)  ③实时生成的算力/延迟约束  ④质量不稳定需人工兜底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21/24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AI游戏资产生成 · 创新方向盘点与挖掘 · xhyha/insight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2820A"/>
                </a:solidFill>
                <a:latin typeface="Microsoft YaHei"/>
              </a:rPr>
              <a:t>创新机会总结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按投入产出比排序 · Top 10 优先级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4572000" cy="292608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457200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61B2E"/>
                </a:solidFill>
                <a:latin typeface="Microsoft YaHei"/>
              </a:rPr>
              <a:t>创新方向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1463040"/>
            <a:ext cx="3108960" cy="292608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0" y="1463040"/>
            <a:ext cx="310896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61B2E"/>
                </a:solidFill>
                <a:latin typeface="Microsoft YaHei"/>
              </a:rPr>
              <a:t>核心价值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463040"/>
            <a:ext cx="1188720" cy="292608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1463040"/>
            <a:ext cx="118872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61B2E"/>
                </a:solidFill>
                <a:latin typeface="Microsoft YaHei"/>
              </a:rPr>
              <a:t>影响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92640" y="1463040"/>
            <a:ext cx="1188720" cy="292608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0" y="1463040"/>
            <a:ext cx="118872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61B2E"/>
                </a:solidFill>
                <a:latin typeface="Microsoft YaHei"/>
              </a:rPr>
              <a:t>周期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881360" y="1463040"/>
            <a:ext cx="502920" cy="292608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0" y="1463040"/>
            <a:ext cx="50292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61B2E"/>
                </a:solidFill>
                <a:latin typeface="Microsoft YaHei"/>
              </a:rPr>
              <a:t>等级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1773936"/>
            <a:ext cx="4572000" cy="402336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1773936"/>
            <a:ext cx="448056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#21 资产一致性引擎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4960" y="1773936"/>
            <a:ext cx="3108960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49824" y="1773936"/>
            <a:ext cx="301752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280"/>
                </a:solidFill>
                <a:latin typeface="Microsoft YaHei"/>
              </a:rPr>
              <a:t>解决AI生成核心痛点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1773936"/>
            <a:ext cx="1188720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1773936"/>
            <a:ext cx="118872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DC2626"/>
                </a:solidFill>
                <a:latin typeface="Microsoft YaHei"/>
              </a:rPr>
              <a:t>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1773936"/>
            <a:ext cx="1188720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1773936"/>
            <a:ext cx="118872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6B7280"/>
                </a:solidFill>
                <a:latin typeface="Microsoft YaHei"/>
              </a:rPr>
              <a:t>长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881360" y="1773936"/>
            <a:ext cx="502920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81360" y="1773936"/>
            <a:ext cx="50292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🔴 战略制高点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2185416"/>
            <a:ext cx="4572000" cy="402336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2185416"/>
            <a:ext cx="448056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#19 全链路生成管线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94960" y="2185416"/>
            <a:ext cx="3108960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49824" y="2185416"/>
            <a:ext cx="301752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280"/>
                </a:solidFill>
                <a:latin typeface="Microsoft YaHei"/>
              </a:rPr>
              <a:t>业界空白，端到端自动化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03920" y="2185416"/>
            <a:ext cx="1188720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2185416"/>
            <a:ext cx="118872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DC2626"/>
                </a:solidFill>
                <a:latin typeface="Microsoft YaHei"/>
              </a:rPr>
              <a:t>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92640" y="2185416"/>
            <a:ext cx="1188720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0" y="2185416"/>
            <a:ext cx="118872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6B7280"/>
                </a:solidFill>
                <a:latin typeface="Microsoft YaHei"/>
              </a:rPr>
              <a:t>长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881360" y="2185416"/>
            <a:ext cx="502920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881360" y="2185416"/>
            <a:ext cx="50292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🔴 战略制高点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2596896"/>
            <a:ext cx="4572000" cy="402336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7824" y="2596896"/>
            <a:ext cx="448056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#1 风格概念设计引擎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94960" y="2596896"/>
            <a:ext cx="3108960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49824" y="2596896"/>
            <a:ext cx="301752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280"/>
                </a:solidFill>
                <a:latin typeface="Microsoft YaHei"/>
              </a:rPr>
              <a:t>2D美术效率10×，门槛低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03920" y="2596896"/>
            <a:ext cx="1188720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03920" y="2596896"/>
            <a:ext cx="118872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DC2626"/>
                </a:solidFill>
                <a:latin typeface="Microsoft YaHei"/>
              </a:rPr>
              <a:t>高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92640" y="2596896"/>
            <a:ext cx="1188720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92640" y="2596896"/>
            <a:ext cx="118872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6B7280"/>
                </a:solidFill>
                <a:latin typeface="Microsoft YaHei"/>
              </a:rPr>
              <a:t>短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881360" y="2596896"/>
            <a:ext cx="502920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81360" y="2596896"/>
            <a:ext cx="50292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🟢 速赢首选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2960" y="3008376"/>
            <a:ext cx="4572000" cy="402336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" y="3008376"/>
            <a:ext cx="448056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#11 Auto-Rig+Skin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394960" y="3008376"/>
            <a:ext cx="3108960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49824" y="3008376"/>
            <a:ext cx="301752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280"/>
                </a:solidFill>
                <a:latin typeface="Microsoft YaHei"/>
              </a:rPr>
              <a:t>Rigging天→分钟，刚需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503920" y="3008376"/>
            <a:ext cx="1188720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03920" y="3008376"/>
            <a:ext cx="118872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DC2626"/>
                </a:solidFill>
                <a:latin typeface="Microsoft YaHei"/>
              </a:rPr>
              <a:t>高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692640" y="3008376"/>
            <a:ext cx="1188720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92640" y="3008376"/>
            <a:ext cx="118872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6B7280"/>
                </a:solidFill>
                <a:latin typeface="Microsoft YaHei"/>
              </a:rPr>
              <a:t>短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881360" y="3008376"/>
            <a:ext cx="502920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881360" y="3008376"/>
            <a:ext cx="50292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🟢 速赢首选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2960" y="3419856"/>
            <a:ext cx="4572000" cy="402336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77824" y="3419856"/>
            <a:ext cx="448056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#5 3D角色一键生成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394960" y="3419856"/>
            <a:ext cx="3108960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49824" y="3419856"/>
            <a:ext cx="301752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280"/>
                </a:solidFill>
                <a:latin typeface="Microsoft YaHei"/>
              </a:rPr>
              <a:t>3D创作民主化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503920" y="3419856"/>
            <a:ext cx="1188720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03920" y="3419856"/>
            <a:ext cx="118872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DC2626"/>
                </a:solidFill>
                <a:latin typeface="Microsoft YaHei"/>
              </a:rPr>
              <a:t>高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692640" y="3419856"/>
            <a:ext cx="1188720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692640" y="3419856"/>
            <a:ext cx="118872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6B7280"/>
                </a:solidFill>
                <a:latin typeface="Microsoft YaHei"/>
              </a:rPr>
              <a:t>中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881360" y="3419856"/>
            <a:ext cx="502920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881360" y="3419856"/>
            <a:ext cx="50292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🟡 重点攻坚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22960" y="3831336"/>
            <a:ext cx="4572000" cy="402336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77824" y="3831336"/>
            <a:ext cx="448056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#9 视频→动画重定向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394960" y="3831336"/>
            <a:ext cx="3108960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49824" y="3831336"/>
            <a:ext cx="301752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280"/>
                </a:solidFill>
                <a:latin typeface="Microsoft YaHei"/>
              </a:rPr>
              <a:t>去动捕设备化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503920" y="3831336"/>
            <a:ext cx="1188720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503920" y="3831336"/>
            <a:ext cx="118872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DC2626"/>
                </a:solidFill>
                <a:latin typeface="Microsoft YaHei"/>
              </a:rPr>
              <a:t>高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692640" y="3831336"/>
            <a:ext cx="1188720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692640" y="3831336"/>
            <a:ext cx="118872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6B7280"/>
                </a:solidFill>
                <a:latin typeface="Microsoft YaHei"/>
              </a:rPr>
              <a:t>中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0881360" y="3831336"/>
            <a:ext cx="502920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881360" y="3831336"/>
            <a:ext cx="50292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🟡 重点攻坚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22960" y="4242816"/>
            <a:ext cx="4572000" cy="402336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77824" y="4242816"/>
            <a:ext cx="448056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#20 实时风格迁移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394960" y="4242816"/>
            <a:ext cx="3108960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449824" y="4242816"/>
            <a:ext cx="301752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280"/>
                </a:solidFill>
                <a:latin typeface="Microsoft YaHei"/>
              </a:rPr>
              <a:t>一次制作多风格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503920" y="4242816"/>
            <a:ext cx="1188720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03920" y="4242816"/>
            <a:ext cx="118872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C2820A"/>
                </a:solidFill>
                <a:latin typeface="Microsoft YaHei"/>
              </a:rPr>
              <a:t>中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692640" y="4242816"/>
            <a:ext cx="1188720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692640" y="4242816"/>
            <a:ext cx="118872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6B7280"/>
                </a:solidFill>
                <a:latin typeface="Microsoft YaHei"/>
              </a:rPr>
              <a:t>长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0881360" y="4242816"/>
            <a:ext cx="502920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881360" y="4242816"/>
            <a:ext cx="50292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🔵 中长期布局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22960" y="4654296"/>
            <a:ext cx="4572000" cy="402336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77824" y="4654296"/>
            <a:ext cx="448056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#13 自适应音乐引擎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394960" y="4654296"/>
            <a:ext cx="3108960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449824" y="4654296"/>
            <a:ext cx="301752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280"/>
                </a:solidFill>
                <a:latin typeface="Microsoft YaHei"/>
              </a:rPr>
              <a:t>实时BGM动态生成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503920" y="4654296"/>
            <a:ext cx="1188720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503920" y="4654296"/>
            <a:ext cx="118872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C2820A"/>
                </a:solidFill>
                <a:latin typeface="Microsoft YaHei"/>
              </a:rPr>
              <a:t>中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9692640" y="4654296"/>
            <a:ext cx="1188720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692640" y="4654296"/>
            <a:ext cx="118872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6B7280"/>
                </a:solidFill>
                <a:latin typeface="Microsoft YaHei"/>
              </a:rPr>
              <a:t>中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0881360" y="4654296"/>
            <a:ext cx="502920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881360" y="4654296"/>
            <a:ext cx="50292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🟡 重点攻坚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822960" y="5065776"/>
            <a:ext cx="4572000" cy="402336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77824" y="5065776"/>
            <a:ext cx="448056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#10 面部动画口型同步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5394960" y="5065776"/>
            <a:ext cx="3108960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449824" y="5065776"/>
            <a:ext cx="301752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280"/>
                </a:solidFill>
                <a:latin typeface="Microsoft YaHei"/>
              </a:rPr>
              <a:t>配音自动化，×50效率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503920" y="5065776"/>
            <a:ext cx="1188720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503920" y="5065776"/>
            <a:ext cx="118872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C2820A"/>
                </a:solidFill>
                <a:latin typeface="Microsoft YaHei"/>
              </a:rPr>
              <a:t>中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692640" y="5065776"/>
            <a:ext cx="1188720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692640" y="5065776"/>
            <a:ext cx="118872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6B7280"/>
                </a:solidFill>
                <a:latin typeface="Microsoft YaHei"/>
              </a:rPr>
              <a:t>中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10881360" y="5065776"/>
            <a:ext cx="502920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881360" y="5065776"/>
            <a:ext cx="50292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🟡 重点攻坚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822960" y="5477256"/>
            <a:ext cx="4572000" cy="402336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77824" y="5477256"/>
            <a:ext cx="448056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#17 动态叙事生成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5394960" y="5477256"/>
            <a:ext cx="3108960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449824" y="5477256"/>
            <a:ext cx="301752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280"/>
                </a:solidFill>
                <a:latin typeface="Microsoft YaHei"/>
              </a:rPr>
              <a:t>LLM×游戏，独特体验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503920" y="5477256"/>
            <a:ext cx="1188720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503920" y="5477256"/>
            <a:ext cx="118872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C2820A"/>
                </a:solidFill>
                <a:latin typeface="Microsoft YaHei"/>
              </a:rPr>
              <a:t>中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9692640" y="5477256"/>
            <a:ext cx="1188720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692640" y="5477256"/>
            <a:ext cx="118872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6B7280"/>
                </a:solidFill>
                <a:latin typeface="Microsoft YaHei"/>
              </a:rPr>
              <a:t>中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10881360" y="5477256"/>
            <a:ext cx="502920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0881360" y="5477256"/>
            <a:ext cx="50292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🟡 重点攻坚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22/24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AI游戏资产生成 · 创新方向盘点与挖掘 · xhyha/insight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9488"/>
                </a:solidFill>
                <a:latin typeface="Microsoft YaHei"/>
              </a:rPr>
              <a:t>METHODOLOGY &amp;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分析方法论与数据来源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5166360" cy="452628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09344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D9488"/>
                </a:solidFill>
                <a:latin typeface="Microsoft YaHei"/>
              </a:rPr>
              <a:t>▎分析方法论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475488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50" b="1">
                <a:solidFill>
                  <a:srgbClr val="0D9488"/>
                </a:solidFill>
                <a:latin typeface="Microsoft YaHei"/>
              </a:rPr>
              <a:t>现状盘点: </a:t>
            </a:r>
            <a:r>
              <a:rPr sz="950" b="0">
                <a:solidFill>
                  <a:srgbClr val="374151"/>
                </a:solidFill>
                <a:latin typeface="Microsoft YaHei"/>
              </a:rPr>
              <a:t>5大赛道×5阶段=25格生态地图全覆盖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61487"/>
            <a:ext cx="475488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50" b="1">
                <a:solidFill>
                  <a:srgbClr val="0D9488"/>
                </a:solidFill>
                <a:latin typeface="Microsoft YaHei"/>
              </a:rPr>
              <a:t>idea挖掘: </a:t>
            </a:r>
            <a:r>
              <a:rPr sz="950" b="0">
                <a:solidFill>
                  <a:srgbClr val="374151"/>
                </a:solidFill>
                <a:latin typeface="Microsoft YaHei"/>
              </a:rPr>
              <a:t>每赛道3-4个创新方向，共21个，按四维模型拆解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19855"/>
            <a:ext cx="475488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50" b="1">
                <a:solidFill>
                  <a:srgbClr val="0D9488"/>
                </a:solidFill>
                <a:latin typeface="Microsoft YaHei"/>
              </a:rPr>
              <a:t>竞品调研: </a:t>
            </a:r>
            <a:r>
              <a:rPr sz="950" b="0">
                <a:solidFill>
                  <a:srgbClr val="374151"/>
                </a:solidFill>
                <a:latin typeface="Microsoft YaHei"/>
              </a:rPr>
              <a:t>15家代表公司，6维度对标(领域/能力/融资/优劣势)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078223"/>
            <a:ext cx="475488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50" b="1">
                <a:solidFill>
                  <a:srgbClr val="0D9488"/>
                </a:solidFill>
                <a:latin typeface="Microsoft YaHei"/>
              </a:rPr>
              <a:t>优先级排序: </a:t>
            </a:r>
            <a:r>
              <a:rPr sz="950" b="0">
                <a:solidFill>
                  <a:srgbClr val="374151"/>
                </a:solidFill>
                <a:latin typeface="Microsoft YaHei"/>
              </a:rPr>
              <a:t>影响力×技术门槛矩阵 + Top10投入产出比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36591"/>
            <a:ext cx="475488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50" b="1">
                <a:solidFill>
                  <a:srgbClr val="0D9488"/>
                </a:solidFill>
                <a:latin typeface="Microsoft YaHei"/>
              </a:rPr>
              <a:t>路线图: </a:t>
            </a:r>
            <a:r>
              <a:rPr sz="950" b="0">
                <a:solidFill>
                  <a:srgbClr val="374151"/>
                </a:solidFill>
                <a:latin typeface="Microsoft YaHei"/>
              </a:rPr>
              <a:t>12个月季度排布：速赢(Q1)→攻坚(Q2-3)→突破(Q4)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08760"/>
            <a:ext cx="5212080" cy="4526280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9344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D9488"/>
                </a:solidFill>
                <a:latin typeface="Microsoft YaHei"/>
              </a:rPr>
              <a:t>▎数据来源（均已核验）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03120"/>
            <a:ext cx="475488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50" b="1">
                <a:solidFill>
                  <a:srgbClr val="0D9488"/>
                </a:solidFill>
                <a:latin typeface="Microsoft YaHei"/>
              </a:rPr>
              <a:t>厂商官网: </a:t>
            </a:r>
            <a:r>
              <a:rPr sz="900" b="0">
                <a:solidFill>
                  <a:srgbClr val="6B7280"/>
                </a:solidFill>
                <a:latin typeface="Microsoft YaHei"/>
              </a:rPr>
              <a:t>Meshy.ai/Luma AI/Wonder Dynamics/Kinetix/Leonardo.ai/Scenario.com/ElevenLabs/Inworld AI/Suno等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761487"/>
            <a:ext cx="475488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50" b="1">
                <a:solidFill>
                  <a:srgbClr val="0D9488"/>
                </a:solidFill>
                <a:latin typeface="Microsoft YaHei"/>
              </a:rPr>
              <a:t>开源生态: </a:t>
            </a:r>
            <a:r>
              <a:rPr sz="900" b="0">
                <a:solidFill>
                  <a:srgbClr val="6B7280"/>
                </a:solidFill>
                <a:latin typeface="Microsoft YaHei"/>
              </a:rPr>
              <a:t>GitHub(HuggingFace/Tripo3D/StableFastStyle) · arXiv论文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419855"/>
            <a:ext cx="475488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50" b="1">
                <a:solidFill>
                  <a:srgbClr val="0D9488"/>
                </a:solidFill>
                <a:latin typeface="Microsoft YaHei"/>
              </a:rPr>
              <a:t>融资数据: </a:t>
            </a:r>
            <a:r>
              <a:rPr sz="900" b="0">
                <a:solidFill>
                  <a:srgbClr val="6B7280"/>
                </a:solidFill>
                <a:latin typeface="Microsoft YaHei"/>
              </a:rPr>
              <a:t>Crunchbase/PitchBook公开融资轮次(截至2025-2026)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078223"/>
            <a:ext cx="475488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50" b="1">
                <a:solidFill>
                  <a:srgbClr val="0D9488"/>
                </a:solidFill>
                <a:latin typeface="Microsoft YaHei"/>
              </a:rPr>
              <a:t>行业报告: </a:t>
            </a:r>
            <a:r>
              <a:rPr sz="900" b="0">
                <a:solidFill>
                  <a:srgbClr val="6B7280"/>
                </a:solidFill>
                <a:latin typeface="Microsoft YaHei"/>
              </a:rPr>
              <a:t>a16z/Games One/Citi GPS等AI游戏行业报告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736591"/>
            <a:ext cx="475488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50" b="1">
                <a:solidFill>
                  <a:srgbClr val="0D9488"/>
                </a:solidFill>
                <a:latin typeface="Microsoft YaHei"/>
              </a:rPr>
              <a:t>游戏引擎: </a:t>
            </a:r>
            <a:r>
              <a:rPr sz="900" b="0">
                <a:solidFill>
                  <a:srgbClr val="6B7280"/>
                </a:solidFill>
                <a:latin typeface="Microsoft YaHei"/>
              </a:rPr>
              <a:t>Unity/Unreal Engine AI插件生态与路线图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5394959"/>
            <a:ext cx="475488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50" b="1">
                <a:solidFill>
                  <a:srgbClr val="0D9488"/>
                </a:solidFill>
                <a:latin typeface="Microsoft YaHei"/>
              </a:rPr>
              <a:t>⚠ 声明: </a:t>
            </a:r>
            <a:r>
              <a:rPr sz="900" b="0">
                <a:solidFill>
                  <a:srgbClr val="DC2626"/>
                </a:solidFill>
                <a:latin typeface="Microsoft YaHei"/>
              </a:rPr>
              <a:t>部分技术成熟度判断为基于公开信息的合理推演，非厂商官方披露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23/24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AI游戏资产生成 · 创新方向盘点与挖掘 · xhyha/insight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4572000" cy="3657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188720"/>
            <a:ext cx="10972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4F46E5"/>
                </a:solidFill>
                <a:latin typeface="Microsoft YaHe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9728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>
                <a:solidFill>
                  <a:srgbClr val="161B2E"/>
                </a:solidFill>
                <a:latin typeface="Microsoft YaHei"/>
              </a:rPr>
              <a:t>AI游戏资产生成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>
                <a:solidFill>
                  <a:srgbClr val="161B2E"/>
                </a:solidFill>
                <a:latin typeface="Microsoft YaHei"/>
              </a:rPr>
              <a:t>创新方向盘点与挖掘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926080"/>
            <a:ext cx="100584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6B7280"/>
                </a:solidFill>
                <a:latin typeface="Microsoft YaHei"/>
              </a:rPr>
              <a:t>21个创新idea · 从单点工具到全链路平台 · 从概念设计到运行时风格迁移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749039"/>
            <a:ext cx="10561320" cy="164592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858768"/>
            <a:ext cx="10058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4F46E5"/>
                </a:solidFill>
                <a:latin typeface="Microsoft YaHei"/>
              </a:rPr>
              <a:t>▎核心结论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251960"/>
            <a:ext cx="10058400" cy="1051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4F46E5"/>
                </a:solidFill>
                <a:latin typeface="Microsoft YaHei"/>
              </a:rPr>
              <a:t>• 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21个方向覆盖2D/3D/动画/音频/叙事/突破性6大赛道，速赢从2D概念设计+Auto-Rig切入。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4F46E5"/>
                </a:solidFill>
                <a:latin typeface="Microsoft YaHei"/>
              </a:rPr>
              <a:t>• 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最大蓝海：</a:t>
            </a:r>
            <a:r>
              <a:rPr sz="1000" b="1">
                <a:solidFill>
                  <a:srgbClr val="DC2626"/>
                </a:solidFill>
                <a:latin typeface="Microsoft YaHei"/>
              </a:rPr>
              <a:t>全链路生成管线(#19)+资产一致性引擎(#21)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——目前业界空白。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4F46E5"/>
                </a:solidFill>
                <a:latin typeface="Microsoft YaHei"/>
              </a:rPr>
              <a:t>• 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中长期杀手锏：</a:t>
            </a:r>
            <a:r>
              <a:rPr sz="1000" b="1">
                <a:solidFill>
                  <a:srgbClr val="2563EB"/>
                </a:solidFill>
                <a:latin typeface="Microsoft YaHei"/>
              </a:rPr>
              <a:t>实时风格迁移(#20)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，一次制作→多风格输出。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4F46E5"/>
                </a:solidFill>
                <a:latin typeface="Microsoft YaHei"/>
              </a:rPr>
              <a:t>• 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12个月节奏：Q1速赢→Q2攻坚→Q3-Q4突破，从低门槛验证到高门槛护城河。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760720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9AA5BC"/>
                </a:solidFill>
                <a:latin typeface="Microsoft YaHei"/>
              </a:rPr>
              <a:t>xhyha/insight  |  AI游戏资产生成 · 创新方向盘点与挖掘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24/24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AI游戏资产生成 · 创新方向盘点与挖掘 · xhyha/insight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