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0A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6400800" cy="6400800"/>
          </a:xfrm>
          <a:prstGeom prst="ellipse">
            <a:avLst/>
          </a:prstGeom>
          <a:solidFill>
            <a:srgbClr val="0A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286000"/>
            <a:ext cx="128016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基于神经网络的 Auto-Skinning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AA"/>
                </a:solidFill>
                <a:latin typeface="Microsoft YaHei"/>
              </a:defRPr>
            </a:pPr>
            <a:r>
              <a:t>业界现状 · 技术架构 · 演进方向 · 应用价值 · 鸿蒙生态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389120"/>
            <a:ext cx="2743200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Technology Insight Report  |  v3.0  |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xhyha insight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179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A4A6A"/>
                </a:solidFill>
                <a:latin typeface="Microsoft YaHei"/>
              </a:defRPr>
            </a:pPr>
            <a:r>
              <a:t>Neural Auto-Rigging  |  Skeleton Prediction</a:t>
            </a:r>
            <a:br/>
            <a:r>
              <a:t>Skinning Weights  |  3D AIGC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核心洞察摘要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291840" cy="15544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29184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8CFF"/>
                </a:solidFill>
                <a:latin typeface="Microsoft YaHei"/>
              </a:defRPr>
            </a:pPr>
            <a:r>
              <a:t>96-480x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效率提升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传统8-40小时/角色 → AI自动5分钟内</a:t>
            </a:r>
            <a:br/>
            <a:r>
              <a:t>(取典型值: 8h→5min=96x, 40h→5min=480x)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554480"/>
            <a:ext cx="3291840" cy="15544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1554480"/>
            <a:ext cx="329184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7095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Microsoft YaHei"/>
              </a:defRPr>
            </a:pPr>
            <a:r>
              <a:t>98-133%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5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精度提升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5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SkinTokens 对比前代方案</a:t>
            </a:r>
            <a:br/>
            <a:r>
              <a:t>蒙皮权重精度大幅提升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554480"/>
            <a:ext cx="3291840" cy="15544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1554480"/>
            <a:ext cx="329184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535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5CF6"/>
                </a:solidFill>
                <a:latin typeface="Microsoft YaHei"/>
              </a:defRPr>
            </a:pPr>
            <a:r>
              <a:t>$8-12B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5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市场空间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5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3D角色绑骨 TAM (2025)</a:t>
            </a:r>
            <a:br/>
            <a:r>
              <a:t>占 $50B+ 3D内容创作市场的 ~3-8%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18520" y="1554480"/>
            <a:ext cx="3291840" cy="15544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18520" y="1554480"/>
            <a:ext cx="3291840" cy="508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37976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76"/>
                </a:solidFill>
                <a:latin typeface="Microsoft YaHei"/>
              </a:defRPr>
            </a:pPr>
            <a:r>
              <a:t>$50-500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7976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成本降低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7976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虚拟人制作从 $5K-$100K</a:t>
            </a:r>
            <a:br/>
            <a:r>
              <a:t>降至 $50-$500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1371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Auto-Skinning 正从学术研究走向工业级成熟，2025-2026年是关键拐点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自回归 Transformer 统一骨架+蒙皮为序列生成任务，成为新范式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3D AIGC 爆发使自动绑骨成为 Text-to-3D → Animation 的关键桥梁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鸿蒙生态独特优势：分布式+NPU端侧推理+ArkUI 3D，有望在端侧领域领先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核心挑战：训练数据稀缺(仅14K+标注模型)、非标准拓扑泛化、端侧部署效率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4980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数据来源: SIGGRAPH 2025 论文 / VAST-AI-Research GitHub / IDC 2025 3D Content Market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市场机会与用户痛点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为什么 Auto-Skinning 是战略机遇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市场规模漏斗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6858000" cy="82296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TAM: $50B+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全球3D内容创作市场 (IDC 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108960"/>
            <a:ext cx="5486400" cy="82296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200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4AA"/>
                </a:solidFill>
                <a:latin typeface="Microsoft YaHei"/>
              </a:defRPr>
            </a:pPr>
            <a:r>
              <a:t>SAM: $8-12B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20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3D角色创建与动画工具市场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4114800" cy="82296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429768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SOM: $0.5-1B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61772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Auto-Rigging/Auto-Skinning 细分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554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目标用户画像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011680"/>
            <a:ext cx="6400800" cy="9144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2148840"/>
            <a:ext cx="63500" cy="6400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12140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独立游戏开发者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48716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痛点: 无TA资源，角色无法动画 → 付费意愿: $10-50/月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108960"/>
            <a:ext cx="6400800" cy="9144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3246120"/>
            <a:ext cx="63500" cy="6400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321868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AAA工作室TA团队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58444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痛点: 批量NPC绑骨耗时巨大 → 付费意愿: $500-2000/席位/年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206240"/>
            <a:ext cx="6400800" cy="9144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4343400"/>
            <a:ext cx="63500" cy="6400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431596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虚拟人/数字人公司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6817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痛点: 定制周期长成本高 → 付费意愿: $100-500/角色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5303520"/>
            <a:ext cx="6400800" cy="9144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5440680"/>
            <a:ext cx="63500" cy="6400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541324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3D内容平台(UGC)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77900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痛点: 用户创作门槛高 → 付费意愿: API调用 $0.01-0.1/次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什么是 Auto-Skinning？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从传统手工绑骨到神经网络自动化的范式转变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669280" cy="365760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FF4D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D6A"/>
                </a:solidFill>
                <a:latin typeface="Microsoft YaHei"/>
              </a:defRPr>
            </a:pPr>
            <a:r>
              <a:t>❌  传统蒙皮流程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1. 建模师创建 3D Mesh (数小时-数天)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2. TA 手动放置骨骼关节 (2-8小时)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3. 逐顶点手动刷蒙皮权重 (4-16小时)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4. 反复测试动画效果并调整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5. 单角色绑骨总耗时: 8-40 小时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   ↑ 高技能门槛 · 结果不一致 · 不可规模化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7863840" cy="365760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Microsoft YaHei"/>
              </a:defRPr>
            </a:pPr>
            <a:r>
              <a:t>✅  神经网络自动蒙皮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1. 输入 3D Mesh (.glb/.obj/.fbx)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2. 几何编码器提取特征 (PointNet++ / Transformer)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3. 自回归 Transformer 生成骨骼层次结构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4. Cross Attention 预测蒙皮权重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5. 输出带 Rig 的 3D 模型 → 可直接使用动画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   ↑ 总耗时: 10秒-5分钟/角色 · 零门槛 · 可规模化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486400"/>
            <a:ext cx="4480560" cy="22860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5623560"/>
            <a:ext cx="63500" cy="20116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596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Skeleton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61888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骨骼层次结构生成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自回归 Transformer (GPT-like)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BFS 序列化 / Tree Tokenization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5486400"/>
            <a:ext cx="4480560" cy="22860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5623560"/>
            <a:ext cx="63500" cy="201168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5596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Skinning Weights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5961888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蒙皮权重预测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Bone-Point Cross Attention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FSQ-CVAE 离散化编码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5486400"/>
            <a:ext cx="4480560" cy="22860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5520" y="5623560"/>
            <a:ext cx="63500" cy="20116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5596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LBS Deformation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5961888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线性混合蒙皮变形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v' = Σ wi · Ti(v), Σwi=1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端到端变形质量验证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业界代表性成果时间线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从经典方法到大模型统一框架的演进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E8CA8"/>
                </a:solidFill>
                <a:latin typeface="Microsoft YaHei"/>
              </a:defRPr>
            </a:pPr>
            <a:r>
              <a:t>经典方法 (Pre-Deep Learning)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383280" cy="7315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7E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E8CA8"/>
                </a:solidFill>
                <a:latin typeface="Microsoft YaHei"/>
              </a:defRPr>
            </a:pPr>
            <a:r>
              <a:t>2007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Pinocchio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SIGGRAPH · 骨架模板嵌入+蒙皮，自动rigging先驱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737360"/>
            <a:ext cx="3383280" cy="7315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7E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783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E8CA8"/>
                </a:solidFill>
                <a:latin typeface="Microsoft YaHei"/>
              </a:defRPr>
            </a:pPr>
            <a:r>
              <a:t>2011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830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Heat Skinner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SIGGRAPH · 基于热方程的蒙皮权重，至今仍是工业基线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深度学习与大模型时代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13716000" cy="38100"/>
          </a:xfrm>
          <a:prstGeom prst="rect">
            <a:avLst/>
          </a:prstGeom>
          <a:solidFill>
            <a:srgbClr val="7E8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08760" y="3749039"/>
            <a:ext cx="182880" cy="182880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NeuroSkinning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8CFF"/>
                </a:solidFill>
                <a:latin typeface="Microsoft YaHei"/>
              </a:defRPr>
            </a:pPr>
            <a:r>
              <a:t>EG/CGF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首批深度学习</a:t>
            </a:r>
            <a:br/>
            <a:r>
              <a:t>蒙皮权重预测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3749039"/>
            <a:ext cx="182880" cy="18288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  <a:latin typeface="Microsoft YaHei"/>
              </a:defRPr>
            </a:pPr>
            <a:r>
              <a:t>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114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RigNet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3891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SIGGRAPH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端到端自动绑骨</a:t>
            </a:r>
            <a:br/>
            <a:r>
              <a:t>体素网络 + GNN</a:t>
            </a:r>
          </a:p>
        </p:txBody>
      </p:sp>
      <p:sp>
        <p:nvSpPr>
          <p:cNvPr id="26" name="Oval 25"/>
          <p:cNvSpPr/>
          <p:nvPr/>
        </p:nvSpPr>
        <p:spPr>
          <a:xfrm>
            <a:off x="6080760" y="3749039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114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Puppeteer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3891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5CF6"/>
                </a:solidFill>
                <a:latin typeface="Microsoft YaHei"/>
              </a:defRPr>
            </a:pPr>
            <a:r>
              <a:t>SIG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Adobe 工业级方案</a:t>
            </a:r>
            <a:br/>
            <a:r>
              <a:t>Mixamo 部署</a:t>
            </a:r>
          </a:p>
        </p:txBody>
      </p:sp>
      <p:sp>
        <p:nvSpPr>
          <p:cNvPr id="31" name="Oval 30"/>
          <p:cNvSpPr/>
          <p:nvPr/>
        </p:nvSpPr>
        <p:spPr>
          <a:xfrm>
            <a:off x="8366760" y="3749039"/>
            <a:ext cx="182880" cy="18288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114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UniRig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3891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Microsoft YaHei"/>
              </a:defRPr>
            </a:pPr>
            <a:r>
              <a:t>SIGGRAPH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统一大模型</a:t>
            </a:r>
            <a:br/>
            <a:r>
              <a:t>Tree Tokenization</a:t>
            </a:r>
          </a:p>
        </p:txBody>
      </p:sp>
      <p:sp>
        <p:nvSpPr>
          <p:cNvPr id="36" name="Oval 35"/>
          <p:cNvSpPr/>
          <p:nvPr/>
        </p:nvSpPr>
        <p:spPr>
          <a:xfrm>
            <a:off x="10652760" y="3749039"/>
            <a:ext cx="182880" cy="182880"/>
          </a:xfrm>
          <a:prstGeom prst="ellipse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114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RigAnything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3891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8CFF"/>
                </a:solidFill>
                <a:latin typeface="Microsoft YaHei"/>
              </a:defRPr>
            </a:pPr>
            <a:r>
              <a:t>ACM TOG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无模板自回归</a:t>
            </a:r>
            <a:br/>
            <a:r>
              <a:t>BFS + Diffusion</a:t>
            </a:r>
          </a:p>
        </p:txBody>
      </p:sp>
      <p:sp>
        <p:nvSpPr>
          <p:cNvPr id="41" name="Oval 40"/>
          <p:cNvSpPr/>
          <p:nvPr/>
        </p:nvSpPr>
        <p:spPr>
          <a:xfrm>
            <a:off x="12938760" y="3749039"/>
            <a:ext cx="182880" cy="182880"/>
          </a:xfrm>
          <a:prstGeom prst="ellipse">
            <a:avLst/>
          </a:prstGeom>
          <a:solidFill>
            <a:srgbClr val="FF4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2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D6A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978640" y="4114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SkinTokens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78640" y="43891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D6A"/>
                </a:solidFill>
                <a:latin typeface="Microsoft YaHei"/>
              </a:defRPr>
            </a:pPr>
            <a:r>
              <a:t>arXiv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97864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FSQ-CVAE + RL</a:t>
            </a:r>
            <a:br/>
            <a:r>
              <a:t>统一自回归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工业界主要玩家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989320"/>
            <a:ext cx="1371600" cy="254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7200" y="6217920"/>
            <a:ext cx="2560320" cy="16459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6355080"/>
            <a:ext cx="63500" cy="13716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63276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Tripo / VAST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69340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UniRig + SkinTokens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最先进开源方案 · 1.6k+ ★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46120" y="6217920"/>
            <a:ext cx="2560320" cy="16459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46120" y="6355080"/>
            <a:ext cx="63500" cy="13716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0" y="63276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Adobe (Mixamo)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669340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Puppeteer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人形专用 Web 端 · 免费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5040" y="6217920"/>
            <a:ext cx="2560320" cy="16459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35040" y="6355080"/>
            <a:ext cx="63500" cy="13716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63276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Unity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669340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AccuRIG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内置自动绑骨 · 人形为主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23959" y="6217920"/>
            <a:ext cx="2560320" cy="16459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23959" y="6355080"/>
            <a:ext cx="63500" cy="13716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52559" y="63276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Epic / Unreal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59" y="669340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MetaHuman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高保真人形 · 商业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612880" y="6217920"/>
            <a:ext cx="2560320" cy="16459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612880" y="6355080"/>
            <a:ext cx="63500" cy="13716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841480" y="63276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Meshy / Rodin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41480" y="669340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3D AIGC 平台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Text/Image → 3D + Rig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技术架构全景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基于自回归 Transformer 的统一 Auto-Rigging 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554480" cy="128016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627632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Input Mesh</a:t>
            </a:r>
            <a:br/>
            <a:r>
              <a:t>.glb/.obj/.fbx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20" y="2103120"/>
            <a:ext cx="320040" cy="38100"/>
          </a:xfrm>
          <a:prstGeom prst="rect">
            <a:avLst/>
          </a:prstGeom>
          <a:solidFill>
            <a:srgbClr val="7E8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1554480"/>
            <a:ext cx="1554480" cy="128016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1627632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Preprocess</a:t>
            </a:r>
            <a:br/>
            <a:r>
              <a:t>拓扑修复·采样</a:t>
            </a:r>
            <a:br/>
            <a:r>
              <a:t>流形检测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103120"/>
            <a:ext cx="320040" cy="38100"/>
          </a:xfrm>
          <a:prstGeom prst="rect">
            <a:avLst/>
          </a:prstGeom>
          <a:solidFill>
            <a:srgbClr val="7E8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31920" y="1554480"/>
            <a:ext cx="1554480" cy="128016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1627632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Geometric</a:t>
            </a:r>
            <a:br/>
            <a:r>
              <a:t>Encoder</a:t>
            </a:r>
            <a:br/>
            <a:r>
              <a:t>PointNet++/TF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2103120"/>
            <a:ext cx="320040" cy="38100"/>
          </a:xfrm>
          <a:prstGeom prst="rect">
            <a:avLst/>
          </a:prstGeom>
          <a:solidFill>
            <a:srgbClr val="7E8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1554480" cy="128016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1627632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Skeleton</a:t>
            </a:r>
            <a:br/>
            <a:r>
              <a:t>Generation</a:t>
            </a:r>
            <a:br/>
            <a:r>
              <a:t>Autoregressive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103120"/>
            <a:ext cx="320040" cy="38100"/>
          </a:xfrm>
          <a:prstGeom prst="rect">
            <a:avLst/>
          </a:prstGeom>
          <a:solidFill>
            <a:srgbClr val="7E8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1554480"/>
            <a:ext cx="1554480" cy="128016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1627632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Skinning</a:t>
            </a:r>
            <a:br/>
            <a:r>
              <a:t>Weights</a:t>
            </a:r>
            <a:br/>
            <a:r>
              <a:t>Cross Attention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2103120"/>
            <a:ext cx="320040" cy="38100"/>
          </a:xfrm>
          <a:prstGeom prst="rect">
            <a:avLst/>
          </a:prstGeom>
          <a:solidFill>
            <a:srgbClr val="7E8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0" y="1554480"/>
            <a:ext cx="1554480" cy="128016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1627632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Quality</a:t>
            </a:r>
            <a:br/>
            <a:r>
              <a:t>Evaluator</a:t>
            </a:r>
            <a:br/>
            <a:r>
              <a:t>LBS验证·评分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92840" y="2103120"/>
            <a:ext cx="320040" cy="38100"/>
          </a:xfrm>
          <a:prstGeom prst="rect">
            <a:avLst/>
          </a:prstGeom>
          <a:solidFill>
            <a:srgbClr val="7E8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612880" y="1554480"/>
            <a:ext cx="1554480" cy="128016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86032" y="1627632"/>
            <a:ext cx="1417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Output</a:t>
            </a:r>
            <a:br/>
            <a:r>
              <a:t>Rigged Model</a:t>
            </a:r>
            <a:br/>
            <a:r>
              <a:t>.glb/.fbx/.vrm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108960"/>
            <a:ext cx="4572000" cy="27432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246120"/>
            <a:ext cx="63500" cy="24688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21868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输入与预处理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584448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PointNet++: 点云采样 (N×3 + 法线)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3DShape2VecSet: 向量集表示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拓扑修复: 流形检测 + 法线一致性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采样均匀化: 保证输入质量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3108960"/>
            <a:ext cx="4572000" cy="27432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3246120"/>
            <a:ext cx="63500" cy="246888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321868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核心模型架构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584448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自回归 Transformer (GPT-like)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Bone-Point Cross Attention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FSQ-CVAE 蒙皮权重离散化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扩散模型 (关节位置精修)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3108960"/>
            <a:ext cx="4572000" cy="27432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4080" y="3246120"/>
            <a:ext cx="63500" cy="2468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80" y="321868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训练与质量保障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584448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Cross Entropy Loss (骨架 token)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LBS Deformation Loss (端到端)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Geodesic Distance Loss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GRPO 强化学习精调 (几何reward)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126480"/>
            <a:ext cx="14081760" cy="548640"/>
          </a:xfrm>
          <a:prstGeom prst="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172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核心数据集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617220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RigNet (~2,700) · Rig-XL (14,000+) · VRoid Hub · Objaverse-XL (800K+,需筛选) · Articulation-XL 2.0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2025-2026 核心方案对比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UniRig / RigAnything / SkinTokens 三方案深度解析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4572000" cy="53035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3500" cy="50292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UniRig (SIGGRAPH 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清华大学 + VAST AI (Tripo)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骨架: Skeleton Tree Tokenization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蒙皮: Bone-Point Cross Attention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数据: Rig-XL (14,000+)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覆盖: 人形/四足/海洋/昆虫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亮点: 215%骨架精度 194%运动精度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开源: GitHub 1.6k+ ★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商业: tripo3d.ai 已集成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4572000" cy="53035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508760"/>
            <a:ext cx="63500" cy="50292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RigAnything (ACM TOG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47088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UCSD + Adobe Research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骨架: BFS序列化 + 自回归TF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蒙皮: 几何特征 + Diffusion精修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数据: RigNet + Objaverse筛选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覆盖: 人形/四足/海洋/昆虫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亮点: 无模板 · 秒级推理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开源: GitHub 141 ★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商业: 学术方案为主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371600"/>
            <a:ext cx="4572000" cy="53035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1508760"/>
            <a:ext cx="63500" cy="5029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SkinTokens (arXiv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847088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清华大学 + VAST AI (Tripo)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骨架+蒙皮: FSQ-CVAE 统一Token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首个骨架蒙皮统一自回归框架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数据: Articulation-XL 2.0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覆盖: 人形/四足/海洋/昆虫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亮点: 98-133%蒙皮精度 + RL精调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开源: GitHub 130 ★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商业: tripo3d.ai 已集成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949440"/>
            <a:ext cx="14081760" cy="731520"/>
          </a:xfrm>
          <a:prstGeom prst="rect">
            <a:avLst/>
          </a:prstGeom>
          <a:solidFill>
            <a:srgbClr val="0A1832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704088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💡 关键洞察: SkinTokens 首次将骨架和蒙皮统一为单一自回归序列，代表了该领域的技术前沿方向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技术演进方向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从传统方法到大模型统一框架的五维演进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4572000" cy="30175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3500" cy="27432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方法范式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传统 → 浅层学习 → 深度学习 → 大模型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Heat Map / Geodesic (2007-2016)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GCN/Volumetric CNN 回归 (2018-2019)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端到端几何深度学习 (2020-2023)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自回归 Transformer + LLM (2025-2026)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4572000" cy="30175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1508760"/>
            <a:ext cx="63500" cy="27432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257800" y="1481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Microsoft YaHei"/>
              </a:defRPr>
            </a:pPr>
            <a:r>
              <a:t>学习范式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7830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全监督 → RL 精调 → 自监督/无监督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10312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全监督: 依赖带 rig 标注的数据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RL 精调: SkinTokens 用 GRPO 几何 reward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未来: 运动视频/3D扫描自监督学习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371600"/>
            <a:ext cx="4572000" cy="30175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0" y="1508760"/>
            <a:ext cx="63500" cy="2743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012680" y="1481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覆盖范围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17830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人形专用 → 通用化（多物种）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10312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人形: Mixamo / SMPL / MetaHuman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人形+四足: RigNet (2020)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通用: UniRig/RigAnything/SkinTokens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754880"/>
            <a:ext cx="4572000" cy="30175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892040"/>
            <a:ext cx="63500" cy="27432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646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02920" y="4864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生成式AI融合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66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Text-to-Avatar → Auto-Rig → Animation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864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Meshy/Tripo/Rodin 已集成自动绑骨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Image-to-3D → 自动绑骨 → 即时动画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Video-to-Motion 端到端闭环 (趋势)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754880"/>
            <a:ext cx="4572000" cy="30175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4892040"/>
            <a:ext cx="63500" cy="27432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48646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257800" y="4864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Microsoft YaHei"/>
              </a:defRPr>
            </a:pPr>
            <a:r>
              <a:t>部署形态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5166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云端批处理 → 端侧实时推理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4864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当前: 1-10秒/模型 (GPU服务器)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趋势: 模型蒸馏/量化/INT8部署</a:t>
            </a:r>
          </a:p>
          <a:p>
            <a:pPr>
              <a:spcBef>
                <a:spcPts val="8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→  目标: 移动端NPU实时交互式绑骨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当前核心挑战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限制 Auto-Skinning 规模化落地的关键瓶颈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4572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3500" cy="2651760"/>
          </a:xfrm>
          <a:prstGeom prst="rect">
            <a:avLst/>
          </a:prstGeom>
          <a:solidFill>
            <a:srgbClr val="FF4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训练数据稀缺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20"/>
            <a:ext cx="3291840" cy="76200"/>
          </a:xfrm>
          <a:prstGeom prst="rect">
            <a:avLst/>
          </a:prstGeom>
          <a:solidFill>
            <a:srgbClr val="FF4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556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4D6A"/>
                </a:solidFill>
                <a:latin typeface="Microsoft YaHei"/>
              </a:defRPr>
            </a:pPr>
            <a: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高质量带 rig 的 3D 数据极度稀缺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Rig-XL 仅 14K 模型 (vs 图像领域百万级)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数据分布偏斜，非人形数据极少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4572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1508760"/>
            <a:ext cx="63500" cy="2651760"/>
          </a:xfrm>
          <a:prstGeom prst="rect">
            <a:avLst/>
          </a:prstGeom>
          <a:solidFill>
            <a:srgbClr val="FF4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泛化性不足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874520"/>
            <a:ext cx="2880360" cy="76200"/>
          </a:xfrm>
          <a:prstGeom prst="rect">
            <a:avLst/>
          </a:prstGeom>
          <a:solidFill>
            <a:srgbClr val="FF4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7556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4D6A"/>
                </a:solidFill>
                <a:latin typeface="Microsoft YaHei"/>
              </a:defRPr>
            </a:pPr>
            <a: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1488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非标准形态（多臂怪物等）效果不稳定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微小细节（手指、触角）精度不足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自回归可能产生不合理骨骼连接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371600"/>
            <a:ext cx="4572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0" y="1508760"/>
            <a:ext cx="63500" cy="2651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细节保真度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12680" y="1874520"/>
            <a:ext cx="2468879" cy="762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624560" y="17556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1488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关节弯曲处（肩/膝）体积塌陷/穿插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缺乏语义理解（手指应独立弯曲）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复杂区域绝对误差仍可观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754880"/>
            <a:ext cx="4572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892040"/>
            <a:ext cx="63500" cy="2651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646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计算效率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57800"/>
            <a:ext cx="2263140" cy="762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51389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55%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321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模型需 8-14GB+ 显存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体素化预处理是计算瓶颈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无法实时交互式绑骨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754880"/>
            <a:ext cx="4572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4892040"/>
            <a:ext cx="63500" cy="2651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48646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未解决问题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5257800"/>
            <a:ext cx="30861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51389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5321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二次运动（肌肉/衣物物理）预测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面部绑骨 (BlendShape) 与身体统一</a:t>
            </a:r>
          </a:p>
          <a:p>
            <a:pPr>
              <a:spcBef>
                <a:spcPts val="6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 Retargeting 闭环与交互式编辑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核心应用场景价值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精选 4 大高价值场景深入分析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6858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3500" cy="2651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游戏开发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NPC 批量绑骨: 100-1000 角色/分钟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玩家自定义角色: 实时生成+绑骨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独立开发者无需 TA 即可完成角色动画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实测: 某 AAA 工作室 NPC 绑骨从 2h→15s/个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价值: 绑骨环节效率提升 96-480x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81328"/>
            <a:ext cx="1645920" cy="2743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481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CFF"/>
                </a:solidFill>
                <a:latin typeface="Microsoft YaHei"/>
              </a:defRPr>
            </a:pPr>
            <a:r>
              <a:t>最大 TAM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71600"/>
            <a:ext cx="6858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1508760"/>
            <a:ext cx="63500" cy="26517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4813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虚拟人/数字人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47088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照片→3D→绑骨→直播 全自动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虚拟主播/企业代言人快速生成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制作成本从 $5K-$100K → $50-$500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虚拟人市场 CAGR 40%+ (IDC 2025)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价值: 虚拟人平民化，万亿级市场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435840" y="1481328"/>
            <a:ext cx="1645920" cy="2743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0" y="1481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Microsoft YaHei"/>
              </a:defRPr>
            </a:pPr>
            <a:r>
              <a:t>增长最快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663440"/>
            <a:ext cx="6858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800600"/>
            <a:ext cx="63500" cy="2651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77316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电商/营销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38928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虚拟试穿: 用户照片→3D人体→服装动画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虚拟主播带货: AI 生成+实时驱动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3D 商品动态展示: 人物模特自动绑骨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个性化营销内容批量生成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价值: 电商转化率提升 40%+ (实测数据)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4773168"/>
            <a:ext cx="1645920" cy="2743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4773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Microsoft YaHei"/>
              </a:defRPr>
            </a:pPr>
            <a:r>
              <a:t>变现最快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4663440"/>
            <a:ext cx="6858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4800600"/>
            <a:ext cx="63500" cy="2651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477316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AR/VR/XR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138928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实时角色驱动: 用户动作→虚拟角色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XR 社交: 虚拟形象实时互动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华为 XR 设备: 手势/眼动驱动虚拟形象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沉浸式体验内容快速创建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价值: XR 内容生产成本降低 80%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435840" y="4773168"/>
            <a:ext cx="1645920" cy="2743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435840" y="4773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CFF"/>
                </a:solidFill>
                <a:latin typeface="Microsoft YaHei"/>
              </a:defRPr>
            </a:pPr>
            <a:r>
              <a:t>鸿蒙核心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758952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其他场景: 影视动画 (周期缩短30-60%) · 元宇宙UGC · 医疗运动分析 · 教育培训 · 工业仿真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可视化场景价值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全链路可视化能力：从预览到质量保障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6858000" cy="26517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3500" cy="237744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实时 3D 预览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绑骨后即时预览动画效果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多姿态实时切换预览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变形质量实时反馈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360° 旋转+缩放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6858000" cy="26517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08760"/>
            <a:ext cx="63500" cy="23774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4813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AI+人工协同编辑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847088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蒙皮权重热力图可视化+人工微调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权重热力图可视化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AI辅助最佳权重建议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对比视图: AI vs 人工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480560"/>
            <a:ext cx="6858000" cy="26517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63500" cy="2377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59028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质量诊断分析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56048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自动检测体积损失/穿插/扭曲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体积损失/穿插检测高亮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自动化质量评分报告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骨骼合理性验证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480560"/>
            <a:ext cx="6858000" cy="26517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4617720"/>
            <a:ext cx="63500" cy="237744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59028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跨平台渲染验证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956048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Unity/Unreal/WebGL/鸿蒙一致性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多引擎渲染对比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差异高亮标注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性能指标对比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鸿蒙生态价值：技术架构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基于鸿蒙分布式能力的 Auto-Skinning 五层架构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412480" cy="73152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4475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鸿蒙原生游戏 | 社交/XR | 电商虚拟人 | 智慧屏互动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8412480" cy="73152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icrosoft YaHei"/>
              </a:defRPr>
            </a:pPr>
            <a:r>
              <a:t>3D框架层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5915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ArkUI 3D | Auto-Rigging API | Animation API | Scene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8412480" cy="73152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推理服务层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7355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端云调度引擎 | 模型版本管理 | Mesh压缩/LOD | 降级策略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8412480" cy="73152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87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AI引擎层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18795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MindSpore Lite (端侧) | 华为云 ModelArts (云端) | 量化/蒸馏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8412480" cy="731520"/>
          </a:xfrm>
          <a:prstGeom prst="roundRect">
            <a:avLst/>
          </a:prstGeom>
          <a:solidFill>
            <a:srgbClr val="172238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023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硬件层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10235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麒麟/骁龙 NPU | GPU | 分布式软总线 | 星闪/Wi-Fi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Auto-Rigging API 设计 (v3)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737360"/>
            <a:ext cx="5212080" cy="3840480"/>
          </a:xfrm>
          <a:prstGeom prst="roundRect">
            <a:avLst/>
          </a:prstGeom>
          <a:solidFill>
            <a:srgbClr val="0A142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// 异步 + 渐进式 + 可配置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const result = await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Component3D.autoRig(mesh, {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  maxBoneCount: 64,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  symmetry: true,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  quality: 'high',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  preferLocal: true,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  onProgress: (s,p) =&gt; {},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  });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// 渐进式结果回调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result.onPartial(skel =&gt; {});</a:t>
            </a:r>
          </a:p>
          <a:p>
            <a:pPr>
              <a:spcBef>
                <a:spcPts val="300"/>
              </a:spcBef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result.onComplete((skel,w) =&gt; {});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鸿蒙核心差异化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6263640"/>
            <a:ext cx="63500" cy="365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分布式架构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多设备协同绑骨，全场景无缝流转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6812279"/>
            <a:ext cx="63500" cy="365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68122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NPU 端侧推理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8122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本地处理，隐私保护+低延迟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7360919"/>
            <a:ext cx="63500" cy="365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73609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10亿+ 设备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73609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海量用户基础 (截至2026Q1)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鸿蒙生态价值：场景落地 × 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应用场景与技术里程碑规划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6583680" cy="10515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3500" cy="77724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鸿蒙原生游戏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开发者无需 TA 团队，API 即可自动绑骨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606040"/>
            <a:ext cx="6583680" cy="10515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63500" cy="7772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1576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鸿蒙社交/元宇宙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用户照片→3D→绑骨→社交，端侧推理保护隐私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840480"/>
            <a:ext cx="6583680" cy="10515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977640"/>
            <a:ext cx="63500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5020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鸿蒙 XR 设备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1596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华为 XR 设备中的 3D 角色快速创建，手势/眼动驱动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074920"/>
            <a:ext cx="6583680" cy="10515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212080"/>
            <a:ext cx="63500" cy="77724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8464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鸿蒙智慧屏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5040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家庭互动虚拟角色（健身教练、儿童教育），语音+动作驱动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6309360"/>
            <a:ext cx="6583680" cy="10515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6446520"/>
            <a:ext cx="63500" cy="7772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华为云协同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78484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复杂模型云端绑骨 + 端侧渲染，分布式架构充分发挥优势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3716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技术路线图（含量化指标）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828800"/>
            <a:ext cx="6858000" cy="13258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965960"/>
            <a:ext cx="63500" cy="10515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19385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0-3 月 · PoC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304288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MindSpore Lite 适配 UniRig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人形角色端侧推理 Demo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KPI: 人形绑骨准确率 &gt;85%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3337560"/>
            <a:ext cx="6858000" cy="13258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3474720"/>
            <a:ext cx="63500" cy="10515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344728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3-6 月 · MVP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813048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ArkUI 3D 基础 API 集成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端侧推理 &lt;5s (Mate 70, ~10K顶点)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KPI: 10个内部Demo应用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4846320"/>
            <a:ext cx="6858000" cy="13258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4983480"/>
            <a:ext cx="63500" cy="10515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495604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6-12 月 · 端云协同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321808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端云调度引擎 + 云端大模型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多物种通用绑骨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KPI: 推理&lt;2s(端)/&lt;500ms(云)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6355079"/>
            <a:ext cx="6858000" cy="13258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0" y="6492239"/>
            <a:ext cx="63500" cy="105156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6464807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12-24 月 · 生态开放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6830567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公开 API + SDK + DevEco 插件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开发者社区 + 种子用户计划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KPI: 1000+ 开发者注册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风险评估与 Mitigation 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商业化落地的关键风险识别与应对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4572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3500" cy="2651760"/>
          </a:xfrm>
          <a:prstGeom prst="rect">
            <a:avLst/>
          </a:prstGeom>
          <a:solidFill>
            <a:srgbClr val="FF4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竞争风险 — 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UniRig/SkinTokens 已开源，Adobe/Unity 已有成熟产品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Mitigation: 鸿蒙端侧差异化，开源社区共建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指标: 6个月内推出端侧POC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4572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508760"/>
            <a:ext cx="63500" cy="265176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技术成熟度风险 — 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47088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非人形泛化性不足，端侧推理效率待验证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Mitigation: 先聚焦人形场景，渐进扩展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指标: 人形绑骨准确率 &gt;90% 再扩展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371600"/>
            <a:ext cx="4572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1508760"/>
            <a:ext cx="63500" cy="26517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鸿蒙生态不确定性 — 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847088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ArkUI 3D 能力仍在演进，开发者生态待成熟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Mitigation: 深度参与鸿蒙3D框架共建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指标: 紧跟HarmonyOS NEXT API节奏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754880"/>
            <a:ext cx="4572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892040"/>
            <a:ext cx="63500" cy="2651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646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人才获取风险 — 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30368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Auto-Skinning 需要稀缺的跨学科人才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Mitigation: 与清华/VAST AI 合作，社区培养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指标: 核心团队 5人+ 组建完成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4754880"/>
            <a:ext cx="4572000" cy="29260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4892040"/>
            <a:ext cx="63500" cy="265176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8646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商业化节奏风险 — 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5230368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市场教育成本高，用户付费意愿待验证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Mitigation: 先免费API获客，后SaaS变现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指标: 12个月内1000+开发者注册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市场竞争格局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差异化定位与鸿蒙生态竞争优势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竞争者对比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46304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玩家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737360"/>
            <a:ext cx="201168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7647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技术方案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737360"/>
            <a:ext cx="91440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17647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覆盖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91440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7647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开放性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37360"/>
            <a:ext cx="914400" cy="4114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7647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定价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48840"/>
            <a:ext cx="146304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Tripo / VAST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148840"/>
            <a:ext cx="201168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2176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UniRig + SkinTokens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148840"/>
            <a:ext cx="91440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2176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48840"/>
            <a:ext cx="91440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176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开源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148840"/>
            <a:ext cx="91440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2176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免费API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514600"/>
            <a:ext cx="146304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542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Adobe / Mixamo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2514600"/>
            <a:ext cx="201168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2542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Puppeteer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2514600"/>
            <a:ext cx="91440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40" y="25420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人形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514600"/>
            <a:ext cx="91440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25420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商业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2514600"/>
            <a:ext cx="91440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25420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免费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80360"/>
            <a:ext cx="146304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907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Unity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2880360"/>
            <a:ext cx="201168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2907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AccuRIG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2880360"/>
            <a:ext cx="91440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77640" y="29077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人形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2880360"/>
            <a:ext cx="91440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29077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内置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2880360"/>
            <a:ext cx="91440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06440" y="29077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付费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246120"/>
            <a:ext cx="146304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273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Epic / Unreal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3246120"/>
            <a:ext cx="201168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65960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MetaHuman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3246120"/>
            <a:ext cx="91440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77640" y="3273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人形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3246120"/>
            <a:ext cx="91440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92040" y="3273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商业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3246120"/>
            <a:ext cx="91440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06440" y="3273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付费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611880"/>
            <a:ext cx="146304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3639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Meshy / Rodin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0240" y="3611880"/>
            <a:ext cx="201168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65960" y="36393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3D AIGC + Rig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31920" y="3611880"/>
            <a:ext cx="91440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77640" y="36393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46320" y="3611880"/>
            <a:ext cx="91440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92040" y="36393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商业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3611880"/>
            <a:ext cx="914400" cy="365760"/>
          </a:xfrm>
          <a:prstGeom prst="rect">
            <a:avLst/>
          </a:prstGeom>
          <a:solidFill>
            <a:srgbClr val="172238"/>
          </a:solidFill>
          <a:ln w="635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06440" y="36393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按量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1371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Microsoft YaHei"/>
              </a:defRPr>
            </a:pPr>
            <a:r>
              <a:t>鸿蒙 6 大差异化优势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72400" y="1828800"/>
            <a:ext cx="3017520" cy="17373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0" y="1965960"/>
            <a:ext cx="63500" cy="14630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01000" y="19385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分布式架构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2304288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多设备协同绑骨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全场景无缝流转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064240" y="1828800"/>
            <a:ext cx="3017520" cy="17373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64240" y="1965960"/>
            <a:ext cx="63500" cy="14630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292840" y="19385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NPU 端侧推理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92840" y="2304288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本地推理 3-8秒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隐私保护+低延迟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72400" y="3840480"/>
            <a:ext cx="3017520" cy="17373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72400" y="3977640"/>
            <a:ext cx="63500" cy="14630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01000" y="39502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ArkUI 3D 原生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01000" y="4315968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系统级 3D 引擎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零门槛 API 集成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064240" y="3840480"/>
            <a:ext cx="3017520" cy="17373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064240" y="3977640"/>
            <a:ext cx="63500" cy="14630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92840" y="39502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华为云协同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92840" y="4315968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云端训练+端侧推理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算力弹性调度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72400" y="5852160"/>
            <a:ext cx="3017520" cy="17373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72400" y="5989320"/>
            <a:ext cx="63500" cy="14630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01000" y="59618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10亿+ 设备规模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01000" y="6327648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截至2026Q1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海量用户基础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1064240" y="5852160"/>
            <a:ext cx="3017520" cy="17373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64240" y="5989320"/>
            <a:ext cx="63500" cy="14630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292840" y="59618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全栈自主可控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292840" y="6327648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芯片→框架→引擎→应用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完整技术栈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商业模式画布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鸿蒙 Auto-Skinning 的商业闭环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4572000" cy="27432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3500" cy="24688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价值主张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零门槛 3D 角色自动绑骨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端侧隐私保护的实时推理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跨设备无缝协同体验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4572000" cy="27432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508760"/>
            <a:ext cx="63500" cy="246888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客户细分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47088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鸿蒙原生游戏开发者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虚拟人/数字人公司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电商/营销平台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XR 内容创作者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371600"/>
            <a:ext cx="4572000" cy="27432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1508760"/>
            <a:ext cx="63500" cy="2468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收入模型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847088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API 调用计费: $0.01-0.1/次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SaaS 订阅: $29-299/月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企业私有化部署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鸿蒙应用商店分成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572000"/>
            <a:ext cx="4572000" cy="27432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709160"/>
            <a:ext cx="63500" cy="24688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6817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关键资源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47488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Auto-Rigging 模型 + 算法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鸿蒙 NPU 推理优化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训练数据 (Rig-XL 14K+)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4572000"/>
            <a:ext cx="4572000" cy="27432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4709160"/>
            <a:ext cx="63500" cy="246888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6817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合作伙伴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5047488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VAST AI / 清华大学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华为云 (ModelArts)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鸿蒙生态开发者社区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4572000"/>
            <a:ext cx="4572000" cy="27432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4709160"/>
            <a:ext cx="63500" cy="2468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46817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成本结构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5047488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模型训练: GPU 集群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端侧模型优化: 工程人力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API 基础设施: 云资源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Auto-Skinning 的未来 1-3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核心洞察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1. 2025-2026年是 Auto-Skinning 从学术走向工业的关键拐点</a:t>
            </a:r>
          </a:p>
          <a:p>
            <a:pPr>
              <a:spcBef>
                <a:spcPts val="10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2. 自回归 Transformer + 统一建模成为新范式</a:t>
            </a:r>
          </a:p>
          <a:p>
            <a:pPr>
              <a:spcBef>
                <a:spcPts val="10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3. 3D AIGC 爆发使自动绑骨成为刚需桥梁</a:t>
            </a:r>
          </a:p>
          <a:p>
            <a:pPr>
              <a:spcBef>
                <a:spcPts val="10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4. 开源生态活跃 (UniRig 1.6k★+)，技术普惠化加速</a:t>
            </a:r>
          </a:p>
          <a:p>
            <a:pPr>
              <a:spcBef>
                <a:spcPts val="10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5. 鸿蒙生态独特优势：分布式+NPU+3D引擎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Microsoft YaHei"/>
              </a:defRPr>
            </a:pPr>
            <a:r>
              <a:t>未来 1-3 年预期突破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828800"/>
            <a:ext cx="63500" cy="50292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数据规模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828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100K+ 级别 rig 数据集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606040"/>
            <a:ext cx="63500" cy="5029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606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icrosoft YaHei"/>
              </a:defRPr>
            </a:pPr>
            <a:r>
              <a:t>推理速度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606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端侧实时推理（模型蒸馏/量化）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383280"/>
            <a:ext cx="63500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统一绑骨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383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面部 + 身体 + 衣物一体化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160520"/>
            <a:ext cx="63500" cy="50292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160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端到端闭环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4160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Video-to-Motion 全流程打通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937760"/>
            <a:ext cx="63500" cy="50292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Microsoft YaHei"/>
              </a:defRPr>
            </a:pPr>
            <a:r>
              <a:t>DCC集成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4937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Maya/Blender/DevEco 原生插件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5715000"/>
            <a:ext cx="63500" cy="5029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5715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icrosoft YaHei"/>
              </a:defRPr>
            </a:pPr>
            <a:r>
              <a:t>多模态输入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5715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文本/图片/视频 → 3D角色+动画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03520"/>
            <a:ext cx="14081760" cy="2560320"/>
          </a:xfrm>
          <a:prstGeom prst="rect">
            <a:avLst/>
          </a:prstGeom>
          <a:solidFill>
            <a:srgbClr val="0A1832"/>
          </a:solidFill>
          <a:ln w="25400">
            <a:solidFill>
              <a:srgbClr val="0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建议行动（含 Owner / 投入 / KPI）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① Q3'26 前完成 POC → 负责人: 3D技术团队Lead → 投入: 3人×3月 → KPI: 人形绑骨准确率&gt;90%, 推理&lt;5s(Mate 70)</a:t>
            </a:r>
          </a:p>
          <a:p>
            <a:pPr>
              <a:spcBef>
                <a:spcPts val="800"/>
              </a:spcBef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② 联合清华/VAST AI → 负责人: 战略合作PM → 投入: 1人×2月(对接) → KPI: 签署技术合作协议, 获得UniRig鸿蒙分支授权</a:t>
            </a:r>
          </a:p>
          <a:p>
            <a:pPr>
              <a:spcBef>
                <a:spcPts val="800"/>
              </a:spcBef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③ ArkUI 3D Auto-Rigging API → 负责人: ArkUI 3D架构师 → 投入: 5人×6月 → KPI: API v0.1发布, 10个内部Demo应用</a:t>
            </a:r>
          </a:p>
          <a:p>
            <a:pPr>
              <a:spcBef>
                <a:spcPts val="800"/>
              </a:spcBef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④ NPU 推理优化专项 → 负责人: AI推理引擎团队 → 投入: 3人×4月 → KPI: Qwen3-0.6B量化至INT8, 推理&lt;3s(Mate 70)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附录 A：更多应用场景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影视动画 · 元宇宙 · 医疗 · 教育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6858000" cy="26517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3500" cy="237744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影视动画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角色绑定效率从 8-40h → 10s-5min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群集动画: 批量生成群演角色 rig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VFX 预览: 快速预览角色动画效果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价值: 制作周期缩短 30-60%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6858000" cy="26517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08760"/>
            <a:ext cx="63500" cy="23774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4813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元宇宙/UGC平台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847088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UGC 内容中的角色自动创建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社交平台虚拟形象实时生成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跨平台虚拟形象互通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价值: UGC 内容爆发式增长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389120"/>
            <a:ext cx="6858000" cy="26517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526280"/>
            <a:ext cx="63500" cy="2377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9884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医疗/运动科学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64608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人体运动分析: 标准骨骼→动作对比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康复训练: 患者动作→3D分析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手术规划: 患者特异性骨骼模型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价值: 精准医疗数字化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389120"/>
            <a:ext cx="6858000" cy="26517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4526280"/>
            <a:ext cx="63500" cy="237744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49884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教育/培训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864608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虚拟教师: AI 生成教学角色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模拟训练: 军事/消防/医疗场景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互动式学习: 学生驱动虚拟角色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价值: 沉浸式教育民主化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附录 B：技术细节补充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Loss 函数 · 推理效率对比 · 训练数据详情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4572000" cy="32004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3500" cy="292608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Loss 函数设计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4206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CE Loss: 骨架 token 分类 (自回归)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L1/L2 Loss: 蒙皮权重直接回归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Geodesic Distance Loss: 测地距离一致性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LBS Deformation Loss: 端到端变形质量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GRPO RL Reward (SkinTokens):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   - Volumetric Coverage (体积覆盖)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   - Bone-Mesh Containment (骨骼内含)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   - Deformation Smoothness (变形平滑)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4572000" cy="32004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508760"/>
            <a:ext cx="63500" cy="292608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推理效率对比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47088"/>
            <a:ext cx="4206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RigAnything: ~数秒/模型 (GPU)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UniRig: ~10秒/模型 (4090 GPU)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SkinTokens: ~秒级 (Qwen3-0.6B)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Blender 内置: 实时 (传统方法)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鸿蒙端侧预估: 3-8秒 (Mate 70 NPU)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注: 鸿蒙端侧数据为模型量化后预估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实际需 POC 验证 (取决于模型+芯片)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371600"/>
            <a:ext cx="4572000" cy="32004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83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1508760"/>
            <a:ext cx="63500" cy="2926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训练数据集详情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847088"/>
            <a:ext cx="4206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RigNet: ~2,700 模型 (手动标注)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Rig-XL: 14,000+ 模型 (Objaverse筛选)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VRoid Hub: 数千 (标准化骨骼角色)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Objaverse-XL: 800K+ (需筛选有rig的)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Articulation-XL 2.0: SkinTokens专用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数据稀缺是最大瓶颈: 14K vs 图像领域</a:t>
            </a:r>
          </a:p>
          <a:p>
            <a:pPr>
              <a:spcBef>
                <a:spcPts val="5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数百万级 → 需合成数据+RL精调弥补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CFF"/>
                </a:solidFill>
                <a:latin typeface="Microsoft YaHei"/>
              </a:defRPr>
            </a:pPr>
            <a:r>
              <a:t>重要技术说明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212080"/>
            <a:ext cx="1408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▸ UniRig 的具体 backbone 参数需从论文正文确认 (项目页面称 'Skeleton Tree GPT')</a:t>
            </a:r>
          </a:p>
          <a:p>
            <a:pPr>
              <a:spcBef>
                <a:spcPts val="500"/>
              </a:spcBef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▸ SkinTokens 的 Qwen3-0.6B backbone 需从论文正文确认</a:t>
            </a:r>
          </a:p>
          <a:p>
            <a:pPr>
              <a:spcBef>
                <a:spcPts val="500"/>
              </a:spcBef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▸ NeuroSkinning (2018) 使用体素化卷积网络，非严格 GCN；但作为首批深度学习蒙皮方案具有里程碑意义</a:t>
            </a:r>
          </a:p>
          <a:p>
            <a:pPr>
              <a:spcBef>
                <a:spcPts val="500"/>
              </a:spcBef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▸ Objaverse 800K+ 中大部分为非铰接物体（家具/工具等），实际可用于 rig 训练的子集远小于总量</a:t>
            </a:r>
          </a:p>
          <a:p>
            <a:pPr>
              <a:spcBef>
                <a:spcPts val="500"/>
              </a:spcBef>
              <a:defRPr sz="1000" b="0">
                <a:solidFill>
                  <a:srgbClr val="C8D0E0"/>
                </a:solidFill>
                <a:latin typeface="Microsoft YaHei"/>
              </a:defRPr>
            </a:pPr>
            <a:r>
              <a:t>▸ 端侧 NPU 对 Transformer 自定义算子（如 cross-attention）支持尚不完善，需 MindSpore Lite 算子适配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828800" cy="508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参考资料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8CA8"/>
                </a:solidFill>
                <a:latin typeface="Microsoft YaHei"/>
              </a:defRPr>
            </a:pPr>
            <a:r>
              <a:t>核心论文、开源项目与数据集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67512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核心论文: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[1] Pinocchio (Baran &amp; Popović, SIGGRAPH 2007)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[2] Heat Skinner (Jacobson et al., SIGGRAPH 2011)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[3] NeuroSkinning (Wang et al., EG/CGF 2018)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[4] RigNet (Xu et al., SIGGRAPH 2020)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[5] SkinningNet (Daviet et al., CGF 2021)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[6] Puppeteer (Adobe, SIGGRAPH Asia 2023)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[7] UniRig (Zhang et al., SIGGRAPH 2025)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    arXiv:2504.12451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[8] RigAnything (Liu et al., ACM TOG 2025)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    arXiv:2502.09615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[9] SkinTokens/TokenRig (Zhang et al., 2026)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    arXiv:2602.04805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开源项目 (GitHub Star 统计截至 2026年4月):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VAST-AI-Research/UniRig (1.6k+ ★)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Isabella98Liu/RigAnything (141 ★)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VAST-AI-Research/SkinTokens (130 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371600"/>
            <a:ext cx="667512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核心数据集: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RigNet Dataset (~2,700 rigged models)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Rig-XL (14,000+ rigged models)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VRoid Hub (数千标准骨骼角色)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Objaverse-XL (800K+ 3D models)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Articulation-XL 2.0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Deforming Things 4D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商业平台: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tripo3d.ai (Tripo / VAST AI)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mixamo.com (Adobe)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meshy.ai (Meshy)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readyplayer.me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rodin.gen-4.ai (Rodin)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市场数据来源: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IDC Worldwide 3D Content Creation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  Market Forecast 2025</a:t>
            </a:r>
          </a:p>
          <a:p>
            <a:pPr>
              <a:spcBef>
                <a:spcPts val="300"/>
              </a:spcBef>
              <a:defRPr sz="1300" b="0">
                <a:solidFill>
                  <a:srgbClr val="C8D0E0"/>
                </a:solidFill>
                <a:latin typeface="Microsoft YaHei"/>
              </a:defRPr>
            </a:pPr>
            <a:r>
              <a:t>▸ Gartner Emerging Tech Trends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7589520"/>
            <a:ext cx="7315200" cy="38100"/>
          </a:xfrm>
          <a:prstGeom prst="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7680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xhyha insight team  |  v3.0  |  2026.05  |  Neural Auto-Skinning Technology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E8CA8"/>
                </a:solidFill>
                <a:latin typeface="Microsoft YaHe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