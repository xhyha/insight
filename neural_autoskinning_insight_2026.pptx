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914400" y="-914400"/>
            <a:ext cx="6400800" cy="6400800"/>
          </a:xfrm>
          <a:prstGeom prst="ellipse">
            <a:avLst/>
          </a:prstGeom>
          <a:solidFill>
            <a:srgbClr val="0A1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4572000"/>
            <a:ext cx="6400800" cy="6400800"/>
          </a:xfrm>
          <a:prstGeom prst="ellipse">
            <a:avLst/>
          </a:prstGeom>
          <a:solidFill>
            <a:srgbClr val="0A1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0" y="2286000"/>
            <a:ext cx="12801600" cy="508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560320"/>
            <a:ext cx="11887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t>基于神经网络的 Auto-Skinning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566160"/>
            <a:ext cx="1188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00D4AA"/>
                </a:solidFill>
                <a:latin typeface="Microsoft YaHei"/>
              </a:defRPr>
            </a:pPr>
            <a:r>
              <a:t>业界现状 · 技术架构 · 演进方向 · 应用价值 · 鸿蒙生态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4389120"/>
            <a:ext cx="2743200" cy="254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7548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E8CA8"/>
                </a:solidFill>
                <a:latin typeface="Microsoft YaHei"/>
              </a:defRPr>
            </a:pPr>
            <a:r>
              <a:t>Technology Insight Report  |  v3.0  |  2026.05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E8CA8"/>
                </a:solidFill>
                <a:latin typeface="Microsoft YaHei"/>
              </a:defRPr>
            </a:pPr>
            <a:r>
              <a:t>xhyha insight team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217920"/>
            <a:ext cx="4114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3A4A6A"/>
                </a:solidFill>
                <a:latin typeface="Microsoft YaHei"/>
              </a:defRPr>
            </a:pPr>
            <a:r>
              <a:t>Neural Auto-Rigging  |  Skeleton Prediction</a:t>
            </a:r>
            <a:br/>
            <a:r>
              <a:t>Skinning Weights  |  3D AIGC Pipeline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33120" y="77724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E8CA8"/>
                </a:solidFill>
                <a:latin typeface="Microsoft YaHei"/>
              </a:defRPr>
            </a:pPr>
            <a:r>
              <a:t>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20040"/>
            <a:ext cx="1828800" cy="508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280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280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E8CA8"/>
                </a:solidFill>
                <a:latin typeface="Microsoft YaHei"/>
              </a:defRPr>
            </a:pPr>
            <a:r>
              <a:t>核心洞察摘要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3291840" cy="1554480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3291840" cy="508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6916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8CFF"/>
                </a:solidFill>
                <a:latin typeface="Microsoft YaHei"/>
              </a:defRPr>
            </a:pPr>
            <a:r>
              <a:t>96-480x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效率提升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3774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D0E0"/>
                </a:solidFill>
                <a:latin typeface="Microsoft YaHei"/>
              </a:defRPr>
            </a:pPr>
            <a:r>
              <a:t>传统8-40小时/角色 → AI自动5分钟内</a:t>
            </a:r>
            <a:br/>
            <a:r>
              <a:t>(取典型值: 8h→5min=96x, 40h→5min=480x)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77639" y="1554480"/>
            <a:ext cx="3291840" cy="1554480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977639" y="1554480"/>
            <a:ext cx="3291840" cy="508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97095" y="16916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4AA"/>
                </a:solidFill>
                <a:latin typeface="Microsoft YaHei"/>
              </a:defRPr>
            </a:pPr>
            <a:r>
              <a:t>98-133%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97095" y="2103120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精度提升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7095" y="23774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D0E0"/>
                </a:solidFill>
                <a:latin typeface="Microsoft YaHei"/>
              </a:defRPr>
            </a:pPr>
            <a:r>
              <a:t>SkinTokens 对比前代方案</a:t>
            </a:r>
            <a:br/>
            <a:r>
              <a:t>蒙皮权重精度大幅提升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98079" y="1554480"/>
            <a:ext cx="3291840" cy="1554480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498079" y="1554480"/>
            <a:ext cx="3291840" cy="508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17535" y="16916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8B5CF6"/>
                </a:solidFill>
                <a:latin typeface="Microsoft YaHei"/>
              </a:defRPr>
            </a:pPr>
            <a:r>
              <a:t>$8-12B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17535" y="2103120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市场空间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17535" y="23774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D0E0"/>
                </a:solidFill>
                <a:latin typeface="Microsoft YaHei"/>
              </a:defRPr>
            </a:pPr>
            <a:r>
              <a:t>3D角色绑骨 TAM (2025)</a:t>
            </a:r>
            <a:br/>
            <a:r>
              <a:t>占 $50B+ 3D内容创作市场的 ~3-8%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018520" y="1554480"/>
            <a:ext cx="3291840" cy="1554480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018520" y="1554480"/>
            <a:ext cx="3291840" cy="5080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237976" y="16916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E676"/>
                </a:solidFill>
                <a:latin typeface="Microsoft YaHei"/>
              </a:defRPr>
            </a:pPr>
            <a:r>
              <a:t>$50-500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37976" y="2103120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成本降低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37976" y="23774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D0E0"/>
                </a:solidFill>
                <a:latin typeface="Microsoft YaHei"/>
              </a:defRPr>
            </a:pPr>
            <a:r>
              <a:t>虚拟人制作从 $5K-$100K</a:t>
            </a:r>
            <a:br/>
            <a:r>
              <a:t>降至 $50-$500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3474720"/>
            <a:ext cx="13716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Auto-Skinning 正从学术研究走向工业级成熟，2025-2026年是关键拐点</a:t>
            </a:r>
          </a:p>
          <a:p>
            <a:pPr>
              <a:spcBef>
                <a:spcPts val="8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自回归 Transformer 统一骨架+蒙皮为序列生成任务，成为新范式</a:t>
            </a:r>
          </a:p>
          <a:p>
            <a:pPr>
              <a:spcBef>
                <a:spcPts val="8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3D AIGC 爆发使自动绑骨成为 Text-to-3D → Animation 的关键桥梁</a:t>
            </a:r>
          </a:p>
          <a:p>
            <a:pPr>
              <a:spcBef>
                <a:spcPts val="8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鸿蒙生态独特优势：分布式+NPU端侧推理+ArkUI 3D，有望在端侧领域领先</a:t>
            </a:r>
          </a:p>
          <a:p>
            <a:pPr>
              <a:spcBef>
                <a:spcPts val="8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核心挑战：训练数据稀缺(仅14K+标注模型)、非标准拓扑泛化、端侧部署效率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7498079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E8CA8"/>
                </a:solidFill>
                <a:latin typeface="Microsoft YaHei"/>
              </a:defRPr>
            </a:pPr>
            <a:r>
              <a:t>数据来源: SIGGRAPH 2025 论文 / VAST-AI-Research GitHub / MRFR &amp; Grand View Research 2025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533120" y="77724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E8CA8"/>
                </a:solidFill>
                <a:latin typeface="Microsoft YaHei"/>
              </a:defRPr>
            </a:pPr>
            <a: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20040"/>
            <a:ext cx="1828800" cy="508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280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市场机会与用户痛点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280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E8CA8"/>
                </a:solidFill>
                <a:latin typeface="Microsoft YaHei"/>
              </a:defRPr>
            </a:pPr>
            <a:r>
              <a:t>为什么 Auto-Skinning 是战略机遇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8CFF"/>
                </a:solidFill>
                <a:latin typeface="Microsoft YaHei"/>
              </a:defRPr>
            </a:pPr>
            <a:r>
              <a:t>市场规模漏斗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011680"/>
            <a:ext cx="6858000" cy="822960"/>
          </a:xfrm>
          <a:prstGeom prst="roundRect">
            <a:avLst/>
          </a:prstGeom>
          <a:solidFill>
            <a:srgbClr val="172238"/>
          </a:solidFill>
          <a:ln w="25400">
            <a:solidFill>
              <a:srgbClr val="00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6492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008CFF"/>
                </a:solidFill>
                <a:latin typeface="Microsoft YaHei"/>
              </a:defRPr>
            </a:pPr>
            <a:r>
              <a:t>TAM: $50B+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23160"/>
            <a:ext cx="6492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全球3D数字资产市场 (MRFR/Grand View Research 2025)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108960"/>
            <a:ext cx="5486400" cy="822960"/>
          </a:xfrm>
          <a:prstGeom prst="roundRect">
            <a:avLst/>
          </a:prstGeom>
          <a:solidFill>
            <a:srgbClr val="172238"/>
          </a:solidFill>
          <a:ln w="254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5880" y="320040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00D4AA"/>
                </a:solidFill>
                <a:latin typeface="Microsoft YaHei"/>
              </a:defRPr>
            </a:pPr>
            <a:r>
              <a:t>SAM: $8-12B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352044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3D角色创建与动画工具市场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28800" y="4206240"/>
            <a:ext cx="4114800" cy="822960"/>
          </a:xfrm>
          <a:prstGeom prst="roundRect">
            <a:avLst/>
          </a:prstGeom>
          <a:solidFill>
            <a:srgbClr val="172238"/>
          </a:solidFill>
          <a:ln w="254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4297680"/>
            <a:ext cx="3749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8B5CF6"/>
                </a:solidFill>
                <a:latin typeface="Microsoft YaHei"/>
              </a:defRPr>
            </a:pPr>
            <a:r>
              <a:t>SOM: $0.5-1B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4617720"/>
            <a:ext cx="3749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Auto-Rigging/Auto-Skinning 细分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155448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8CFF"/>
                </a:solidFill>
                <a:latin typeface="Microsoft YaHei"/>
              </a:defRPr>
            </a:pPr>
            <a:r>
              <a:t>目标用户画像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0" y="2011680"/>
            <a:ext cx="6400800" cy="914400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0" y="2148840"/>
            <a:ext cx="63500" cy="64008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121408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独立游戏开发者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0" y="2487168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痛点: 无TA资源，角色无法动画 → 付费意愿: $10-50/月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0" y="3108960"/>
            <a:ext cx="6400800" cy="914400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3246120"/>
            <a:ext cx="63500" cy="64008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01000" y="3218688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AAA工作室TA团队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1000" y="3584448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痛点: 批量NPC绑骨耗时巨大 → 付费意愿: $500-2000/席位/年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0" y="4206240"/>
            <a:ext cx="6400800" cy="914400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772400" y="4343400"/>
            <a:ext cx="63500" cy="64008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01000" y="4315968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虚拟人/数字人公司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01000" y="4681728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痛点: 定制周期长成本高 → 付费意愿: $100-500/角色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0" y="5303520"/>
            <a:ext cx="6400800" cy="914400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72400" y="5440680"/>
            <a:ext cx="63500" cy="64008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1000" y="5413248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3D内容平台(UGC)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1000" y="5779008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痛点: 用户创作门槛高 → 付费意愿: API调用 $0.01-0.1/次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533120" y="77724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E8CA8"/>
                </a:solidFill>
                <a:latin typeface="Microsoft YaHei"/>
              </a:defRPr>
            </a:pPr>
            <a: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20040"/>
            <a:ext cx="1828800" cy="508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280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什么是 Auto-Skinning？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280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E8CA8"/>
                </a:solidFill>
                <a:latin typeface="Microsoft YaHei"/>
              </a:defRPr>
            </a:pPr>
            <a:r>
              <a:t>从传统手工绑骨到神经网络自动化的范式转变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554480"/>
            <a:ext cx="5669280" cy="3657600"/>
          </a:xfrm>
          <a:prstGeom prst="roundRect">
            <a:avLst/>
          </a:prstGeom>
          <a:solidFill>
            <a:srgbClr val="172238"/>
          </a:solidFill>
          <a:ln w="25400">
            <a:solidFill>
              <a:srgbClr val="FF4D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4D6A"/>
                </a:solidFill>
                <a:latin typeface="Microsoft YaHei"/>
              </a:defRPr>
            </a:pPr>
            <a:r>
              <a:t>❌  传统蒙皮流程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1. 建模师创建 3D Mesh (数小时-数天)</a:t>
            </a:r>
          </a:p>
          <a:p>
            <a:pPr>
              <a:spcBef>
                <a:spcPts val="6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2. TA 手动放置骨骼关节 (2-8小时)</a:t>
            </a:r>
          </a:p>
          <a:p>
            <a:pPr>
              <a:spcBef>
                <a:spcPts val="6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3. 逐顶点手动刷蒙皮权重 (4-16小时)</a:t>
            </a:r>
          </a:p>
          <a:p>
            <a:pPr>
              <a:spcBef>
                <a:spcPts val="6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4. 反复测试动画效果并调整</a:t>
            </a:r>
          </a:p>
          <a:p>
            <a:pPr>
              <a:spcBef>
                <a:spcPts val="6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5. 单角色绑骨总耗时: 8-40 小时</a:t>
            </a:r>
          </a:p>
          <a:p>
            <a:pPr>
              <a:spcBef>
                <a:spcPts val="6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   ↑ 高技能门槛 · 结果不一致 · 不可规模化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554480"/>
            <a:ext cx="7863840" cy="3657600"/>
          </a:xfrm>
          <a:prstGeom prst="roundRect">
            <a:avLst/>
          </a:prstGeom>
          <a:solidFill>
            <a:srgbClr val="172238"/>
          </a:solidFill>
          <a:ln w="25400">
            <a:solidFill>
              <a:srgbClr val="00E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691640"/>
            <a:ext cx="74980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E676"/>
                </a:solidFill>
                <a:latin typeface="Microsoft YaHei"/>
              </a:defRPr>
            </a:pPr>
            <a:r>
              <a:t>✅  神经网络自动蒙皮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194560"/>
            <a:ext cx="7132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1. 输入 3D Mesh (.glb/.obj/.fbx)</a:t>
            </a:r>
          </a:p>
          <a:p>
            <a:pPr>
              <a:spcBef>
                <a:spcPts val="6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2. 几何编码器提取特征 (PointNet++ / Transformer)</a:t>
            </a:r>
          </a:p>
          <a:p>
            <a:pPr>
              <a:spcBef>
                <a:spcPts val="6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3. 自回归 Transformer 生成骨骼层次结构</a:t>
            </a:r>
          </a:p>
          <a:p>
            <a:pPr>
              <a:spcBef>
                <a:spcPts val="6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4. Cross Attention 预测蒙皮权重</a:t>
            </a:r>
          </a:p>
          <a:p>
            <a:pPr>
              <a:spcBef>
                <a:spcPts val="6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5. 输出带 Rig 的 3D 模型 → 可直接使用动画</a:t>
            </a:r>
          </a:p>
          <a:p>
            <a:pPr>
              <a:spcBef>
                <a:spcPts val="6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   ↑ 总耗时: 10秒-5分钟/角色 · 零门槛 · 可规模化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5486400"/>
            <a:ext cx="4480560" cy="2286000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5623560"/>
            <a:ext cx="63500" cy="201168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559612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Skeleton Prediction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5961888"/>
            <a:ext cx="4114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骨骼层次结构生成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自回归 Transformer (GPT-like)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BFS 序列化 / Tree Tokenization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20640" y="5486400"/>
            <a:ext cx="4480560" cy="2286000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640" y="5623560"/>
            <a:ext cx="63500" cy="201168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49240" y="559612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Skinning Weights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5961888"/>
            <a:ext cx="4114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蒙皮权重预测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Bone-Point Cross Attention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FSQ-CVAE 离散化编码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875520" y="5486400"/>
            <a:ext cx="4480560" cy="2286000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875520" y="5623560"/>
            <a:ext cx="63500" cy="201168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04120" y="559612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LBS Deformation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04120" y="5961888"/>
            <a:ext cx="4114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线性混合蒙皮变形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v' = Σ wi · Ti(v), Σwi=1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端到端变形质量验证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533120" y="77724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E8CA8"/>
                </a:solidFill>
                <a:latin typeface="Microsoft YaHei"/>
              </a:defRPr>
            </a:pPr>
            <a: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20040"/>
            <a:ext cx="1828800" cy="508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280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业界代表性成果时间线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280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E8CA8"/>
                </a:solidFill>
                <a:latin typeface="Microsoft YaHei"/>
              </a:defRPr>
            </a:pPr>
            <a:r>
              <a:t>从经典方法到大模型统一框架的演进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371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7E8CA8"/>
                </a:solidFill>
                <a:latin typeface="Microsoft YaHei"/>
              </a:defRPr>
            </a:pPr>
            <a:r>
              <a:t>经典方法 (Pre-Deep Learning)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737360"/>
            <a:ext cx="3383280" cy="731520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7E8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830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7E8CA8"/>
                </a:solidFill>
                <a:latin typeface="Microsoft YaHei"/>
              </a:defRPr>
            </a:pPr>
            <a:r>
              <a:t>2007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783080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Pinocchio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574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E8CA8"/>
                </a:solidFill>
                <a:latin typeface="Microsoft YaHei"/>
              </a:defRPr>
            </a:pPr>
            <a:r>
              <a:t>SIGGRAPH · 骨架模板嵌入+蒙皮，自动rigging先驱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0" y="1737360"/>
            <a:ext cx="3383280" cy="731520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7E8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1960" y="17830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7E8CA8"/>
                </a:solidFill>
                <a:latin typeface="Microsoft YaHei"/>
              </a:defRPr>
            </a:pPr>
            <a:r>
              <a:t>2011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1783080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Bounded Biharmonic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60" y="20574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E8CA8"/>
                </a:solidFill>
                <a:latin typeface="Microsoft YaHei"/>
              </a:defRPr>
            </a:pPr>
            <a:r>
              <a:t>SIGGRAPH · 双调和权重 (BBW)</a:t>
            </a:r>
            <a:br/>
            <a:r>
              <a:t>蒙皮权重工业基线方法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743200"/>
            <a:ext cx="1371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8CFF"/>
                </a:solidFill>
                <a:latin typeface="Microsoft YaHei"/>
              </a:defRPr>
            </a:pPr>
            <a:r>
              <a:t>深度学习与大模型时代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840480"/>
            <a:ext cx="13716000" cy="38100"/>
          </a:xfrm>
          <a:prstGeom prst="rect">
            <a:avLst/>
          </a:prstGeom>
          <a:solidFill>
            <a:srgbClr val="7E8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508760" y="3749039"/>
            <a:ext cx="182880" cy="182880"/>
          </a:xfrm>
          <a:prstGeom prst="ellipse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1546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8CFF"/>
                </a:solidFill>
                <a:latin typeface="Microsoft YaHei"/>
              </a:defRPr>
            </a:pPr>
            <a:r>
              <a:t>2018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1148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NeuroSkinning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389120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008CFF"/>
                </a:solidFill>
                <a:latin typeface="Microsoft YaHei"/>
              </a:defRPr>
            </a:pPr>
            <a:r>
              <a:t>SIG Asia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6634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C8D0E0"/>
                </a:solidFill>
                <a:latin typeface="Microsoft YaHei"/>
              </a:defRPr>
            </a:pPr>
            <a:r>
              <a:t>GCN 蒙皮权重预测</a:t>
            </a:r>
            <a:br/>
            <a:r>
              <a:t>首批深度学习方案</a:t>
            </a:r>
          </a:p>
        </p:txBody>
      </p:sp>
      <p:sp>
        <p:nvSpPr>
          <p:cNvPr id="21" name="Oval 20"/>
          <p:cNvSpPr/>
          <p:nvPr/>
        </p:nvSpPr>
        <p:spPr>
          <a:xfrm>
            <a:off x="3794760" y="3749039"/>
            <a:ext cx="182880" cy="182880"/>
          </a:xfrm>
          <a:prstGeom prst="ellipse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43200" y="31546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D4AA"/>
                </a:solidFill>
                <a:latin typeface="Microsoft YaHei"/>
              </a:defRPr>
            </a:pPr>
            <a:r>
              <a:t>2020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34640" y="41148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RigNet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34640" y="4389120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00D4AA"/>
                </a:solidFill>
                <a:latin typeface="Microsoft YaHei"/>
              </a:defRPr>
            </a:pPr>
            <a:r>
              <a:t>SIGGRAPH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0" y="46634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C8D0E0"/>
                </a:solidFill>
                <a:latin typeface="Microsoft YaHei"/>
              </a:defRPr>
            </a:pPr>
            <a:r>
              <a:t>端到端自动绑骨</a:t>
            </a:r>
            <a:br/>
            <a:r>
              <a:t>体素网络 + GNN</a:t>
            </a:r>
          </a:p>
        </p:txBody>
      </p:sp>
      <p:sp>
        <p:nvSpPr>
          <p:cNvPr id="26" name="Oval 25"/>
          <p:cNvSpPr/>
          <p:nvPr/>
        </p:nvSpPr>
        <p:spPr>
          <a:xfrm>
            <a:off x="6080760" y="3749039"/>
            <a:ext cx="182880" cy="182880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0" y="31546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8B5CF6"/>
                </a:solidFill>
                <a:latin typeface="Microsoft YaHei"/>
              </a:defRPr>
            </a:pPr>
            <a:r>
              <a:t>2023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0640" y="41148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Puppeteer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0640" y="4389120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B5CF6"/>
                </a:solidFill>
                <a:latin typeface="Microsoft YaHei"/>
              </a:defRPr>
            </a:pPr>
            <a:r>
              <a:t>SIG Asia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0640" y="46634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C8D0E0"/>
                </a:solidFill>
                <a:latin typeface="Microsoft YaHei"/>
              </a:defRPr>
            </a:pPr>
            <a:r>
              <a:t>学术自动绑骨方案</a:t>
            </a:r>
            <a:br/>
            <a:r>
              <a:t>与商业方法对比</a:t>
            </a:r>
          </a:p>
        </p:txBody>
      </p:sp>
      <p:sp>
        <p:nvSpPr>
          <p:cNvPr id="31" name="Oval 30"/>
          <p:cNvSpPr/>
          <p:nvPr/>
        </p:nvSpPr>
        <p:spPr>
          <a:xfrm>
            <a:off x="8366760" y="3749039"/>
            <a:ext cx="182880" cy="182880"/>
          </a:xfrm>
          <a:prstGeom prst="ellipse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0" y="31546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E676"/>
                </a:solidFill>
                <a:latin typeface="Microsoft YaHei"/>
              </a:defRPr>
            </a:pPr>
            <a:r>
              <a:t>2025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0" y="41148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UniRig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06640" y="4389120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00E676"/>
                </a:solidFill>
                <a:latin typeface="Microsoft YaHei"/>
              </a:defRPr>
            </a:pPr>
            <a:r>
              <a:t>SIGGRAPH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46634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C8D0E0"/>
                </a:solidFill>
                <a:latin typeface="Microsoft YaHei"/>
              </a:defRPr>
            </a:pPr>
            <a:r>
              <a:t>统一大模型</a:t>
            </a:r>
            <a:br/>
            <a:r>
              <a:t>Tree Tokenization</a:t>
            </a:r>
          </a:p>
        </p:txBody>
      </p:sp>
      <p:sp>
        <p:nvSpPr>
          <p:cNvPr id="36" name="Oval 35"/>
          <p:cNvSpPr/>
          <p:nvPr/>
        </p:nvSpPr>
        <p:spPr>
          <a:xfrm>
            <a:off x="10652760" y="3749039"/>
            <a:ext cx="182880" cy="182880"/>
          </a:xfrm>
          <a:prstGeom prst="ellipse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601200" y="31546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8CFF"/>
                </a:solidFill>
                <a:latin typeface="Microsoft YaHei"/>
              </a:defRPr>
            </a:pPr>
            <a:r>
              <a:t>2025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92640" y="41148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RigAnything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92640" y="4389120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008CFF"/>
                </a:solidFill>
                <a:latin typeface="Microsoft YaHei"/>
              </a:defRPr>
            </a:pPr>
            <a:r>
              <a:t>ACM TOG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92640" y="46634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C8D0E0"/>
                </a:solidFill>
                <a:latin typeface="Microsoft YaHei"/>
              </a:defRPr>
            </a:pPr>
            <a:r>
              <a:t>无模板自回归</a:t>
            </a:r>
            <a:br/>
            <a:r>
              <a:t>BFS + Diffusion</a:t>
            </a:r>
          </a:p>
        </p:txBody>
      </p:sp>
      <p:sp>
        <p:nvSpPr>
          <p:cNvPr id="41" name="Oval 40"/>
          <p:cNvSpPr/>
          <p:nvPr/>
        </p:nvSpPr>
        <p:spPr>
          <a:xfrm>
            <a:off x="12938760" y="3749039"/>
            <a:ext cx="182880" cy="182880"/>
          </a:xfrm>
          <a:prstGeom prst="ellipse">
            <a:avLst/>
          </a:prstGeom>
          <a:solidFill>
            <a:srgbClr val="FF4D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887200" y="31546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4D6A"/>
                </a:solidFill>
                <a:latin typeface="Microsoft YaHei"/>
              </a:defRPr>
            </a:pPr>
            <a:r>
              <a:t>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978640" y="41148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SkinTokens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978640" y="4389120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4D6A"/>
                </a:solidFill>
                <a:latin typeface="Microsoft YaHei"/>
              </a:defRPr>
            </a:pPr>
            <a:r>
              <a:t>arXiv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978640" y="46634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C8D0E0"/>
                </a:solidFill>
                <a:latin typeface="Microsoft YaHei"/>
              </a:defRPr>
            </a:pPr>
            <a:r>
              <a:t>FSQ-CVAE + RL</a:t>
            </a:r>
            <a:br/>
            <a:r>
              <a:t>统一自回归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5669280"/>
            <a:ext cx="1371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8CFF"/>
                </a:solidFill>
                <a:latin typeface="Microsoft YaHei"/>
              </a:defRPr>
            </a:pPr>
            <a:r>
              <a:t>工业界主要玩家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5989320"/>
            <a:ext cx="1371600" cy="254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457200" y="6217920"/>
            <a:ext cx="2560320" cy="1645920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57200" y="6355080"/>
            <a:ext cx="63500" cy="13716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85800" y="6327648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Tripo / VAST AI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5800" y="6693408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UniRig + SkinTokens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最先进开源方案 · 1.6k+ ★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246120" y="6217920"/>
            <a:ext cx="2560320" cy="1645920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246120" y="6355080"/>
            <a:ext cx="63500" cy="13716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474720" y="6327648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Adobe (Mixamo)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474720" y="6693408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Auto-Rigger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人形专用 Web 端 · 免费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035040" y="6217920"/>
            <a:ext cx="2560320" cy="1645920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035040" y="6355080"/>
            <a:ext cx="63500" cy="13716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63640" y="6327648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Reallusion AccuRIG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63640" y="6693408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CC4/CC5 内置自动绑骨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人形为主 · 付费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823959" y="6217920"/>
            <a:ext cx="2560320" cy="1645920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823959" y="6355080"/>
            <a:ext cx="63500" cy="13716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052559" y="6327648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Epic / Unreal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052559" y="6693408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MetaHuman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高保真人形 · 商业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612880" y="6217920"/>
            <a:ext cx="2560320" cy="1645920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1612880" y="6355080"/>
            <a:ext cx="63500" cy="13716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841480" y="6327648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Meshy / Rodin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841480" y="6693408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3D AIGC 平台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Text/Image → 3D + Rig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3533120" y="77724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E8CA8"/>
                </a:solidFill>
                <a:latin typeface="Microsoft YaHei"/>
              </a:defRPr>
            </a:pPr>
            <a: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20040"/>
            <a:ext cx="1828800" cy="508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280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技术架构全景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280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E8CA8"/>
                </a:solidFill>
                <a:latin typeface="Microsoft YaHei"/>
              </a:defRPr>
            </a:pPr>
            <a:r>
              <a:t>基于自回归 Transformer 的统一 Auto-Rigging 流水线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554480"/>
            <a:ext cx="1554480" cy="1280160"/>
          </a:xfrm>
          <a:prstGeom prst="roundRect">
            <a:avLst/>
          </a:prstGeom>
          <a:solidFill>
            <a:srgbClr val="172238"/>
          </a:solidFill>
          <a:ln w="25400">
            <a:solidFill>
              <a:srgbClr val="00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" y="1627632"/>
            <a:ext cx="14173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Input Mesh</a:t>
            </a:r>
            <a:br/>
            <a:r>
              <a:t>.glb/.obj/.fbx</a:t>
            </a:r>
          </a:p>
        </p:txBody>
      </p:sp>
      <p:sp>
        <p:nvSpPr>
          <p:cNvPr id="7" name="Rectangle 6"/>
          <p:cNvSpPr/>
          <p:nvPr/>
        </p:nvSpPr>
        <p:spPr>
          <a:xfrm>
            <a:off x="1874520" y="2103120"/>
            <a:ext cx="320040" cy="38100"/>
          </a:xfrm>
          <a:prstGeom prst="rect">
            <a:avLst/>
          </a:prstGeom>
          <a:solidFill>
            <a:srgbClr val="7E8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011680" y="1554480"/>
            <a:ext cx="1554480" cy="1280160"/>
          </a:xfrm>
          <a:prstGeom prst="roundRect">
            <a:avLst/>
          </a:prstGeom>
          <a:solidFill>
            <a:srgbClr val="172238"/>
          </a:solidFill>
          <a:ln w="254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84832" y="1627632"/>
            <a:ext cx="14173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Preprocess</a:t>
            </a:r>
            <a:br/>
            <a:r>
              <a:t>拓扑修复·采样</a:t>
            </a:r>
            <a:br/>
            <a:r>
              <a:t>流形检测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11880" y="2103120"/>
            <a:ext cx="320040" cy="38100"/>
          </a:xfrm>
          <a:prstGeom prst="rect">
            <a:avLst/>
          </a:prstGeom>
          <a:solidFill>
            <a:srgbClr val="7E8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931920" y="1554480"/>
            <a:ext cx="1554480" cy="1280160"/>
          </a:xfrm>
          <a:prstGeom prst="roundRect">
            <a:avLst/>
          </a:prstGeom>
          <a:solidFill>
            <a:srgbClr val="172238"/>
          </a:solidFill>
          <a:ln w="254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05072" y="1627632"/>
            <a:ext cx="14173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Geometric</a:t>
            </a:r>
            <a:br/>
            <a:r>
              <a:t>Encoder</a:t>
            </a:r>
            <a:br/>
            <a:r>
              <a:t>PointNet++/TF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32120" y="2103120"/>
            <a:ext cx="320040" cy="38100"/>
          </a:xfrm>
          <a:prstGeom prst="rect">
            <a:avLst/>
          </a:prstGeom>
          <a:solidFill>
            <a:srgbClr val="7E8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852160" y="1554480"/>
            <a:ext cx="1554480" cy="1280160"/>
          </a:xfrm>
          <a:prstGeom prst="roundRect">
            <a:avLst/>
          </a:prstGeom>
          <a:solidFill>
            <a:srgbClr val="172238"/>
          </a:solidFill>
          <a:ln w="25400">
            <a:solidFill>
              <a:srgbClr val="00E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25312" y="1627632"/>
            <a:ext cx="14173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Skeleton</a:t>
            </a:r>
            <a:br/>
            <a:r>
              <a:t>Generation</a:t>
            </a:r>
            <a:br/>
            <a:r>
              <a:t>Autoregressive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52360" y="2103120"/>
            <a:ext cx="320040" cy="38100"/>
          </a:xfrm>
          <a:prstGeom prst="rect">
            <a:avLst/>
          </a:prstGeom>
          <a:solidFill>
            <a:srgbClr val="7E8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0" y="1554480"/>
            <a:ext cx="1554480" cy="1280160"/>
          </a:xfrm>
          <a:prstGeom prst="roundRect">
            <a:avLst/>
          </a:prstGeom>
          <a:solidFill>
            <a:srgbClr val="172238"/>
          </a:solidFill>
          <a:ln w="25400">
            <a:solidFill>
              <a:srgbClr val="00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45552" y="1627632"/>
            <a:ext cx="14173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Skinning</a:t>
            </a:r>
            <a:br/>
            <a:r>
              <a:t>Weights</a:t>
            </a:r>
            <a:br/>
            <a:r>
              <a:t>Cross Attention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72600" y="2103120"/>
            <a:ext cx="320040" cy="38100"/>
          </a:xfrm>
          <a:prstGeom prst="rect">
            <a:avLst/>
          </a:prstGeom>
          <a:solidFill>
            <a:srgbClr val="7E8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692640" y="1554480"/>
            <a:ext cx="1554480" cy="1280160"/>
          </a:xfrm>
          <a:prstGeom prst="roundRect">
            <a:avLst/>
          </a:prstGeom>
          <a:solidFill>
            <a:srgbClr val="172238"/>
          </a:solidFill>
          <a:ln w="254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65792" y="1627632"/>
            <a:ext cx="14173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Quality</a:t>
            </a:r>
            <a:br/>
            <a:r>
              <a:t>Evaluator</a:t>
            </a:r>
            <a:br/>
            <a:r>
              <a:t>LBS验证·评分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292840" y="2103120"/>
            <a:ext cx="320040" cy="38100"/>
          </a:xfrm>
          <a:prstGeom prst="rect">
            <a:avLst/>
          </a:prstGeom>
          <a:solidFill>
            <a:srgbClr val="7E8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612880" y="1554480"/>
            <a:ext cx="1554480" cy="1280160"/>
          </a:xfrm>
          <a:prstGeom prst="roundRect">
            <a:avLst/>
          </a:prstGeom>
          <a:solidFill>
            <a:srgbClr val="172238"/>
          </a:solidFill>
          <a:ln w="254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686032" y="1627632"/>
            <a:ext cx="14173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Output</a:t>
            </a:r>
            <a:br/>
            <a:r>
              <a:t>Rigged Model</a:t>
            </a:r>
            <a:br/>
            <a:r>
              <a:t>.glb/.fbx/.vrm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3108960"/>
            <a:ext cx="4572000" cy="2743200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4320" y="3246120"/>
            <a:ext cx="63500" cy="246888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3218688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输入与预处理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3584448"/>
            <a:ext cx="4206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PointNet++: 点云采样 (N×3 + 法线)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3DShape2VecSet: 向量集表示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拓扑修复: 流形检测 + 法线一致性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采样均匀化: 保证输入质量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0" y="3108960"/>
            <a:ext cx="4572000" cy="2743200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0" y="3246120"/>
            <a:ext cx="63500" cy="246888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257800" y="3218688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核心模型架构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57800" y="3584448"/>
            <a:ext cx="4206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自回归 Transformer (GPT-like)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Bone-Point Cross Attention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FSQ-CVAE 蒙皮权重离散化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扩散模型 (关节位置精修)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784080" y="3108960"/>
            <a:ext cx="4572000" cy="2743200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784080" y="3246120"/>
            <a:ext cx="63500" cy="246888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12680" y="3218688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训练与质量保障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12680" y="3584448"/>
            <a:ext cx="4206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Cross Entropy Loss (骨架 token)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LBS Deformation Loss (端到端)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Geodesic Distance Loss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GRPO 强化学习精调 (几何reward)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6126480"/>
            <a:ext cx="14081760" cy="548640"/>
          </a:xfrm>
          <a:prstGeom prst="rect">
            <a:avLst/>
          </a:prstGeom>
          <a:solidFill>
            <a:srgbClr val="172238"/>
          </a:solidFill>
          <a:ln w="1270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61722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8CFF"/>
                </a:solidFill>
                <a:latin typeface="Microsoft YaHei"/>
              </a:defRPr>
            </a:pPr>
            <a:r>
              <a:t>核心数据集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77440" y="6172200"/>
            <a:ext cx="1188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RigNet (~2,700) · Rig-XL (14,000+) · VRoid Hub · Objaverse-XL (10M+,需筛选) · Articulation-XL 2.0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533120" y="77724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E8CA8"/>
                </a:solidFill>
                <a:latin typeface="Microsoft YaHei"/>
              </a:defRPr>
            </a:pPr>
            <a: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20040"/>
            <a:ext cx="1828800" cy="508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280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2025-2026 核心方案对比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280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E8CA8"/>
                </a:solidFill>
                <a:latin typeface="Microsoft YaHei"/>
              </a:defRPr>
            </a:pPr>
            <a:r>
              <a:t>UniRig / RigAnything / SkinTokens 三方案深度解析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371600"/>
            <a:ext cx="4572000" cy="5303520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508760"/>
            <a:ext cx="63500" cy="50292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481328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UniRig (SIGGRAPH 2025)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847088"/>
            <a:ext cx="4206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清华大学 + VAST AI (Tripo)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骨架: Skeleton Tree Tokenization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蒙皮: Bone-Point Cross Attention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数据: Rig-XL (14,000+)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覆盖: 人形/四足/海洋/昆虫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亮点: 215%骨架精度 194%运动精度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开源: GitHub 1.6k+ ★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商业: tripo3d.ai 已集成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1371600"/>
            <a:ext cx="4572000" cy="5303520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0" y="1508760"/>
            <a:ext cx="63500" cy="50292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57800" y="1481328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RigAnything (ACM TOG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7800" y="1847088"/>
            <a:ext cx="4206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UCSD + Adobe Research + Hillbot Inc.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骨架: BFS序列化 + 自回归TF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蒙皮: 几何特征 + Diffusion精修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数据: RigNet + Objaverse筛选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覆盖: 人形/四足/海洋/昆虫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亮点: 无模板 · 秒级推理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开源: GitHub 141 ★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商业: 学术方案为主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784080" y="1371600"/>
            <a:ext cx="4572000" cy="5303520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1508760"/>
            <a:ext cx="63500" cy="50292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12680" y="1481328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SkinTokens (arXiv 2026)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12680" y="1847088"/>
            <a:ext cx="4206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清华大学 + VAST AI (Tripo)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骨架+蒙皮: FSQ-CVAE 统一Token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首个骨架蒙皮统一自回归框架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数据: Articulation-XL 2.0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覆盖: 人形/四足/海洋/昆虫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亮点: 98-133%蒙皮精度 + RL精调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开源: GitHub 130 ★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商业: tripo3d.ai 已集成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6949440"/>
            <a:ext cx="14081760" cy="731520"/>
          </a:xfrm>
          <a:prstGeom prst="rect">
            <a:avLst/>
          </a:prstGeom>
          <a:solidFill>
            <a:srgbClr val="0A1832"/>
          </a:solidFill>
          <a:ln w="25400">
            <a:solidFill>
              <a:srgbClr val="00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7040880"/>
            <a:ext cx="1371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💡 关键洞察: SkinTokens 首次将骨架和蒙皮统一为单一自回归序列，代表了该领域的技术前沿方向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533120" y="77724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E8CA8"/>
                </a:solidFill>
                <a:latin typeface="Microsoft YaHei"/>
              </a:defRPr>
            </a:pPr>
            <a: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20040"/>
            <a:ext cx="1828800" cy="508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280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技术演进方向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280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E8CA8"/>
                </a:solidFill>
                <a:latin typeface="Microsoft YaHei"/>
              </a:defRPr>
            </a:pPr>
            <a:r>
              <a:t>从传统方法到大模型统一框架的五维演进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371600"/>
            <a:ext cx="4572000" cy="3017520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508760"/>
            <a:ext cx="63500" cy="27432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481328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02920" y="148132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8CFF"/>
                </a:solidFill>
                <a:latin typeface="Microsoft YaHei"/>
              </a:defRPr>
            </a:pPr>
            <a:r>
              <a:t>方法范式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传统 → 浅层学习 → 深度学习 → 大模型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103120"/>
            <a:ext cx="4114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→  Heat Map / Geodesic (2007-2016)</a:t>
            </a:r>
          </a:p>
          <a:p>
            <a:pPr>
              <a:spcBef>
                <a:spcPts val="8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→  GCN/Volumetric CNN 回归 (2018-2019)</a:t>
            </a:r>
          </a:p>
          <a:p>
            <a:pPr>
              <a:spcBef>
                <a:spcPts val="8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→  端到端几何深度学习 (2020-2023)</a:t>
            </a:r>
          </a:p>
          <a:p>
            <a:pPr>
              <a:spcBef>
                <a:spcPts val="8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→  自回归 Transformer + LLM (2025-2026)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1371600"/>
            <a:ext cx="4572000" cy="3017520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0" y="1508760"/>
            <a:ext cx="63500" cy="27432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57800" y="1481328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5257800" y="148132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D4AA"/>
                </a:solidFill>
                <a:latin typeface="Microsoft YaHei"/>
              </a:defRPr>
            </a:pPr>
            <a:r>
              <a:t>学习范式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57800" y="1783080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全监督 → RL 精调 → 自监督/无监督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800" y="2103120"/>
            <a:ext cx="4114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→  全监督: 依赖带 rig 标注的数据</a:t>
            </a:r>
          </a:p>
          <a:p>
            <a:pPr>
              <a:spcBef>
                <a:spcPts val="8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→  RL 精调: SkinTokens 用 GRPO 几何 reward</a:t>
            </a:r>
          </a:p>
          <a:p>
            <a:pPr>
              <a:spcBef>
                <a:spcPts val="8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→  未来: 运动视频/3D扫描自监督学习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84080" y="1371600"/>
            <a:ext cx="4572000" cy="3017520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784080" y="1508760"/>
            <a:ext cx="63500" cy="27432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12680" y="1481328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10012680" y="148132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8B5CF6"/>
                </a:solidFill>
                <a:latin typeface="Microsoft YaHei"/>
              </a:defRPr>
            </a:pPr>
            <a:r>
              <a:t>覆盖范围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12680" y="1783080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人形专用 → 通用化（多物种）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12680" y="2103120"/>
            <a:ext cx="4114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→  人形: Mixamo / SMPL / MetaHuman</a:t>
            </a:r>
          </a:p>
          <a:p>
            <a:pPr>
              <a:spcBef>
                <a:spcPts val="8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→  人形+四足: RigNet (2020)</a:t>
            </a:r>
          </a:p>
          <a:p>
            <a:pPr>
              <a:spcBef>
                <a:spcPts val="8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→  通用: UniRig/RigAnything/SkinTokens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4320" y="4754880"/>
            <a:ext cx="4572000" cy="3017520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4320" y="4892040"/>
            <a:ext cx="63500" cy="27432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4864608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502920" y="486460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8CFF"/>
                </a:solidFill>
                <a:latin typeface="Microsoft YaHei"/>
              </a:defRPr>
            </a:pPr>
            <a:r>
              <a:t>生成式AI融合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5166360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Text-to-Avatar → Auto-Rig → Animation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486400"/>
            <a:ext cx="4114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→  Meshy/Tripo/Rodin 已集成自动绑骨</a:t>
            </a:r>
          </a:p>
          <a:p>
            <a:pPr>
              <a:spcBef>
                <a:spcPts val="8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→  Image-to-3D → 自动绑骨 → 即时动画</a:t>
            </a:r>
          </a:p>
          <a:p>
            <a:pPr>
              <a:spcBef>
                <a:spcPts val="8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→  Video-to-Motion 端到端闭环 (趋势)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0" y="4754880"/>
            <a:ext cx="4572000" cy="3017520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0" y="4892040"/>
            <a:ext cx="63500" cy="27432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257800" y="4864608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5257800" y="486460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D4AA"/>
                </a:solidFill>
                <a:latin typeface="Microsoft YaHei"/>
              </a:defRPr>
            </a:pPr>
            <a:r>
              <a:t>部署形态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57800" y="5166360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云端批处理 → 端侧实时推理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57800" y="5486400"/>
            <a:ext cx="4114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→  当前: 1-10秒/模型 (GPU服务器)</a:t>
            </a:r>
          </a:p>
          <a:p>
            <a:pPr>
              <a:spcBef>
                <a:spcPts val="8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→  趋势: 模型蒸馏/量化/INT8部署</a:t>
            </a:r>
          </a:p>
          <a:p>
            <a:pPr>
              <a:spcBef>
                <a:spcPts val="8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→  目标: 移动端NPU实时交互式绑骨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533120" y="77724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E8CA8"/>
                </a:solidFill>
                <a:latin typeface="Microsoft YaHei"/>
              </a:defRPr>
            </a:pPr>
            <a: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20040"/>
            <a:ext cx="1828800" cy="508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280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当前核心挑战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280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E8CA8"/>
                </a:solidFill>
                <a:latin typeface="Microsoft YaHei"/>
              </a:defRPr>
            </a:pPr>
            <a:r>
              <a:t>限制 Auto-Skinning 规模化落地的关键瓶颈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371600"/>
            <a:ext cx="4572000" cy="2926080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508760"/>
            <a:ext cx="63500" cy="2651760"/>
          </a:xfrm>
          <a:prstGeom prst="rect">
            <a:avLst/>
          </a:prstGeom>
          <a:solidFill>
            <a:srgbClr val="FF4D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481328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训练数据稀缺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74520"/>
            <a:ext cx="3291840" cy="76200"/>
          </a:xfrm>
          <a:prstGeom prst="rect">
            <a:avLst/>
          </a:prstGeom>
          <a:solidFill>
            <a:srgbClr val="FF4D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175564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FF4D6A"/>
                </a:solidFill>
                <a:latin typeface="Microsoft YaHei"/>
              </a:defRPr>
            </a:pPr>
            <a:r>
              <a:t>80%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148840"/>
            <a:ext cx="4114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 高质量带 rig 的 3D 数据极度稀缺</a:t>
            </a:r>
          </a:p>
          <a:p>
            <a:pPr>
              <a:spcBef>
                <a:spcPts val="6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 Rig-XL 仅 14K 模型 (vs 图像领域百万级)</a:t>
            </a:r>
          </a:p>
          <a:p>
            <a:pPr>
              <a:spcBef>
                <a:spcPts val="6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 数据分布偏斜，非人形数据极少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1371600"/>
            <a:ext cx="4572000" cy="2926080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0" y="1508760"/>
            <a:ext cx="63500" cy="2651760"/>
          </a:xfrm>
          <a:prstGeom prst="rect">
            <a:avLst/>
          </a:prstGeom>
          <a:solidFill>
            <a:srgbClr val="FF4D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57800" y="1481328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泛化性不足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57800" y="1874520"/>
            <a:ext cx="2880360" cy="76200"/>
          </a:xfrm>
          <a:prstGeom prst="rect">
            <a:avLst/>
          </a:prstGeom>
          <a:solidFill>
            <a:srgbClr val="FF4D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69680" y="175564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FF4D6A"/>
                </a:solidFill>
                <a:latin typeface="Microsoft YaHei"/>
              </a:defRPr>
            </a:pPr>
            <a:r>
              <a:t>70%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800" y="2148840"/>
            <a:ext cx="4114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 非标准形态（多臂怪物等）效果不稳定</a:t>
            </a:r>
          </a:p>
          <a:p>
            <a:pPr>
              <a:spcBef>
                <a:spcPts val="6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 微小细节（手指、触角）精度不足</a:t>
            </a:r>
          </a:p>
          <a:p>
            <a:pPr>
              <a:spcBef>
                <a:spcPts val="6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 自回归可能产生不合理骨骼连接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84080" y="1371600"/>
            <a:ext cx="4572000" cy="2926080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784080" y="1508760"/>
            <a:ext cx="63500" cy="265176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12680" y="1481328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细节保真度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12680" y="1874520"/>
            <a:ext cx="2468879" cy="762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624560" y="175564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008CFF"/>
                </a:solidFill>
                <a:latin typeface="Microsoft YaHei"/>
              </a:defRPr>
            </a:pPr>
            <a:r>
              <a:t>60%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12680" y="2148840"/>
            <a:ext cx="4114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 关节弯曲处（肩/膝）体积塌陷/穿插</a:t>
            </a:r>
          </a:p>
          <a:p>
            <a:pPr>
              <a:spcBef>
                <a:spcPts val="6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 缺乏语义理解（手指应独立弯曲）</a:t>
            </a:r>
          </a:p>
          <a:p>
            <a:pPr>
              <a:spcBef>
                <a:spcPts val="6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 复杂区域绝对误差仍可观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4320" y="4754880"/>
            <a:ext cx="4572000" cy="2926080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4320" y="4892040"/>
            <a:ext cx="63500" cy="265176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4864608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计算效率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257800"/>
            <a:ext cx="2263140" cy="762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0" y="513892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008CFF"/>
                </a:solidFill>
                <a:latin typeface="Microsoft YaHei"/>
              </a:defRPr>
            </a:pPr>
            <a:r>
              <a:t>55%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532120"/>
            <a:ext cx="4114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 模型需 8-14GB+ 显存</a:t>
            </a:r>
          </a:p>
          <a:p>
            <a:pPr>
              <a:spcBef>
                <a:spcPts val="6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 体素化预处理是计算瓶颈</a:t>
            </a:r>
          </a:p>
          <a:p>
            <a:pPr>
              <a:spcBef>
                <a:spcPts val="6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 无法实时交互式绑骨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0" y="4754880"/>
            <a:ext cx="4572000" cy="2926080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0" y="4892040"/>
            <a:ext cx="63500" cy="265176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257800" y="4864608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未解决问题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57800" y="5257800"/>
            <a:ext cx="3086100" cy="762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69680" y="513892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8B5CF6"/>
                </a:solidFill>
                <a:latin typeface="Microsoft YaHei"/>
              </a:defRPr>
            </a:pPr>
            <a:r>
              <a:t>75%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57800" y="5532120"/>
            <a:ext cx="4114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 二次运动（肌肉/衣物物理）预测</a:t>
            </a:r>
          </a:p>
          <a:p>
            <a:pPr>
              <a:spcBef>
                <a:spcPts val="6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 面部绑骨 (BlendShape) 与身体统一</a:t>
            </a:r>
          </a:p>
          <a:p>
            <a:pPr>
              <a:spcBef>
                <a:spcPts val="6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 Retargeting 闭环与交互式编辑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533120" y="77724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E8CA8"/>
                </a:solidFill>
                <a:latin typeface="Microsoft YaHei"/>
              </a:defRPr>
            </a:pPr>
            <a: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20040"/>
            <a:ext cx="1828800" cy="508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280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核心应用场景价值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280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E8CA8"/>
                </a:solidFill>
                <a:latin typeface="Microsoft YaHei"/>
              </a:defRPr>
            </a:pPr>
            <a:r>
              <a:t>精选 4 大高价值场景深入分析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371600"/>
            <a:ext cx="6858000" cy="2926080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508760"/>
            <a:ext cx="63500" cy="265176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481328"/>
            <a:ext cx="6492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游戏开发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847088"/>
            <a:ext cx="6492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NPC 批量绑骨: 100-1000 角色/分钟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玩家自定义角色: 实时生成+绑骨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独立开发者无需 TA 即可完成角色动画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实测: 某 AAA 工作室 NPC 绑骨从 2h→15s/个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价值: 绑骨环节效率提升 96-480x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0" y="1481328"/>
            <a:ext cx="1645920" cy="274320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00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0" y="14813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8CFF"/>
                </a:solidFill>
                <a:latin typeface="Microsoft YaHei"/>
              </a:defRPr>
            </a:pPr>
            <a:r>
              <a:t>最大 TAM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06640" y="1371600"/>
            <a:ext cx="6858000" cy="2926080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06640" y="1508760"/>
            <a:ext cx="63500" cy="265176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481328"/>
            <a:ext cx="6492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虚拟人/数字人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847088"/>
            <a:ext cx="6492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照片→3D→绑骨→直播 全自动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虚拟主播/企业代言人快速生成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制作成本从 $5K-$100K → $50-$500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虚拟人市场 CAGR 40%+ (Grand View Research 2025)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价值: 虚拟人平民化，万亿级市场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435840" y="1481328"/>
            <a:ext cx="1645920" cy="274320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435840" y="14813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D4AA"/>
                </a:solidFill>
                <a:latin typeface="Microsoft YaHei"/>
              </a:defRPr>
            </a:pPr>
            <a:r>
              <a:t>增长最快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4320" y="4663440"/>
            <a:ext cx="6858000" cy="2926080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" y="4800600"/>
            <a:ext cx="63500" cy="265176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773168"/>
            <a:ext cx="6492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电商/营销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138928"/>
            <a:ext cx="6492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虚拟试穿: 用户照片→3D人体→服装动画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虚拟主播带货: AI 生成+实时驱动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3D 商品动态展示: 人物模特自动绑骨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个性化营销内容批量生成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价值: 3D展示可提升电商转化率 (行业估算)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03520" y="4773168"/>
            <a:ext cx="1645920" cy="274320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03520" y="477316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8B5CF6"/>
                </a:solidFill>
                <a:latin typeface="Microsoft YaHei"/>
              </a:defRPr>
            </a:pPr>
            <a:r>
              <a:t>变现最快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06640" y="4663440"/>
            <a:ext cx="6858000" cy="2926080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06640" y="4800600"/>
            <a:ext cx="63500" cy="265176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35240" y="4773168"/>
            <a:ext cx="6492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AR/VR/XR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35240" y="5138928"/>
            <a:ext cx="6492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实时角色驱动: 用户动作→虚拟角色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XR 社交: 虚拟形象实时互动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华为 VR Glass: 体感交互驱动虚拟形象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沉浸式体验内容快速创建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价值: XR 内容生产成本大幅降低 (AI辅助估算)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2435840" y="4773168"/>
            <a:ext cx="1645920" cy="274320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00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435840" y="477316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8CFF"/>
                </a:solidFill>
                <a:latin typeface="Microsoft YaHei"/>
              </a:defRPr>
            </a:pPr>
            <a:r>
              <a:t>鸿蒙核心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7589520"/>
            <a:ext cx="1371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E8CA8"/>
                </a:solidFill>
                <a:latin typeface="Microsoft YaHei"/>
              </a:defRPr>
            </a:pPr>
            <a:r>
              <a:t>其他场景: 影视动画 (周期缩短30-60%) · 元宇宙UGC · 医疗运动分析 · 教育培训 · 工业仿真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533120" y="77724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E8CA8"/>
                </a:solidFill>
                <a:latin typeface="Microsoft YaHei"/>
              </a:defRPr>
            </a:pPr>
            <a: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20040"/>
            <a:ext cx="1828800" cy="508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280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可视化场景价值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280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E8CA8"/>
                </a:solidFill>
                <a:latin typeface="Microsoft YaHei"/>
              </a:defRPr>
            </a:pPr>
            <a:r>
              <a:t>全链路可视化能力：从预览到质量保障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371600"/>
            <a:ext cx="6858000" cy="2651760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508760"/>
            <a:ext cx="63500" cy="237744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481328"/>
            <a:ext cx="6492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实时 3D 预览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847088"/>
            <a:ext cx="6492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绑骨后即时预览动画效果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多姿态实时切换预览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变形质量实时反馈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360° 旋转+缩放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1371600"/>
            <a:ext cx="6858000" cy="2651760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06640" y="1508760"/>
            <a:ext cx="63500" cy="237744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35240" y="1481328"/>
            <a:ext cx="6492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AI+人工协同编辑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40" y="1847088"/>
            <a:ext cx="6492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蒙皮权重热力图可视化+人工微调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权重热力图可视化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AI辅助最佳权重建议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对比视图: AI vs 人工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" y="4480560"/>
            <a:ext cx="6858000" cy="2651760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4320" y="4617720"/>
            <a:ext cx="63500" cy="237744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590288"/>
            <a:ext cx="6492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质量诊断分析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956048"/>
            <a:ext cx="6492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自动检测体积损失/穿插/扭曲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体积损失/穿插检测高亮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自动化质量评分报告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骨骼合理性验证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06640" y="4480560"/>
            <a:ext cx="6858000" cy="2651760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06640" y="4617720"/>
            <a:ext cx="63500" cy="237744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35240" y="4590288"/>
            <a:ext cx="6492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跨平台渲染验证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4956048"/>
            <a:ext cx="6492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Unity/Unreal/WebGL/鸿蒙一致性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多引擎渲染对比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差异高亮标注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性能指标对比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533120" y="77724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E8CA8"/>
                </a:solidFill>
                <a:latin typeface="Microsoft YaHei"/>
              </a:defRPr>
            </a:pPr>
            <a: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20040"/>
            <a:ext cx="1828800" cy="508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280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鸿蒙生态价值：技术架构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280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E8CA8"/>
                </a:solidFill>
                <a:latin typeface="Microsoft YaHei"/>
              </a:defRPr>
            </a:pPr>
            <a:r>
              <a:t>基于鸿蒙分布式能力的 Auto-Skinning 五层架构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8412480" cy="731520"/>
          </a:xfrm>
          <a:prstGeom prst="roundRect">
            <a:avLst/>
          </a:prstGeom>
          <a:solidFill>
            <a:srgbClr val="172238"/>
          </a:solidFill>
          <a:ln w="25400">
            <a:solidFill>
              <a:srgbClr val="00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44752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8CFF"/>
                </a:solidFill>
                <a:latin typeface="Microsoft YaHei"/>
              </a:defRPr>
            </a:pPr>
            <a:r>
              <a:t>应用层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1444752"/>
            <a:ext cx="6583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鸿蒙原生游戏 | 社交/XR | 电商虚拟人 | 智慧屏互动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86000"/>
            <a:ext cx="8412480" cy="731520"/>
          </a:xfrm>
          <a:prstGeom prst="roundRect">
            <a:avLst/>
          </a:prstGeom>
          <a:solidFill>
            <a:srgbClr val="172238"/>
          </a:solidFill>
          <a:ln w="254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359152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4AA"/>
                </a:solidFill>
                <a:latin typeface="Microsoft YaHei"/>
              </a:defRPr>
            </a:pPr>
            <a:r>
              <a:t>3D框架层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2359152"/>
            <a:ext cx="6583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ArkUI 3D 组件(Component3D) | Auto-Rigging API | Animation API | Scene Graph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200400"/>
            <a:ext cx="8412480" cy="731520"/>
          </a:xfrm>
          <a:prstGeom prst="roundRect">
            <a:avLst/>
          </a:prstGeom>
          <a:solidFill>
            <a:srgbClr val="172238"/>
          </a:solidFill>
          <a:ln w="254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273552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B5CF6"/>
                </a:solidFill>
                <a:latin typeface="Microsoft YaHei"/>
              </a:defRPr>
            </a:pPr>
            <a:r>
              <a:t>推理服务层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3273552"/>
            <a:ext cx="6583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端云调度引擎 | 模型版本管理 | Mesh压缩/LOD | 降级策略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114800"/>
            <a:ext cx="8412480" cy="731520"/>
          </a:xfrm>
          <a:prstGeom prst="roundRect">
            <a:avLst/>
          </a:prstGeom>
          <a:solidFill>
            <a:srgbClr val="172238"/>
          </a:solidFill>
          <a:ln w="25400">
            <a:solidFill>
              <a:srgbClr val="00E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187952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E676"/>
                </a:solidFill>
                <a:latin typeface="Microsoft YaHei"/>
              </a:defRPr>
            </a:pPr>
            <a:r>
              <a:t>AI引擎层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4187952"/>
            <a:ext cx="6583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MindSpore Lite (端侧) | 华为云 ModelArts (云端) | 量化/蒸馏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029200"/>
            <a:ext cx="8412480" cy="731520"/>
          </a:xfrm>
          <a:prstGeom prst="roundRect">
            <a:avLst/>
          </a:prstGeom>
          <a:solidFill>
            <a:srgbClr val="172238"/>
          </a:solidFill>
          <a:ln w="254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5102352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  <a:latin typeface="Microsoft YaHei"/>
              </a:defRPr>
            </a:pPr>
            <a:r>
              <a:t>硬件层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20" y="5102352"/>
            <a:ext cx="6583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麒麟/骁龙 NPU | GPU | 分布式软总线 | 星闪/Wi-Fi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13716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8CFF"/>
                </a:solidFill>
                <a:latin typeface="Microsoft YaHei"/>
              </a:defRPr>
            </a:pPr>
            <a:r>
              <a:t>Auto-Rigging API 设计 (v3)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0" y="1737360"/>
            <a:ext cx="5212080" cy="3840480"/>
          </a:xfrm>
          <a:prstGeom prst="roundRect">
            <a:avLst/>
          </a:prstGeom>
          <a:solidFill>
            <a:srgbClr val="0A1428"/>
          </a:solidFill>
          <a:ln w="1270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81160" y="182880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000" b="0">
                <a:solidFill>
                  <a:srgbClr val="00D4AA"/>
                </a:solidFill>
                <a:latin typeface="Microsoft YaHei"/>
              </a:defRPr>
            </a:pPr>
            <a:r>
              <a:t>// 异步 + 渐进式 + 可配置</a:t>
            </a:r>
          </a:p>
          <a:p>
            <a:pPr>
              <a:spcBef>
                <a:spcPts val="300"/>
              </a:spcBef>
              <a:defRPr sz="1000" b="0">
                <a:solidFill>
                  <a:srgbClr val="00D4AA"/>
                </a:solidFill>
                <a:latin typeface="Microsoft YaHei"/>
              </a:defRPr>
            </a:pPr>
            <a:r>
              <a:t>const result = await</a:t>
            </a:r>
          </a:p>
          <a:p>
            <a:pPr>
              <a:spcBef>
                <a:spcPts val="300"/>
              </a:spcBef>
              <a:defRPr sz="1000" b="0">
                <a:solidFill>
                  <a:srgbClr val="00D4AA"/>
                </a:solidFill>
                <a:latin typeface="Microsoft YaHei"/>
              </a:defRPr>
            </a:pPr>
            <a:r>
              <a:t>  Component3D.autoRig(mesh, {</a:t>
            </a:r>
          </a:p>
          <a:p>
            <a:pPr>
              <a:spcBef>
                <a:spcPts val="300"/>
              </a:spcBef>
              <a:defRPr sz="1000" b="0">
                <a:solidFill>
                  <a:srgbClr val="00D4AA"/>
                </a:solidFill>
                <a:latin typeface="Microsoft YaHei"/>
              </a:defRPr>
            </a:pPr>
            <a:r>
              <a:t>    maxBoneCount: 64,</a:t>
            </a:r>
          </a:p>
          <a:p>
            <a:pPr>
              <a:spcBef>
                <a:spcPts val="300"/>
              </a:spcBef>
              <a:defRPr sz="1000" b="0">
                <a:solidFill>
                  <a:srgbClr val="00D4AA"/>
                </a:solidFill>
                <a:latin typeface="Microsoft YaHei"/>
              </a:defRPr>
            </a:pPr>
            <a:r>
              <a:t>    symmetry: true,</a:t>
            </a:r>
          </a:p>
          <a:p>
            <a:pPr>
              <a:spcBef>
                <a:spcPts val="300"/>
              </a:spcBef>
              <a:defRPr sz="1000" b="0">
                <a:solidFill>
                  <a:srgbClr val="00D4AA"/>
                </a:solidFill>
                <a:latin typeface="Microsoft YaHei"/>
              </a:defRPr>
            </a:pPr>
            <a:r>
              <a:t>    quality: 'high',</a:t>
            </a:r>
          </a:p>
          <a:p>
            <a:pPr>
              <a:spcBef>
                <a:spcPts val="300"/>
              </a:spcBef>
              <a:defRPr sz="1000" b="0">
                <a:solidFill>
                  <a:srgbClr val="00D4AA"/>
                </a:solidFill>
                <a:latin typeface="Microsoft YaHei"/>
              </a:defRPr>
            </a:pPr>
            <a:r>
              <a:t>    preferLocal: true,</a:t>
            </a:r>
          </a:p>
          <a:p>
            <a:pPr>
              <a:spcBef>
                <a:spcPts val="300"/>
              </a:spcBef>
              <a:defRPr sz="1000" b="0">
                <a:solidFill>
                  <a:srgbClr val="00D4AA"/>
                </a:solidFill>
                <a:latin typeface="Microsoft YaHei"/>
              </a:defRPr>
            </a:pPr>
            <a:r>
              <a:t>    onProgress: (s,p) =&gt; {},</a:t>
            </a:r>
          </a:p>
          <a:p>
            <a:pPr>
              <a:spcBef>
                <a:spcPts val="300"/>
              </a:spcBef>
              <a:defRPr sz="1000" b="0">
                <a:solidFill>
                  <a:srgbClr val="00D4AA"/>
                </a:solidFill>
                <a:latin typeface="Microsoft YaHei"/>
              </a:defRPr>
            </a:pPr>
            <a:r>
              <a:t>  });</a:t>
            </a:r>
          </a:p>
          <a:p>
            <a:pPr>
              <a:spcBef>
                <a:spcPts val="300"/>
              </a:spcBef>
              <a:defRPr sz="1000" b="0">
                <a:solidFill>
                  <a:srgbClr val="00D4AA"/>
                </a:solidFill>
                <a:latin typeface="Microsoft YaHei"/>
              </a:defRPr>
            </a:pPr>
          </a:p>
          <a:p>
            <a:pPr>
              <a:spcBef>
                <a:spcPts val="300"/>
              </a:spcBef>
              <a:defRPr sz="1000" b="0">
                <a:solidFill>
                  <a:srgbClr val="00D4AA"/>
                </a:solidFill>
                <a:latin typeface="Microsoft YaHei"/>
              </a:defRPr>
            </a:pPr>
            <a:r>
              <a:t>// 渐进式结果回调</a:t>
            </a:r>
          </a:p>
          <a:p>
            <a:pPr>
              <a:spcBef>
                <a:spcPts val="300"/>
              </a:spcBef>
              <a:defRPr sz="1000" b="0">
                <a:solidFill>
                  <a:srgbClr val="00D4AA"/>
                </a:solidFill>
                <a:latin typeface="Microsoft YaHei"/>
              </a:defRPr>
            </a:pPr>
            <a:r>
              <a:t>result.onPartial(skel =&gt; {});</a:t>
            </a:r>
          </a:p>
          <a:p>
            <a:pPr>
              <a:spcBef>
                <a:spcPts val="300"/>
              </a:spcBef>
              <a:defRPr sz="1000" b="0">
                <a:solidFill>
                  <a:srgbClr val="00D4AA"/>
                </a:solidFill>
                <a:latin typeface="Microsoft YaHei"/>
              </a:defRPr>
            </a:pPr>
            <a:r>
              <a:t>result.onComplete((skel,w) =&gt; {});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58521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8CFF"/>
                </a:solidFill>
                <a:latin typeface="Microsoft YaHei"/>
              </a:defRPr>
            </a:pPr>
            <a:r>
              <a:t>鸿蒙核心差异化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0" y="6263640"/>
            <a:ext cx="63500" cy="36576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55480" y="62636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8CFF"/>
                </a:solidFill>
                <a:latin typeface="Microsoft YaHei"/>
              </a:defRPr>
            </a:pPr>
            <a:r>
              <a:t>分布式架构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26364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多设备协同绑骨，全场景无缝流转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326880" y="6812279"/>
            <a:ext cx="63500" cy="36576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55480" y="681227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8CFF"/>
                </a:solidFill>
                <a:latin typeface="Microsoft YaHei"/>
              </a:defRPr>
            </a:pPr>
            <a:r>
              <a:t>NPU 端侧推理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812279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本地处理，隐私保护+低延迟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326880" y="7360919"/>
            <a:ext cx="63500" cy="36576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55480" y="736091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8CFF"/>
                </a:solidFill>
                <a:latin typeface="Microsoft YaHei"/>
              </a:defRPr>
            </a:pPr>
            <a:r>
              <a:t>10亿+ 设备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7360919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海量用户基础 (截至2026Q1)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533120" y="77724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E8CA8"/>
                </a:solidFill>
                <a:latin typeface="Microsoft YaHei"/>
              </a:defRPr>
            </a:pPr>
            <a: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20040"/>
            <a:ext cx="1828800" cy="508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280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鸿蒙生态价值：场景落地 × 路线图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280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E8CA8"/>
                </a:solidFill>
                <a:latin typeface="Microsoft YaHei"/>
              </a:defRPr>
            </a:pPr>
            <a:r>
              <a:t>应用场景与技术里程碑规划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371600"/>
            <a:ext cx="6583680" cy="1051560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508760"/>
            <a:ext cx="63500" cy="77724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481328"/>
            <a:ext cx="6217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鸿蒙原生游戏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847088"/>
            <a:ext cx="6217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开发者无需 TA 团队，API 即可自动绑骨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2606040"/>
            <a:ext cx="6583680" cy="1051560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2743200"/>
            <a:ext cx="63500" cy="77724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715768"/>
            <a:ext cx="6217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鸿蒙社交/元宇宙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081528"/>
            <a:ext cx="6217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用户照片→3D→绑骨→社交，端侧推理保护隐私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" y="3840480"/>
            <a:ext cx="6583680" cy="1051560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4320" y="3977640"/>
            <a:ext cx="63500" cy="77724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950208"/>
            <a:ext cx="6217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鸿蒙 XR/VR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315968"/>
            <a:ext cx="6217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华为 VR Glass 等设备中的 3D 角色创建，体感交互驱动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4320" y="5074920"/>
            <a:ext cx="6583680" cy="1051560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" y="5212080"/>
            <a:ext cx="63500" cy="77724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5184648"/>
            <a:ext cx="6217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鸿蒙智慧屏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550408"/>
            <a:ext cx="6217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家庭互动虚拟角色（健身教练、儿童教育），语音+动作驱动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6309360"/>
            <a:ext cx="6583680" cy="1051560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4320" y="6446520"/>
            <a:ext cx="63500" cy="77724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6419088"/>
            <a:ext cx="6217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华为云协同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784848"/>
            <a:ext cx="6217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复杂模型云端绑骨 + 端侧渲染，分布式架构充分发挥优势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1371600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8CFF"/>
                </a:solidFill>
                <a:latin typeface="Microsoft YaHei"/>
              </a:defRPr>
            </a:pPr>
            <a:r>
              <a:t>技术路线图（含量化指标）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0" y="1828800"/>
            <a:ext cx="6858000" cy="1325880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15200" y="1965960"/>
            <a:ext cx="63500" cy="105156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43800" y="1938528"/>
            <a:ext cx="6492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0-3 月 · PoC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43800" y="2304288"/>
            <a:ext cx="6492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MindSpore Lite 适配 UniRig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人形角色端侧推理 Demo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KPI: 人形绑骨准确率 &gt;85%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0" y="3337560"/>
            <a:ext cx="6858000" cy="1325880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15200" y="3474720"/>
            <a:ext cx="63500" cy="105156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43800" y="3447288"/>
            <a:ext cx="6492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3-6 月 · MVP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43800" y="3813048"/>
            <a:ext cx="6492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ArkUI 3D 基础 API 集成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端侧推理 &lt;5s (Mate 70, ~10K顶点)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KPI: 10个内部Demo应用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0" y="4846320"/>
            <a:ext cx="6858000" cy="1325880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315200" y="4983480"/>
            <a:ext cx="63500" cy="105156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43800" y="4956048"/>
            <a:ext cx="6492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6-12 月 · 端云协同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43800" y="5321808"/>
            <a:ext cx="6492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端云调度引擎 + 云端大模型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多物种通用绑骨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KPI: 推理&lt;2s(端)/&lt;500ms(云)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315200" y="6355079"/>
            <a:ext cx="6858000" cy="1325880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315200" y="6492239"/>
            <a:ext cx="63500" cy="105156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543800" y="6464807"/>
            <a:ext cx="6492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12-24 月 · 生态开放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43800" y="6830567"/>
            <a:ext cx="6492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公开 API + SDK + DevEco 插件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开发者社区 + 种子用户计划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KPI: 1000+ 开发者注册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533120" y="77724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E8CA8"/>
                </a:solidFill>
                <a:latin typeface="Microsoft YaHei"/>
              </a:defRPr>
            </a:pPr>
            <a: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20040"/>
            <a:ext cx="1828800" cy="508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280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风险评估与 Mitigation 策略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280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E8CA8"/>
                </a:solidFill>
                <a:latin typeface="Microsoft YaHei"/>
              </a:defRPr>
            </a:pPr>
            <a:r>
              <a:t>商业化落地的关键风险识别与应对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371600"/>
            <a:ext cx="4572000" cy="2926080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508760"/>
            <a:ext cx="63500" cy="2651760"/>
          </a:xfrm>
          <a:prstGeom prst="rect">
            <a:avLst/>
          </a:prstGeom>
          <a:solidFill>
            <a:srgbClr val="FF4D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481328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竞争风险 — 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847088"/>
            <a:ext cx="4206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UniRig/SkinTokens 已开源，Adobe/Unity 已有成熟产品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Mitigation: 鸿蒙端侧差异化，开源社区共建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指标: 6个月内推出端侧POC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1371600"/>
            <a:ext cx="4572000" cy="2926080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0" y="1508760"/>
            <a:ext cx="63500" cy="265176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57800" y="1481328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技术成熟度风险 — 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7800" y="1847088"/>
            <a:ext cx="4206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非人形泛化性不足，端侧推理效率待验证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Mitigation: 先聚焦人形场景，渐进扩展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指标: 人形绑骨准确率 &gt;90% 再扩展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784080" y="1371600"/>
            <a:ext cx="4572000" cy="2926080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1508760"/>
            <a:ext cx="63500" cy="265176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12680" y="1481328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鸿蒙生态不确定性 — 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12680" y="1847088"/>
            <a:ext cx="4206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ArkUI 3D 能力仍在演进，开发者生态待成熟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Mitigation: 深度参与鸿蒙3D框架共建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指标: 紧跟HarmonyOS NEXT API节奏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4320" y="4754880"/>
            <a:ext cx="4572000" cy="2926080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" y="4892040"/>
            <a:ext cx="63500" cy="265176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864608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人才获取风险 — 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230368"/>
            <a:ext cx="4206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Auto-Skinning 需要稀缺的跨学科人才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Mitigation: 与清华/VAST AI 合作，社区培养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指标: 核心团队 5人+ 组建完成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0" y="4754880"/>
            <a:ext cx="4572000" cy="2926080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0" y="4892040"/>
            <a:ext cx="63500" cy="265176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57800" y="4864608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商业化节奏风险 — 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7800" y="5230368"/>
            <a:ext cx="4206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市场教育成本高，用户付费意愿待验证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Mitigation: 先免费API获客，后SaaS变现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指标: 12个月内1000+开发者注册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533120" y="77724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E8CA8"/>
                </a:solidFill>
                <a:latin typeface="Microsoft YaHei"/>
              </a:defRPr>
            </a:pPr>
            <a: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20040"/>
            <a:ext cx="1828800" cy="508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280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市场竞争格局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280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E8CA8"/>
                </a:solidFill>
                <a:latin typeface="Microsoft YaHei"/>
              </a:defRPr>
            </a:pPr>
            <a:r>
              <a:t>差异化定位与鸿蒙生态竞争优势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8CFF"/>
                </a:solidFill>
                <a:latin typeface="Microsoft YaHei"/>
              </a:defRPr>
            </a:pPr>
            <a:r>
              <a:t>竞争者对比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737360"/>
            <a:ext cx="1463040" cy="41148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6479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玩家</a:t>
            </a:r>
          </a:p>
        </p:txBody>
      </p:sp>
      <p:sp>
        <p:nvSpPr>
          <p:cNvPr id="8" name="Rectangle 7"/>
          <p:cNvSpPr/>
          <p:nvPr/>
        </p:nvSpPr>
        <p:spPr>
          <a:xfrm>
            <a:off x="1920240" y="1737360"/>
            <a:ext cx="2011680" cy="41148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65960" y="176479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技术方案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31920" y="1737360"/>
            <a:ext cx="914400" cy="41148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77640" y="1764792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覆盖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46320" y="1737360"/>
            <a:ext cx="914400" cy="41148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92040" y="1764792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开放性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60720" y="1737360"/>
            <a:ext cx="914400" cy="41148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06440" y="1764792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定价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148840"/>
            <a:ext cx="1463040" cy="365760"/>
          </a:xfrm>
          <a:prstGeom prst="rect">
            <a:avLst/>
          </a:prstGeom>
          <a:solidFill>
            <a:srgbClr val="172238"/>
          </a:solidFill>
          <a:ln w="635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17627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Tripo / VAST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20240" y="2148840"/>
            <a:ext cx="2011680" cy="365760"/>
          </a:xfrm>
          <a:prstGeom prst="rect">
            <a:avLst/>
          </a:prstGeom>
          <a:solidFill>
            <a:srgbClr val="172238"/>
          </a:solidFill>
          <a:ln w="635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5960" y="2176272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UniRig + SkinTokens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20" y="2148840"/>
            <a:ext cx="914400" cy="365760"/>
          </a:xfrm>
          <a:prstGeom prst="rect">
            <a:avLst/>
          </a:prstGeom>
          <a:solidFill>
            <a:srgbClr val="172238"/>
          </a:solidFill>
          <a:ln w="635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77640" y="217627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通用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48840"/>
            <a:ext cx="914400" cy="365760"/>
          </a:xfrm>
          <a:prstGeom prst="rect">
            <a:avLst/>
          </a:prstGeom>
          <a:solidFill>
            <a:srgbClr val="172238"/>
          </a:solidFill>
          <a:ln w="635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92040" y="217627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开源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760720" y="2148840"/>
            <a:ext cx="914400" cy="365760"/>
          </a:xfrm>
          <a:prstGeom prst="rect">
            <a:avLst/>
          </a:prstGeom>
          <a:solidFill>
            <a:srgbClr val="172238"/>
          </a:solidFill>
          <a:ln w="635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06440" y="217627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免费API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2514600"/>
            <a:ext cx="1463040" cy="365760"/>
          </a:xfrm>
          <a:prstGeom prst="rect">
            <a:avLst/>
          </a:prstGeom>
          <a:solidFill>
            <a:srgbClr val="0F172A"/>
          </a:solidFill>
          <a:ln w="635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25420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Adobe / Mixamo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920240" y="2514600"/>
            <a:ext cx="2011680" cy="365760"/>
          </a:xfrm>
          <a:prstGeom prst="rect">
            <a:avLst/>
          </a:prstGeom>
          <a:solidFill>
            <a:srgbClr val="0F172A"/>
          </a:solidFill>
          <a:ln w="635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65960" y="2542032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Puppeteer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931920" y="2514600"/>
            <a:ext cx="914400" cy="365760"/>
          </a:xfrm>
          <a:prstGeom prst="rect">
            <a:avLst/>
          </a:prstGeom>
          <a:solidFill>
            <a:srgbClr val="0F172A"/>
          </a:solidFill>
          <a:ln w="635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77640" y="254203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人形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46320" y="2514600"/>
            <a:ext cx="914400" cy="365760"/>
          </a:xfrm>
          <a:prstGeom prst="rect">
            <a:avLst/>
          </a:prstGeom>
          <a:solidFill>
            <a:srgbClr val="0F172A"/>
          </a:solidFill>
          <a:ln w="635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92040" y="254203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商业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760720" y="2514600"/>
            <a:ext cx="914400" cy="365760"/>
          </a:xfrm>
          <a:prstGeom prst="rect">
            <a:avLst/>
          </a:prstGeom>
          <a:solidFill>
            <a:srgbClr val="0F172A"/>
          </a:solidFill>
          <a:ln w="635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06440" y="254203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免费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2880360"/>
            <a:ext cx="1463040" cy="365760"/>
          </a:xfrm>
          <a:prstGeom prst="rect">
            <a:avLst/>
          </a:prstGeom>
          <a:solidFill>
            <a:srgbClr val="172238"/>
          </a:solidFill>
          <a:ln w="635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290779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Reallusion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920240" y="2880360"/>
            <a:ext cx="2011680" cy="365760"/>
          </a:xfrm>
          <a:prstGeom prst="rect">
            <a:avLst/>
          </a:prstGeom>
          <a:solidFill>
            <a:srgbClr val="172238"/>
          </a:solidFill>
          <a:ln w="635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965960" y="2907792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AccuRIG (CC4/CC5)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931920" y="2880360"/>
            <a:ext cx="914400" cy="365760"/>
          </a:xfrm>
          <a:prstGeom prst="rect">
            <a:avLst/>
          </a:prstGeom>
          <a:solidFill>
            <a:srgbClr val="172238"/>
          </a:solidFill>
          <a:ln w="635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77640" y="290779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人形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846320" y="2880360"/>
            <a:ext cx="914400" cy="365760"/>
          </a:xfrm>
          <a:prstGeom prst="rect">
            <a:avLst/>
          </a:prstGeom>
          <a:solidFill>
            <a:srgbClr val="172238"/>
          </a:solidFill>
          <a:ln w="635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892040" y="290779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商业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760720" y="2880360"/>
            <a:ext cx="914400" cy="365760"/>
          </a:xfrm>
          <a:prstGeom prst="rect">
            <a:avLst/>
          </a:prstGeom>
          <a:solidFill>
            <a:srgbClr val="172238"/>
          </a:solidFill>
          <a:ln w="635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806440" y="290779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付费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3246120"/>
            <a:ext cx="1463040" cy="365760"/>
          </a:xfrm>
          <a:prstGeom prst="rect">
            <a:avLst/>
          </a:prstGeom>
          <a:solidFill>
            <a:srgbClr val="0F172A"/>
          </a:solidFill>
          <a:ln w="635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27355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Epic / Unreal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920240" y="3246120"/>
            <a:ext cx="2011680" cy="365760"/>
          </a:xfrm>
          <a:prstGeom prst="rect">
            <a:avLst/>
          </a:prstGeom>
          <a:solidFill>
            <a:srgbClr val="0F172A"/>
          </a:solidFill>
          <a:ln w="635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965960" y="3273552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MetaHuman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931920" y="3246120"/>
            <a:ext cx="914400" cy="365760"/>
          </a:xfrm>
          <a:prstGeom prst="rect">
            <a:avLst/>
          </a:prstGeom>
          <a:solidFill>
            <a:srgbClr val="0F172A"/>
          </a:solidFill>
          <a:ln w="635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977640" y="32735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人形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846320" y="3246120"/>
            <a:ext cx="914400" cy="365760"/>
          </a:xfrm>
          <a:prstGeom prst="rect">
            <a:avLst/>
          </a:prstGeom>
          <a:solidFill>
            <a:srgbClr val="0F172A"/>
          </a:solidFill>
          <a:ln w="635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892040" y="32735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商业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760720" y="3246120"/>
            <a:ext cx="914400" cy="365760"/>
          </a:xfrm>
          <a:prstGeom prst="rect">
            <a:avLst/>
          </a:prstGeom>
          <a:solidFill>
            <a:srgbClr val="0F172A"/>
          </a:solidFill>
          <a:ln w="635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806440" y="32735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付费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7200" y="3611880"/>
            <a:ext cx="1463040" cy="365760"/>
          </a:xfrm>
          <a:prstGeom prst="rect">
            <a:avLst/>
          </a:prstGeom>
          <a:solidFill>
            <a:srgbClr val="172238"/>
          </a:solidFill>
          <a:ln w="635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2920" y="363931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Meshy / Rodin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920240" y="3611880"/>
            <a:ext cx="2011680" cy="365760"/>
          </a:xfrm>
          <a:prstGeom prst="rect">
            <a:avLst/>
          </a:prstGeom>
          <a:solidFill>
            <a:srgbClr val="172238"/>
          </a:solidFill>
          <a:ln w="635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965960" y="3639312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3D AIGC + Rig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931920" y="3611880"/>
            <a:ext cx="914400" cy="365760"/>
          </a:xfrm>
          <a:prstGeom prst="rect">
            <a:avLst/>
          </a:prstGeom>
          <a:solidFill>
            <a:srgbClr val="172238"/>
          </a:solidFill>
          <a:ln w="635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977640" y="363931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通用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846320" y="3611880"/>
            <a:ext cx="914400" cy="365760"/>
          </a:xfrm>
          <a:prstGeom prst="rect">
            <a:avLst/>
          </a:prstGeom>
          <a:solidFill>
            <a:srgbClr val="172238"/>
          </a:solidFill>
          <a:ln w="635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892040" y="363931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商业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760720" y="3611880"/>
            <a:ext cx="914400" cy="365760"/>
          </a:xfrm>
          <a:prstGeom prst="rect">
            <a:avLst/>
          </a:prstGeom>
          <a:solidFill>
            <a:srgbClr val="172238"/>
          </a:solidFill>
          <a:ln w="635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806440" y="363931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按量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772400" y="137160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D4AA"/>
                </a:solidFill>
                <a:latin typeface="Microsoft YaHei"/>
              </a:defRPr>
            </a:pPr>
            <a:r>
              <a:t>鸿蒙 6 大差异化优势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772400" y="1828800"/>
            <a:ext cx="3017520" cy="1737360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772400" y="1965960"/>
            <a:ext cx="63500" cy="146304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001000" y="193852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分布式架构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001000" y="2304288"/>
            <a:ext cx="2651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多设备协同绑骨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全场景无缝流转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1064240" y="1828800"/>
            <a:ext cx="3017520" cy="1737360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1064240" y="1965960"/>
            <a:ext cx="63500" cy="146304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1292840" y="193852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NPU 端侧推理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1292840" y="2304288"/>
            <a:ext cx="2651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本地推理 (预估3-8秒)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隐私保护+低延迟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7772400" y="3840480"/>
            <a:ext cx="3017520" cy="1737360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772400" y="3977640"/>
            <a:ext cx="63500" cy="146304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001000" y="395020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ArkUI 3D 原生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001000" y="4315968"/>
            <a:ext cx="2651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系统级 3D 引擎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零门槛 API 集成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11064240" y="3840480"/>
            <a:ext cx="3017520" cy="1737360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1064240" y="3977640"/>
            <a:ext cx="63500" cy="146304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1292840" y="395020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华为云协同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1292840" y="4315968"/>
            <a:ext cx="2651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云端训练+端侧推理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算力弹性调度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7772400" y="5852160"/>
            <a:ext cx="3017520" cy="1737360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72400" y="5989320"/>
            <a:ext cx="63500" cy="146304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001000" y="596188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10亿+ 设备规模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01000" y="6327648"/>
            <a:ext cx="2651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鸿蒙生态 2025年公开数据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华为官方披露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1064240" y="5852160"/>
            <a:ext cx="3017520" cy="1737360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1064240" y="5989320"/>
            <a:ext cx="63500" cy="146304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1292840" y="596188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全栈自主可控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292840" y="6327648"/>
            <a:ext cx="2651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芯片→框架→引擎→应用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完整技术栈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3533120" y="77724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E8CA8"/>
                </a:solidFill>
                <a:latin typeface="Microsoft YaHei"/>
              </a:defRPr>
            </a:pPr>
            <a: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20040"/>
            <a:ext cx="1828800" cy="508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280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商业模式画布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280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E8CA8"/>
                </a:solidFill>
                <a:latin typeface="Microsoft YaHei"/>
              </a:defRPr>
            </a:pPr>
            <a:r>
              <a:t>鸿蒙 Auto-Skinning 的商业闭环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371600"/>
            <a:ext cx="4572000" cy="2743200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508760"/>
            <a:ext cx="63500" cy="246888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481328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价值主张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847088"/>
            <a:ext cx="4206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零门槛 3D 角色自动绑骨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端侧隐私保护的实时推理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跨设备无缝协同体验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1371600"/>
            <a:ext cx="4572000" cy="2743200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0" y="1508760"/>
            <a:ext cx="63500" cy="246888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57800" y="1481328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客户细分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7800" y="1847088"/>
            <a:ext cx="4206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鸿蒙原生游戏开发者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虚拟人/数字人公司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电商/营销平台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XR 内容创作者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784080" y="1371600"/>
            <a:ext cx="4572000" cy="2743200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1508760"/>
            <a:ext cx="63500" cy="246888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12680" y="1481328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收入模型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12680" y="1847088"/>
            <a:ext cx="4206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API 调用计费: $0.01-0.1/次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SaaS 订阅: $29-299/月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企业私有化部署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鸿蒙应用商店分成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4320" y="4572000"/>
            <a:ext cx="4572000" cy="2743200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" y="4709160"/>
            <a:ext cx="63500" cy="246888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681728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关键资源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047488"/>
            <a:ext cx="4206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Auto-Rigging 模型 + 算法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鸿蒙 NPU 推理优化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训练数据 (Rig-XL 14K+)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0" y="4572000"/>
            <a:ext cx="4572000" cy="2743200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0" y="4709160"/>
            <a:ext cx="63500" cy="246888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57800" y="4681728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合作伙伴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7800" y="5047488"/>
            <a:ext cx="4206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VAST AI / 清华大学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华为云 (ModelArts)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鸿蒙生态开发者社区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84080" y="4572000"/>
            <a:ext cx="4572000" cy="2743200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784080" y="4709160"/>
            <a:ext cx="63500" cy="246888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12680" y="4681728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成本结构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12680" y="5047488"/>
            <a:ext cx="4206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模型训练: GPU 集群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端侧模型优化: 工程人力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API 基础设施: 云资源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533120" y="77724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E8CA8"/>
                </a:solidFill>
                <a:latin typeface="Microsoft YaHei"/>
              </a:defRPr>
            </a:pPr>
            <a: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20040"/>
            <a:ext cx="1828800" cy="508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280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总结与展望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280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E8CA8"/>
                </a:solidFill>
                <a:latin typeface="Microsoft YaHei"/>
              </a:defRPr>
            </a:pPr>
            <a:r>
              <a:t>Auto-Skinning 的未来 1-3 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8CFF"/>
                </a:solidFill>
                <a:latin typeface="Microsoft YaHei"/>
              </a:defRPr>
            </a:pPr>
            <a:r>
              <a:t>核心洞察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6400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1. 2025-2026年是 Auto-Skinning 从学术走向工业的关键拐点</a:t>
            </a:r>
          </a:p>
          <a:p>
            <a:pPr>
              <a:spcBef>
                <a:spcPts val="10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2. 自回归 Transformer + 统一建模成为新范式</a:t>
            </a:r>
          </a:p>
          <a:p>
            <a:pPr>
              <a:spcBef>
                <a:spcPts val="10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3. 3D AIGC 爆发使自动绑骨成为刚需桥梁</a:t>
            </a:r>
          </a:p>
          <a:p>
            <a:pPr>
              <a:spcBef>
                <a:spcPts val="10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4. 开源生态活跃 (UniRig 1.6k★+)，技术普惠化加速</a:t>
            </a:r>
          </a:p>
          <a:p>
            <a:pPr>
              <a:spcBef>
                <a:spcPts val="10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5. 鸿蒙生态独特优势：分布式+NPU+3D引擎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137160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D4AA"/>
                </a:solidFill>
                <a:latin typeface="Microsoft YaHei"/>
              </a:defRPr>
            </a:pPr>
            <a:r>
              <a:t>未来 1-3 年预期突破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79" y="1828800"/>
            <a:ext cx="63500" cy="50292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0" y="18288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8CFF"/>
                </a:solidFill>
                <a:latin typeface="Microsoft YaHei"/>
              </a:defRPr>
            </a:pPr>
            <a:r>
              <a:t>数据规模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0" y="182880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100K+ 级别 rig 数据集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79" y="2606040"/>
            <a:ext cx="63500" cy="50292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0" y="260604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4AA"/>
                </a:solidFill>
                <a:latin typeface="Microsoft YaHei"/>
              </a:defRPr>
            </a:pPr>
            <a:r>
              <a:t>推理速度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0" y="260604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端侧实时推理（模型蒸馏/量化）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79" y="3383280"/>
            <a:ext cx="63500" cy="50292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0" y="33832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B5CF6"/>
                </a:solidFill>
                <a:latin typeface="Microsoft YaHei"/>
              </a:defRPr>
            </a:pPr>
            <a:r>
              <a:t>统一绑骨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38328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面部 + 身体 + 衣物一体化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79" y="4160520"/>
            <a:ext cx="63500" cy="50292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0" y="416052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E676"/>
                </a:solidFill>
                <a:latin typeface="Microsoft YaHei"/>
              </a:defRPr>
            </a:pPr>
            <a:r>
              <a:t>端到端闭环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84080" y="416052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Video-to-Motion 全流程打通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79" y="4937760"/>
            <a:ext cx="63500" cy="50292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0" y="493776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8CFF"/>
                </a:solidFill>
                <a:latin typeface="Microsoft YaHei"/>
              </a:defRPr>
            </a:pPr>
            <a:r>
              <a:t>DCC集成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493776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Maya/Blender/DevEco 原生插件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98079" y="5715000"/>
            <a:ext cx="63500" cy="50292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0" y="57150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4AA"/>
                </a:solidFill>
                <a:latin typeface="Microsoft YaHei"/>
              </a:defRPr>
            </a:pPr>
            <a:r>
              <a:t>多模态输入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0" y="571500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文本/图片/视频 → 3D角色+动画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303520"/>
            <a:ext cx="14081760" cy="2560320"/>
          </a:xfrm>
          <a:prstGeom prst="rect">
            <a:avLst/>
          </a:prstGeom>
          <a:solidFill>
            <a:srgbClr val="0A1832"/>
          </a:solidFill>
          <a:ln w="25400">
            <a:solidFill>
              <a:srgbClr val="00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440680"/>
            <a:ext cx="1280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8CFF"/>
                </a:solidFill>
                <a:latin typeface="Microsoft YaHei"/>
              </a:defRPr>
            </a:pPr>
            <a:r>
              <a:t>建议行动（含 Owner / 投入 / KPI）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5852160"/>
            <a:ext cx="13533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300" b="0">
                <a:solidFill>
                  <a:srgbClr val="FFFFFF"/>
                </a:solidFill>
                <a:latin typeface="Microsoft YaHei"/>
              </a:defRPr>
            </a:pPr>
            <a:r>
              <a:t>① Q3'26 前完成 POC → 负责人: 3D技术团队Lead → 投入: 3人×3月 → KPI: 人形绑骨准确率&gt;90%, 推理&lt;5s(Mate 70)</a:t>
            </a:r>
          </a:p>
          <a:p>
            <a:pPr>
              <a:spcBef>
                <a:spcPts val="800"/>
              </a:spcBef>
              <a:defRPr sz="1300" b="0">
                <a:solidFill>
                  <a:srgbClr val="FFFFFF"/>
                </a:solidFill>
                <a:latin typeface="Microsoft YaHei"/>
              </a:defRPr>
            </a:pPr>
            <a:r>
              <a:t>② 联合清华/VAST AI → 负责人: 战略合作PM → 投入: 1人×2月(对接) → KPI: 签署技术合作协议, 获得UniRig鸿蒙分支授权</a:t>
            </a:r>
          </a:p>
          <a:p>
            <a:pPr>
              <a:spcBef>
                <a:spcPts val="800"/>
              </a:spcBef>
              <a:defRPr sz="1300" b="0">
                <a:solidFill>
                  <a:srgbClr val="FFFFFF"/>
                </a:solidFill>
                <a:latin typeface="Microsoft YaHei"/>
              </a:defRPr>
            </a:pPr>
            <a:r>
              <a:t>③ ArkUI 3D Auto-Rigging API → 负责人: ArkUI 3D架构师 → 投入: 5人×6月 → KPI: API v0.1发布, 10个内部Demo应用</a:t>
            </a:r>
          </a:p>
          <a:p>
            <a:pPr>
              <a:spcBef>
                <a:spcPts val="800"/>
              </a:spcBef>
              <a:defRPr sz="1300" b="0">
                <a:solidFill>
                  <a:srgbClr val="FFFFFF"/>
                </a:solidFill>
                <a:latin typeface="Microsoft YaHei"/>
              </a:defRPr>
            </a:pPr>
            <a:r>
              <a:t>④ NPU 推理优化专项 → 负责人: AI推理引擎团队 → 投入: 3人×4月 → KPI: Qwen3-0.6B量化至INT8, 推理&lt;3s(Mate 70)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533120" y="77724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E8CA8"/>
                </a:solidFill>
                <a:latin typeface="Microsoft YaHei"/>
              </a:defRPr>
            </a:pPr>
            <a: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20040"/>
            <a:ext cx="1828800" cy="508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280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附录 A：更多应用场景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280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E8CA8"/>
                </a:solidFill>
                <a:latin typeface="Microsoft YaHei"/>
              </a:defRPr>
            </a:pPr>
            <a:r>
              <a:t>影视动画 · 元宇宙 · 医疗 · 教育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371600"/>
            <a:ext cx="6858000" cy="2651760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508760"/>
            <a:ext cx="63500" cy="237744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481328"/>
            <a:ext cx="6492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影视动画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847088"/>
            <a:ext cx="6492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角色绑定效率从 8-40h → 10s-5min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群集动画: 批量生成群演角色 rig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VFX 预览: 快速预览角色动画效果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价值: 制作周期缩短 30-60%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1371600"/>
            <a:ext cx="6858000" cy="2651760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06640" y="1508760"/>
            <a:ext cx="63500" cy="237744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35240" y="1481328"/>
            <a:ext cx="6492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元宇宙/UGC平台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40" y="1847088"/>
            <a:ext cx="6492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UGC 内容中的角色自动创建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社交平台虚拟形象实时生成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跨平台虚拟形象互通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价值: UGC 内容爆发式增长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" y="4389120"/>
            <a:ext cx="6858000" cy="2651760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4320" y="4526280"/>
            <a:ext cx="63500" cy="237744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498848"/>
            <a:ext cx="6492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医疗/运动科学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864608"/>
            <a:ext cx="6492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人体运动分析: 标准骨骼→动作对比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康复训练: 患者动作→3D分析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手术规划: 患者特异性骨骼模型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价值: 精准医疗数字化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06640" y="4389120"/>
            <a:ext cx="6858000" cy="2651760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06640" y="4526280"/>
            <a:ext cx="63500" cy="237744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35240" y="4498848"/>
            <a:ext cx="6492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教育/培训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4864608"/>
            <a:ext cx="6492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虚拟教师: AI 生成教学角色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模拟训练: 军事/消防/医疗场景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互动式学习: 学生驱动虚拟角色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价值: 沉浸式教育民主化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533120" y="77724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E8CA8"/>
                </a:solidFill>
                <a:latin typeface="Microsoft YaHei"/>
              </a:defRPr>
            </a:pPr>
            <a: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20040"/>
            <a:ext cx="1828800" cy="508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280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附录 B：技术细节补充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280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E8CA8"/>
                </a:solidFill>
                <a:latin typeface="Microsoft YaHei"/>
              </a:defRPr>
            </a:pPr>
            <a:r>
              <a:t>Loss 函数 · 推理效率对比 · 训练数据详情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371600"/>
            <a:ext cx="4572000" cy="3200400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508760"/>
            <a:ext cx="63500" cy="292608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481328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Loss 函数设计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847088"/>
            <a:ext cx="42062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CE Loss: 骨架 token 分类 (自回归)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L1/L2 Loss: 蒙皮权重直接回归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Geodesic Distance Loss: 测地距离一致性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LBS Deformation Loss: 端到端变形质量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GRPO RL Reward (SkinTokens):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   - Volumetric Coverage (体积覆盖)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   - Bone-Mesh Containment (骨骼内含)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   - Deformation Smoothness (变形平滑)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1371600"/>
            <a:ext cx="4572000" cy="3200400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0" y="1508760"/>
            <a:ext cx="63500" cy="292608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57800" y="1481328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推理效率对比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7800" y="1847088"/>
            <a:ext cx="42062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RigAnything: ~数秒/模型 (GPU)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UniRig: ~10秒/模型 (4090 GPU)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SkinTokens: ~秒级 (Qwen3-0.6B)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Blender 内置: 实时 (传统方法)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鸿蒙端侧预估: 3-8秒 (Mate 70 NPU, 预估值)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Blender 内置: 实时 (传统方法)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注: 鸿蒙端侧数据为模型量化后的工程预估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实际性能需 POC 实测验证 (取决于模型+芯片型号)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784080" y="1371600"/>
            <a:ext cx="4572000" cy="3200400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2838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1508760"/>
            <a:ext cx="63500" cy="292608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12680" y="1481328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训练数据集详情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12680" y="1847088"/>
            <a:ext cx="42062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RigNet: ~2,700 模型 (手动标注)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Rig-XL: 14,000+ 模型 (Objaverse筛选)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VRoid Hub: 数千 (标准化骨骼角色)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Objaverse-XL: 10M+ 3D models (需筛选有rig的子集)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Articulation-XL 2.0: SkinTokens专用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数据稀缺是最大瓶颈: 14K vs 图像领域</a:t>
            </a:r>
          </a:p>
          <a:p>
            <a:pPr>
              <a:spcBef>
                <a:spcPts val="5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数百万级 → 需合成数据+RL精调弥补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846320"/>
            <a:ext cx="1371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8CFF"/>
                </a:solidFill>
                <a:latin typeface="Microsoft YaHei"/>
              </a:defRPr>
            </a:pPr>
            <a:r>
              <a:t>重要技术说明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5212080"/>
            <a:ext cx="140817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000" b="0">
                <a:solidFill>
                  <a:srgbClr val="C8D0E0"/>
                </a:solidFill>
                <a:latin typeface="Microsoft YaHei"/>
              </a:defRPr>
            </a:pPr>
            <a:r>
              <a:t>▸ UniRig 的具体 backbone 参数需从论文正文确认 (项目页面称 'Skeleton Tree GPT')</a:t>
            </a:r>
          </a:p>
          <a:p>
            <a:pPr>
              <a:spcBef>
                <a:spcPts val="500"/>
              </a:spcBef>
              <a:defRPr sz="1000" b="0">
                <a:solidFill>
                  <a:srgbClr val="C8D0E0"/>
                </a:solidFill>
                <a:latin typeface="Microsoft YaHei"/>
              </a:defRPr>
            </a:pPr>
            <a:r>
              <a:t>▸ SkinTokens 的 Qwen3-0.6B backbone 需从论文正文确认</a:t>
            </a:r>
          </a:p>
          <a:p>
            <a:pPr>
              <a:spcBef>
                <a:spcPts val="500"/>
              </a:spcBef>
              <a:defRPr sz="1000" b="0">
                <a:solidFill>
                  <a:srgbClr val="C8D0E0"/>
                </a:solidFill>
                <a:latin typeface="Microsoft YaHei"/>
              </a:defRPr>
            </a:pPr>
            <a:r>
              <a:t>▸ NeuroSkinning (2018) 论文标题明确使用 'Graph Convolution Network'，发表于 ACM TOG / SIGGRAPH Asia</a:t>
            </a:r>
          </a:p>
          <a:p>
            <a:pPr>
              <a:spcBef>
                <a:spcPts val="500"/>
              </a:spcBef>
              <a:defRPr sz="1000" b="0">
                <a:solidFill>
                  <a:srgbClr val="C8D0E0"/>
                </a:solidFill>
                <a:latin typeface="Microsoft YaHei"/>
              </a:defRPr>
            </a:pPr>
            <a:r>
              <a:t>▸ Bounded Biharmonic Weights (2011) 使用双调和方程 (Biharmonic)，非热方程 (Heat Equation)</a:t>
            </a:r>
          </a:p>
          <a:p>
            <a:pPr>
              <a:spcBef>
                <a:spcPts val="500"/>
              </a:spcBef>
              <a:defRPr sz="1000" b="0">
                <a:solidFill>
                  <a:srgbClr val="C8D0E0"/>
                </a:solidFill>
                <a:latin typeface="Microsoft YaHei"/>
              </a:defRPr>
            </a:pPr>
            <a:r>
              <a:t>▸ SkinTokens/TokenRig 目前为 arXiv 预印本 (2026年2月)，尚未经同行评审正式发表</a:t>
            </a:r>
          </a:p>
          <a:p>
            <a:pPr>
              <a:spcBef>
                <a:spcPts val="500"/>
              </a:spcBef>
              <a:defRPr sz="1000" b="0">
                <a:solidFill>
                  <a:srgbClr val="C8D0E0"/>
                </a:solidFill>
                <a:latin typeface="Microsoft YaHei"/>
              </a:defRPr>
            </a:pPr>
            <a:r>
              <a:t>▸ Objaverse 800K+ 中大部分为非铰接物体（家具/工具等），实际可用于 rig 训练的子集远小于总量</a:t>
            </a:r>
          </a:p>
          <a:p>
            <a:pPr>
              <a:spcBef>
                <a:spcPts val="500"/>
              </a:spcBef>
              <a:defRPr sz="1000" b="0">
                <a:solidFill>
                  <a:srgbClr val="C8D0E0"/>
                </a:solidFill>
                <a:latin typeface="Microsoft YaHei"/>
              </a:defRPr>
            </a:pPr>
            <a:r>
              <a:t>▸ 华为目前无独立 XR 头显产品，仅推出手机端 VR Glass (2019/2022)，PPT中的'鸿蒙XR'场景为前瞻性展望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533120" y="77724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E8CA8"/>
                </a:solidFill>
                <a:latin typeface="Microsoft YaHei"/>
              </a:defRPr>
            </a:pPr>
            <a: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20040"/>
            <a:ext cx="1828800" cy="508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280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参考资料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280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E8CA8"/>
                </a:solidFill>
                <a:latin typeface="Microsoft YaHei"/>
              </a:defRPr>
            </a:pPr>
            <a:r>
              <a:t>核心论文、开源项目与数据集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667512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核心论文:</a:t>
            </a:r>
          </a:p>
          <a:p>
            <a:pPr>
              <a:spcBef>
                <a:spcPts val="3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</a:p>
          <a:p>
            <a:pPr>
              <a:spcBef>
                <a:spcPts val="3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[1] Pinocchio (Baran &amp; Popović, SIGGRAPH 2007)</a:t>
            </a:r>
          </a:p>
          <a:p>
            <a:pPr>
              <a:spcBef>
                <a:spcPts val="3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[2] Bounded Biharmonic Weights (Jacobson et al., SIGGRAPH 2011)</a:t>
            </a:r>
          </a:p>
          <a:p>
            <a:pPr>
              <a:spcBef>
                <a:spcPts val="3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[3] NeuroSkinning (Wang et al., ACM TOG / SIG Asia 2018)</a:t>
            </a:r>
          </a:p>
          <a:p>
            <a:pPr>
              <a:spcBef>
                <a:spcPts val="3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[4] RigNet (Xu et al., SIGGRAPH 2020)</a:t>
            </a:r>
          </a:p>
          <a:p>
            <a:pPr>
              <a:spcBef>
                <a:spcPts val="3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[5] SkinningNet (CGF 2021) — 待进一步核实</a:t>
            </a:r>
          </a:p>
          <a:p>
            <a:pPr>
              <a:spcBef>
                <a:spcPts val="3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[6] Puppeteer (SIGGRAPH Asia 2023) — 学术方法</a:t>
            </a:r>
          </a:p>
          <a:p>
            <a:pPr>
              <a:spcBef>
                <a:spcPts val="3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[7] UniRig (Zhang et al., SIGGRAPH 2025)</a:t>
            </a:r>
          </a:p>
          <a:p>
            <a:pPr>
              <a:spcBef>
                <a:spcPts val="3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    arXiv:2504.12451</a:t>
            </a:r>
          </a:p>
          <a:p>
            <a:pPr>
              <a:spcBef>
                <a:spcPts val="3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[8] RigAnything (Liu et al., ACM TOG 2025)</a:t>
            </a:r>
          </a:p>
          <a:p>
            <a:pPr>
              <a:spcBef>
                <a:spcPts val="3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    arXiv:2502.09615</a:t>
            </a:r>
          </a:p>
          <a:p>
            <a:pPr>
              <a:spcBef>
                <a:spcPts val="3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[9] SkinTokens/TokenRig (Zhang et al., 2026)</a:t>
            </a:r>
          </a:p>
          <a:p>
            <a:pPr>
              <a:spcBef>
                <a:spcPts val="3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    arXiv:2602.04805 (预印本, 待正式发表)</a:t>
            </a:r>
          </a:p>
          <a:p>
            <a:pPr>
              <a:spcBef>
                <a:spcPts val="3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</a:p>
          <a:p>
            <a:pPr>
              <a:spcBef>
                <a:spcPts val="3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开源项目 (GitHub Star 统计截至 2026年4月):</a:t>
            </a:r>
          </a:p>
          <a:p>
            <a:pPr>
              <a:spcBef>
                <a:spcPts val="3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</a:p>
          <a:p>
            <a:pPr>
              <a:spcBef>
                <a:spcPts val="3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VAST-AI-Research/UniRig (1.6k+ ★)</a:t>
            </a:r>
          </a:p>
          <a:p>
            <a:pPr>
              <a:spcBef>
                <a:spcPts val="3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Isabella98Liu/RigAnything (141 ★)</a:t>
            </a:r>
          </a:p>
          <a:p>
            <a:pPr>
              <a:spcBef>
                <a:spcPts val="3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VAST-AI-Research/SkinTokens (130 ★)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1371600"/>
            <a:ext cx="667512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核心数据集:</a:t>
            </a:r>
          </a:p>
          <a:p>
            <a:pPr>
              <a:spcBef>
                <a:spcPts val="3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</a:p>
          <a:p>
            <a:pPr>
              <a:spcBef>
                <a:spcPts val="3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RigNet Dataset (~2,700 rigged models)</a:t>
            </a:r>
          </a:p>
          <a:p>
            <a:pPr>
              <a:spcBef>
                <a:spcPts val="3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Rig-XL (14,000+ rigged models)</a:t>
            </a:r>
          </a:p>
          <a:p>
            <a:pPr>
              <a:spcBef>
                <a:spcPts val="3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VRoid Hub (数千标准骨骼角色)</a:t>
            </a:r>
          </a:p>
          <a:p>
            <a:pPr>
              <a:spcBef>
                <a:spcPts val="3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Objaverse-XL (800K+ 3D models)</a:t>
            </a:r>
          </a:p>
          <a:p>
            <a:pPr>
              <a:spcBef>
                <a:spcPts val="3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Articulation-XL 2.0</a:t>
            </a:r>
          </a:p>
          <a:p>
            <a:pPr>
              <a:spcBef>
                <a:spcPts val="3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Deforming Things 4D</a:t>
            </a:r>
          </a:p>
          <a:p>
            <a:pPr>
              <a:spcBef>
                <a:spcPts val="3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</a:p>
          <a:p>
            <a:pPr>
              <a:spcBef>
                <a:spcPts val="3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商业平台:</a:t>
            </a:r>
          </a:p>
          <a:p>
            <a:pPr>
              <a:spcBef>
                <a:spcPts val="3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</a:p>
          <a:p>
            <a:pPr>
              <a:spcBef>
                <a:spcPts val="3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tripo3d.ai (Tripo / VAST AI)</a:t>
            </a:r>
          </a:p>
          <a:p>
            <a:pPr>
              <a:spcBef>
                <a:spcPts val="3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mixamo.com (Adobe)</a:t>
            </a:r>
          </a:p>
          <a:p>
            <a:pPr>
              <a:spcBef>
                <a:spcPts val="3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meshy.ai (Meshy)</a:t>
            </a:r>
          </a:p>
          <a:p>
            <a:pPr>
              <a:spcBef>
                <a:spcPts val="3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readyplayer.me (已被Netflix收购, 2026年关停)</a:t>
            </a:r>
          </a:p>
          <a:p>
            <a:pPr>
              <a:spcBef>
                <a:spcPts val="3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rodin.gen-4.ai (Rodin)</a:t>
            </a:r>
          </a:p>
          <a:p>
            <a:pPr>
              <a:spcBef>
                <a:spcPts val="3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</a:p>
          <a:p>
            <a:pPr>
              <a:spcBef>
                <a:spcPts val="3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市场数据来源:</a:t>
            </a:r>
          </a:p>
          <a:p>
            <a:pPr>
              <a:spcBef>
                <a:spcPts val="3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</a:p>
          <a:p>
            <a:pPr>
              <a:spcBef>
                <a:spcPts val="3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MRFR: 3D Digital Asset Market Report 2025</a:t>
            </a:r>
          </a:p>
          <a:p>
            <a:pPr>
              <a:spcBef>
                <a:spcPts val="3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Grand View Research: Virtual Human Market 2025</a:t>
            </a:r>
          </a:p>
          <a:p>
            <a:pPr>
              <a:spcBef>
                <a:spcPts val="300"/>
              </a:spcBef>
              <a:defRPr sz="1300" b="0">
                <a:solidFill>
                  <a:srgbClr val="C8D0E0"/>
                </a:solidFill>
                <a:latin typeface="Microsoft YaHei"/>
              </a:defRPr>
            </a:pPr>
            <a:r>
              <a:t>▸ 虚拟人 CAGR 40%+: Grand View Research 2025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0" y="7589520"/>
            <a:ext cx="7315200" cy="381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76809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E8CA8"/>
                </a:solidFill>
                <a:latin typeface="Microsoft YaHei"/>
              </a:defRPr>
            </a:pPr>
            <a:r>
              <a:t>xhyha insight team  |  v3.0  |  2026.05  |  Neural Auto-Skinning Technology Report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0" y="77724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E8CA8"/>
                </a:solidFill>
                <a:latin typeface="Microsoft YaHei"/>
              </a:defRPr>
            </a:pPr>
            <a:r>
              <a:t>20 /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