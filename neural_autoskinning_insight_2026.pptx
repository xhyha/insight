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0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7315200" cy="7315200"/>
          </a:xfrm>
          <a:prstGeom prst="ellipse">
            <a:avLst/>
          </a:prstGeom>
          <a:solidFill>
            <a:srgbClr val="0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4267200" cy="635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81600" y="2011680"/>
            <a:ext cx="4267200" cy="635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48800" y="2011680"/>
            <a:ext cx="4267200" cy="635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基于神经网络的 Auto-Skinning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4AA"/>
                </a:solidFill>
                <a:latin typeface="Calibri"/>
              </a:defRPr>
            </a:pPr>
            <a:r>
              <a:t>业界现状 · 技术架构 · 演进方向 · 应用价值 · 鸿蒙生态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2743200" cy="381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B9E"/>
                </a:solidFill>
                <a:latin typeface="Calibri"/>
              </a:defRPr>
            </a:pPr>
            <a:r>
              <a:t>Technology Insight Report  |  2026.05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B9E"/>
                </a:solidFill>
                <a:latin typeface="Calibri"/>
              </a:defRPr>
            </a:pPr>
            <a:r>
              <a:t>xhyha insight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5943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1A2A4A"/>
                </a:solidFill>
                <a:latin typeface="Calibri"/>
              </a:defRPr>
            </a:pPr>
            <a:r>
              <a:t>Neural Auto-Rigging</a:t>
            </a:r>
            <a:br/>
            <a:r>
              <a:t>Skeleton Prediction</a:t>
            </a:r>
            <a:br/>
            <a:r>
              <a:t>Skinning Weights</a:t>
            </a:r>
            <a:br/>
            <a:r>
              <a:t>3D AIGC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核心洞察摘要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3246120" cy="508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8CFF"/>
                </a:solidFill>
                <a:latin typeface="Calibri"/>
              </a:defRPr>
            </a:pPr>
            <a:r>
              <a:t>100-500x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效率提升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单角色绑骨时间从 8-40小时</a:t>
            </a:r>
            <a:br/>
            <a:r>
              <a:t>降至 10秒-5分钟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69080" y="1645920"/>
            <a:ext cx="3246120" cy="508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98-133%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精度提升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606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SkinTokens 相比上一代方案</a:t>
            </a:r>
            <a:br/>
            <a:r>
              <a:t>蒙皮权重精度大幅提升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0" y="1645920"/>
            <a:ext cx="3246120" cy="508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B5CF6"/>
                </a:solidFill>
                <a:latin typeface="Calibri"/>
              </a:defRPr>
            </a:pPr>
            <a:r>
              <a:t>$100B+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市场空间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606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3D内容创作 + 游戏开发</a:t>
            </a:r>
            <a:br/>
            <a:r>
              <a:t>+ 虚拟人 + 元宇宙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0996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09960" y="1645920"/>
            <a:ext cx="3246120" cy="508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9284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8C00"/>
                </a:solidFill>
                <a:latin typeface="Calibri"/>
              </a:defRPr>
            </a:pPr>
            <a:r>
              <a:t>$50-500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成本降低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2606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虚拟人制作从 $5K-$100K</a:t>
            </a:r>
            <a:br/>
            <a:r>
              <a:t>降至 $50-$500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1353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B0BCD4"/>
                </a:solidFill>
                <a:latin typeface="Calibri"/>
              </a:defRPr>
            </a:pPr>
            <a:r>
              <a:t>▸  Auto-Skinning 是 3D 角色动画管线的关键环节，神经网络方法正颠覆传统手工绑骨流程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2025-2026年进入爆发期：UniRig/RigAnything/SkinTokens 等方案将骨架+蒙皮统一为序列生成任务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与 Text-to-3D / Image-to-3D 生成式AI深度结合，形成「生成→绑骨→动画」端到端闭环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鸿蒙生态具备独特优势：分布式多设备协同 + NPU端侧推理 + ArkUI 3D引擎 + 华为云渲染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核心挑战：训练数据稀缺、非标准拓扑泛化、端侧部署效率、面部绑骨统一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什么是 Auto-Skinning？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从传统手工绑骨到神经网络自动化的范式转变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4D6A"/>
                </a:solidFill>
                <a:latin typeface="Calibri"/>
              </a:defRPr>
            </a:pPr>
            <a:r>
              <a:t>❌  传统蒙皮流程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1300" b="0">
                <a:solidFill>
                  <a:srgbClr val="B0BCD4"/>
                </a:solidFill>
                <a:latin typeface="Calibri"/>
              </a:defRPr>
            </a:pPr>
            <a:r>
              <a:t>1. 建模师创建 3D Mesh (数小时-数天)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2. TA 手动放置骨骼关节 (2-8小时)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3. 逐顶点手动刷蒙皮权重 (4-16小时)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4. 反复测试动画效果并调整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5. 单角色绑骨总耗时: 8-40 小时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6. 高技能门槛、结果不一致、不可规模化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  <a:latin typeface="Calibri"/>
              </a:defRPr>
            </a:pPr>
            <a:r>
              <a:t>✅  神经网络自动蒙皮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9456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1300" b="0">
                <a:solidFill>
                  <a:srgbClr val="B0BCD4"/>
                </a:solidFill>
                <a:latin typeface="Calibri"/>
              </a:defRPr>
            </a:pPr>
            <a:r>
              <a:t>1. 输入 3D Mesh (.glb/.obj/.fbx)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2. 几何编码器提取特征 (PointNet++/Transformer)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3. 自回归生成骨骼层次结构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4. Cross Attention 预测蒙皮权重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5. 输出带 Rig 的 3D 模型 → 即可直接使用动画</a:t>
            </a:r>
          </a:p>
          <a:p>
            <a:pPr>
              <a:spcBef>
                <a:spcPts val="6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6. 总耗时: 10秒 - 5分钟 / 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200400"/>
            <a:ext cx="731520" cy="508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438912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4389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66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Skeleton 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骨骼层次结构生成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338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77240" y="608990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自回归 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4593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BFS 序列化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79" y="5029200"/>
            <a:ext cx="438912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12079" y="5029200"/>
            <a:ext cx="4389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59" y="5166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Skinning Weights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5778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蒙皮权重预测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79" y="58338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440679" y="608990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Cross Attention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79" y="634593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FSQ-CVAE 离散化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19" y="5029200"/>
            <a:ext cx="438912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19" y="5029200"/>
            <a:ext cx="438912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399" y="5166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LBS Deformation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19" y="55778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线性混合蒙皮变形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4119" y="58338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10104119" y="608990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顶点变形 = Σ wi * Ti(v)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04119" y="634593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端到端质量验证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业界代表性成果时间线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从首个 GCN 方案到统一大模型的演进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3167360" cy="38100"/>
          </a:xfrm>
          <a:prstGeom prst="round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3520440"/>
            <a:ext cx="182880" cy="18288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8CFF"/>
                </a:solidFill>
                <a:latin typeface="Calibri"/>
              </a:defRPr>
            </a:pPr>
            <a:r>
              <a:t>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NeuroSkinning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8CFF"/>
                </a:solidFill>
                <a:latin typeface="Calibri"/>
              </a:defRPr>
            </a:pPr>
            <a:r>
              <a:t>ACM TOG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首个用 GCN 预测蒙皮权重</a:t>
            </a:r>
          </a:p>
        </p:txBody>
      </p:sp>
      <p:sp>
        <p:nvSpPr>
          <p:cNvPr id="13" name="Oval 12"/>
          <p:cNvSpPr/>
          <p:nvPr/>
        </p:nvSpPr>
        <p:spPr>
          <a:xfrm>
            <a:off x="3154680" y="3520440"/>
            <a:ext cx="182880" cy="18288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RigNet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206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4AA"/>
                </a:solidFill>
                <a:latin typeface="Calibri"/>
              </a:defRPr>
            </a:pPr>
            <a:r>
              <a:t>SIGGRAPH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480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端到端自动绑骨</a:t>
            </a:r>
            <a:br/>
            <a:r>
              <a:t>(PointNet++ + GNN)</a:t>
            </a:r>
          </a:p>
        </p:txBody>
      </p:sp>
      <p:sp>
        <p:nvSpPr>
          <p:cNvPr id="18" name="Oval 17"/>
          <p:cNvSpPr/>
          <p:nvPr/>
        </p:nvSpPr>
        <p:spPr>
          <a:xfrm>
            <a:off x="5120639" y="3520440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SkinningNet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4206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5CF6"/>
                </a:solidFill>
                <a:latin typeface="Calibri"/>
              </a:defRPr>
            </a:pPr>
            <a:r>
              <a:t>CGF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4480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改进 GNN 架构</a:t>
            </a:r>
            <a:br/>
            <a:r>
              <a:t>测地距离编码 + 注意力</a:t>
            </a:r>
          </a:p>
        </p:txBody>
      </p:sp>
      <p:sp>
        <p:nvSpPr>
          <p:cNvPr id="23" name="Oval 22"/>
          <p:cNvSpPr/>
          <p:nvPr/>
        </p:nvSpPr>
        <p:spPr>
          <a:xfrm>
            <a:off x="7086599" y="352044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19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19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Puppeteer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19" y="4206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8C00"/>
                </a:solidFill>
                <a:latin typeface="Calibri"/>
              </a:defRPr>
            </a:pPr>
            <a:r>
              <a:t>SIG Asia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480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Adobe 工业级方案</a:t>
            </a:r>
            <a:br/>
            <a:r>
              <a:t>Mixamo 大规模部署</a:t>
            </a:r>
          </a:p>
        </p:txBody>
      </p:sp>
      <p:sp>
        <p:nvSpPr>
          <p:cNvPr id="28" name="Oval 27"/>
          <p:cNvSpPr/>
          <p:nvPr/>
        </p:nvSpPr>
        <p:spPr>
          <a:xfrm>
            <a:off x="9052560" y="3520440"/>
            <a:ext cx="182880" cy="182880"/>
          </a:xfrm>
          <a:prstGeom prst="ellipse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76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UniRig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206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E676"/>
                </a:solidFill>
                <a:latin typeface="Calibri"/>
              </a:defRPr>
            </a:pPr>
            <a:r>
              <a:t>SIGGRAPH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480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统一大模型</a:t>
            </a:r>
            <a:br/>
            <a:r>
              <a:t>Skeleton Tree Tokenization</a:t>
            </a:r>
            <a:br/>
            <a:r>
              <a:t>215% 精度提升</a:t>
            </a:r>
          </a:p>
        </p:txBody>
      </p:sp>
      <p:sp>
        <p:nvSpPr>
          <p:cNvPr id="33" name="Oval 32"/>
          <p:cNvSpPr/>
          <p:nvPr/>
        </p:nvSpPr>
        <p:spPr>
          <a:xfrm>
            <a:off x="11018520" y="3520440"/>
            <a:ext cx="182880" cy="18288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7844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8CFF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RigAnything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40" y="4206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8CFF"/>
                </a:solidFill>
                <a:latin typeface="Calibri"/>
              </a:defRPr>
            </a:pPr>
            <a:r>
              <a:t>TOG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4480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无模板自回归</a:t>
            </a:r>
            <a:br/>
            <a:r>
              <a:t>BFS + 扩散模型</a:t>
            </a:r>
            <a:br/>
            <a:r>
              <a:t>秒级推理</a:t>
            </a:r>
          </a:p>
        </p:txBody>
      </p:sp>
      <p:sp>
        <p:nvSpPr>
          <p:cNvPr id="38" name="Oval 37"/>
          <p:cNvSpPr/>
          <p:nvPr/>
        </p:nvSpPr>
        <p:spPr>
          <a:xfrm>
            <a:off x="12984479" y="3520440"/>
            <a:ext cx="182880" cy="182880"/>
          </a:xfrm>
          <a:prstGeom prst="ellipse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44399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4D6A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399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SkinTokens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399" y="4206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4D6A"/>
                </a:solidFill>
                <a:latin typeface="Calibri"/>
              </a:defRPr>
            </a:pPr>
            <a:r>
              <a:t>arXiv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399" y="4480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FSQ-CVAE 离散化</a:t>
            </a:r>
            <a:br/>
            <a:r>
              <a:t>统一自回归 + RL 精调</a:t>
            </a:r>
            <a:br/>
            <a:r>
              <a:t>98-133% 精度提升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94360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工业界主要玩家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6309360"/>
            <a:ext cx="1828800" cy="381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6492240"/>
            <a:ext cx="21031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8640" y="6492240"/>
            <a:ext cx="2103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629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Tripo / VAST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7040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UniRig + SkinTokens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72969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最先进的开源方案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0360" y="6492240"/>
            <a:ext cx="21031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80360" y="6492240"/>
            <a:ext cx="2103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63240" y="6629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Adobe (Mixamo)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7040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Puppeteer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72969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人形专用 Web 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212079" y="6492240"/>
            <a:ext cx="21031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212079" y="6492240"/>
            <a:ext cx="2103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59" y="6629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Unity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0679" y="7040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AccuRIG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0679" y="72969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内置自动绑骨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43800" y="6492240"/>
            <a:ext cx="21031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543800" y="6492240"/>
            <a:ext cx="2103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26680" y="6629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Epic / Unreal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7040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MetaHuman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0" y="72969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高保真人形角色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75519" y="6492240"/>
            <a:ext cx="21031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875519" y="6492240"/>
            <a:ext cx="2103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399" y="6629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Meta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19" y="7040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SKEL / SMPL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19" y="72969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参数化人体建模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207240" y="6492240"/>
            <a:ext cx="21031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2207240" y="6492240"/>
            <a:ext cx="2103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90120" y="6629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Meshy / Rodin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435840" y="7040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3D AIGC 平台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435840" y="72969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集成自动绑骨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技术架构全景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基于自回归 Transformer 的统一 Auto-Rigging 流水线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82880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Input Mesh</a:t>
            </a:r>
            <a:br/>
            <a:r>
              <a:t>.glb/.obj/.fbx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2240280"/>
            <a:ext cx="457200" cy="38100"/>
          </a:xfrm>
          <a:prstGeom prst="round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1645920"/>
            <a:ext cx="182880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3736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Geometric</a:t>
            </a:r>
            <a:br/>
            <a:r>
              <a:t>Encoder</a:t>
            </a:r>
            <a:br/>
            <a:r>
              <a:t>PointNet++ / 3DS2VS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240280"/>
            <a:ext cx="457200" cy="38100"/>
          </a:xfrm>
          <a:prstGeom prst="round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1645920"/>
            <a:ext cx="182880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73736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Skeleton</a:t>
            </a:r>
            <a:br/>
            <a:r>
              <a:t>Generation</a:t>
            </a:r>
            <a:br/>
            <a:r>
              <a:t>Autoregressive TF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240280"/>
            <a:ext cx="457200" cy="38100"/>
          </a:xfrm>
          <a:prstGeom prst="round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1645920"/>
            <a:ext cx="182880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73736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Skinning</a:t>
            </a:r>
            <a:br/>
            <a:r>
              <a:t>Weights</a:t>
            </a:r>
            <a:br/>
            <a:r>
              <a:t>Cross 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2240280"/>
            <a:ext cx="457200" cy="38100"/>
          </a:xfrm>
          <a:prstGeom prst="round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1645920"/>
            <a:ext cx="182880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73736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Output</a:t>
            </a:r>
            <a:br/>
            <a:r>
              <a:t>Rigged Model</a:t>
            </a:r>
            <a:br/>
            <a:r>
              <a:t>.glb/.fbx/.vrm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74720"/>
            <a:ext cx="4480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474720"/>
            <a:ext cx="4480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6118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输入表示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233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PointNet++: 点云 (N×3 + 法线)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7939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3DShape2VecSet: 向量集表示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3542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Michelangelo: SDF / 点云编码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79145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spconv: 稀疏体素网格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04748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骨架: Tree Tokenization / BFS序列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3474720"/>
            <a:ext cx="4480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0" y="3474720"/>
            <a:ext cx="4480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0" y="36118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核心模型架构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40233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自回归 Transformer (OPT/Qwen3)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427939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图神经网络 (GCN/GAT)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453542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Bone-Point Cross Attention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79145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FSQ-CVAE 蒙皮权重离散化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7800" y="504748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扩散模型 (关节位置精修)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92640" y="3474720"/>
            <a:ext cx="4480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692640" y="3474720"/>
            <a:ext cx="4480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36118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训练与优化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1240" y="40233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L1/L2 蒙皮权重 Loss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427939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Cross Entropy (骨架 token)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453542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Geodesic Distance Loss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479145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LBS Deformation Loss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504748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GRPO 强化学习精调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00800"/>
            <a:ext cx="1371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核心数据集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766560"/>
            <a:ext cx="1371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RigNet (~2,700)  ·  Rig-XL (14,000+)  ·  VRoid Hub (数千)  ·  Objaverse-XL (800K+)  ·  Articulation-XL 2.0  ·  Deforming Things 4D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核心技术方案深度对比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2025-2026 年最新方案的关键技术突破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645920" cy="4572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840480" cy="4572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600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UniRig (2025)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554480"/>
            <a:ext cx="3840480" cy="4572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600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RigAnything (2025)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0" y="1554480"/>
            <a:ext cx="3840480" cy="4572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0" y="1600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SkinTokens (2026)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011680"/>
            <a:ext cx="164592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299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骨架表示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0116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20299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Skeleton Tree</a:t>
            </a:r>
            <a:br/>
            <a:r>
              <a:t>Tokenization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20116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0299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BFS 序列化</a:t>
            </a:r>
            <a:br/>
            <a:r>
              <a:t>+ 扩散模型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20116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20299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FSQ-CVAE</a:t>
            </a:r>
            <a:br/>
            <a:r>
              <a:t>统一 Token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697480"/>
            <a:ext cx="164592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7157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蒙皮方法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26974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0" y="27157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Bone-Point</a:t>
            </a:r>
            <a:br/>
            <a:r>
              <a:t>Cross Attention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26974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27157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几何特征回归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6974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27157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离散 SkinTokens</a:t>
            </a:r>
            <a:br/>
            <a:r>
              <a:t>自回归解码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383280"/>
            <a:ext cx="164592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4015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Backbone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94560" y="33832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0" y="34015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OPT (1.3B)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33832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0" y="34015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自定义 TF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75520" y="33832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60" y="34015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Qwen3-0.6B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069080"/>
            <a:ext cx="164592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0873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训练数据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94560" y="40690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6000" y="40873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Rig-XL</a:t>
            </a:r>
            <a:br/>
            <a:r>
              <a:t>(14K+)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0690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0" y="40873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RigNet +</a:t>
            </a:r>
            <a:br/>
            <a:r>
              <a:t>Objaverse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75520" y="40690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0" y="40873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Articulation-XL</a:t>
            </a:r>
            <a:br/>
            <a:r>
              <a:t>2.0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754880"/>
            <a:ext cx="164592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7731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通用性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94560" y="47548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86000" y="47731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人形/四足/</a:t>
            </a:r>
            <a:br/>
            <a:r>
              <a:t>海洋/昆虫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0" y="47548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47731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人形/四足/</a:t>
            </a:r>
            <a:br/>
            <a:r>
              <a:t>海洋/昆虫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75520" y="47548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0" y="47731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人形/四足/</a:t>
            </a:r>
            <a:br/>
            <a:r>
              <a:t>海洋/昆虫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440680"/>
            <a:ext cx="164592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4589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关键创新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194560" y="54406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286000" y="54589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215% 骨架精度</a:t>
            </a:r>
            <a:br/>
            <a:r>
              <a:t>194% 运动精度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0" y="54406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26480" y="54589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无模板</a:t>
            </a:r>
            <a:br/>
            <a:r>
              <a:t>秒级推理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54406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66960" y="54589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98-133% 蒙皮精度</a:t>
            </a:r>
            <a:br/>
            <a:r>
              <a:t>+ RL 精调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6126480"/>
            <a:ext cx="164592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1447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开源状态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94560" y="61264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86000" y="61447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GitHub 1.6k 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35040" y="61264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80" y="61447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GitHub 141 ★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75520" y="6126480"/>
            <a:ext cx="3840480" cy="68580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966960" y="61447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GitHub 130 ★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6812280"/>
            <a:ext cx="164592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6830568"/>
            <a:ext cx="146304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商业化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94560" y="68122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86000" y="68305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Tripo 3D 集成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035040" y="68122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26480" y="68305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学术方案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875520" y="6812280"/>
            <a:ext cx="3840480" cy="68580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66960" y="6830568"/>
            <a:ext cx="365760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Tripo 3D 集成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技术演进方向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从传统方法到大模型统一框架的五维演进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4480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CFF"/>
                </a:solidFill>
                <a:latin typeface="Calibri"/>
              </a:defRPr>
            </a:pPr>
            <a:r>
              <a:t>方法范式演进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传统方法 → 浅层学习 → 深度学习 → 大模型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Heat Map / Geodesic (2000s)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GCN 回归 (2017-2019)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端到端几何深度学习 (2020-2023)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776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自回归 Transformer + LLM (2024-2026)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55448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4480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1737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t>学习范式演进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全监督 → RL 精调 → 自监督/无监督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688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全监督: 依赖带 rig 标注的数据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9718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RL 精调: SkinTokens 用 GRPO 几何 reward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未来: 运动视频/3D扫描自监督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155448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84080" y="1554480"/>
            <a:ext cx="4480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1737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Calibri"/>
              </a:defRPr>
            </a:pPr>
            <a:r>
              <a:t>覆盖范围演进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人形专用 → 通用化（多物种）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4688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人形: Mixamo / SMPL / MetaHuman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9718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人形+四足: RigNet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通用: UniRig/RigAnything/SkinTokens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84632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5760" y="4846320"/>
            <a:ext cx="4480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Calibri"/>
              </a:defRPr>
            </a:pPr>
            <a:r>
              <a:t>与生成式AI融合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94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Text-to-Avatar → Auto-Rig → Animation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760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Meshy/Tripo/Rodin 已集成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636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Image-to-3D → 自动绑骨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7665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Video-to-Motion 端到端闭环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4920" y="484632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74920" y="4846320"/>
            <a:ext cx="448056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57800" y="5029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部署形态演进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5394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云端批处理 → 端侧实时推理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5760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当前: 1-10秒/模型 (GPU)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2636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趋势: 模型蒸馏/量化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67665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→  目标: 端侧实时交互式绑骨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当前核心挑战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限制 Auto-Skinning 规模化落地的关键瓶颈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4480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4480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泛化性不足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816352" cy="508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0116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非标准形态（变形虫、多臂怪物）效果不稳定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803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微小细节（手指、触角）骨骼精度不足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自回归生成可能产生不合理的骨骼连接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554480"/>
            <a:ext cx="4480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4480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细节保真度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2148840"/>
            <a:ext cx="2414016" cy="508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0116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3774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关节弯曲处（肩膀、膝盖）体积塌陷/穿插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8803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网络缺乏语义理解（手指应独立弯曲）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383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复杂区域绝对误差仍然可观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1554480"/>
            <a:ext cx="4480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0" y="1554480"/>
            <a:ext cx="4480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计算效率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6960" y="2148840"/>
            <a:ext cx="2212848" cy="508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41680" y="20116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8B5CF6"/>
                </a:solidFill>
                <a:latin typeface="Calibri"/>
              </a:defRPr>
            </a:pPr>
            <a:r>
              <a:t>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23774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模型需 8-14GB+ VRAM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8803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体素化预处理是计算瓶颈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3383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无法实时交互式绑骨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754880"/>
            <a:ext cx="4480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5760" y="4754880"/>
            <a:ext cx="4480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920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训练数据稀缺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3218688" cy="508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5212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8C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77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高质量带 rig 的 3D 数据极度稀缺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Rig-XL 仅 14K 模型，远少于图像领域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836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数据分布偏斜，非人形数据极少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4754880"/>
            <a:ext cx="4480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74920" y="4754880"/>
            <a:ext cx="4480560" cy="38100"/>
          </a:xfrm>
          <a:prstGeom prst="round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57800" y="48920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未解决问题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57800" y="5349240"/>
            <a:ext cx="3017520" cy="50800"/>
          </a:xfrm>
          <a:prstGeom prst="round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5212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4D6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9240" y="5577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二次运动（肌肉抖动、衣物物理）预测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6080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面部绑骨（BlendShape/FACS）与身体统一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65836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 Retargeting 闭环与交互式编辑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应用场景价值（一）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游戏 · 影视 · 虚拟人 · 元宇宙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6766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游戏开发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角色动画批量生产: 100-1000 角色/分钟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591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NPC 自动生成+绑骨，填充游戏世界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151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玩家自定义角色: 实时生成+驱骨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712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独立开发者: 无需 TA 即可完成角色绑定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绑骨环节效率提升 100-500x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5544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1554480"/>
            <a:ext cx="6766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6916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影视动画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1031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角色绑定效率从 8-40h → 10s-5min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3591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群集动画: 批量生成群演角色 rig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151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VFX 预览: 快速预览角色动画效果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28712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降低中小工作室制作门槛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1272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制作周期缩短 30-60%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4754880"/>
            <a:ext cx="6766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8920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虚拟人/数字人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3035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快速生成可驱动的虚拟形象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595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虚拟主播: 照片→3D→绑骨→直播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8155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企业代言人: 定制化虚拟形象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716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制作成本从 $5K-$100K → $50-$500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3276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虚拟人市场 $100B+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47548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06640" y="4754880"/>
            <a:ext cx="6766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48920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元宇宙/社交平台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3035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UGC 内容中的角色自动创建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55595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社交平台虚拟形象实时生成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58155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跨平台虚拟形象互通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60716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用户零门槛创建个性化角色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63276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UGC 内容爆发式增长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应用场景价值（二）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电商 · AR/VR · 医疗 · 教育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6766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电商/营销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虚拟试穿: 用户照片→3D人体→服装动画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591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3D 商品动态展示: 人物模特自动绑骨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151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虚拟主播带货: AI生成+实时驱动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712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个性化营销内容批量生成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转化率提升 40%+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5544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1554480"/>
            <a:ext cx="6766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6916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AR/VR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1031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实时角色驱动: 用户动作→虚拟角色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3591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表情迁移: 面部捕捉→3D表情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151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XR 社交: 虚拟形象实时互动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28712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沉浸式体验内容快速创建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1272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XR 内容生产成本降低 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4754880"/>
            <a:ext cx="6766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8920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医疗/运动科学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3035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人体运动分析: 标准骨骼→动作对比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595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康复训练: 患者动作→3D分析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8155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运动姿势矫正: 实时骨骼追踪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716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手术规划: 患者特异性骨骼模型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3276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精准医疗与运动科学数字化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4754880"/>
            <a:ext cx="676656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06640" y="4754880"/>
            <a:ext cx="6766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48920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教育/培训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3035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虚拟教师: AI生成教学角色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555955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模拟训练: 军事/消防/医疗场景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58155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历史场景重建: 角色动画快速生成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60716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互动式学习: 学生驱动虚拟角色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632764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沉浸式教育体验民主化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可视化场景价值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从工具到平台的全链路可视化能力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4480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实时 3D 预览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绑骨完成后即时预览动画效果，支持多种动画姿态实时切换，所见即所得的编辑体验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实时渲染绑骨后角色的多种姿态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支持姿态库一键切换预览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变形质量实时反馈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360° 旋转+缩放查看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55448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4480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AI+人工协同编辑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0116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AI 生成蒙皮权重热力图可视化，支持人工微调，可视化编辑器提供直觉式操作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6517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蒙皮权重热力图可视化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0175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笔刷工具精细调整权重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3832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AI 辅助建议最佳权重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7490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对比视图: AI vs 人工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155448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0" y="1554480"/>
            <a:ext cx="4480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质量诊断分析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0116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自动检测体积损失、穿插、扭曲等质量问题，可视化报告辅助快速定位和修复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6517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体积损失/穿插可视化检测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0175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扭曲区域高亮标注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3832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骨骼合理性验证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37490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自动化质量评分报告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84632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5760" y="4846320"/>
            <a:ext cx="4480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834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批量处理仪表板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3035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大规模角色绑定的进度监控和质量统计，支持批量任务管理和异常预警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943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批量任务进度实时监控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3093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质量统计与趋势分析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6751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异常模型自动预警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70408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处理效率优化建议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4846320"/>
            <a:ext cx="448056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74920" y="4846320"/>
            <a:ext cx="448056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57800" y="49834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跨平台渲染验证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53035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不同引擎/平台渲染一致性验证，确保 Unity/Unreal/WebGL/鸿蒙 ArkUI 渲染一致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49240" y="5943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多引擎渲染结果对比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9240" y="63093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差异高亮标注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66751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平台特性自动适配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70408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▸ 性能指标对比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鸿蒙生态价值（一）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分布式多设备协同 + 端侧AI推理 + 3D引擎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4480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4480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分布式多设备协同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手机拍摄 → 平板编辑 → 智慧屏展示 → XR 驱动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5915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同一 3D 角色在多设备无缝流转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1518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Auto-Skinning 一次绑骨，全设备可用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712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华为「1+8+N」全场景打通 3D 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真正的跨设备 3D 体验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554480"/>
            <a:ext cx="4480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554480"/>
            <a:ext cx="4480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MindSpore 端侧推理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103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Mate 系列 NPU 算力: 3-8 秒完成绑骨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35915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MindSpore Lite 模型量化部署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61518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隐私保护: 本地处理无需上传云端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8712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低延迟: 适合实时交互场景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12724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端侧 AI 能力差异化竞争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1554480"/>
            <a:ext cx="4480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554480"/>
            <a:ext cx="4480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16916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ArkUI 3D 引擎集成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2103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降低鸿蒙 3D 角色创作门槛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35915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内置 Auto-Rigging API: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61518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  Component3D.autoRig(mesh)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8712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开发者零 TA 知识即可创建动画角色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312724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价值: 鸿蒙 3D 生态繁荣的基石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389120"/>
            <a:ext cx="1371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鸿蒙 Auto-Skinning 技术架构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937760"/>
            <a:ext cx="13533120" cy="685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983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应用层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498348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鸿蒙原生游戏 | 社交/元宇宙 | XR应用 | 智慧屏互动 | 电商虚拟人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760720"/>
            <a:ext cx="13533120" cy="685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框架层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8064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ArkUI 3D | Auto-Rigging API | Animation API | 跨设备渲染同步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6583680"/>
            <a:ext cx="13533120" cy="685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629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Calibri"/>
              </a:defRPr>
            </a:pPr>
            <a:r>
              <a:t>AI层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662940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MindSpore Lite (端侧) | 华为云 ModelArts (云端) | 模型量化/蒸馏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7406640"/>
            <a:ext cx="13533120" cy="685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7452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硬件层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745236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麒麟/骁龙 NPU | GPU | 分布式软总线 | 星闪/ Wi-Fi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鸿蒙生态价值（二）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应用场景落地 × 技术路线图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676656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6766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鸿蒙原生游戏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开发者无需 TA 团队，使用 Auto-Rigging API 即可为游戏角色自动绑骨，大幅降低开发成本和周期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43200"/>
            <a:ext cx="676656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743200"/>
            <a:ext cx="6766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鸿蒙社交/元宇宙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用户创建个性化虚拟形象，照片→3D→绑骨→社交，端侧推理保护隐私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931920"/>
            <a:ext cx="676656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931920"/>
            <a:ext cx="6766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鸿蒙 XR (Vision)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8056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华为 Vision Pro 场景中的 3D 角色快速创建，手势/眼动驱动虚拟形象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120640"/>
            <a:ext cx="676656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5120640"/>
            <a:ext cx="6766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257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鸿蒙智慧屏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66928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家庭互动场景中的虚拟角色（健身教练、儿童教育），语音+动作驱动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6309360"/>
            <a:ext cx="676656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6309360"/>
            <a:ext cx="676656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华为云协同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85800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复杂模型云端绑骨 + 端侧实时渲染，分布式架构充分发挥鸿蒙优势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1554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鸿蒙 Auto-Skinning 技术路线图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0" y="2103120"/>
            <a:ext cx="6583680" cy="12801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80960" y="2103120"/>
            <a:ext cx="658368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0" y="2240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 个月 — 技术验证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265176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MindSpore Lite 模型适配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290779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ArkUI 3D 基础 API 设计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163824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端侧推理 POC 验证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3566160"/>
            <a:ext cx="6583680" cy="12801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80960" y="3566160"/>
            <a:ext cx="658368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37033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12 个月 — 核心能力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411480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Auto-Rigging API 发布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437083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人形角色自动绑骨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4626864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DevEco Studio 插件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60" y="5029200"/>
            <a:ext cx="6583680" cy="12801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80960" y="5029200"/>
            <a:ext cx="658368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51663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24 个月 — 通用化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9560" y="557784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多物种通用绑骨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583387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端侧实时推理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6089904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面部+身体统一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80960" y="6492240"/>
            <a:ext cx="6583680" cy="12801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0" y="6492240"/>
            <a:ext cx="658368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0" y="66294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36 个月 — 生态成熟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9560" y="7040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完整 3D 创作工具链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729691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跨设备协同绑骨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7552944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• UGC 生态闭环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市场竞争格局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差异化定位与鸿蒙生态竞争优势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市场规模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011680"/>
            <a:ext cx="457200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011680"/>
            <a:ext cx="45720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60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3D 内容创作市场: $40B+ (2025)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游戏开发工具市场: $25B+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723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虚拟人/数字人市场: $20B+ (2025)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284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元宇宙/UGC 平台: $15B+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8444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总可触达市场 (TAM): $100B+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竞争者对比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2011680"/>
            <a:ext cx="1828800" cy="41148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9240" y="20391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玩家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2011680"/>
            <a:ext cx="2560320" cy="41148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203911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技术方案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2011680"/>
            <a:ext cx="1371600" cy="41148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覆盖范围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64240" y="2011680"/>
            <a:ext cx="1371600" cy="41148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09960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开放性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2423160"/>
            <a:ext cx="18288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44144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Tripo / VAST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2423160"/>
            <a:ext cx="256032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UniRig + SkinTokens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2423160"/>
            <a:ext cx="13716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360" y="2441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通用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2423160"/>
            <a:ext cx="13716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09960" y="2441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开源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20" y="2788920"/>
            <a:ext cx="18288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28072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Adobe / Mixamo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0" y="2788920"/>
            <a:ext cx="256032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2807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Puppeteer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2640" y="2788920"/>
            <a:ext cx="13716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28072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人形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064240" y="2788920"/>
            <a:ext cx="13716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09960" y="28072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商业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3154680"/>
            <a:ext cx="18288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9240" y="31729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Unity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0" y="3154680"/>
            <a:ext cx="256032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1729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AccuRIG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3154680"/>
            <a:ext cx="13716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8360" y="31729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人形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064240" y="3154680"/>
            <a:ext cx="13716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109960" y="31729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内置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03520" y="3520440"/>
            <a:ext cx="18288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49240" y="353872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Epic / Unreal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32320" y="3520440"/>
            <a:ext cx="256032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78040" y="35387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MetaHuman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92640" y="3520440"/>
            <a:ext cx="13716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38360" y="35387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人形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3520440"/>
            <a:ext cx="13716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09960" y="35387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商业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303520" y="3886200"/>
            <a:ext cx="18288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39044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Meshy / Rodin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3886200"/>
            <a:ext cx="256032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3904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3D AIGC + Rig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92640" y="3886200"/>
            <a:ext cx="13716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38360" y="39044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通用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064240" y="3886200"/>
            <a:ext cx="1371600" cy="365760"/>
          </a:xfrm>
          <a:prstGeom prst="round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109960" y="39044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商业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303520" y="4251960"/>
            <a:ext cx="18288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49240" y="427024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676"/>
                </a:solidFill>
                <a:latin typeface="Calibri"/>
              </a:defRPr>
            </a:pPr>
            <a:r>
              <a:t>鸿蒙 (潜在)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132320" y="4251960"/>
            <a:ext cx="256032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78040" y="42702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MindSpore + ArkUI 3D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692640" y="4251960"/>
            <a:ext cx="13716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38360" y="42702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通用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064240" y="4251960"/>
            <a:ext cx="1371600" cy="365760"/>
          </a:xfrm>
          <a:prstGeom prst="round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109960" y="42702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生态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5212080"/>
            <a:ext cx="1353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鸿蒙生态 6 大差异化优势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57784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65760" y="5760720"/>
            <a:ext cx="2103120" cy="20116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65760" y="5760720"/>
            <a:ext cx="2103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864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分布式架构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6309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多设备协同绑骨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0" y="65653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全场景无缝流转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697479" y="5760720"/>
            <a:ext cx="2103120" cy="20116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2697479" y="5760720"/>
            <a:ext cx="2103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80359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NPU 端侧推理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26079" y="6309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3-8秒完成绑骨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26079" y="65653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隐私保护+低延迟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029200" y="5760720"/>
            <a:ext cx="2103120" cy="20116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029200" y="5760720"/>
            <a:ext cx="2103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ArkUI 3D 原生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257800" y="6309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系统级 3D 引擎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57800" y="65653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零门槛 API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360919" y="5760720"/>
            <a:ext cx="2103120" cy="20116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360919" y="5760720"/>
            <a:ext cx="2103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43799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华为云协同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589519" y="6309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云端训练+端侧推理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89519" y="65653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算力弹性调度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692640" y="5760720"/>
            <a:ext cx="2103120" cy="20116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692640" y="5760720"/>
            <a:ext cx="2103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87552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鸿蒙设备规模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21240" y="6309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10亿+ 设备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921240" y="65653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海量用户基础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2024360" y="5760720"/>
            <a:ext cx="2103120" cy="20116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2024360" y="5760720"/>
            <a:ext cx="2103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207240" y="5897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全栈自主可控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252960" y="6309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芯片→框架→引擎→应用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252960" y="65653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完整技术栈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总结与展望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Auto-Skinning 的未来 1-3 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8CFF"/>
                </a:solidFill>
                <a:latin typeface="Calibri"/>
              </a:defRPr>
            </a:pPr>
            <a:r>
              <a:t>核心洞察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defRPr sz="1300" b="0">
                <a:solidFill>
                  <a:srgbClr val="B0BCD4"/>
                </a:solidFill>
                <a:latin typeface="Calibri"/>
              </a:defRPr>
            </a:pPr>
            <a:r>
              <a:t>1. Auto-Skinning 正在从学术研究走向工业级成熟，2025-2026 年是关键拐点</a:t>
            </a:r>
          </a:p>
          <a:p>
            <a:pPr>
              <a:spcBef>
                <a:spcPts val="8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2. 自回归 Transformer + LLM backbone 成为新的技术范式，统一骨架+蒙皮为序列生成任务</a:t>
            </a:r>
          </a:p>
          <a:p>
            <a:pPr>
              <a:spcBef>
                <a:spcPts val="8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3. 3D AIGC 爆发使自动绑骨成为刚需，是 Text-to-3D → Animation 的关键桥梁</a:t>
            </a:r>
          </a:p>
          <a:p>
            <a:pPr>
              <a:spcBef>
                <a:spcPts val="8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4. 开源生态活跃（UniRig 1.6k★, RigAnything, SkinTokens），技术普惠化加速</a:t>
            </a:r>
          </a:p>
          <a:p>
            <a:pPr>
              <a:spcBef>
                <a:spcPts val="800"/>
              </a:spcBef>
              <a:defRPr sz="1300">
                <a:solidFill>
                  <a:srgbClr val="B0BCD4"/>
                </a:solidFill>
                <a:latin typeface="Calibri"/>
              </a:defRPr>
            </a:pPr>
            <a:r>
              <a:t>5. 鸿蒙生态具备独特优势：分布式+NPU+3D引擎，有望在端侧 Auto-Skinning 领域领先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t>未来 1-3 年预期突破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2011680"/>
            <a:ext cx="137160" cy="54864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CFF"/>
                </a:solidFill>
                <a:latin typeface="Calibri"/>
              </a:defRPr>
            </a:pPr>
            <a:r>
              <a:t>数据规模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011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100K+ 级别 rig 数据集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788920"/>
            <a:ext cx="137160" cy="54864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推理速度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788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端侧实时推理（模型蒸馏/量化）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3566160"/>
            <a:ext cx="137160" cy="54864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统一绑骨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566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面部 + 身体 + 衣物一体化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4343400"/>
            <a:ext cx="137160" cy="5486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端到端闭环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4343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Video-to-Motion 全流程打通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5120640"/>
            <a:ext cx="137160" cy="54864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5120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DCC集成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5120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Maya/Blender/DevEco 原生插件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5897880"/>
            <a:ext cx="137160" cy="548640"/>
          </a:xfrm>
          <a:prstGeom prst="round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5897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D6A"/>
                </a:solidFill>
                <a:latin typeface="Calibri"/>
              </a:defRPr>
            </a:pPr>
            <a:r>
              <a:t>多模态输入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5897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文本/图片/视频→3D角色+动画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669280"/>
            <a:ext cx="13898880" cy="2103120"/>
          </a:xfrm>
          <a:prstGeom prst="roundRect">
            <a:avLst/>
          </a:prstGeom>
          <a:solidFill>
            <a:srgbClr val="0A1832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316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t>建议行动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09360"/>
            <a:ext cx="1316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300" b="0">
                <a:solidFill>
                  <a:srgbClr val="FFFFFF"/>
                </a:solidFill>
                <a:latin typeface="Calibri"/>
              </a:defRPr>
            </a:pPr>
            <a:r>
              <a:t>① 立即启动鸿蒙 Auto-Skinning POC，基于 UniRig 开源方案适配 MindSpore</a:t>
            </a:r>
          </a:p>
          <a:p>
            <a:pPr>
              <a:spcBef>
                <a:spcPts val="5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② 联合清华大学/VAST AI 团队，参与 SkinTokens 开源社区，共建鸿蒙生态分支</a:t>
            </a:r>
          </a:p>
          <a:p>
            <a:pPr>
              <a:spcBef>
                <a:spcPts val="5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③ 在 ArkUI 3D 引擎中规划 Auto-Rigging API，作为鸿蒙原生 3D 开发的核心差异化能力</a:t>
            </a:r>
          </a:p>
          <a:p>
            <a:pPr>
              <a:spcBef>
                <a:spcPts val="5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④ 启动鸿蒙端侧 NPU 推理优化专项，目标 Mate 系列设备 3 秒内完成人形角色绑骨</a:t>
            </a:r>
          </a:p>
          <a:p>
            <a:pPr>
              <a:spcBef>
                <a:spcPts val="5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⑤ 规划鸿蒙 3D 内容创作者工具链，打造「照片→3D→绑骨→动画」一体化体验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参考资料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核心论文、开源项目与数据集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4008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核心论文: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[1] NeuroSkinning (ACM TOG 2017)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[2] RigNet: Neural Rigging (SIGGRAPH 2020)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[3] SkinningNet (CGF 2021)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[4] Puppeteer (SIGGRAPH Asia 2023)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[5] UniRig (SIGGRAPH 2025, arXiv:2504.12451)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[6] RigAnything (SIGGRAPH TOG 2025, arXiv:2502.09615)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[7] SkinTokens/TokenRig (arXiv 2026)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开源项目: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github.com/VAST-AI-Research/UniRig (1.6k★)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github.com/Isabella98Liu/RigAnything (141★)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github.com/VAST-AI-Research/SkinTokens (130★)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64008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核心数据集: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RigNet Dataset (~2,700 rigged models)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Rig-XL (14,000+ rigged models)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VRoid Hub (数千标准骨骼角色)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Objaverse-XL (800K+ 3D models)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Articulation-XL 2.0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Deforming Things 4D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商业平台: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tripo3d.ai (Tripo/VAST AI)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mixamo.com (Adobe)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meshy.ai (Meshy)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readyplayer.me</a:t>
            </a:r>
          </a:p>
          <a:p>
            <a:pPr>
              <a:spcBef>
                <a:spcPts val="300"/>
              </a:spcBef>
              <a:defRPr sz="1200" b="0">
                <a:solidFill>
                  <a:srgbClr val="B0BCD4"/>
                </a:solidFill>
                <a:latin typeface="Calibri"/>
              </a:defRPr>
            </a:pPr>
            <a:r>
              <a:t>▸ rodin.gen-4.ai (Rodin)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7589520"/>
            <a:ext cx="2438400" cy="381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0" y="7589520"/>
            <a:ext cx="24384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34400" y="7589520"/>
            <a:ext cx="24384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772667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B9E"/>
                </a:solidFill>
                <a:latin typeface="Calibri"/>
              </a:defRPr>
            </a:pPr>
            <a:r>
              <a:t>xhyha insight team  |  2026.05  |  Neural Auto-Skinning Technology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