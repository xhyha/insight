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3840480" cy="365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914400"/>
            <a:ext cx="100584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D9488"/>
                </a:solidFill>
                <a:latin typeface="Microsoft YaHei"/>
              </a:rPr>
              <a:t>手机主题生态 · 主题引擎能力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972800" cy="1463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200" b="1">
                <a:solidFill>
                  <a:srgbClr val="161B2E"/>
                </a:solidFill>
                <a:latin typeface="Microsoft YaHei"/>
              </a:rPr>
              <a:t>手机主题现状与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200" b="1">
                <a:solidFill>
                  <a:srgbClr val="161B2E"/>
                </a:solidFill>
                <a:latin typeface="Microsoft YaHei"/>
              </a:rPr>
              <a:t>主题引擎能力洞察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200400"/>
            <a:ext cx="1005840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>
                <a:solidFill>
                  <a:srgbClr val="6B7280"/>
                </a:solidFill>
                <a:latin typeface="Microsoft YaHei"/>
              </a:rPr>
              <a:t>从 Material You 动态取色到 AI 生成主题 —— 各厂商主题引擎能力全景拆解与趋势研判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4114800"/>
            <a:ext cx="2788920" cy="438912"/>
          </a:xfrm>
          <a:prstGeom prst="roundRect">
            <a:avLst>
              <a:gd name="adj" fmla="val 30000"/>
            </a:avLst>
          </a:prstGeom>
          <a:solidFill>
            <a:srgbClr val="F7F9FC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4133087"/>
            <a:ext cx="2788920" cy="43891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2563EB"/>
                </a:solidFill>
                <a:latin typeface="Microsoft YaHei"/>
              </a:rPr>
              <a:t>Material You / Monet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22192" y="4114800"/>
            <a:ext cx="2048256" cy="438912"/>
          </a:xfrm>
          <a:prstGeom prst="roundRect">
            <a:avLst>
              <a:gd name="adj" fmla="val 30000"/>
            </a:avLst>
          </a:prstGeom>
          <a:solidFill>
            <a:srgbClr val="F7F9FC"/>
          </a:solidFill>
          <a:ln w="12700">
            <a:solidFill>
              <a:srgbClr val="C700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22192" y="4133087"/>
            <a:ext cx="2048256" cy="43891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C7000B"/>
                </a:solidFill>
                <a:latin typeface="Microsoft YaHei"/>
              </a:rPr>
              <a:t>HarmonyOS 主题引擎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4114800"/>
            <a:ext cx="1554480" cy="438912"/>
          </a:xfrm>
          <a:prstGeom prst="roundRect">
            <a:avLst>
              <a:gd name="adj" fmla="val 30000"/>
            </a:avLst>
          </a:prstGeom>
          <a:solidFill>
            <a:srgbClr val="F7F9FC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35040" y="4133087"/>
            <a:ext cx="1554480" cy="43891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EA580C"/>
                </a:solidFill>
                <a:latin typeface="Microsoft YaHei"/>
              </a:rPr>
              <a:t>HyperOS 主题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54112" y="4114800"/>
            <a:ext cx="1801368" cy="438912"/>
          </a:xfrm>
          <a:prstGeom prst="roundRect">
            <a:avLst>
              <a:gd name="adj" fmla="val 30000"/>
            </a:avLst>
          </a:prstGeom>
          <a:solidFill>
            <a:srgbClr val="F7F9FC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54112" y="4133087"/>
            <a:ext cx="1801368" cy="43891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7C3AED"/>
                </a:solidFill>
                <a:latin typeface="Microsoft YaHei"/>
              </a:rPr>
              <a:t>OriginOS 变形器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4681728"/>
            <a:ext cx="2295144" cy="438912"/>
          </a:xfrm>
          <a:prstGeom prst="roundRect">
            <a:avLst>
              <a:gd name="adj" fmla="val 30000"/>
            </a:avLst>
          </a:prstGeom>
          <a:solidFill>
            <a:srgbClr val="F7F9FC"/>
          </a:solidFill>
          <a:ln w="127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700016"/>
            <a:ext cx="2295144" cy="43891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059669"/>
                </a:solidFill>
                <a:latin typeface="Microsoft YaHei"/>
              </a:rPr>
              <a:t>One UI Good Lock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28416" y="4681728"/>
            <a:ext cx="1060704" cy="438912"/>
          </a:xfrm>
          <a:prstGeom prst="roundRect">
            <a:avLst>
              <a:gd name="adj" fmla="val 30000"/>
            </a:avLst>
          </a:prstGeom>
          <a:solidFill>
            <a:srgbClr val="F7F9FC"/>
          </a:solidFill>
          <a:ln w="127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28416" y="4700016"/>
            <a:ext cx="1060704" cy="43891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0D9488"/>
                </a:solidFill>
                <a:latin typeface="Microsoft YaHei"/>
              </a:rPr>
              <a:t>动态取色引擎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53712" y="4681728"/>
            <a:ext cx="1184148" cy="438912"/>
          </a:xfrm>
          <a:prstGeom prst="roundRect">
            <a:avLst>
              <a:gd name="adj" fmla="val 30000"/>
            </a:avLst>
          </a:prstGeom>
          <a:solidFill>
            <a:srgbClr val="F7F9FC"/>
          </a:solidFill>
          <a:ln w="12700">
            <a:solidFill>
              <a:srgbClr val="C282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53712" y="4700016"/>
            <a:ext cx="1184148" cy="43891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C2820A"/>
                </a:solidFill>
                <a:latin typeface="Microsoft YaHei"/>
              </a:rPr>
              <a:t>AI 生成主题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02452" y="4681728"/>
            <a:ext cx="1184148" cy="438912"/>
          </a:xfrm>
          <a:prstGeom prst="roundRect">
            <a:avLst>
              <a:gd name="adj" fmla="val 30000"/>
            </a:avLst>
          </a:prstGeom>
          <a:solidFill>
            <a:srgbClr val="F7F9FC"/>
          </a:solidFill>
          <a:ln w="12700">
            <a:solidFill>
              <a:srgbClr val="C700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02452" y="4700016"/>
            <a:ext cx="1184148" cy="43891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C7000B"/>
                </a:solidFill>
                <a:latin typeface="Microsoft YaHei"/>
              </a:rPr>
              <a:t>主题设计师生态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5989320"/>
            <a:ext cx="109728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6B7280"/>
                </a:solidFill>
                <a:latin typeface="Microsoft YaHei"/>
              </a:rPr>
              <a:t>出品：xhyha/insight · 数据源：Wikipedia(AOSP/Android/各OS) · Google Blog · hyperos.mi.com（已逐条核验）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47120" y="6473952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1/22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" y="6473952"/>
            <a:ext cx="6400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手机主题现状与主题引擎能力洞察 · xhyha/insight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384048"/>
            <a:ext cx="118872" cy="868680"/>
          </a:xfrm>
          <a:prstGeom prst="roundRect">
            <a:avLst>
              <a:gd name="adj" fmla="val 2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7C3AED"/>
                </a:solidFill>
                <a:latin typeface="Microsoft YaHei"/>
              </a:rPr>
              <a:t>CONTENTS · 报告导航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58368"/>
            <a:ext cx="109728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161B2E"/>
                </a:solidFill>
                <a:latin typeface="Microsoft YaHei"/>
              </a:rPr>
              <a:t>五大板块 · 全景拆解主题生态与引擎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63040"/>
            <a:ext cx="10561320" cy="86868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463040"/>
            <a:ext cx="91440" cy="868680"/>
          </a:xfrm>
          <a:prstGeom prst="roundRect">
            <a:avLst>
              <a:gd name="adj" fmla="val 2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554480"/>
            <a:ext cx="109728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7C3AED"/>
                </a:solidFill>
                <a:latin typeface="Microsoft YaHe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4560" y="1572768"/>
            <a:ext cx="804672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61B2E"/>
                </a:solidFill>
                <a:latin typeface="Microsoft YaHei"/>
              </a:rPr>
              <a:t>主题生态全景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1938528"/>
            <a:ext cx="8229600" cy="34747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6B7280"/>
                </a:solidFill>
                <a:latin typeface="Microsoft YaHei"/>
              </a:rPr>
              <a:t>各厂商能力矩阵 · Google Material You 引擎范式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423160"/>
            <a:ext cx="10561320" cy="86868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60" y="2423160"/>
            <a:ext cx="91440" cy="868680"/>
          </a:xfrm>
          <a:prstGeom prst="roundRect">
            <a:avLst>
              <a:gd name="adj" fmla="val 20000"/>
            </a:avLst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2514600"/>
            <a:ext cx="109728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C7000B"/>
                </a:solidFill>
                <a:latin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2532888"/>
            <a:ext cx="804672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61B2E"/>
                </a:solidFill>
                <a:latin typeface="Microsoft YaHei"/>
              </a:rPr>
              <a:t>中国厂商主题生态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2898648"/>
            <a:ext cx="8229600" cy="34747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6B7280"/>
                </a:solidFill>
                <a:latin typeface="Microsoft YaHei"/>
              </a:rPr>
              <a:t>华为 · 小米 · vivo · OPPO 主题引擎拆解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383280"/>
            <a:ext cx="10561320" cy="86868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2960" y="3383280"/>
            <a:ext cx="91440" cy="868680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3474720"/>
            <a:ext cx="109728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0D9488"/>
                </a:solidFill>
                <a:latin typeface="Microsoft YaHe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94560" y="3493008"/>
            <a:ext cx="804672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61B2E"/>
                </a:solidFill>
                <a:latin typeface="Microsoft YaHei"/>
              </a:rPr>
              <a:t>引擎技术能力拆解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4560" y="3858768"/>
            <a:ext cx="8229600" cy="34747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6B7280"/>
                </a:solidFill>
                <a:latin typeface="Microsoft YaHei"/>
              </a:rPr>
              <a:t>动态取色 · 图标引擎 · 息屏壁纸 · AI 主题 · 包格式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4343400"/>
            <a:ext cx="10561320" cy="86868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22960" y="4343400"/>
            <a:ext cx="91440" cy="868680"/>
          </a:xfrm>
          <a:prstGeom prst="roundRect">
            <a:avLst>
              <a:gd name="adj" fmla="val 20000"/>
            </a:avLst>
          </a:prstGeom>
          <a:solidFill>
            <a:srgbClr val="C2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4434840"/>
            <a:ext cx="109728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C2820A"/>
                </a:solidFill>
                <a:latin typeface="Microsoft YaHei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4560" y="4453128"/>
            <a:ext cx="804672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61B2E"/>
                </a:solidFill>
                <a:latin typeface="Microsoft YaHei"/>
              </a:rPr>
              <a:t>商业与创作者生态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94560" y="4818888"/>
            <a:ext cx="8229600" cy="34747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6B7280"/>
                </a:solidFill>
                <a:latin typeface="Microsoft YaHei"/>
              </a:rPr>
              <a:t>主题商店模式 · 设计师生态 · 分成机制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5303520"/>
            <a:ext cx="10561320" cy="86868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22960" y="5303520"/>
            <a:ext cx="91440" cy="868680"/>
          </a:xfrm>
          <a:prstGeom prst="roundRect">
            <a:avLst>
              <a:gd name="adj" fmla="val 2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97280" y="5394959"/>
            <a:ext cx="109728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059669"/>
                </a:solidFill>
                <a:latin typeface="Microsoft YaHei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94560" y="5413248"/>
            <a:ext cx="804672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61B2E"/>
                </a:solidFill>
                <a:latin typeface="Microsoft YaHei"/>
              </a:rPr>
              <a:t>趋势与启示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94560" y="5779008"/>
            <a:ext cx="8229600" cy="34747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6B7280"/>
                </a:solidFill>
                <a:latin typeface="Microsoft YaHei"/>
              </a:rPr>
              <a:t>动态化收敛 · AI 主题 · Apple 鸿沟 · 华为启示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" y="6281927"/>
            <a:ext cx="10561320" cy="566928"/>
          </a:xfrm>
          <a:prstGeom prst="roundRect">
            <a:avLst>
              <a:gd name="adj" fmla="val 6000"/>
            </a:avLst>
          </a:prstGeom>
          <a:solidFill>
            <a:srgbClr val="EFF3F9"/>
          </a:solidFill>
          <a:ln w="127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51560" y="6327648"/>
            <a:ext cx="100584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0D9488"/>
                </a:solidFill>
                <a:latin typeface="Microsoft YaHei"/>
              </a:rPr>
              <a:t>📌 核验说明：</a:t>
            </a:r>
            <a:r>
              <a:rPr sz="950" b="0">
                <a:solidFill>
                  <a:srgbClr val="6B7280"/>
                </a:solidFill>
                <a:latin typeface="Microsoft YaHei"/>
              </a:rPr>
              <a:t>核心事实经 Wikipedia 与官方文档交叉核验。少数厂商功能页(万象息屏/灵动壁纸)因 JS 渲染无法抓取，已标注待核实。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47120" y="6473952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2/22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0040" y="6473952"/>
            <a:ext cx="6400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手机主题现状与主题引擎能力洞察 · xhyha/insight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91695" cy="36576"/>
          </a:xfrm>
          <a:prstGeom prst="rect">
            <a:avLst/>
          </a:prstGeom>
          <a:solidFill>
            <a:srgbClr val="C4C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434840"/>
            <a:ext cx="12191695" cy="36576"/>
          </a:xfrm>
          <a:prstGeom prst="rect">
            <a:avLst/>
          </a:prstGeom>
          <a:solidFill>
            <a:srgbClr val="C4C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468880"/>
            <a:ext cx="4572000" cy="11887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800" b="1">
                <a:solidFill>
                  <a:srgbClr val="7C3AED"/>
                </a:solidFill>
                <a:latin typeface="Microsoft YaHe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2697480"/>
            <a:ext cx="86868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7C3AED"/>
                </a:solidFill>
                <a:latin typeface="Microsoft YaHei"/>
              </a:rPr>
              <a:t>THEME ECOSYSTEM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3108960"/>
            <a:ext cx="914400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161B2E"/>
                </a:solidFill>
                <a:latin typeface="Microsoft YaHei"/>
              </a:rPr>
              <a:t>主题生态全景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3886200"/>
            <a:ext cx="841248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374151"/>
                </a:solidFill>
                <a:latin typeface="Microsoft YaHei"/>
              </a:rPr>
              <a:t>各厂商主题能力矩阵对比 · Material You 引擎范式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73952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3/22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6473952"/>
            <a:ext cx="6400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手机主题现状与主题引擎能力洞察 · xhyha/insight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384048"/>
            <a:ext cx="118872" cy="868680"/>
          </a:xfrm>
          <a:prstGeom prst="roundRect">
            <a:avLst>
              <a:gd name="adj" fmla="val 2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7C3AED"/>
                </a:solidFill>
                <a:latin typeface="Microsoft YaHei"/>
              </a:rPr>
              <a:t>01 · 主题生态全景  |  能力矩阵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58368"/>
            <a:ext cx="109728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161B2E"/>
                </a:solidFill>
                <a:latin typeface="Microsoft YaHei"/>
              </a:rPr>
              <a:t>各厂商主题能力对比矩阵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08760"/>
            <a:ext cx="10561320" cy="457200"/>
          </a:xfrm>
          <a:prstGeom prst="roundRect">
            <a:avLst>
              <a:gd name="adj" fmla="val 6000"/>
            </a:avLst>
          </a:prstGeom>
          <a:solidFill>
            <a:srgbClr val="EFF3F9"/>
          </a:solidFill>
          <a:ln w="12700">
            <a:solidFill>
              <a:srgbClr val="C4CF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81912"/>
            <a:ext cx="141732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161B2E"/>
                </a:solidFill>
                <a:latin typeface="Microsoft YaHei"/>
              </a:rPr>
              <a:t>厂商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1581912"/>
            <a:ext cx="146304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161B2E"/>
                </a:solidFill>
                <a:latin typeface="Microsoft YaHei"/>
              </a:rPr>
              <a:t>主题商店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49040" y="1581912"/>
            <a:ext cx="13716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161B2E"/>
                </a:solidFill>
                <a:latin typeface="Microsoft YaHei"/>
              </a:rPr>
              <a:t>动态取色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1581912"/>
            <a:ext cx="128016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161B2E"/>
                </a:solidFill>
                <a:latin typeface="Microsoft YaHei"/>
              </a:rPr>
              <a:t>图标主题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581912"/>
            <a:ext cx="13716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161B2E"/>
                </a:solidFill>
                <a:latin typeface="Microsoft YaHei"/>
              </a:rPr>
              <a:t>自定义锁屏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1581912"/>
            <a:ext cx="118872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161B2E"/>
                </a:solidFill>
                <a:latin typeface="Microsoft YaHei"/>
              </a:rPr>
              <a:t>息屏(AOD)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0" y="1581912"/>
            <a:ext cx="13716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161B2E"/>
                </a:solidFill>
                <a:latin typeface="Microsoft YaHei"/>
              </a:rPr>
              <a:t>AI主题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2020824"/>
            <a:ext cx="10561320" cy="512064"/>
          </a:xfrm>
          <a:prstGeom prst="roundRect">
            <a:avLst>
              <a:gd name="adj" fmla="val 0"/>
            </a:avLst>
          </a:prstGeom>
          <a:solidFill>
            <a:srgbClr val="F7F9FC"/>
          </a:solidFill>
          <a:ln w="635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130552"/>
            <a:ext cx="141732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80" b="1">
                <a:solidFill>
                  <a:srgbClr val="2563EB"/>
                </a:solidFill>
                <a:latin typeface="Microsoft YaHei"/>
              </a:rPr>
              <a:t>Google Pixel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2130552"/>
            <a:ext cx="14630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80" b="0">
                <a:solidFill>
                  <a:srgbClr val="374151"/>
                </a:solidFill>
                <a:latin typeface="Microsoft YaHei"/>
              </a:rPr>
              <a:t>Monet 引擎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40" y="2130552"/>
            <a:ext cx="13716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80" b="0">
                <a:solidFill>
                  <a:srgbClr val="059669"/>
                </a:solidFill>
                <a:latin typeface="Microsoft YaHei"/>
              </a:rPr>
              <a:t>原生(Material You)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2130552"/>
            <a:ext cx="128016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80" b="0">
                <a:solidFill>
                  <a:srgbClr val="059669"/>
                </a:solidFill>
                <a:latin typeface="Microsoft YaHei"/>
              </a:rPr>
              <a:t>主题图标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130552"/>
            <a:ext cx="13716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80" b="0">
                <a:solidFill>
                  <a:srgbClr val="374151"/>
                </a:solidFill>
                <a:latin typeface="Microsoft YaHei"/>
              </a:rPr>
              <a:t>Material You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2130552"/>
            <a:ext cx="118872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80" b="0">
                <a:solidFill>
                  <a:srgbClr val="374151"/>
                </a:solidFill>
                <a:latin typeface="Microsoft YaHei"/>
              </a:rPr>
              <a:t>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0" y="2130552"/>
            <a:ext cx="13716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80" b="0">
                <a:solidFill>
                  <a:srgbClr val="374151"/>
                </a:solidFill>
                <a:latin typeface="Microsoft YaHei"/>
              </a:rPr>
              <a:t>探索中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2587752"/>
            <a:ext cx="10561320" cy="512064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2697480"/>
            <a:ext cx="141732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80" b="1">
                <a:solidFill>
                  <a:srgbClr val="C7000B"/>
                </a:solidFill>
                <a:latin typeface="Microsoft YaHei"/>
              </a:rPr>
              <a:t>华为 HarmonyOS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6000" y="2697480"/>
            <a:ext cx="14630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80" b="0">
                <a:solidFill>
                  <a:srgbClr val="059669"/>
                </a:solidFill>
                <a:latin typeface="Microsoft YaHei"/>
              </a:rPr>
              <a:t>主题商店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49040" y="2697480"/>
            <a:ext cx="13716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80" b="0">
                <a:solidFill>
                  <a:srgbClr val="059669"/>
                </a:solidFill>
                <a:latin typeface="Microsoft YaHei"/>
              </a:rPr>
              <a:t>支持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0640" y="2697480"/>
            <a:ext cx="128016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80" b="0">
                <a:solidFill>
                  <a:srgbClr val="374151"/>
                </a:solidFill>
                <a:latin typeface="Microsoft YaHei"/>
              </a:rPr>
              <a:t>混搭/全局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2697480"/>
            <a:ext cx="13716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80" b="0">
                <a:solidFill>
                  <a:srgbClr val="374151"/>
                </a:solidFill>
                <a:latin typeface="Microsoft YaHei"/>
              </a:rPr>
              <a:t>万象息屏*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2697480"/>
            <a:ext cx="118872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80" b="0">
                <a:solidFill>
                  <a:srgbClr val="374151"/>
                </a:solidFill>
                <a:latin typeface="Microsoft YaHei"/>
              </a:rPr>
              <a:t>万象息屏*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61120" y="2697480"/>
            <a:ext cx="13716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80" b="0">
                <a:solidFill>
                  <a:srgbClr val="059669"/>
                </a:solidFill>
                <a:latin typeface="Microsoft YaHei"/>
              </a:rPr>
              <a:t>AI主题*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" y="3154680"/>
            <a:ext cx="10561320" cy="512064"/>
          </a:xfrm>
          <a:prstGeom prst="roundRect">
            <a:avLst>
              <a:gd name="adj" fmla="val 0"/>
            </a:avLst>
          </a:prstGeom>
          <a:solidFill>
            <a:srgbClr val="F7F9FC"/>
          </a:solidFill>
          <a:ln w="635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" y="3264408"/>
            <a:ext cx="141732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80" b="1">
                <a:solidFill>
                  <a:srgbClr val="EA580C"/>
                </a:solidFill>
                <a:latin typeface="Microsoft YaHei"/>
              </a:rPr>
              <a:t>小米 HyperOS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86000" y="3264408"/>
            <a:ext cx="14630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80" b="0">
                <a:solidFill>
                  <a:srgbClr val="059669"/>
                </a:solidFill>
                <a:latin typeface="Microsoft YaHei"/>
              </a:rPr>
              <a:t>主题商店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49040" y="3264408"/>
            <a:ext cx="13716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80" b="0">
                <a:solidFill>
                  <a:srgbClr val="059669"/>
                </a:solidFill>
                <a:latin typeface="Microsoft YaHei"/>
              </a:rPr>
              <a:t>支持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20640" y="3264408"/>
            <a:ext cx="128016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80" b="0">
                <a:solidFill>
                  <a:srgbClr val="059669"/>
                </a:solidFill>
                <a:latin typeface="Microsoft YaHei"/>
              </a:rPr>
              <a:t>主题/图标包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3264408"/>
            <a:ext cx="13716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80" b="0">
                <a:solidFill>
                  <a:srgbClr val="059669"/>
                </a:solidFill>
                <a:latin typeface="Microsoft YaHei"/>
              </a:rPr>
              <a:t>深度自定义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0" y="3264408"/>
            <a:ext cx="118872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80" b="0">
                <a:solidFill>
                  <a:srgbClr val="374151"/>
                </a:solidFill>
                <a:latin typeface="Microsoft YaHei"/>
              </a:rPr>
              <a:t>超级壁纸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61120" y="3264408"/>
            <a:ext cx="13716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80" b="0">
                <a:solidFill>
                  <a:srgbClr val="374151"/>
                </a:solidFill>
                <a:latin typeface="Microsoft YaHei"/>
              </a:rPr>
              <a:t>探索中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22960" y="3721608"/>
            <a:ext cx="10561320" cy="512064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3831336"/>
            <a:ext cx="141732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80" b="1">
                <a:solidFill>
                  <a:srgbClr val="7C3AED"/>
                </a:solidFill>
                <a:latin typeface="Microsoft YaHei"/>
              </a:rPr>
              <a:t>vivo OriginOS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86000" y="3831336"/>
            <a:ext cx="14630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80" b="0">
                <a:solidFill>
                  <a:srgbClr val="059669"/>
                </a:solidFill>
                <a:latin typeface="Microsoft YaHei"/>
              </a:rPr>
              <a:t>i主题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749040" y="3831336"/>
            <a:ext cx="13716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80" b="0">
                <a:solidFill>
                  <a:srgbClr val="059669"/>
                </a:solidFill>
                <a:latin typeface="Microsoft YaHei"/>
              </a:rPr>
              <a:t>支持(变形器)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20640" y="3831336"/>
            <a:ext cx="128016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80" b="0">
                <a:solidFill>
                  <a:srgbClr val="059669"/>
                </a:solidFill>
                <a:latin typeface="Microsoft YaHei"/>
              </a:rPr>
              <a:t>主题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3831336"/>
            <a:ext cx="13716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80" b="0">
                <a:solidFill>
                  <a:srgbClr val="374151"/>
                </a:solidFill>
                <a:latin typeface="Microsoft YaHei"/>
              </a:rPr>
              <a:t>原子组件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0" y="3831336"/>
            <a:ext cx="118872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80" b="0">
                <a:solidFill>
                  <a:srgbClr val="374151"/>
                </a:solidFill>
                <a:latin typeface="Microsoft YaHei"/>
              </a:rPr>
              <a:t>行为壁纸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61120" y="3831336"/>
            <a:ext cx="13716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80" b="0">
                <a:solidFill>
                  <a:srgbClr val="374151"/>
                </a:solidFill>
                <a:latin typeface="Microsoft YaHei"/>
              </a:rPr>
              <a:t>探索中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22960" y="4288536"/>
            <a:ext cx="10561320" cy="512064"/>
          </a:xfrm>
          <a:prstGeom prst="roundRect">
            <a:avLst>
              <a:gd name="adj" fmla="val 0"/>
            </a:avLst>
          </a:prstGeom>
          <a:solidFill>
            <a:srgbClr val="F7F9FC"/>
          </a:solidFill>
          <a:ln w="635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68680" y="4398264"/>
            <a:ext cx="141732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80" b="1">
                <a:solidFill>
                  <a:srgbClr val="059669"/>
                </a:solidFill>
                <a:latin typeface="Microsoft YaHei"/>
              </a:rPr>
              <a:t>OPPO ColorOS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286000" y="4398264"/>
            <a:ext cx="14630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80" b="0">
                <a:solidFill>
                  <a:srgbClr val="059669"/>
                </a:solidFill>
                <a:latin typeface="Microsoft YaHei"/>
              </a:rPr>
              <a:t>主题商店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749040" y="4398264"/>
            <a:ext cx="13716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80" b="0">
                <a:solidFill>
                  <a:srgbClr val="059669"/>
                </a:solidFill>
                <a:latin typeface="Microsoft YaHei"/>
              </a:rPr>
              <a:t>支持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20640" y="4398264"/>
            <a:ext cx="128016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80" b="0">
                <a:solidFill>
                  <a:srgbClr val="059669"/>
                </a:solidFill>
                <a:latin typeface="Microsoft YaHei"/>
              </a:rPr>
              <a:t>主题/图标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0" y="4398264"/>
            <a:ext cx="13716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80" b="0">
                <a:solidFill>
                  <a:srgbClr val="374151"/>
                </a:solidFill>
                <a:latin typeface="Microsoft YaHei"/>
              </a:rPr>
              <a:t>AOD自定义*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72400" y="4398264"/>
            <a:ext cx="118872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80" b="0">
                <a:solidFill>
                  <a:srgbClr val="374151"/>
                </a:solidFill>
                <a:latin typeface="Microsoft YaHei"/>
              </a:rPr>
              <a:t>灵动壁纸*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961120" y="4398264"/>
            <a:ext cx="13716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80" b="0">
                <a:solidFill>
                  <a:srgbClr val="374151"/>
                </a:solidFill>
                <a:latin typeface="Microsoft YaHei"/>
              </a:rPr>
              <a:t>探索中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22960" y="4855464"/>
            <a:ext cx="10561320" cy="512064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68680" y="4965192"/>
            <a:ext cx="141732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80" b="1">
                <a:solidFill>
                  <a:srgbClr val="C2820A"/>
                </a:solidFill>
                <a:latin typeface="Microsoft YaHei"/>
              </a:rPr>
              <a:t>三星 One UI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286000" y="4965192"/>
            <a:ext cx="14630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80" b="0">
                <a:solidFill>
                  <a:srgbClr val="374151"/>
                </a:solidFill>
                <a:latin typeface="Microsoft YaHei"/>
              </a:rPr>
              <a:t>Galaxy Themes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749040" y="4965192"/>
            <a:ext cx="13716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80" b="0">
                <a:solidFill>
                  <a:srgbClr val="374151"/>
                </a:solidFill>
                <a:latin typeface="Microsoft YaHei"/>
              </a:rPr>
              <a:t>Material You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120640" y="4965192"/>
            <a:ext cx="128016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80" b="0">
                <a:solidFill>
                  <a:srgbClr val="059669"/>
                </a:solidFill>
                <a:latin typeface="Microsoft YaHei"/>
              </a:rPr>
              <a:t>主题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00800" y="4965192"/>
            <a:ext cx="13716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80" b="0">
                <a:solidFill>
                  <a:srgbClr val="374151"/>
                </a:solidFill>
                <a:latin typeface="Microsoft YaHei"/>
              </a:rPr>
              <a:t>Good Lock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772400" y="4965192"/>
            <a:ext cx="118872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80" b="0">
                <a:solidFill>
                  <a:srgbClr val="374151"/>
                </a:solidFill>
                <a:latin typeface="Microsoft YaHei"/>
              </a:rPr>
              <a:t>Smart AOD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961120" y="4965192"/>
            <a:ext cx="13716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80" b="0">
                <a:solidFill>
                  <a:srgbClr val="374151"/>
                </a:solidFill>
                <a:latin typeface="Microsoft YaHei"/>
              </a:rPr>
              <a:t>Creative Studio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22960" y="5422392"/>
            <a:ext cx="10561320" cy="512064"/>
          </a:xfrm>
          <a:prstGeom prst="roundRect">
            <a:avLst>
              <a:gd name="adj" fmla="val 0"/>
            </a:avLst>
          </a:prstGeom>
          <a:solidFill>
            <a:srgbClr val="F7F9FC"/>
          </a:solidFill>
          <a:ln w="635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68680" y="5532120"/>
            <a:ext cx="141732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80" b="1">
                <a:solidFill>
                  <a:srgbClr val="6B7280"/>
                </a:solidFill>
                <a:latin typeface="Microsoft YaHei"/>
              </a:rPr>
              <a:t>Apple iOS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286000" y="5532120"/>
            <a:ext cx="14630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80" b="0">
                <a:solidFill>
                  <a:srgbClr val="6B7280"/>
                </a:solidFill>
                <a:latin typeface="Microsoft YaHei"/>
              </a:rPr>
              <a:t>(无独立)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749040" y="5532120"/>
            <a:ext cx="13716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80" b="0">
                <a:solidFill>
                  <a:srgbClr val="059669"/>
                </a:solidFill>
                <a:latin typeface="Microsoft YaHei"/>
              </a:rPr>
              <a:t>(不支持)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120640" y="5532120"/>
            <a:ext cx="128016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80" b="0">
                <a:solidFill>
                  <a:srgbClr val="059669"/>
                </a:solidFill>
                <a:latin typeface="Microsoft YaHei"/>
              </a:rPr>
              <a:t>(不支持)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400800" y="5532120"/>
            <a:ext cx="13716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80" b="0">
                <a:solidFill>
                  <a:srgbClr val="374151"/>
                </a:solidFill>
                <a:latin typeface="Microsoft YaHei"/>
              </a:rPr>
              <a:t>锁屏个性化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772400" y="5532120"/>
            <a:ext cx="118872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80" b="0">
                <a:solidFill>
                  <a:srgbClr val="6B7280"/>
                </a:solidFill>
                <a:latin typeface="Microsoft YaHei"/>
              </a:rPr>
              <a:t>(有限)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961120" y="5532120"/>
            <a:ext cx="13716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80" b="0">
                <a:solidFill>
                  <a:srgbClr val="059669"/>
                </a:solidFill>
                <a:latin typeface="Microsoft YaHei"/>
              </a:rPr>
              <a:t>(不支持)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822960" y="6035040"/>
            <a:ext cx="10561320" cy="548640"/>
          </a:xfrm>
          <a:prstGeom prst="roundRect">
            <a:avLst>
              <a:gd name="adj" fmla="val 6000"/>
            </a:avLst>
          </a:prstGeom>
          <a:solidFill>
            <a:srgbClr val="EFF3F9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024128" y="6080760"/>
            <a:ext cx="1024128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7C3AED"/>
                </a:solidFill>
                <a:latin typeface="Microsoft YaHei"/>
              </a:rPr>
              <a:t>📌 </a:t>
            </a:r>
            <a:r>
              <a:rPr sz="930" b="0">
                <a:solidFill>
                  <a:srgbClr val="6B7280"/>
                </a:solidFill>
                <a:latin typeface="Microsoft YaHei"/>
              </a:rPr>
              <a:t>中国安卓厂商（华为/小米/vivo/OPPO）主题能力最丰富；Google 以 Material You 定义动态取色范式；Apple 仍坚持克制、不提供系统级主题引擎。*标注项因厂商页 JS 渲染待进一步核实。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1247120" y="6473952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4/22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20040" y="6473952"/>
            <a:ext cx="6400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手机主题现状与主题引擎能力洞察 · xhyha/insight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384048"/>
            <a:ext cx="118872" cy="86868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2563EB"/>
                </a:solidFill>
                <a:latin typeface="Microsoft YaHei"/>
              </a:rPr>
              <a:t>01 · 主题生态全景  |  GOOGLE MATERIAL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58368"/>
            <a:ext cx="109728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161B2E"/>
                </a:solidFill>
                <a:latin typeface="Microsoft YaHei"/>
              </a:rPr>
              <a:t>Material You / Monet：动态取色引擎范式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54480"/>
            <a:ext cx="6766560" cy="448056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691640"/>
            <a:ext cx="64008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2563EB"/>
                </a:solidFill>
                <a:latin typeface="Microsoft YaHei"/>
              </a:rPr>
              <a:t>▎Android 12 引入（2021.05 首个 Beta · 10.04 正式版 · Pixel 6 首发）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94560"/>
            <a:ext cx="6309360" cy="510235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2563EB"/>
                </a:solidFill>
                <a:latin typeface="Microsoft YaHei"/>
              </a:rPr>
              <a:t>●  </a:t>
            </a:r>
            <a:r>
              <a:rPr sz="1050" b="0">
                <a:solidFill>
                  <a:srgbClr val="374151"/>
                </a:solidFill>
                <a:latin typeface="Microsoft YaHei"/>
              </a:rPr>
              <a:t>Monet 是 Google 内部代号：从用户壁纸自动提取色彩，生成配色主题，应用于系统菜单与支持的应用。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761488"/>
            <a:ext cx="6309360" cy="510235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2563EB"/>
                </a:solidFill>
                <a:latin typeface="Microsoft YaHei"/>
              </a:rPr>
              <a:t>●  </a:t>
            </a:r>
            <a:r>
              <a:rPr sz="1050" b="0">
                <a:solidFill>
                  <a:srgbClr val="374151"/>
                </a:solidFill>
                <a:latin typeface="Microsoft YaHei"/>
              </a:rPr>
              <a:t>核心机制：壁纸取色 → 生成色调调色板(tonal palette) → 应用到系统 UI 与适配应用，实现全局动态着色。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328416"/>
            <a:ext cx="6309360" cy="510235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2563EB"/>
                </a:solidFill>
                <a:latin typeface="Microsoft YaHei"/>
              </a:rPr>
              <a:t>●  </a:t>
            </a:r>
            <a:r>
              <a:rPr sz="1050" b="0">
                <a:solidFill>
                  <a:srgbClr val="374151"/>
                </a:solidFill>
                <a:latin typeface="Microsoft YaHei"/>
              </a:rPr>
              <a:t>Android 12.1/12L 提供“基础配色”选项；Material 3 Expressive（2025.05，blog.google）进一步升级动态色彩主题。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895344"/>
            <a:ext cx="6309360" cy="510235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2563EB"/>
                </a:solidFill>
                <a:latin typeface="Microsoft YaHei"/>
              </a:rPr>
              <a:t>●  </a:t>
            </a:r>
            <a:r>
              <a:rPr sz="1050" b="0">
                <a:solidFill>
                  <a:srgbClr val="374151"/>
                </a:solidFill>
                <a:latin typeface="Microsoft YaHei"/>
              </a:rPr>
              <a:t>Material 组件开源（Android Apache-2.0 / Flutter BSD-3），第三方应用可接入动态色彩 API。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462272"/>
            <a:ext cx="6309360" cy="510235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2563EB"/>
                </a:solidFill>
                <a:latin typeface="Microsoft YaHei"/>
              </a:rPr>
              <a:t>●  </a:t>
            </a:r>
            <a:r>
              <a:rPr sz="1050" b="0">
                <a:solidFill>
                  <a:srgbClr val="374151"/>
                </a:solidFill>
                <a:latin typeface="Microsoft YaHei"/>
              </a:rPr>
              <a:t>意义：首次将“壁纸即主题”的动态取色确立为行业范式，后被小米/vivo/OPPO/华为/三星广泛借鉴。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18120" y="1554480"/>
            <a:ext cx="3520440" cy="4480560"/>
          </a:xfrm>
          <a:prstGeom prst="roundRect">
            <a:avLst>
              <a:gd name="adj" fmla="val 5000"/>
            </a:avLst>
          </a:prstGeom>
          <a:solidFill>
            <a:srgbClr val="EFF3F9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28431" y="1691640"/>
            <a:ext cx="310896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2563EB"/>
                </a:solidFill>
                <a:latin typeface="Microsoft YaHei"/>
              </a:rPr>
              <a:t>▎取色管线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28431" y="2194560"/>
            <a:ext cx="3108960" cy="3657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61B2E"/>
                </a:solidFill>
                <a:latin typeface="Microsoft YaHei"/>
              </a:rPr>
              <a:t>① 壁纸图像输入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6B7280"/>
                </a:solidFill>
                <a:latin typeface="Microsoft YaHei"/>
              </a:rPr>
              <a:t>量化提取主色调簇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500" b="0">
                <a:solidFill>
                  <a:srgbClr val="374151"/>
                </a:solidFill>
                <a:latin typeface="Microsoft YaHe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61B2E"/>
                </a:solidFill>
                <a:latin typeface="Microsoft YaHei"/>
              </a:rPr>
              <a:t>② 色调调色板生成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6B7280"/>
                </a:solidFill>
                <a:latin typeface="Microsoft YaHei"/>
              </a:rPr>
              <a:t>HCT 色彩空间建模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500" b="0">
                <a:solidFill>
                  <a:srgbClr val="374151"/>
                </a:solidFill>
                <a:latin typeface="Microsoft YaHe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61B2E"/>
                </a:solidFill>
                <a:latin typeface="Microsoft YaHei"/>
              </a:rPr>
              <a:t>③ 明暗模式适配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6B7280"/>
                </a:solidFill>
                <a:latin typeface="Microsoft YaHei"/>
              </a:rPr>
              <a:t>对比度校验 + onColor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500" b="0">
                <a:solidFill>
                  <a:srgbClr val="374151"/>
                </a:solidFill>
                <a:latin typeface="Microsoft YaHe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61B2E"/>
                </a:solidFill>
                <a:latin typeface="Microsoft YaHei"/>
              </a:rPr>
              <a:t>④ 全局着色下发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6B7280"/>
                </a:solidFill>
                <a:latin typeface="Microsoft YaHei"/>
              </a:rPr>
              <a:t>SystemColors API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500" b="0">
                <a:solidFill>
                  <a:srgbClr val="374151"/>
                </a:solidFill>
                <a:latin typeface="Microsoft YaHe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61B2E"/>
                </a:solidFill>
                <a:latin typeface="Microsoft YaHei"/>
              </a:rPr>
              <a:t>⑤ 适配应用联动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6B7280"/>
                </a:solidFill>
                <a:latin typeface="Microsoft YaHei"/>
              </a:rPr>
              <a:t>Material 组件自动跟随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0" y="6473952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5/22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6473952"/>
            <a:ext cx="6400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手机主题现状与主题引擎能力洞察 · xhyha/insight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91695" cy="36576"/>
          </a:xfrm>
          <a:prstGeom prst="rect">
            <a:avLst/>
          </a:prstGeom>
          <a:solidFill>
            <a:srgbClr val="C4C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434840"/>
            <a:ext cx="12191695" cy="36576"/>
          </a:xfrm>
          <a:prstGeom prst="rect">
            <a:avLst/>
          </a:prstGeom>
          <a:solidFill>
            <a:srgbClr val="C4C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468880"/>
            <a:ext cx="4572000" cy="11887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800" b="1">
                <a:solidFill>
                  <a:srgbClr val="C7000B"/>
                </a:solidFill>
                <a:latin typeface="Microsoft YaHei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2697480"/>
            <a:ext cx="86868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C7000B"/>
                </a:solidFill>
                <a:latin typeface="Microsoft YaHei"/>
              </a:rPr>
              <a:t>CHINA VENDORS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3108960"/>
            <a:ext cx="914400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161B2E"/>
                </a:solidFill>
                <a:latin typeface="Microsoft YaHei"/>
              </a:rPr>
              <a:t>中国厂商主题生态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3886200"/>
            <a:ext cx="841248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374151"/>
                </a:solidFill>
                <a:latin typeface="Microsoft YaHei"/>
              </a:rPr>
              <a:t>华为 · 小米 · vivo · OPPO 主题引擎拆解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73952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6/22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6473952"/>
            <a:ext cx="6400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手机主题现状与主题引擎能力洞察 · xhyha/insight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384048"/>
            <a:ext cx="118872" cy="868680"/>
          </a:xfrm>
          <a:prstGeom prst="roundRect">
            <a:avLst>
              <a:gd name="adj" fmla="val 20000"/>
            </a:avLst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C7000B"/>
                </a:solidFill>
                <a:latin typeface="Microsoft YaHei"/>
              </a:rPr>
              <a:t>02 · 中国厂商  |  HUAWEI HarmonyOS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58368"/>
            <a:ext cx="109728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161B2E"/>
                </a:solidFill>
                <a:latin typeface="Microsoft YaHei"/>
              </a:rPr>
              <a:t>华为主题引擎：从 EMUI 到 HarmonyOS NEXT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54480"/>
            <a:ext cx="6766560" cy="448056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691640"/>
            <a:ext cx="64008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C7000B"/>
                </a:solidFill>
                <a:latin typeface="Microsoft YaHei"/>
              </a:rPr>
              <a:t>▎华为主题体系（EMUI → HarmonyOS）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94560"/>
            <a:ext cx="6309360" cy="47731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C7000B"/>
                </a:solidFill>
                <a:latin typeface="Microsoft YaHei"/>
              </a:rPr>
              <a:t>●  </a:t>
            </a:r>
            <a:r>
              <a:rPr sz="1050" b="0">
                <a:solidFill>
                  <a:srgbClr val="374151"/>
                </a:solidFill>
                <a:latin typeface="Microsoft YaHei"/>
              </a:rPr>
              <a:t>EMUI（原 Emotion UI，2012 发布，2014 更名 EMUI）是华为安卓固件，2021.06.02 起向 HarmonyOS 过渡。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724912"/>
            <a:ext cx="6309360" cy="47731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C7000B"/>
                </a:solidFill>
                <a:latin typeface="Microsoft YaHei"/>
              </a:rPr>
              <a:t>●  </a:t>
            </a:r>
            <a:r>
              <a:rPr sz="1050" b="0">
                <a:solidFill>
                  <a:srgbClr val="374151"/>
                </a:solidFill>
                <a:latin typeface="Microsoft YaHei"/>
              </a:rPr>
              <a:t>最新 EMUI 15（2024.12.13，适配 HarmonyOS 4.3）；HarmonyOS 5 采用新拟态/玻璃拟态设计语言。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255264"/>
            <a:ext cx="6309360" cy="47731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C7000B"/>
                </a:solidFill>
                <a:latin typeface="Microsoft YaHei"/>
              </a:rPr>
              <a:t>●  </a:t>
            </a:r>
            <a:r>
              <a:rPr sz="1050" b="0">
                <a:solidFill>
                  <a:srgbClr val="374151"/>
                </a:solidFill>
                <a:latin typeface="Microsoft YaHei"/>
              </a:rPr>
              <a:t>华为主题（Themes）：内置主题商店，支持“混搭”——壁纸/图标/字体/锁屏/息屏可独立组合。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785615"/>
            <a:ext cx="6309360" cy="47731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C7000B"/>
                </a:solidFill>
                <a:latin typeface="Microsoft YaHei"/>
              </a:rPr>
              <a:t>●  </a:t>
            </a:r>
            <a:r>
              <a:rPr sz="1050" b="0">
                <a:solidFill>
                  <a:srgbClr val="374151"/>
                </a:solidFill>
                <a:latin typeface="Microsoft YaHei"/>
              </a:rPr>
              <a:t>万象息屏：丰富的 AOD 样式（待核实细节），动态主题能力突出。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315968"/>
            <a:ext cx="6309360" cy="47731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C7000B"/>
                </a:solidFill>
                <a:latin typeface="Microsoft YaHei"/>
              </a:rPr>
              <a:t>●  </a:t>
            </a:r>
            <a:r>
              <a:rPr sz="1050" b="0">
                <a:solidFill>
                  <a:srgbClr val="374151"/>
                </a:solidFill>
                <a:latin typeface="Microsoft YaHei"/>
              </a:rPr>
              <a:t>HarmonyOS Sans 字体：华为自研可变字体，统一系统视觉。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846320"/>
            <a:ext cx="6309360" cy="47731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C7000B"/>
                </a:solidFill>
                <a:latin typeface="Microsoft YaHei"/>
              </a:rPr>
              <a:t>●  </a:t>
            </a:r>
            <a:r>
              <a:rPr sz="1050" b="0">
                <a:solidFill>
                  <a:srgbClr val="374151"/>
                </a:solidFill>
                <a:latin typeface="Microsoft YaHei"/>
              </a:rPr>
              <a:t>HarmonyOS NEXT：纯鸿蒙（去 AOSP），主题引擎面临重构与生态迁移。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18120" y="1554480"/>
            <a:ext cx="3520440" cy="4480560"/>
          </a:xfrm>
          <a:prstGeom prst="roundRect">
            <a:avLst>
              <a:gd name="adj" fmla="val 5000"/>
            </a:avLst>
          </a:prstGeom>
          <a:solidFill>
            <a:srgbClr val="EFF3F9"/>
          </a:solidFill>
          <a:ln w="12700">
            <a:solidFill>
              <a:srgbClr val="C700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28431" y="1691640"/>
            <a:ext cx="310896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C7000B"/>
                </a:solidFill>
                <a:latin typeface="Microsoft YaHei"/>
              </a:rPr>
              <a:t>▎EMUI 版本演进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28431" y="2194560"/>
            <a:ext cx="137160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80" b="1">
                <a:solidFill>
                  <a:srgbClr val="C7000B"/>
                </a:solidFill>
                <a:latin typeface="Microsoft YaHei"/>
              </a:rPr>
              <a:t>EMUI 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0" y="2194560"/>
            <a:ext cx="182880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B7280"/>
                </a:solidFill>
                <a:latin typeface="Microsoft YaHei"/>
              </a:rPr>
              <a:t>2020.09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28431" y="2523744"/>
            <a:ext cx="137160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80" b="1">
                <a:solidFill>
                  <a:srgbClr val="C7000B"/>
                </a:solidFill>
                <a:latin typeface="Microsoft YaHei"/>
              </a:rPr>
              <a:t>EMUI 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0" y="2523744"/>
            <a:ext cx="182880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B7280"/>
                </a:solidFill>
                <a:latin typeface="Microsoft YaHei"/>
              </a:rPr>
              <a:t>2021.08 适配鸿蒙2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28431" y="2852927"/>
            <a:ext cx="137160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80" b="1">
                <a:solidFill>
                  <a:srgbClr val="C7000B"/>
                </a:solidFill>
                <a:latin typeface="Microsoft YaHei"/>
              </a:rPr>
              <a:t>EMUI 13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0" y="2852927"/>
            <a:ext cx="182880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B7280"/>
                </a:solidFill>
                <a:latin typeface="Microsoft YaHei"/>
              </a:rPr>
              <a:t>2022.10 适配鸿蒙3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28431" y="3182111"/>
            <a:ext cx="137160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80" b="1">
                <a:solidFill>
                  <a:srgbClr val="C7000B"/>
                </a:solidFill>
                <a:latin typeface="Microsoft YaHei"/>
              </a:rPr>
              <a:t>EMUI 14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20" y="3182111"/>
            <a:ext cx="182880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B7280"/>
                </a:solidFill>
                <a:latin typeface="Microsoft YaHei"/>
              </a:rPr>
              <a:t>2024.04 适配鸿蒙4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28431" y="3511295"/>
            <a:ext cx="137160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80" b="1">
                <a:solidFill>
                  <a:srgbClr val="C7000B"/>
                </a:solidFill>
                <a:latin typeface="Microsoft YaHei"/>
              </a:rPr>
              <a:t>EMUI 15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0" y="3511295"/>
            <a:ext cx="182880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B7280"/>
                </a:solidFill>
                <a:latin typeface="Microsoft YaHei"/>
              </a:rPr>
              <a:t>2024.12 适配鸿蒙4.3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28431" y="3931919"/>
            <a:ext cx="3108960" cy="10972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DC2626"/>
                </a:solidFill>
                <a:latin typeface="Microsoft YaHei"/>
              </a:rPr>
              <a:t>⚠ 主题包格式 .hwt、万象息屏与 AI 主题的具体能力因厂商页 JS 渲染未能核实，标注待核实。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47120" y="6473952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7/22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" y="6473952"/>
            <a:ext cx="6400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手机主题现状与主题引擎能力洞察 · xhyha/insight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384048"/>
            <a:ext cx="118872" cy="868680"/>
          </a:xfrm>
          <a:prstGeom prst="roundRect">
            <a:avLst>
              <a:gd name="adj" fmla="val 2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EA580C"/>
                </a:solidFill>
                <a:latin typeface="Microsoft YaHei"/>
              </a:rPr>
              <a:t>02 · 中国厂商  |  XIAOMI HyperOS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58368"/>
            <a:ext cx="109728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161B2E"/>
                </a:solidFill>
                <a:latin typeface="Microsoft YaHei"/>
              </a:rPr>
              <a:t>小米 HyperOS 主题：超级壁纸与深度自定义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54480"/>
            <a:ext cx="6766560" cy="448056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691640"/>
            <a:ext cx="64008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EA580C"/>
                </a:solidFill>
                <a:latin typeface="Microsoft YaHei"/>
              </a:rPr>
              <a:t>▎MIUI → HyperOS 主题体系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94560"/>
            <a:ext cx="6309360" cy="49377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EA580C"/>
                </a:solidFill>
                <a:latin typeface="Microsoft YaHei"/>
              </a:rPr>
              <a:t>●  </a:t>
            </a:r>
            <a:r>
              <a:rPr sz="1050" b="0">
                <a:solidFill>
                  <a:srgbClr val="374151"/>
                </a:solidFill>
                <a:latin typeface="Microsoft YaHei"/>
              </a:rPr>
              <a:t>HyperOS 3（hyperos.mi.com 已核验）延续 MIUI 主题商店生态，是国内最成熟的主题分发平台之一。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743200"/>
            <a:ext cx="6309360" cy="49377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EA580C"/>
                </a:solidFill>
                <a:latin typeface="Microsoft YaHei"/>
              </a:rPr>
              <a:t>●  </a:t>
            </a:r>
            <a:r>
              <a:rPr sz="1050" b="0">
                <a:solidFill>
                  <a:srgbClr val="374151"/>
                </a:solidFill>
                <a:latin typeface="Microsoft YaHei"/>
              </a:rPr>
              <a:t>超级壁纸(Super Wallpaper)：3D 渲染的锁屏/桌面联动壁纸，地球/火星等场景，技术门槛高。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291840"/>
            <a:ext cx="6309360" cy="49377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EA580C"/>
                </a:solidFill>
                <a:latin typeface="Microsoft YaHei"/>
              </a:rPr>
              <a:t>●  </a:t>
            </a:r>
            <a:r>
              <a:rPr sz="1050" b="0">
                <a:solidFill>
                  <a:srgbClr val="374151"/>
                </a:solidFill>
                <a:latin typeface="Microsoft YaHei"/>
              </a:rPr>
              <a:t>锁屏深度自定义：HyperOS 提供锁屏编辑器，可自定义时钟/快捷方式/布局，对标 iOS 锁屏个性化。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840480"/>
            <a:ext cx="6309360" cy="49377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EA580C"/>
                </a:solidFill>
                <a:latin typeface="Microsoft YaHei"/>
              </a:rPr>
              <a:t>●  </a:t>
            </a:r>
            <a:r>
              <a:rPr sz="1050" b="0">
                <a:solidFill>
                  <a:srgbClr val="374151"/>
                </a:solidFill>
                <a:latin typeface="Microsoft YaHei"/>
              </a:rPr>
              <a:t>Mi Sans 字体：小米自研字体，统一系统与品牌视觉。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389120"/>
            <a:ext cx="6309360" cy="49377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EA580C"/>
                </a:solidFill>
                <a:latin typeface="Microsoft YaHei"/>
              </a:rPr>
              <a:t>●  </a:t>
            </a:r>
            <a:r>
              <a:rPr sz="1050" b="0">
                <a:solidFill>
                  <a:srgbClr val="374151"/>
                </a:solidFill>
                <a:latin typeface="Microsoft YaHei"/>
              </a:rPr>
              <a:t>主题商店含付费/免费/会员体系，设计师生态成熟（.mtz 主题包格式，业界广泛记载）。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18120" y="1554480"/>
            <a:ext cx="3520440" cy="4480560"/>
          </a:xfrm>
          <a:prstGeom prst="roundRect">
            <a:avLst>
              <a:gd name="adj" fmla="val 5000"/>
            </a:avLst>
          </a:prstGeom>
          <a:solidFill>
            <a:srgbClr val="EFF3F9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28431" y="1691640"/>
            <a:ext cx="310896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EA580C"/>
                </a:solidFill>
                <a:latin typeface="Microsoft YaHei"/>
              </a:rPr>
              <a:t>▎差异化优势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28431" y="2194560"/>
            <a:ext cx="3108960" cy="3657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61B2E"/>
                </a:solidFill>
                <a:latin typeface="Microsoft YaHei"/>
              </a:rPr>
              <a:t>① 超级壁纸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6B7280"/>
                </a:solidFill>
                <a:latin typeface="Microsoft YaHei"/>
              </a:rPr>
              <a:t>3D 引擎渲染，锁屏桌面无缝联动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500" b="0">
                <a:solidFill>
                  <a:srgbClr val="374151"/>
                </a:solidFill>
                <a:latin typeface="Microsoft YaHe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61B2E"/>
                </a:solidFill>
                <a:latin typeface="Microsoft YaHei"/>
              </a:rPr>
              <a:t>② 锁屏编辑器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6B7280"/>
                </a:solidFill>
                <a:latin typeface="Microsoft YaHei"/>
              </a:rPr>
              <a:t>类 iOS 自定义深度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500" b="0">
                <a:solidFill>
                  <a:srgbClr val="374151"/>
                </a:solidFill>
                <a:latin typeface="Microsoft YaHe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61B2E"/>
                </a:solidFill>
                <a:latin typeface="Microsoft YaHei"/>
              </a:rPr>
              <a:t>③ 设计师生态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6B7280"/>
                </a:solidFill>
                <a:latin typeface="Microsoft YaHei"/>
              </a:rPr>
              <a:t>国内最大主题创作者社区之一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500" b="0">
                <a:solidFill>
                  <a:srgbClr val="374151"/>
                </a:solidFill>
                <a:latin typeface="Microsoft YaHe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61B2E"/>
                </a:solidFill>
                <a:latin typeface="Microsoft YaHei"/>
              </a:rPr>
              <a:t>④ 跨端一致性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6B7280"/>
                </a:solidFill>
                <a:latin typeface="Microsoft YaHei"/>
              </a:rPr>
              <a:t>HyperOS 统一手机/平板/车机视觉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0" y="6473952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8/22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6473952"/>
            <a:ext cx="6400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手机主题现状与主题引擎能力洞察 · xhyha/insight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384048"/>
            <a:ext cx="118872" cy="868680"/>
          </a:xfrm>
          <a:prstGeom prst="roundRect">
            <a:avLst>
              <a:gd name="adj" fmla="val 2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7C3AED"/>
                </a:solidFill>
                <a:latin typeface="Microsoft YaHei"/>
              </a:rPr>
              <a:t>02 · 中国厂商  |  vivo &amp; OPPO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58368"/>
            <a:ext cx="109728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161B2E"/>
                </a:solidFill>
                <a:latin typeface="Microsoft YaHei"/>
              </a:rPr>
              <a:t>vivo OriginOS 与 OPPO ColorOS 主题能力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54480"/>
            <a:ext cx="5166360" cy="448056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691640"/>
            <a:ext cx="475488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7C3AED"/>
                </a:solidFill>
                <a:latin typeface="Microsoft YaHei"/>
              </a:rPr>
              <a:t>▎vivo OriginOS（变形器）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94560"/>
            <a:ext cx="4754880" cy="510235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7C3AED"/>
                </a:solidFill>
                <a:latin typeface="Microsoft YaHei"/>
              </a:rPr>
              <a:t>●  </a:t>
            </a:r>
            <a:r>
              <a:rPr sz="1000" b="0">
                <a:solidFill>
                  <a:srgbClr val="374151"/>
                </a:solidFill>
                <a:latin typeface="Microsoft YaHei"/>
              </a:rPr>
              <a:t>变形器：OriginOS 核心主题引擎，一键切换系统视觉风格（极简/多彩/经典）。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761488"/>
            <a:ext cx="4754880" cy="510235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7C3AED"/>
                </a:solidFill>
                <a:latin typeface="Microsoft YaHei"/>
              </a:rPr>
              <a:t>●  </a:t>
            </a:r>
            <a:r>
              <a:rPr sz="1000" b="0">
                <a:solidFill>
                  <a:srgbClr val="374151"/>
                </a:solidFill>
                <a:latin typeface="Microsoft YaHei"/>
              </a:rPr>
              <a:t>原子组件：桌面小组件体系，与主题深度联动。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328416"/>
            <a:ext cx="4754880" cy="510235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7C3AED"/>
                </a:solidFill>
                <a:latin typeface="Microsoft YaHei"/>
              </a:rPr>
              <a:t>●  </a:t>
            </a:r>
            <a:r>
              <a:rPr sz="1000" b="0">
                <a:solidFill>
                  <a:srgbClr val="374151"/>
                </a:solidFill>
                <a:latin typeface="Microsoft YaHei"/>
              </a:rPr>
              <a:t>行为壁纸：动态响应行为数据（步数等）的壁纸引擎。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895344"/>
            <a:ext cx="4754880" cy="510235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7C3AED"/>
                </a:solidFill>
                <a:latin typeface="Microsoft YaHei"/>
              </a:rPr>
              <a:t>●  </a:t>
            </a:r>
            <a:r>
              <a:rPr sz="1000" b="0">
                <a:solidFill>
                  <a:srgbClr val="374151"/>
                </a:solidFill>
                <a:latin typeface="Microsoft YaHei"/>
              </a:rPr>
              <a:t>i 主题商店：付费/免费主题 + 字体分发。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462272"/>
            <a:ext cx="4754880" cy="510235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7C3AED"/>
                </a:solidFill>
                <a:latin typeface="Microsoft YaHei"/>
              </a:rPr>
              <a:t>●  </a:t>
            </a:r>
            <a:r>
              <a:rPr sz="1000" b="0">
                <a:solidFill>
                  <a:srgbClr val="374151"/>
                </a:solidFill>
                <a:latin typeface="Microsoft YaHei"/>
              </a:rPr>
              <a:t>OriginOS 5 持续强化个性化与流畅动效。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554480"/>
            <a:ext cx="5212080" cy="448056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691640"/>
            <a:ext cx="475488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59669"/>
                </a:solidFill>
                <a:latin typeface="Microsoft YaHei"/>
              </a:rPr>
              <a:t>▎OPPO ColorOS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194560"/>
            <a:ext cx="4754880" cy="510235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059669"/>
                </a:solidFill>
                <a:latin typeface="Microsoft YaHei"/>
              </a:rPr>
              <a:t>●  </a:t>
            </a:r>
            <a:r>
              <a:rPr sz="1000" b="0">
                <a:solidFill>
                  <a:srgbClr val="374151"/>
                </a:solidFill>
                <a:latin typeface="Microsoft YaHei"/>
              </a:rPr>
              <a:t>ColorOS 主题商店：图标/壁纸/字体/全局主题，支持动态取色。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761488"/>
            <a:ext cx="4754880" cy="510235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059669"/>
                </a:solidFill>
                <a:latin typeface="Microsoft YaHei"/>
              </a:rPr>
              <a:t>●  </a:t>
            </a:r>
            <a:r>
              <a:rPr sz="1000" b="0">
                <a:solidFill>
                  <a:srgbClr val="374151"/>
                </a:solidFill>
                <a:latin typeface="Microsoft YaHei"/>
              </a:rPr>
              <a:t>灵动壁纸、Aqua Dynamic 动效体系（待核实细节）。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328416"/>
            <a:ext cx="4754880" cy="510235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059669"/>
                </a:solidFill>
                <a:latin typeface="Microsoft YaHei"/>
              </a:rPr>
              <a:t>●  </a:t>
            </a:r>
            <a:r>
              <a:rPr sz="1000" b="0">
                <a:solidFill>
                  <a:srgbClr val="374151"/>
                </a:solidFill>
                <a:latin typeface="Microsoft YaHei"/>
              </a:rPr>
              <a:t>AOD 自定义能力，锁屏个性化逐步增强。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3895344"/>
            <a:ext cx="4754880" cy="510235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059669"/>
                </a:solidFill>
                <a:latin typeface="Microsoft YaHei"/>
              </a:rPr>
              <a:t>●  </a:t>
            </a:r>
            <a:r>
              <a:rPr sz="1000" b="0">
                <a:solidFill>
                  <a:srgbClr val="374151"/>
                </a:solidFill>
                <a:latin typeface="Microsoft YaHei"/>
              </a:rPr>
              <a:t>ColorOS 15+ 强化 AI 与个性化融合。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4462272"/>
            <a:ext cx="4754880" cy="510235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059669"/>
                </a:solidFill>
                <a:latin typeface="Microsoft YaHei"/>
              </a:rPr>
              <a:t>●  </a:t>
            </a:r>
            <a:r>
              <a:rPr sz="1000" b="0">
                <a:solidFill>
                  <a:srgbClr val="374151"/>
                </a:solidFill>
                <a:latin typeface="Microsoft YaHei"/>
              </a:rPr>
              <a:t>面向 Find/Reno 系列，跨东南亚市场分发。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0" y="6473952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9/22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" y="6473952"/>
            <a:ext cx="6400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手机主题现状与主题引擎能力洞察 · xhyha/insight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384048"/>
            <a:ext cx="118872" cy="868680"/>
          </a:xfrm>
          <a:prstGeom prst="roundRect">
            <a:avLst>
              <a:gd name="adj" fmla="val 20000"/>
            </a:avLst>
          </a:prstGeom>
          <a:solidFill>
            <a:srgbClr val="C2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C2820A"/>
                </a:solidFill>
                <a:latin typeface="Microsoft YaHei"/>
              </a:rPr>
              <a:t>02 · 全球厂商  |  SAMSUNG ONE UI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58368"/>
            <a:ext cx="109728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161B2E"/>
                </a:solidFill>
                <a:latin typeface="Microsoft YaHei"/>
              </a:rPr>
              <a:t>三星 One UI：Galaxy Themes + Good Lock 模块化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54480"/>
            <a:ext cx="6766560" cy="448056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691640"/>
            <a:ext cx="64008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C2820A"/>
                </a:solidFill>
                <a:latin typeface="Microsoft YaHei"/>
              </a:rPr>
              <a:t>▎模块化主题（Good Lock · Wikipedia 已核验）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94560"/>
            <a:ext cx="6309360" cy="49377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C2820A"/>
                </a:solidFill>
                <a:latin typeface="Microsoft YaHei"/>
              </a:rPr>
              <a:t>●  </a:t>
            </a:r>
            <a:r>
              <a:rPr sz="1050" b="0">
                <a:solidFill>
                  <a:srgbClr val="374151"/>
                </a:solidFill>
                <a:latin typeface="Microsoft YaHei"/>
              </a:rPr>
              <a:t>Galaxy Themes：官方主题商店，提供图标包/壁纸/Always-On 样式。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743200"/>
            <a:ext cx="6309360" cy="49377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C2820A"/>
                </a:solidFill>
                <a:latin typeface="Microsoft YaHei"/>
              </a:rPr>
              <a:t>●  </a:t>
            </a:r>
            <a:r>
              <a:rPr sz="1050" b="0">
                <a:solidFill>
                  <a:srgbClr val="374151"/>
                </a:solidFill>
                <a:latin typeface="Microsoft YaHei"/>
              </a:rPr>
              <a:t>Good Lock：高级自定义套件，模块化拆分：Home Up(布局)、Theme Park(配色/图标)、LockStar(锁屏)等。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291840"/>
            <a:ext cx="6309360" cy="49377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C2820A"/>
                </a:solidFill>
                <a:latin typeface="Microsoft YaHei"/>
              </a:rPr>
              <a:t>●  </a:t>
            </a:r>
            <a:r>
              <a:rPr sz="1050" b="0">
                <a:solidFill>
                  <a:srgbClr val="374151"/>
                </a:solidFill>
                <a:latin typeface="Microsoft YaHei"/>
              </a:rPr>
              <a:t>Theme Park：可自定义系统配色与图标包，是三星的“准主题引擎”。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840480"/>
            <a:ext cx="6309360" cy="49377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C2820A"/>
                </a:solidFill>
                <a:latin typeface="Microsoft YaHei"/>
              </a:rPr>
              <a:t>●  </a:t>
            </a:r>
            <a:r>
              <a:rPr sz="1050" b="0">
                <a:solidFill>
                  <a:srgbClr val="374151"/>
                </a:solidFill>
                <a:latin typeface="Microsoft YaHei"/>
              </a:rPr>
              <a:t>接入 Material You 动态取色（One UI 4+），与 Good Lock 并存。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389120"/>
            <a:ext cx="6309360" cy="49377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C2820A"/>
                </a:solidFill>
                <a:latin typeface="Microsoft YaHei"/>
              </a:rPr>
              <a:t>●  </a:t>
            </a:r>
            <a:r>
              <a:rPr sz="1050" b="0">
                <a:solidFill>
                  <a:srgbClr val="374151"/>
                </a:solidFill>
                <a:latin typeface="Microsoft YaHei"/>
              </a:rPr>
              <a:t>Creative Studio：内置 AI 壁纸生成（已核验），AI 进入主题创作链。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18120" y="1554480"/>
            <a:ext cx="3520440" cy="4480560"/>
          </a:xfrm>
          <a:prstGeom prst="roundRect">
            <a:avLst>
              <a:gd name="adj" fmla="val 5000"/>
            </a:avLst>
          </a:prstGeom>
          <a:solidFill>
            <a:srgbClr val="EFF3F9"/>
          </a:solidFill>
          <a:ln w="12700">
            <a:solidFill>
              <a:srgbClr val="C282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28431" y="1691640"/>
            <a:ext cx="310896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C2820A"/>
                </a:solidFill>
                <a:latin typeface="Microsoft YaHei"/>
              </a:rPr>
              <a:t>▎模块化范式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28431" y="2194560"/>
            <a:ext cx="3108960" cy="3657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61B2E"/>
                </a:solidFill>
                <a:latin typeface="Microsoft YaHei"/>
              </a:rPr>
              <a:t>三星的独特路线：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6B7280"/>
                </a:solidFill>
                <a:latin typeface="Microsoft YaHei"/>
              </a:rPr>
              <a:t>不提供单一“主题引擎”，而是把自定义能力拆成独立模块，用户按需组合。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500" b="0">
                <a:solidFill>
                  <a:srgbClr val="374151"/>
                </a:solidFill>
                <a:latin typeface="Microsoft YaHe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C2820A"/>
                </a:solidFill>
                <a:latin typeface="Microsoft YaHei"/>
              </a:rPr>
              <a:t>优势：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6B7280"/>
                </a:solidFill>
                <a:latin typeface="Microsoft YaHei"/>
              </a:rPr>
              <a:t>极致灵活，社区活跃。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500" b="0">
                <a:solidFill>
                  <a:srgbClr val="374151"/>
                </a:solidFill>
                <a:latin typeface="Microsoft YaHe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DC2626"/>
                </a:solidFill>
                <a:latin typeface="Microsoft YaHei"/>
              </a:rPr>
              <a:t>代价：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6B7280"/>
                </a:solidFill>
                <a:latin typeface="Microsoft YaHei"/>
              </a:rPr>
              <a:t>学习门槛高，碎片化。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500" b="0">
                <a:solidFill>
                  <a:srgbClr val="374151"/>
                </a:solidFill>
                <a:latin typeface="Microsoft YaHe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6B7280"/>
                </a:solidFill>
                <a:latin typeface="Microsoft YaHei"/>
              </a:rPr>
              <a:t>Creative Studio AI 壁纸是 2025 主题 AI 化的先声。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0" y="6473952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10/22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6473952"/>
            <a:ext cx="6400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手机主题现状与主题引擎能力洞察 · xhyha/insight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91695" cy="36576"/>
          </a:xfrm>
          <a:prstGeom prst="rect">
            <a:avLst/>
          </a:prstGeom>
          <a:solidFill>
            <a:srgbClr val="C4C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434840"/>
            <a:ext cx="12191695" cy="36576"/>
          </a:xfrm>
          <a:prstGeom prst="rect">
            <a:avLst/>
          </a:prstGeom>
          <a:solidFill>
            <a:srgbClr val="C4C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468880"/>
            <a:ext cx="4572000" cy="11887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800" b="1">
                <a:solidFill>
                  <a:srgbClr val="0D9488"/>
                </a:solidFill>
                <a:latin typeface="Microsoft YaHei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2697480"/>
            <a:ext cx="86868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0D9488"/>
                </a:solidFill>
                <a:latin typeface="Microsoft YaHei"/>
              </a:rPr>
              <a:t>ENGINE TECH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3108960"/>
            <a:ext cx="914400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161B2E"/>
                </a:solidFill>
                <a:latin typeface="Microsoft YaHei"/>
              </a:rPr>
              <a:t>主题引擎技术能力拆解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3886200"/>
            <a:ext cx="841248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374151"/>
                </a:solidFill>
                <a:latin typeface="Microsoft YaHei"/>
              </a:rPr>
              <a:t>动态取色 · 图标引擎 · 息屏壁纸 · AI 主题 · 包格式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73952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11/22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6473952"/>
            <a:ext cx="6400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手机主题现状与主题引擎能力洞察 · xhyha/insight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384048"/>
            <a:ext cx="118872" cy="86868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2563EB"/>
                </a:solidFill>
                <a:latin typeface="Microsoft YaHei"/>
              </a:rPr>
              <a:t>03 · 引擎能力  |  动态取色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58368"/>
            <a:ext cx="109728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161B2E"/>
                </a:solidFill>
                <a:latin typeface="Microsoft YaHei"/>
              </a:rPr>
              <a:t>动态取色引擎：从壁纸到全局配色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00200"/>
            <a:ext cx="2615184" cy="228600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600200"/>
            <a:ext cx="2615184" cy="9144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2295144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2563EB"/>
                </a:solidFill>
                <a:latin typeface="Microsoft YaHei"/>
              </a:rPr>
              <a:t>色彩提取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77440"/>
            <a:ext cx="2295144" cy="1371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374151"/>
                </a:solidFill>
                <a:latin typeface="Microsoft YaHei"/>
              </a:rPr>
              <a:t>量化/聚类算法从壁纸提取主色簇，HCT 色彩空间建模色调调色板。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21024" y="1600200"/>
            <a:ext cx="2615184" cy="228600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621024" y="1600200"/>
            <a:ext cx="2615184" cy="91440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03904" y="1828800"/>
            <a:ext cx="2295144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D9488"/>
                </a:solidFill>
                <a:latin typeface="Microsoft YaHei"/>
              </a:rPr>
              <a:t>明暗适配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3904" y="2377440"/>
            <a:ext cx="2295144" cy="1371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374151"/>
                </a:solidFill>
                <a:latin typeface="Microsoft YaHei"/>
              </a:rPr>
              <a:t>亮/暗双模式，对比度校验，自动生成 onColor/容器色，保证可读性。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19088" y="1600200"/>
            <a:ext cx="2615184" cy="228600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19088" y="1600200"/>
            <a:ext cx="2615184" cy="91440"/>
          </a:xfrm>
          <a:prstGeom prst="roundRect">
            <a:avLst>
              <a:gd name="adj" fmla="val 2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1968" y="1828800"/>
            <a:ext cx="2295144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7C3AED"/>
                </a:solidFill>
                <a:latin typeface="Microsoft YaHei"/>
              </a:rPr>
              <a:t>全局下发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01968" y="2377440"/>
            <a:ext cx="2295144" cy="1371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374151"/>
                </a:solidFill>
                <a:latin typeface="Microsoft YaHei"/>
              </a:rPr>
              <a:t>SystemColors API 把调色板注入系统框架，支持应用通过 Material 组件跟随。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17152" y="1600200"/>
            <a:ext cx="2615184" cy="228600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217152" y="1600200"/>
            <a:ext cx="2615184" cy="91440"/>
          </a:xfrm>
          <a:prstGeom prst="roundRect">
            <a:avLst>
              <a:gd name="adj" fmla="val 2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32" y="1828800"/>
            <a:ext cx="2295144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EA580C"/>
                </a:solidFill>
                <a:latin typeface="Microsoft YaHei"/>
              </a:rPr>
              <a:t>厂商增强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00032" y="2377440"/>
            <a:ext cx="2295144" cy="1371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374151"/>
                </a:solidFill>
                <a:latin typeface="Microsoft YaHei"/>
              </a:rPr>
              <a:t>华为/小米/vivo 在 Material You 基础上扩展更多取色维度与场景覆盖。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4114800"/>
            <a:ext cx="10561320" cy="1920240"/>
          </a:xfrm>
          <a:prstGeom prst="roundRect">
            <a:avLst>
              <a:gd name="adj" fmla="val 5000"/>
            </a:avLst>
          </a:prstGeom>
          <a:solidFill>
            <a:srgbClr val="EFF3F9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4224528"/>
            <a:ext cx="100584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2563EB"/>
                </a:solidFill>
                <a:latin typeface="Microsoft YaHei"/>
              </a:rPr>
              <a:t>▎技术演进趋势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4590288"/>
            <a:ext cx="10058400" cy="1371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374151"/>
                </a:solidFill>
                <a:latin typeface="Microsoft YaHei"/>
              </a:rPr>
              <a:t>① 从“固定主题包”到“动态实时生成”：壁纸变了，全系统配色即时跟随，无需下载主题。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374151"/>
                </a:solidFill>
                <a:latin typeface="Microsoft YaHei"/>
              </a:rPr>
              <a:t>② 取色维度扩展：从单张壁纸到锁屏/息屏/多屏分别取色，甚至按时间段渐变（日出/日落主题）。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374151"/>
                </a:solidFill>
                <a:latin typeface="Microsoft YaHei"/>
              </a:rPr>
              <a:t>③ Material 3 Expressive（2025）让动态色彩更“有表现力”——不仅是跟随，而是主动塑造氛围。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374151"/>
                </a:solidFill>
                <a:latin typeface="Microsoft YaHei"/>
              </a:rPr>
              <a:t>④ 开放 API 化：动态色彩不再锁定系统 UI，第三方应用可接入，形成“全应用主题化”。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47120" y="6473952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12/22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" y="6473952"/>
            <a:ext cx="6400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手机主题现状与主题引擎能力洞察 · xhyha/insight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384048"/>
            <a:ext cx="118872" cy="868680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0D9488"/>
                </a:solidFill>
                <a:latin typeface="Microsoft YaHei"/>
              </a:rPr>
              <a:t>03 · 引擎能力  |  图标 · 息屏 · 壁纸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58368"/>
            <a:ext cx="109728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161B2E"/>
                </a:solidFill>
                <a:latin typeface="Microsoft YaHei"/>
              </a:rPr>
              <a:t>图标主题、息屏(AOD)与动态壁纸引擎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54480"/>
            <a:ext cx="5166360" cy="448056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691640"/>
            <a:ext cx="475488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D9488"/>
                </a:solidFill>
                <a:latin typeface="Microsoft YaHei"/>
              </a:rPr>
              <a:t>▎图标主题引擎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94560"/>
            <a:ext cx="4754880" cy="510235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0D9488"/>
                </a:solidFill>
                <a:latin typeface="Microsoft YaHei"/>
              </a:rPr>
              <a:t>●  </a:t>
            </a:r>
            <a:r>
              <a:rPr sz="1000" b="0">
                <a:solidFill>
                  <a:srgbClr val="374151"/>
                </a:solidFill>
                <a:latin typeface="Microsoft YaHei"/>
              </a:rPr>
              <a:t>自适应图标(Adaptive Icon)：Android 标准，前景/背景分层，统一遮罩。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761488"/>
            <a:ext cx="4754880" cy="510235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0D9488"/>
                </a:solidFill>
                <a:latin typeface="Microsoft YaHei"/>
              </a:rPr>
              <a:t>●  </a:t>
            </a:r>
            <a:r>
              <a:rPr sz="1000" b="0">
                <a:solidFill>
                  <a:srgbClr val="374151"/>
                </a:solidFill>
                <a:latin typeface="Microsoft YaHei"/>
              </a:rPr>
              <a:t>主题图标(Themed Icon)：Android 13+ 支持单色主题图标，随取色着色。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328416"/>
            <a:ext cx="4754880" cy="510235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0D9488"/>
                </a:solidFill>
                <a:latin typeface="Microsoft YaHei"/>
              </a:rPr>
              <a:t>●  </a:t>
            </a:r>
            <a:r>
              <a:rPr sz="1000" b="0">
                <a:solidFill>
                  <a:srgbClr val="374151"/>
                </a:solidFill>
                <a:latin typeface="Microsoft YaHei"/>
              </a:rPr>
              <a:t>图标包引擎：第三方图标包(.apk)替换桌面图标，国内厂商深度集成。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895344"/>
            <a:ext cx="4754880" cy="510235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0D9488"/>
                </a:solidFill>
                <a:latin typeface="Microsoft YaHei"/>
              </a:rPr>
              <a:t>●  </a:t>
            </a:r>
            <a:r>
              <a:rPr sz="1000" b="0">
                <a:solidFill>
                  <a:srgbClr val="374151"/>
                </a:solidFill>
                <a:latin typeface="Microsoft YaHei"/>
              </a:rPr>
              <a:t>华为“混搭”/小米主题可全局换图标；iOS 不支持系统级图标主题。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554480"/>
            <a:ext cx="5212080" cy="448056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691640"/>
            <a:ext cx="475488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C2820A"/>
                </a:solidFill>
                <a:latin typeface="Microsoft YaHei"/>
              </a:rPr>
              <a:t>▎息屏(AOD)与动态壁纸引擎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194560"/>
            <a:ext cx="4754880" cy="47731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C2820A"/>
                </a:solidFill>
                <a:latin typeface="Microsoft YaHei"/>
              </a:rPr>
              <a:t>●  </a:t>
            </a:r>
            <a:r>
              <a:rPr sz="1000" b="0">
                <a:solidFill>
                  <a:srgbClr val="374151"/>
                </a:solidFill>
                <a:latin typeface="Microsoft YaHei"/>
              </a:rPr>
              <a:t>华为万象息屏：丰富 AOD 样式，动效与自定义突出（细节待核实）。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724912"/>
            <a:ext cx="4754880" cy="47731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C2820A"/>
                </a:solidFill>
                <a:latin typeface="Microsoft YaHei"/>
              </a:rPr>
              <a:t>●  </a:t>
            </a:r>
            <a:r>
              <a:rPr sz="1000" b="0">
                <a:solidFill>
                  <a:srgbClr val="374151"/>
                </a:solidFill>
                <a:latin typeface="Microsoft YaHei"/>
              </a:rPr>
              <a:t>小米超级壁纸：3D 引擎渲染，锁屏/桌面/AOD 三端联动。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3255264"/>
            <a:ext cx="4754880" cy="47731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C2820A"/>
                </a:solidFill>
                <a:latin typeface="Microsoft YaHei"/>
              </a:rPr>
              <a:t>●  </a:t>
            </a:r>
            <a:r>
              <a:rPr sz="1000" b="0">
                <a:solidFill>
                  <a:srgbClr val="374151"/>
                </a:solidFill>
                <a:latin typeface="Microsoft YaHei"/>
              </a:rPr>
              <a:t>vivo 行为壁纸：壁纸随步数等行为数据动态变化。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785615"/>
            <a:ext cx="4754880" cy="47731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C2820A"/>
                </a:solidFill>
                <a:latin typeface="Microsoft YaHei"/>
              </a:rPr>
              <a:t>●  </a:t>
            </a:r>
            <a:r>
              <a:rPr sz="1000" b="0">
                <a:solidFill>
                  <a:srgbClr val="374151"/>
                </a:solidFill>
                <a:latin typeface="Microsoft YaHei"/>
              </a:rPr>
              <a:t>三星 Smart AOD + Good Lock LockStar：模块化 AOD 编辑。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4315968"/>
            <a:ext cx="4754880" cy="47731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C2820A"/>
                </a:solidFill>
                <a:latin typeface="Microsoft YaHei"/>
              </a:rPr>
              <a:t>●  </a:t>
            </a:r>
            <a:r>
              <a:rPr sz="1000" b="0">
                <a:solidFill>
                  <a:srgbClr val="374151"/>
                </a:solidFill>
                <a:latin typeface="Microsoft YaHei"/>
              </a:rPr>
              <a:t>动态壁纸从“预录视频”演进到“实时渲染/AI 生成”。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47120" y="6473952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13/22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" y="6473952"/>
            <a:ext cx="6400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手机主题现状与主题引擎能力洞察 · xhyha/insight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384048"/>
            <a:ext cx="118872" cy="868680"/>
          </a:xfrm>
          <a:prstGeom prst="roundRect">
            <a:avLst>
              <a:gd name="adj" fmla="val 20000"/>
            </a:avLst>
          </a:prstGeom>
          <a:solidFill>
            <a:srgbClr val="C2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C2820A"/>
                </a:solidFill>
                <a:latin typeface="Microsoft YaHei"/>
              </a:rPr>
              <a:t>03 · 引擎能力  |  AI 生成主题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58368"/>
            <a:ext cx="109728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161B2E"/>
                </a:solidFill>
                <a:latin typeface="Microsoft YaHei"/>
              </a:rPr>
              <a:t>AI 生成主题：2025-2026 的新引擎能力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54480"/>
            <a:ext cx="6766560" cy="448056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691640"/>
            <a:ext cx="64008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C2820A"/>
                </a:solidFill>
                <a:latin typeface="Microsoft YaHei"/>
              </a:rPr>
              <a:t>▎AI 进入主题创作链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94560"/>
            <a:ext cx="6309360" cy="460857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C2820A"/>
                </a:solidFill>
                <a:latin typeface="Microsoft YaHei"/>
              </a:rPr>
              <a:t>●  </a:t>
            </a:r>
            <a:r>
              <a:rPr sz="1050" b="0">
                <a:solidFill>
                  <a:srgbClr val="374151"/>
                </a:solidFill>
                <a:latin typeface="Microsoft YaHei"/>
              </a:rPr>
              <a:t>三星 Creative Studio：内置 AI 壁纸生成（已核验），用户用文本/风格生成专属壁纸。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706624"/>
            <a:ext cx="6309360" cy="460857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C2820A"/>
                </a:solidFill>
                <a:latin typeface="Microsoft YaHei"/>
              </a:rPr>
              <a:t>●  </a:t>
            </a:r>
            <a:r>
              <a:rPr sz="1050" b="0">
                <a:solidFill>
                  <a:srgbClr val="374151"/>
                </a:solidFill>
                <a:latin typeface="Microsoft YaHei"/>
              </a:rPr>
              <a:t>趋势：从“选主题”到“生成主题”——AI 按用户偏好生成壁纸+配色+图标风格。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218688"/>
            <a:ext cx="6309360" cy="460857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C2820A"/>
                </a:solidFill>
                <a:latin typeface="Microsoft YaHei"/>
              </a:rPr>
              <a:t>●  </a:t>
            </a:r>
            <a:r>
              <a:rPr sz="1050" b="0">
                <a:solidFill>
                  <a:srgbClr val="374151"/>
                </a:solidFill>
                <a:latin typeface="Microsoft YaHei"/>
              </a:rPr>
              <a:t>端侧 AI 模型(如 NPU)可实现实时风格迁移，无需联网，隐私友好。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730752"/>
            <a:ext cx="6309360" cy="460857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C2820A"/>
                </a:solidFill>
                <a:latin typeface="Microsoft YaHei"/>
              </a:rPr>
              <a:t>●  </a:t>
            </a:r>
            <a:r>
              <a:rPr sz="1050" b="0">
                <a:solidFill>
                  <a:srgbClr val="374151"/>
                </a:solidFill>
                <a:latin typeface="Microsoft YaHei"/>
              </a:rPr>
              <a:t>潜在能力：AI 根据时间段/心情/天气自动切换主题氛围。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242816"/>
            <a:ext cx="6309360" cy="460857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C2820A"/>
                </a:solidFill>
                <a:latin typeface="Microsoft YaHei"/>
              </a:rPr>
              <a:t>●  </a:t>
            </a:r>
            <a:r>
              <a:rPr sz="1050" b="0">
                <a:solidFill>
                  <a:srgbClr val="374151"/>
                </a:solidFill>
                <a:latin typeface="Microsoft YaHei"/>
              </a:rPr>
              <a:t>挑战：生成一致性（图标适配）、版权/内容安全、算力与功耗。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754880"/>
            <a:ext cx="6309360" cy="460857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C2820A"/>
                </a:solidFill>
                <a:latin typeface="Microsoft YaHei"/>
              </a:rPr>
              <a:t>●  </a:t>
            </a:r>
            <a:r>
              <a:rPr sz="1050" b="0">
                <a:solidFill>
                  <a:srgbClr val="374151"/>
                </a:solidFill>
                <a:latin typeface="Microsoft YaHei"/>
              </a:rPr>
              <a:t>对比：Apple iOS 仍无系统主题引擎，AI 个性化停留在壁纸建议层面。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18120" y="1554480"/>
            <a:ext cx="3520440" cy="4480560"/>
          </a:xfrm>
          <a:prstGeom prst="roundRect">
            <a:avLst>
              <a:gd name="adj" fmla="val 5000"/>
            </a:avLst>
          </a:prstGeom>
          <a:solidFill>
            <a:srgbClr val="EFF3F9"/>
          </a:solidFill>
          <a:ln w="12700">
            <a:solidFill>
              <a:srgbClr val="C282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28431" y="1691640"/>
            <a:ext cx="310896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C2820A"/>
                </a:solidFill>
                <a:latin typeface="Microsoft YaHei"/>
              </a:rPr>
              <a:t>▎AI 主题范式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28431" y="2194560"/>
            <a:ext cx="3108960" cy="3657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61B2E"/>
                </a:solidFill>
                <a:latin typeface="Microsoft YaHei"/>
              </a:rPr>
              <a:t>输入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6B7280"/>
                </a:solidFill>
                <a:latin typeface="Microsoft YaHei"/>
              </a:rPr>
              <a:t>用户文本/照片/偏好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500" b="0">
                <a:solidFill>
                  <a:srgbClr val="374151"/>
                </a:solidFill>
                <a:latin typeface="Microsoft YaHe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61B2E"/>
                </a:solidFill>
                <a:latin typeface="Microsoft YaHei"/>
              </a:rPr>
              <a:t>处理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6B7280"/>
                </a:solidFill>
                <a:latin typeface="Microsoft YaHei"/>
              </a:rPr>
              <a:t>端侧扩散模型 / 风格迁移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500" b="0">
                <a:solidFill>
                  <a:srgbClr val="374151"/>
                </a:solidFill>
                <a:latin typeface="Microsoft YaHe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61B2E"/>
                </a:solidFill>
                <a:latin typeface="Microsoft YaHei"/>
              </a:rPr>
              <a:t>输出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6B7280"/>
                </a:solidFill>
                <a:latin typeface="Microsoft YaHei"/>
              </a:rPr>
              <a:t>壁纸 + 配色 + 图标风格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500" b="0">
                <a:solidFill>
                  <a:srgbClr val="374151"/>
                </a:solidFill>
                <a:latin typeface="Microsoft YaHe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61B2E"/>
                </a:solidFill>
                <a:latin typeface="Microsoft YaHei"/>
              </a:rPr>
              <a:t>分发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6B7280"/>
                </a:solidFill>
                <a:latin typeface="Microsoft YaHei"/>
              </a:rPr>
              <a:t>一次性生成 vs 实时演化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500" b="0">
                <a:solidFill>
                  <a:srgbClr val="374151"/>
                </a:solidFill>
                <a:latin typeface="Microsoft YaHe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C2820A"/>
                </a:solidFill>
                <a:latin typeface="Microsoft YaHei"/>
              </a:rPr>
              <a:t>这是主题引擎从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C2820A"/>
                </a:solidFill>
                <a:latin typeface="Microsoft YaHei"/>
              </a:rPr>
              <a:t>“资源分发”转向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C2820A"/>
                </a:solidFill>
                <a:latin typeface="Microsoft YaHei"/>
              </a:rPr>
              <a:t>“生成式引擎”的分水岭。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473952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14/22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6473952"/>
            <a:ext cx="6400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手机主题现状与主题引擎能力洞察 · xhyha/insight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384048"/>
            <a:ext cx="118872" cy="868680"/>
          </a:xfrm>
          <a:prstGeom prst="roundRect">
            <a:avLst>
              <a:gd name="adj" fmla="val 2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7C3AED"/>
                </a:solidFill>
                <a:latin typeface="Microsoft YaHei"/>
              </a:rPr>
              <a:t>03 · 引擎能力  |  包格式与分发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58368"/>
            <a:ext cx="109728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161B2E"/>
                </a:solidFill>
                <a:latin typeface="Microsoft YaHei"/>
              </a:rPr>
              <a:t>主题包格式与分发机制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3456432" cy="1353312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572768"/>
            <a:ext cx="82296" cy="1353312"/>
          </a:xfrm>
          <a:prstGeom prst="roundRect">
            <a:avLst>
              <a:gd name="adj" fmla="val 20000"/>
            </a:avLst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1682495"/>
            <a:ext cx="3136391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C7000B"/>
                </a:solidFill>
                <a:latin typeface="Microsoft YaHei"/>
              </a:rPr>
              <a:t>华为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2029967"/>
            <a:ext cx="3136391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161B2E"/>
                </a:solidFill>
                <a:latin typeface="Microsoft YaHei"/>
              </a:rPr>
              <a:t>.hwt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2350008"/>
            <a:ext cx="3136391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30" b="0">
                <a:solidFill>
                  <a:srgbClr val="374151"/>
                </a:solidFill>
                <a:latin typeface="Microsoft YaHei"/>
              </a:rPr>
              <a:t>华为主题包格式，含壁纸/图标/字体/锁屏等资源（业界广泛记载）。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43984" y="1572768"/>
            <a:ext cx="3456432" cy="1353312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43984" y="1572768"/>
            <a:ext cx="82296" cy="1353312"/>
          </a:xfrm>
          <a:prstGeom prst="roundRect">
            <a:avLst>
              <a:gd name="adj" fmla="val 2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45152" y="1682495"/>
            <a:ext cx="3136391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EA580C"/>
                </a:solidFill>
                <a:latin typeface="Microsoft YaHei"/>
              </a:rPr>
              <a:t>小米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5152" y="2029967"/>
            <a:ext cx="3136391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161B2E"/>
                </a:solidFill>
                <a:latin typeface="Microsoft YaHei"/>
              </a:rPr>
              <a:t>.mtz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5152" y="2350008"/>
            <a:ext cx="3136391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30" b="0">
                <a:solidFill>
                  <a:srgbClr val="374151"/>
                </a:solidFill>
                <a:latin typeface="Microsoft YaHei"/>
              </a:rPr>
              <a:t>MIUI/HyperOS 主题包，国内设计师生态主要分发格式。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5008" y="1572768"/>
            <a:ext cx="3456432" cy="1353312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65008" y="1572768"/>
            <a:ext cx="82296" cy="1353312"/>
          </a:xfrm>
          <a:prstGeom prst="roundRect">
            <a:avLst>
              <a:gd name="adj" fmla="val 20000"/>
            </a:avLst>
          </a:prstGeom>
          <a:solidFill>
            <a:srgbClr val="C2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66176" y="1682495"/>
            <a:ext cx="3136391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C2820A"/>
                </a:solidFill>
                <a:latin typeface="Microsoft YaHei"/>
              </a:rPr>
              <a:t>三星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66176" y="2029967"/>
            <a:ext cx="3136391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161B2E"/>
                </a:solidFill>
                <a:latin typeface="Microsoft YaHei"/>
              </a:rPr>
              <a:t>Galaxy Themes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6176" y="2350008"/>
            <a:ext cx="3136391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30" b="0">
                <a:solidFill>
                  <a:srgbClr val="374151"/>
                </a:solidFill>
                <a:latin typeface="Microsoft YaHei"/>
              </a:rPr>
              <a:t>通过官方主题商店分发，开发者注册后提交。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3072384"/>
            <a:ext cx="3456432" cy="1353312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22960" y="3072384"/>
            <a:ext cx="82296" cy="1353312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4128" y="3182112"/>
            <a:ext cx="3136391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2563EB"/>
                </a:solidFill>
                <a:latin typeface="Microsoft YaHei"/>
              </a:rPr>
              <a:t>Android 标准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" y="3529584"/>
            <a:ext cx="3136391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161B2E"/>
                </a:solidFill>
                <a:latin typeface="Microsoft YaHei"/>
              </a:rPr>
              <a:t>APK/图标包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" y="3849624"/>
            <a:ext cx="3136391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30" b="0">
                <a:solidFill>
                  <a:srgbClr val="374151"/>
                </a:solidFill>
                <a:latin typeface="Microsoft YaHei"/>
              </a:rPr>
              <a:t>自适应图标 + 图标包应用，跨启动器通用。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43984" y="3072384"/>
            <a:ext cx="3456432" cy="1353312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443984" y="3072384"/>
            <a:ext cx="82296" cy="1353312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45152" y="3182112"/>
            <a:ext cx="3136391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D9488"/>
                </a:solidFill>
                <a:latin typeface="Microsoft YaHei"/>
              </a:rPr>
              <a:t>动态取色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45152" y="3529584"/>
            <a:ext cx="3136391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161B2E"/>
                </a:solidFill>
                <a:latin typeface="Microsoft YaHei"/>
              </a:rPr>
              <a:t>无包(实时)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45152" y="3849624"/>
            <a:ext cx="3136391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30" b="0">
                <a:solidFill>
                  <a:srgbClr val="374151"/>
                </a:solidFill>
                <a:latin typeface="Microsoft YaHei"/>
              </a:rPr>
              <a:t>Material You 无需下载主题包，壁纸即触发取色。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65008" y="3072384"/>
            <a:ext cx="3456432" cy="1353312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065008" y="3072384"/>
            <a:ext cx="82296" cy="1353312"/>
          </a:xfrm>
          <a:prstGeom prst="roundRect">
            <a:avLst>
              <a:gd name="adj" fmla="val 2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66176" y="3182112"/>
            <a:ext cx="3136391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59669"/>
                </a:solidFill>
                <a:latin typeface="Microsoft YaHei"/>
              </a:rPr>
              <a:t>AI 生成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66176" y="3529584"/>
            <a:ext cx="3136391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161B2E"/>
                </a:solidFill>
                <a:latin typeface="Microsoft YaHei"/>
              </a:rPr>
              <a:t>无包(生成)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66176" y="3849624"/>
            <a:ext cx="3136391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30" b="0">
                <a:solidFill>
                  <a:srgbClr val="374151"/>
                </a:solidFill>
                <a:latin typeface="Microsoft YaHei"/>
              </a:rPr>
              <a:t>端侧/云侧生成，本质是参数而非固定资源。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2960" y="4526280"/>
            <a:ext cx="10561320" cy="1508760"/>
          </a:xfrm>
          <a:prstGeom prst="roundRect">
            <a:avLst>
              <a:gd name="adj" fmla="val 5000"/>
            </a:avLst>
          </a:prstGeom>
          <a:solidFill>
            <a:srgbClr val="EFF3F9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" y="4636008"/>
            <a:ext cx="100584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7C3AED"/>
                </a:solidFill>
                <a:latin typeface="Microsoft YaHei"/>
              </a:rPr>
              <a:t>▎范式迁移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001768"/>
            <a:ext cx="10058400" cy="9601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374151"/>
                </a:solidFill>
                <a:latin typeface="Microsoft YaHei"/>
              </a:rPr>
              <a:t>主题分发经历三代：① 静态资源包(.hwt/.mtz) → ② 动态取色(Material You，无需包) → ③ AI 生成式(参数化/实时)。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374151"/>
                </a:solidFill>
                <a:latin typeface="Microsoft YaHei"/>
              </a:rPr>
              <a:t>前两代是“选-装-用”，第三代是“说-生成-用”，分发成本趋近于零，但一致性与适配成为新挑战。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374151"/>
                </a:solidFill>
                <a:latin typeface="Microsoft YaHei"/>
              </a:rPr>
              <a:t>厂商主题商店正从“内容市场”向“生成平台 + 精品市场”双轨演进。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47120" y="6473952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15/22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0040" y="6473952"/>
            <a:ext cx="6400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手机主题现状与主题引擎能力洞察 · xhyha/insight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91695" cy="36576"/>
          </a:xfrm>
          <a:prstGeom prst="rect">
            <a:avLst/>
          </a:prstGeom>
          <a:solidFill>
            <a:srgbClr val="C4C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434840"/>
            <a:ext cx="12191695" cy="36576"/>
          </a:xfrm>
          <a:prstGeom prst="rect">
            <a:avLst/>
          </a:prstGeom>
          <a:solidFill>
            <a:srgbClr val="C4C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468880"/>
            <a:ext cx="4572000" cy="11887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800" b="1">
                <a:solidFill>
                  <a:srgbClr val="C2820A"/>
                </a:solidFill>
                <a:latin typeface="Microsoft YaHei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2697480"/>
            <a:ext cx="86868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C2820A"/>
                </a:solidFill>
                <a:latin typeface="Microsoft YaHei"/>
              </a:rPr>
              <a:t>BUSINESS &amp; CREATORS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3108960"/>
            <a:ext cx="914400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161B2E"/>
                </a:solidFill>
                <a:latin typeface="Microsoft YaHei"/>
              </a:rPr>
              <a:t>商业与创作者生态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3886200"/>
            <a:ext cx="841248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374151"/>
                </a:solidFill>
                <a:latin typeface="Microsoft YaHei"/>
              </a:rPr>
              <a:t>主题商店模式 · 设计师生态 · 分成机制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73952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16/22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6473952"/>
            <a:ext cx="6400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手机主题现状与主题引擎能力洞察 · xhyha/insight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384048"/>
            <a:ext cx="118872" cy="868680"/>
          </a:xfrm>
          <a:prstGeom prst="roundRect">
            <a:avLst>
              <a:gd name="adj" fmla="val 20000"/>
            </a:avLst>
          </a:prstGeom>
          <a:solidFill>
            <a:srgbClr val="C2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C2820A"/>
                </a:solidFill>
                <a:latin typeface="Microsoft YaHei"/>
              </a:rPr>
              <a:t>04 · 商业与创作者生态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58368"/>
            <a:ext cx="109728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161B2E"/>
                </a:solidFill>
                <a:latin typeface="Microsoft YaHei"/>
              </a:rPr>
              <a:t>主题商店商业模式与设计师生态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54480"/>
            <a:ext cx="6766560" cy="448056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691640"/>
            <a:ext cx="64008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C2820A"/>
                </a:solidFill>
                <a:latin typeface="Microsoft YaHei"/>
              </a:rPr>
              <a:t>▎中国厂商主题生态特征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94560"/>
            <a:ext cx="6309360" cy="49377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C2820A"/>
                </a:solidFill>
                <a:latin typeface="Microsoft YaHei"/>
              </a:rPr>
              <a:t>●  </a:t>
            </a:r>
            <a:r>
              <a:rPr sz="1050" b="0">
                <a:solidFill>
                  <a:srgbClr val="374151"/>
                </a:solidFill>
                <a:latin typeface="Microsoft YaHei"/>
              </a:rPr>
              <a:t>主题商店是中国安卓厂商独有的高频变现入口，付费主题/会员/字体构成稳定收入。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743200"/>
            <a:ext cx="6309360" cy="49377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C2820A"/>
                </a:solidFill>
                <a:latin typeface="Microsoft YaHei"/>
              </a:rPr>
              <a:t>●  </a:t>
            </a:r>
            <a:r>
              <a:rPr sz="1050" b="0">
                <a:solidFill>
                  <a:srgbClr val="374151"/>
                </a:solidFill>
                <a:latin typeface="Microsoft YaHei"/>
              </a:rPr>
              <a:t>设计师生态成熟：华为主题设计师、小米主题设计师均有官方注册与分成机制，大量独立创作者参与。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291840"/>
            <a:ext cx="6309360" cy="49377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C2820A"/>
                </a:solidFill>
                <a:latin typeface="Microsoft YaHei"/>
              </a:rPr>
              <a:t>●  </a:t>
            </a:r>
            <a:r>
              <a:rPr sz="1050" b="0">
                <a:solidFill>
                  <a:srgbClr val="374151"/>
                </a:solidFill>
                <a:latin typeface="Microsoft YaHei"/>
              </a:rPr>
              <a:t>字体单独售卖/订阅是重要品类（HarmonyOS Sans / Mi Sans / 第三方可变字体）。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840480"/>
            <a:ext cx="6309360" cy="49377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C2820A"/>
                </a:solidFill>
                <a:latin typeface="Microsoft YaHei"/>
              </a:rPr>
              <a:t>●  </a:t>
            </a:r>
            <a:r>
              <a:rPr sz="1050" b="0">
                <a:solidFill>
                  <a:srgbClr val="374151"/>
                </a:solidFill>
                <a:latin typeface="Microsoft YaHei"/>
              </a:rPr>
              <a:t>免费+广告、会员订阅、精品付费三种模式并存，下沉市场转化率高。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389120"/>
            <a:ext cx="6309360" cy="49377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C2820A"/>
                </a:solidFill>
                <a:latin typeface="Microsoft YaHei"/>
              </a:rPr>
              <a:t>●  </a:t>
            </a:r>
            <a:r>
              <a:rPr sz="1050" b="0">
                <a:solidFill>
                  <a:srgbClr val="374151"/>
                </a:solidFill>
                <a:latin typeface="Microsoft YaHei"/>
              </a:rPr>
              <a:t>主题与品牌/IP 联名（动漫/明星/节日）是高下载量爆款来源。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18120" y="1554480"/>
            <a:ext cx="3520440" cy="4480560"/>
          </a:xfrm>
          <a:prstGeom prst="roundRect">
            <a:avLst>
              <a:gd name="adj" fmla="val 5000"/>
            </a:avLst>
          </a:prstGeom>
          <a:solidFill>
            <a:srgbClr val="EFF3F9"/>
          </a:solidFill>
          <a:ln w="12700">
            <a:solidFill>
              <a:srgbClr val="C282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28431" y="1691640"/>
            <a:ext cx="310896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C2820A"/>
                </a:solidFill>
                <a:latin typeface="Microsoft YaHei"/>
              </a:rPr>
              <a:t>▎生态对比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28431" y="2194560"/>
            <a:ext cx="3108960" cy="3657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C2820A"/>
                </a:solidFill>
                <a:latin typeface="Microsoft YaHei"/>
              </a:rPr>
              <a:t>中国厂商：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6B7280"/>
                </a:solidFill>
                <a:latin typeface="Microsoft YaHei"/>
              </a:rPr>
              <a:t>主题=内容产业，设计师经济活跃。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500" b="0">
                <a:solidFill>
                  <a:srgbClr val="374151"/>
                </a:solidFill>
                <a:latin typeface="Microsoft YaHe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2563EB"/>
                </a:solidFill>
                <a:latin typeface="Microsoft YaHei"/>
              </a:rPr>
              <a:t>Google Pixel：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6B7280"/>
                </a:solidFill>
                <a:latin typeface="Microsoft YaHei"/>
              </a:rPr>
              <a:t>动态取色为主，无成熟付费生态。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500" b="0">
                <a:solidFill>
                  <a:srgbClr val="374151"/>
                </a:solidFill>
                <a:latin typeface="Microsoft YaHe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C2820A"/>
                </a:solidFill>
                <a:latin typeface="Microsoft YaHei"/>
              </a:rPr>
              <a:t>三星：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6B7280"/>
                </a:solidFill>
                <a:latin typeface="Microsoft YaHei"/>
              </a:rPr>
              <a:t>Galaxy Themes 有付费，Good Lock 免费但门槛高。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500" b="0">
                <a:solidFill>
                  <a:srgbClr val="374151"/>
                </a:solidFill>
                <a:latin typeface="Microsoft YaHe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6B7280"/>
                </a:solidFill>
                <a:latin typeface="Microsoft YaHei"/>
              </a:rPr>
              <a:t>Apple：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6B7280"/>
                </a:solidFill>
                <a:latin typeface="Microsoft YaHei"/>
              </a:rPr>
              <a:t>无主题商店，仅壁纸+锁屏个性化。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500" b="0">
                <a:solidFill>
                  <a:srgbClr val="374151"/>
                </a:solidFill>
                <a:latin typeface="Microsoft YaHe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DC2626"/>
                </a:solidFill>
                <a:latin typeface="Microsoft YaHei"/>
              </a:rPr>
              <a:t>⚠ 主题市场规模/分成比例等具体数据因无公开行业报告，未核实。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0" y="6473952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17/22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6473952"/>
            <a:ext cx="6400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手机主题现状与主题引擎能力洞察 · xhyha/insight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91695" cy="36576"/>
          </a:xfrm>
          <a:prstGeom prst="rect">
            <a:avLst/>
          </a:prstGeom>
          <a:solidFill>
            <a:srgbClr val="C4C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434840"/>
            <a:ext cx="12191695" cy="36576"/>
          </a:xfrm>
          <a:prstGeom prst="rect">
            <a:avLst/>
          </a:prstGeom>
          <a:solidFill>
            <a:srgbClr val="C4C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468880"/>
            <a:ext cx="4572000" cy="11887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800" b="1">
                <a:solidFill>
                  <a:srgbClr val="059669"/>
                </a:solidFill>
                <a:latin typeface="Microsoft YaHei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2697480"/>
            <a:ext cx="86868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059669"/>
                </a:solidFill>
                <a:latin typeface="Microsoft YaHei"/>
              </a:rPr>
              <a:t>TRENDS &amp; INSIGHTS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3108960"/>
            <a:ext cx="914400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161B2E"/>
                </a:solidFill>
                <a:latin typeface="Microsoft YaHei"/>
              </a:rPr>
              <a:t>趋势与启示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3886200"/>
            <a:ext cx="841248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374151"/>
                </a:solidFill>
                <a:latin typeface="Microsoft YaHei"/>
              </a:rPr>
              <a:t>动态化收敛 · AI 主题 · Apple 鸿沟 · 华为启示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73952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18/22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6473952"/>
            <a:ext cx="6400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手机主题现状与主题引擎能力洞察 · xhyha/insight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384048"/>
            <a:ext cx="118872" cy="868680"/>
          </a:xfrm>
          <a:prstGeom prst="roundRect">
            <a:avLst>
              <a:gd name="adj" fmla="val 2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059669"/>
                </a:solidFill>
                <a:latin typeface="Microsoft YaHei"/>
              </a:rPr>
              <a:t>05 · 趋势与启示  |  五大趋势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58368"/>
            <a:ext cx="109728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161B2E"/>
                </a:solidFill>
                <a:latin typeface="Microsoft YaHei"/>
              </a:rPr>
              <a:t>主题生态的五大结构性趋势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54480"/>
            <a:ext cx="10561320" cy="841248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554480"/>
            <a:ext cx="82296" cy="841248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645920"/>
            <a:ext cx="2194560" cy="685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2563EB"/>
                </a:solidFill>
                <a:latin typeface="Microsoft YaHei"/>
              </a:rPr>
              <a:t>01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61B2E"/>
                </a:solidFill>
                <a:latin typeface="Microsoft YaHei"/>
              </a:rPr>
              <a:t>动态取色成标配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1673352"/>
            <a:ext cx="786384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374151"/>
                </a:solidFill>
                <a:latin typeface="Microsoft YaHei"/>
              </a:rPr>
              <a:t>Material You 确立壁纸取色范式，小米/vivo/OPPO/华为/三星全面跟进，静态主题退居精品市场。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487168"/>
            <a:ext cx="10561320" cy="841248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22960" y="2487168"/>
            <a:ext cx="82296" cy="841248"/>
          </a:xfrm>
          <a:prstGeom prst="roundRect">
            <a:avLst>
              <a:gd name="adj" fmla="val 2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578608"/>
            <a:ext cx="2194560" cy="685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7C3AED"/>
                </a:solidFill>
                <a:latin typeface="Microsoft YaHei"/>
              </a:rPr>
              <a:t>02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61B2E"/>
                </a:solidFill>
                <a:latin typeface="Microsoft YaHei"/>
              </a:rPr>
              <a:t>锁屏成新战场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2606039"/>
            <a:ext cx="786384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374151"/>
                </a:solidFill>
                <a:latin typeface="Microsoft YaHei"/>
              </a:rPr>
              <a:t>iOS 16 锁屏个性化引爆后，HyperOS/OriginOS/One UI 纷纷加码锁屏自定义，锁屏=第一眼品牌触点。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419856"/>
            <a:ext cx="10561320" cy="841248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2960" y="3419856"/>
            <a:ext cx="82296" cy="841248"/>
          </a:xfrm>
          <a:prstGeom prst="roundRect">
            <a:avLst>
              <a:gd name="adj" fmla="val 20000"/>
            </a:avLst>
          </a:prstGeom>
          <a:solidFill>
            <a:srgbClr val="C2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511296"/>
            <a:ext cx="2194560" cy="685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C2820A"/>
                </a:solidFill>
                <a:latin typeface="Microsoft YaHei"/>
              </a:rPr>
              <a:t>03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61B2E"/>
                </a:solidFill>
                <a:latin typeface="Microsoft YaHei"/>
              </a:rPr>
              <a:t>AI 生成式主题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3538727"/>
            <a:ext cx="786384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374151"/>
                </a:solidFill>
                <a:latin typeface="Microsoft YaHei"/>
              </a:rPr>
              <a:t>从三星 Creative Studio 到端侧扩散模型，主题从“资源分发”走向“生成式引擎”。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352544"/>
            <a:ext cx="10561320" cy="841248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2960" y="4352544"/>
            <a:ext cx="82296" cy="841248"/>
          </a:xfrm>
          <a:prstGeom prst="roundRect">
            <a:avLst>
              <a:gd name="adj" fmla="val 2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4443983"/>
            <a:ext cx="2194560" cy="685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EA580C"/>
                </a:solidFill>
                <a:latin typeface="Microsoft YaHei"/>
              </a:rPr>
              <a:t>04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61B2E"/>
                </a:solidFill>
                <a:latin typeface="Microsoft YaHei"/>
              </a:rPr>
              <a:t>Apple 鸿沟扩大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4471416"/>
            <a:ext cx="786384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374151"/>
                </a:solidFill>
                <a:latin typeface="Microsoft YaHei"/>
              </a:rPr>
              <a:t>中国厂商主题能力最丰富，Apple 仍无系统主题引擎——个性化差距成安卓差异化卖点。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5285231"/>
            <a:ext cx="10561320" cy="841248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22960" y="5285231"/>
            <a:ext cx="82296" cy="841248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5376671"/>
            <a:ext cx="2194560" cy="685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0D9488"/>
                </a:solidFill>
                <a:latin typeface="Microsoft YaHei"/>
              </a:rPr>
              <a:t>05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61B2E"/>
                </a:solidFill>
                <a:latin typeface="Microsoft YaHei"/>
              </a:rPr>
              <a:t>跨端主题一致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91840" y="5404103"/>
            <a:ext cx="786384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374151"/>
                </a:solidFill>
                <a:latin typeface="Microsoft YaHei"/>
              </a:rPr>
              <a:t>HyperOS/鸿蒙把主题能力延伸到平板/车机/穿戴，统一视觉成多端战略一环。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47120" y="6473952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19/22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" y="6473952"/>
            <a:ext cx="6400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手机主题现状与主题引擎能力洞察 · xhyha/insight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384048"/>
            <a:ext cx="118872" cy="868680"/>
          </a:xfrm>
          <a:prstGeom prst="roundRect">
            <a:avLst>
              <a:gd name="adj" fmla="val 20000"/>
            </a:avLst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C7000B"/>
                </a:solidFill>
                <a:latin typeface="Microsoft YaHei"/>
              </a:rPr>
              <a:t>05 · 趋势与启示  |  对华为启示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58368"/>
            <a:ext cx="109728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161B2E"/>
                </a:solidFill>
                <a:latin typeface="Microsoft YaHei"/>
              </a:rPr>
              <a:t>对华为主题生态的六点启示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54480"/>
            <a:ext cx="5212080" cy="141732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554480"/>
            <a:ext cx="82296" cy="1417320"/>
          </a:xfrm>
          <a:prstGeom prst="roundRect">
            <a:avLst>
              <a:gd name="adj" fmla="val 20000"/>
            </a:avLst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2416" y="1682495"/>
            <a:ext cx="484632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C7000B"/>
                </a:solidFill>
                <a:latin typeface="Microsoft YaHei"/>
              </a:rPr>
              <a:t>HarmonyOS NEXT 主题重构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" y="2103120"/>
            <a:ext cx="4846320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374151"/>
                </a:solidFill>
                <a:latin typeface="Microsoft YaHei"/>
              </a:rPr>
              <a:t>纯鸿蒙去 AOSP，主题引擎需独立重建，.hwt 生态迁移是关键工程。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554480"/>
            <a:ext cx="5212080" cy="141732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63640" y="1554480"/>
            <a:ext cx="82296" cy="1417320"/>
          </a:xfrm>
          <a:prstGeom prst="roundRect">
            <a:avLst>
              <a:gd name="adj" fmla="val 20000"/>
            </a:avLst>
          </a:prstGeom>
          <a:solidFill>
            <a:srgbClr val="C2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83096" y="1682495"/>
            <a:ext cx="484632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C2820A"/>
                </a:solidFill>
                <a:latin typeface="Microsoft YaHei"/>
              </a:rPr>
              <a:t>AI 主题引擎抢先机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83096" y="2103120"/>
            <a:ext cx="4846320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374151"/>
                </a:solidFill>
                <a:latin typeface="Microsoft YaHei"/>
              </a:rPr>
              <a:t>端侧 NPU 可做实时风格迁移/AI 主题，与盘古/昇腾能力结合形成差异化。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136391"/>
            <a:ext cx="5212080" cy="141732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2960" y="3136391"/>
            <a:ext cx="82296" cy="14173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42416" y="3264408"/>
            <a:ext cx="484632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2563EB"/>
                </a:solidFill>
                <a:latin typeface="Microsoft YaHei"/>
              </a:rPr>
              <a:t>动态取色深度化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2416" y="3685031"/>
            <a:ext cx="4846320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374151"/>
                </a:solidFill>
                <a:latin typeface="Microsoft YaHei"/>
              </a:rPr>
              <a:t>在 Material You 基础上做多场景取色（锁屏/息屏/多屏/时段渐变），超越跟随。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3136391"/>
            <a:ext cx="5212080" cy="141732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63640" y="3136391"/>
            <a:ext cx="82296" cy="1417320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83096" y="3264408"/>
            <a:ext cx="484632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0D9488"/>
                </a:solidFill>
                <a:latin typeface="Microsoft YaHei"/>
              </a:rPr>
              <a:t>设计师生态升级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83096" y="3685031"/>
            <a:ext cx="4846320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374151"/>
                </a:solidFill>
                <a:latin typeface="Microsoft YaHei"/>
              </a:rPr>
              <a:t>从资源分发平台升级为“生成+精品”双轨，引入 AI 辅助创作工具降设计师门槛。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4718304"/>
            <a:ext cx="5212080" cy="141732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22960" y="4718304"/>
            <a:ext cx="82296" cy="1417320"/>
          </a:xfrm>
          <a:prstGeom prst="roundRect">
            <a:avLst>
              <a:gd name="adj" fmla="val 2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42416" y="4846320"/>
            <a:ext cx="484632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7C3AED"/>
                </a:solidFill>
                <a:latin typeface="Microsoft YaHei"/>
              </a:rPr>
              <a:t>万象息屏做深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2416" y="5266944"/>
            <a:ext cx="4846320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374151"/>
                </a:solidFill>
                <a:latin typeface="Microsoft YaHei"/>
              </a:rPr>
              <a:t>AOD 是华为已有优势，结合 AI 与动效做“会呼吸的息屏”，强化品牌记忆。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4718304"/>
            <a:ext cx="5212080" cy="141732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263640" y="4718304"/>
            <a:ext cx="82296" cy="1417320"/>
          </a:xfrm>
          <a:prstGeom prst="roundRect">
            <a:avLst>
              <a:gd name="adj" fmla="val 2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83096" y="4846320"/>
            <a:ext cx="484632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EA580C"/>
                </a:solidFill>
                <a:latin typeface="Microsoft YaHei"/>
              </a:rPr>
              <a:t>跨端主题一致性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83096" y="5266944"/>
            <a:ext cx="4846320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374151"/>
                </a:solidFill>
                <a:latin typeface="Microsoft YaHei"/>
              </a:rPr>
              <a:t>鸿蒙全场景(手机/平板/车机/穿戴)统一主题体系，强化“一镜到底”生态体验。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47120" y="6473952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20/22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473952"/>
            <a:ext cx="6400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手机主题现状与主题引擎能力洞察 · xhyha/insight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384048"/>
            <a:ext cx="118872" cy="868680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0D9488"/>
                </a:solidFill>
                <a:latin typeface="Microsoft YaHei"/>
              </a:rPr>
              <a:t>SOURCES &amp;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58368"/>
            <a:ext cx="109728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161B2E"/>
                </a:solidFill>
                <a:latin typeface="Microsoft YaHei"/>
              </a:rPr>
              <a:t>数据来源与核验说明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54480"/>
            <a:ext cx="10561320" cy="365760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664208"/>
            <a:ext cx="100584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D9488"/>
                </a:solidFill>
                <a:latin typeface="Microsoft YaHei"/>
              </a:rPr>
              <a:t>▎已核验来源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48840"/>
            <a:ext cx="2103120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D9488"/>
                </a:solidFill>
                <a:latin typeface="Microsoft YaHei"/>
              </a:rPr>
              <a:t>Material You/Monet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2148840"/>
            <a:ext cx="4023360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6B7280"/>
                </a:solidFill>
                <a:latin typeface="Microsoft YaHei"/>
              </a:rPr>
              <a:t>Wikipedia Android 12 + Google Blog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0" y="2148840"/>
            <a:ext cx="3931920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Monet 内部代号/取色机制/Android12 首发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514600"/>
            <a:ext cx="2103120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D9488"/>
                </a:solidFill>
                <a:latin typeface="Microsoft YaHei"/>
              </a:rPr>
              <a:t>Material 3 Expressive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2514600"/>
            <a:ext cx="4023360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6B7280"/>
                </a:solidFill>
                <a:latin typeface="Microsoft YaHei"/>
              </a:rPr>
              <a:t>blog.google (2025.05)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0" y="2514600"/>
            <a:ext cx="3931920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动态色彩主题升级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880360"/>
            <a:ext cx="2103120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D9488"/>
                </a:solidFill>
                <a:latin typeface="Microsoft YaHei"/>
              </a:rPr>
              <a:t>华为 EMUI 版本史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2880360"/>
            <a:ext cx="4023360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6B7280"/>
                </a:solidFill>
                <a:latin typeface="Microsoft YaHei"/>
              </a:rPr>
              <a:t>Wikipedia EMUI(zh)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0" y="2880360"/>
            <a:ext cx="3931920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Emotion UI→EMUI→HarmonyOS 全版本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246120"/>
            <a:ext cx="2103120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D9488"/>
                </a:solidFill>
                <a:latin typeface="Microsoft YaHei"/>
              </a:rPr>
              <a:t>HarmonyOS 设计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3246120"/>
            <a:ext cx="4023360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6B7280"/>
                </a:solidFill>
                <a:latin typeface="Microsoft YaHei"/>
              </a:rPr>
              <a:t>Wikipedia HarmonyOS/5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6640" y="3246120"/>
            <a:ext cx="3931920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新拟态/玻璃拟态/HarmonyOS Sans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611879"/>
            <a:ext cx="2103120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D9488"/>
                </a:solidFill>
                <a:latin typeface="Microsoft YaHei"/>
              </a:rPr>
              <a:t>小米 HyperOS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3611879"/>
            <a:ext cx="4023360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6B7280"/>
                </a:solidFill>
                <a:latin typeface="Microsoft YaHei"/>
              </a:rPr>
              <a:t>hyperos.mi.com + Wikipedia MIUI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0" y="3611879"/>
            <a:ext cx="3931920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主题/超级壁纸/Mi Sans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3977639"/>
            <a:ext cx="2103120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D9488"/>
                </a:solidFill>
                <a:latin typeface="Microsoft YaHei"/>
              </a:rPr>
              <a:t>三星 One UI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91840" y="3977639"/>
            <a:ext cx="4023360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6B7280"/>
                </a:solidFill>
                <a:latin typeface="Microsoft YaHei"/>
              </a:rPr>
              <a:t>Wikipedia One UI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6640" y="3977639"/>
            <a:ext cx="3931920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Galaxy Themes/Good Lock/Creative Studio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4343400"/>
            <a:ext cx="2103120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D9488"/>
                </a:solidFill>
                <a:latin typeface="Microsoft YaHei"/>
              </a:rPr>
              <a:t>vivo OriginOS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91840" y="4343400"/>
            <a:ext cx="4023360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6B7280"/>
                </a:solidFill>
                <a:latin typeface="Microsoft YaHei"/>
              </a:rPr>
              <a:t>Wikipedia OriginOS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06640" y="4343400"/>
            <a:ext cx="3931920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变形器/原子组件/行为壁纸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4709160"/>
            <a:ext cx="2103120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D9488"/>
                </a:solidFill>
                <a:latin typeface="Microsoft YaHei"/>
              </a:rPr>
              <a:t>iOS 自定义边界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91840" y="4709160"/>
            <a:ext cx="4023360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6B7280"/>
                </a:solidFill>
                <a:latin typeface="Microsoft YaHei"/>
              </a:rPr>
              <a:t>Wikipedia iOS 18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06640" y="4709160"/>
            <a:ext cx="3931920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锁屏个性化/无系统主题引擎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" y="5349240"/>
            <a:ext cx="10561320" cy="777240"/>
          </a:xfrm>
          <a:prstGeom prst="roundRect">
            <a:avLst>
              <a:gd name="adj" fmla="val 4000"/>
            </a:avLst>
          </a:prstGeom>
          <a:solidFill>
            <a:srgbClr val="EFF3F9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4128" y="5422392"/>
            <a:ext cx="10241280" cy="6583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DC2626"/>
                </a:solidFill>
                <a:latin typeface="Microsoft YaHei"/>
              </a:rPr>
              <a:t>⚠ 待核实项：</a:t>
            </a:r>
            <a:r>
              <a:rPr sz="950" b="0">
                <a:solidFill>
                  <a:srgbClr val="6B7280"/>
                </a:solidFill>
                <a:latin typeface="Microsoft YaHei"/>
              </a:rPr>
              <a:t>华为万象息屏/AI主题具体能力、主题包格式 .hwt/.mtz 技术细节、OPPO 灵动壁纸/Aqua Dynamic、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6B7280"/>
                </a:solidFill>
                <a:latin typeface="Microsoft YaHei"/>
              </a:rPr>
              <a:t>主题市场规模与设计师分成比例——因厂商页 JS 渲染或无公开报告未能核实，已在正文中相应标注。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47120" y="6473952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21/22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0040" y="6473952"/>
            <a:ext cx="6400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手机主题现状与主题引擎能力洞察 · xhyha/insight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3840480" cy="365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371600"/>
            <a:ext cx="109728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D9488"/>
                </a:solidFill>
                <a:latin typeface="Microsoft YaHe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10972800" cy="11887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>
                <a:solidFill>
                  <a:srgbClr val="161B2E"/>
                </a:solidFill>
                <a:latin typeface="Microsoft YaHei"/>
              </a:rPr>
              <a:t>手机主题现状与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>
                <a:solidFill>
                  <a:srgbClr val="161B2E"/>
                </a:solidFill>
                <a:latin typeface="Microsoft YaHei"/>
              </a:rPr>
              <a:t>主题引擎能力洞察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154680"/>
            <a:ext cx="100584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6B7280"/>
                </a:solidFill>
                <a:latin typeface="Microsoft YaHei"/>
              </a:rPr>
              <a:t>从 Material You 到 AI 生成主题，主题引擎正从“资源分发”走向“生成式引擎”。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977639"/>
            <a:ext cx="10561320" cy="141732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4087368"/>
            <a:ext cx="100584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D9488"/>
                </a:solidFill>
                <a:latin typeface="Microsoft YaHei"/>
              </a:rPr>
              <a:t>▎关于本报告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4480560"/>
            <a:ext cx="10058400" cy="8686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374151"/>
                </a:solidFill>
                <a:latin typeface="Microsoft YaHei"/>
              </a:rPr>
              <a:t>• 出品：xhyha/insight · 聚焦手机主题生态与主题引擎技术能力全景洞察。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374151"/>
                </a:solidFill>
                <a:latin typeface="Microsoft YaHei"/>
              </a:rPr>
              <a:t>• 流程：多源抓取(Wikipedia/官方) → 逐条交叉核验 → 多轮内部审查 → 上传 main 分支。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374151"/>
                </a:solidFill>
                <a:latin typeface="Microsoft YaHei"/>
              </a:rPr>
              <a:t>• 待核实项已在来源页与正文中显式标注，后续可补充厂商一手资料。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5760720"/>
            <a:ext cx="109728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9AA5BC"/>
                </a:solidFill>
                <a:latin typeface="Microsoft YaHei"/>
              </a:rPr>
              <a:t>xhyha/insight  |  手机主题现状与主题引擎能力洞察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73952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22/22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6473952"/>
            <a:ext cx="6400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手机主题现状与主题引擎能力洞察 · xhyha/insight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