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3.png"/><Relationship Id="rId7" Type="http://schemas.openxmlformats.org/officeDocument/2006/relationships/image" Target="../media/image7.png"/><Relationship Id="rId8" Type="http://schemas.openxmlformats.org/officeDocument/2006/relationships/image" Target="../media/image10.jpg"/><Relationship Id="rId9" Type="http://schemas.openxmlformats.org/officeDocument/2006/relationships/image" Target="../media/image1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914400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华为终端云服务 · 业务与技术洞察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9728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161B2E"/>
                </a:solidFill>
                <a:latin typeface="Microsoft YaHei"/>
              </a:rPr>
              <a:t>华为四大业务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200" b="1">
                <a:solidFill>
                  <a:srgbClr val="161B2E"/>
                </a:solidFill>
                <a:latin typeface="Microsoft YaHei"/>
              </a:rPr>
              <a:t>业务说明与技术点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08960"/>
            <a:ext cx="100584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游戏中心 · 主题 · 视频 · 浏览器 —— 商业模式、核心功能、技术引擎与场景实战（含官方产品图）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3977639"/>
            <a:ext cx="1060704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995927"/>
            <a:ext cx="1060704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华为游戏中心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3977639"/>
            <a:ext cx="813816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93976" y="3995927"/>
            <a:ext cx="813816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华为主题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72384" y="3977639"/>
            <a:ext cx="813816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72384" y="3995927"/>
            <a:ext cx="813816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华为视频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50792" y="3977639"/>
            <a:ext cx="937259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50792" y="3995927"/>
            <a:ext cx="937259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华为浏览器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52644" y="3977639"/>
            <a:ext cx="1307592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52644" y="3995927"/>
            <a:ext cx="1307592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HMS Core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4828" y="3977639"/>
            <a:ext cx="2048256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4828" y="3995927"/>
            <a:ext cx="2048256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HarmonyOS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37676" y="3977639"/>
            <a:ext cx="1307592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37676" y="3995927"/>
            <a:ext cx="1307592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AiMax 影院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309860" y="3977639"/>
            <a:ext cx="813816" cy="438912"/>
          </a:xfrm>
          <a:prstGeom prst="roundRect">
            <a:avLst>
              <a:gd name="adj" fmla="val 30000"/>
            </a:avLst>
          </a:prstGeom>
          <a:solidFill>
            <a:srgbClr val="F7F9FC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309860" y="3995927"/>
            <a:ext cx="813816" cy="4389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场景截图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94360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6B7280"/>
                </a:solidFill>
                <a:latin typeface="Microsoft YaHei"/>
              </a:rPr>
              <a:t>出品：xhyha/insight · 数据源：consumer.huawei.com 官方页 + Wikipedia(HMS/HarmonyOS)（已逐条核验） · 含官方 CDN 场景截图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1/24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CONTENTS · 报告导航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华为四大终端云服务全景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417320"/>
            <a:ext cx="91440" cy="74980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90472"/>
            <a:ext cx="914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D9488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03120" y="150876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1B2E"/>
                </a:solidFill>
                <a:latin typeface="Microsoft YaHei"/>
              </a:rPr>
              <a:t>终端云服务总览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47088"/>
            <a:ext cx="8412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HMS 七大服务 + HarmonyOS 演进背景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240280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240280"/>
            <a:ext cx="91440" cy="749808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2313432"/>
            <a:ext cx="914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C7000B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33172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1B2E"/>
                </a:solidFill>
                <a:latin typeface="Microsoft YaHei"/>
              </a:rPr>
              <a:t>华为游戏中心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670048"/>
            <a:ext cx="8412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官方游戏社区平台 · HMS Game Service + 游戏空间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063240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" y="3063240"/>
            <a:ext cx="91440" cy="74980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3136392"/>
            <a:ext cx="914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7C3AED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15468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1B2E"/>
                </a:solidFill>
                <a:latin typeface="Microsoft YaHei"/>
              </a:rPr>
              <a:t>华为主题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3493008"/>
            <a:ext cx="8412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全场景个性化装扮 · 交互主题引擎 + 设计师生态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886200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22960" y="3886200"/>
            <a:ext cx="91440" cy="749808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959352"/>
            <a:ext cx="914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C2820A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77639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1B2E"/>
                </a:solidFill>
                <a:latin typeface="Microsoft YaHei"/>
              </a:rPr>
              <a:t>华为视频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315968"/>
            <a:ext cx="8412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聚合分发 + AiMax 自有内容 · AI 画质引擎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709160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22960" y="4709160"/>
            <a:ext cx="91440" cy="74980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782312"/>
            <a:ext cx="914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2563EB"/>
                </a:solidFill>
                <a:latin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480060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1B2E"/>
                </a:solidFill>
                <a:latin typeface="Microsoft YaHei"/>
              </a:rPr>
              <a:t>华为浏览器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5138928"/>
            <a:ext cx="8412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Chromium 内核 · 隐私安全引擎 + 信息流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5532120"/>
            <a:ext cx="10561320" cy="749808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2960" y="5532120"/>
            <a:ext cx="91440" cy="749808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605272"/>
            <a:ext cx="9144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59669"/>
                </a:solidFill>
                <a:latin typeface="Microsoft YaHe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5623560"/>
            <a:ext cx="8229600" cy="34747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61B2E"/>
                </a:solidFill>
                <a:latin typeface="Microsoft YaHei"/>
              </a:rPr>
              <a:t>综合对比与启示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5961888"/>
            <a:ext cx="84124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四产品能力矩阵 · 趋势研判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2/24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0D9488"/>
                </a:solidFill>
                <a:latin typeface="Microsoft YaHe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D9488"/>
                </a:solidFill>
                <a:latin typeface="Microsoft YaHei"/>
              </a:rPr>
              <a:t>HMS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终端云服务总览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HMS 七大服务 + HarmonyOS 演进背景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3/24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01 · 终端云服务总览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HMS：华为终端云服务的七大支柱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2615184" cy="13258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82296" cy="13258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82495"/>
            <a:ext cx="229514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7000B"/>
                </a:solidFill>
                <a:latin typeface="Microsoft YaHei"/>
              </a:rPr>
              <a:t>华为账号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2084831"/>
            <a:ext cx="2295144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统一身份与登录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02736" y="1554480"/>
            <a:ext cx="2615184" cy="13258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02736" y="1554480"/>
            <a:ext cx="82296" cy="13258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03904" y="1682495"/>
            <a:ext cx="229514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563EB"/>
                </a:solidFill>
                <a:latin typeface="Microsoft YaHei"/>
              </a:rPr>
              <a:t>华为云空间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03904" y="2084831"/>
            <a:ext cx="2295144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云存储与同步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82512" y="1554480"/>
            <a:ext cx="2615184" cy="13258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382512" y="1554480"/>
            <a:ext cx="82296" cy="13258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1682495"/>
            <a:ext cx="229514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59669"/>
                </a:solidFill>
                <a:latin typeface="Microsoft YaHei"/>
              </a:rPr>
              <a:t>应用市场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84831"/>
            <a:ext cx="2295144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AppGallery 分发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62288" y="1554480"/>
            <a:ext cx="2615184" cy="13258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62288" y="1554480"/>
            <a:ext cx="82296" cy="13258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63456" y="1682495"/>
            <a:ext cx="229514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7C3AED"/>
                </a:solidFill>
                <a:latin typeface="Microsoft YaHei"/>
              </a:rPr>
              <a:t>华为主题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3456" y="2084831"/>
            <a:ext cx="2295144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个性化装扮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026663"/>
            <a:ext cx="2615184" cy="13258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3026663"/>
            <a:ext cx="82296" cy="132588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3154679"/>
            <a:ext cx="229514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2820A"/>
                </a:solidFill>
                <a:latin typeface="Microsoft YaHei"/>
              </a:rPr>
              <a:t>华为视频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3557015"/>
            <a:ext cx="2295144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影音聚合分发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02736" y="3026663"/>
            <a:ext cx="2615184" cy="13258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02736" y="3026663"/>
            <a:ext cx="82296" cy="132588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03904" y="3154679"/>
            <a:ext cx="229514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D9488"/>
                </a:solidFill>
                <a:latin typeface="Microsoft YaHei"/>
              </a:rPr>
              <a:t>华为浏览器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03904" y="3557015"/>
            <a:ext cx="2295144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上网与资讯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82512" y="3026663"/>
            <a:ext cx="2615184" cy="1325880"/>
          </a:xfrm>
          <a:prstGeom prst="roundRect">
            <a:avLst>
              <a:gd name="adj" fmla="val 6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82512" y="3026663"/>
            <a:ext cx="82296" cy="1325880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3154679"/>
            <a:ext cx="2295144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EA580C"/>
                </a:solidFill>
                <a:latin typeface="Microsoft YaHei"/>
              </a:rPr>
              <a:t>智慧助手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557015"/>
            <a:ext cx="2295144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小艺 AI 助理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699248" y="3026664"/>
            <a:ext cx="2779776" cy="132588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882127" y="3127248"/>
            <a:ext cx="2468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</a:rPr>
              <a:t>HMS 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82127" y="3529584"/>
            <a:ext cx="246888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374151"/>
                </a:solidFill>
                <a:latin typeface="Microsoft YaHei"/>
              </a:rPr>
              <a:t>应用开发工具包，提供账号/支付/推送/游戏/广告等高层 API。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" y="4572000"/>
            <a:ext cx="10561320" cy="146304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4663440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9488"/>
                </a:solidFill>
                <a:latin typeface="Microsoft YaHei"/>
              </a:rPr>
              <a:t>▎HarmonyOS 演进（Wikipedia 已核验）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029200"/>
            <a:ext cx="10058400" cy="960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• HarmonyOS 1–4（2019–2024）：AOSP+OpenHarmony 双框架；HarmonyOS NEXT/HarmonyOS 5（2024.10.22）：移除 Android，自研鸿蒙内核（微内核）。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• HarmonyOS 6（2025.11.25，Mate 80 发布）；至 2026.03 鸿蒙原生应用超 35 万款，设备超 8 亿台。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• HarmonyOS NEXT 时代 HMS Core 转为系统内置 HarmonyOS Kits，不再外挂中间件。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4/24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C7000B"/>
                </a:solidFill>
                <a:latin typeface="Microsoft YaHe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7000B"/>
                </a:solidFill>
                <a:latin typeface="Microsoft YaHei"/>
              </a:rPr>
              <a:t>GAME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华为游戏中心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官方游戏社区平台 · 分发联运 · 游戏空间引擎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5/24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02 · 华为游戏中心  |  业务定位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官方游戏社区与分发平台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943600" cy="21945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c_k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610" y="1627632"/>
            <a:ext cx="3644299" cy="204825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949440" y="1554480"/>
            <a:ext cx="4434840" cy="2194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50608" y="1664208"/>
            <a:ext cx="40233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C7000B"/>
                </a:solidFill>
                <a:latin typeface="Microsoft YaHei"/>
              </a:rPr>
              <a:t>▎一句话定位（官方原文）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0608" y="2057400"/>
            <a:ext cx="4023360" cy="1600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华为官方游戏社区与下载平台，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提供“发现游戏 + 社区互动 + 专属福利 + 加速/免打扰”一站式体验。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属终端云服务“影音娱乐”版块，与 AppGallery 协同承担游戏分发与联运职能。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931920"/>
            <a:ext cx="10561320" cy="21031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041648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</a:rPr>
              <a:t>▎核心业务能力（官方页验证）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480560"/>
            <a:ext cx="512064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智能推荐引擎：官方称“强大的智能算法”，快速发现高质量游戏，满足个性化需求。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956048"/>
            <a:ext cx="512064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UGC 社区：玩家主导的内容社区，挖掘/创作/分享话题与攻略。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480560"/>
            <a:ext cx="50292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专属福利：平台礼包、优惠券、消费返利特权。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4956048"/>
            <a:ext cx="5029200" cy="9144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合规防沉迷：实名认证、未成年人时段/充值限制、适龄提示、人脸识别。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6/24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02 · 华为游戏中心  |  核心功能 + 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四项游戏服务 + 安全检测（含官方截图）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108960" cy="24688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c_recomm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313" y="1627632"/>
            <a:ext cx="2792252" cy="23225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069080"/>
            <a:ext cx="3108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B7280"/>
                </a:solidFill>
                <a:latin typeface="Microsoft YaHei"/>
              </a:rPr>
              <a:t>智能推荐 · 内容探索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554480"/>
            <a:ext cx="2560320" cy="24688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gc_rewar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8593" y="1627632"/>
            <a:ext cx="2201292" cy="2322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69080" y="4069080"/>
            <a:ext cx="25603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B7280"/>
                </a:solidFill>
                <a:latin typeface="Microsoft YaHei"/>
              </a:rPr>
              <a:t>专属福利与奖励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66560" y="1554480"/>
            <a:ext cx="3200400" cy="24688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c_secu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712" y="1687503"/>
            <a:ext cx="3054096" cy="220283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66560" y="4069080"/>
            <a:ext cx="32004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B7280"/>
                </a:solidFill>
                <a:latin typeface="Microsoft YaHei"/>
              </a:rPr>
              <a:t>四重安全检测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480560"/>
            <a:ext cx="10561320" cy="155448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72000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</a:rPr>
              <a:t>▎游戏服务四模块（官方页验证）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4956048"/>
            <a:ext cx="10058400" cy="10058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① 我的游戏（库管理）② 评论交流 ③ 消费特权 ④ 应用助手（游戏内悬浮的加速/免打扰/性能调度入口）。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隐私安全四重检测：恶意行为检测 · 安全漏洞扫描 · 隐私泄露检查 · 人工实名复检。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9AA5BC"/>
                </a:solidFill>
                <a:latin typeface="Microsoft YaHei"/>
              </a:rPr>
              <a:t>注：HMS Game Service Kit 开发者文档为 JS 渲染未能完整抓取，部分 API 名称以 ⚠️ 标注待核验。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7/24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02 · 华为游戏中心  |  技术引擎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HMS Game Service Kit + 游戏空间性能引擎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16636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</a:rPr>
              <a:t>▎HMS Core Game Service Kit（面向开发者）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475488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成就 / 排行榜（Achievements / Leaderboards）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475488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云存档（Saved Games，云端存档）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475488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玩家信息与防沉迷接入（Player Stats）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94760"/>
            <a:ext cx="475488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游戏浮标（Game Floating Window）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343400"/>
            <a:ext cx="475488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华为账号一键登录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892040"/>
            <a:ext cx="475488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7000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反作弊能力（⚠️ 具体能力名待核验）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5486400"/>
            <a:ext cx="47548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DC2626"/>
                </a:solidFill>
                <a:latin typeface="Microsoft YaHei"/>
              </a:rPr>
              <a:t>⚠ 以上 API 清单基于 HMS 公开能力常识，建议以华为开发者文档为准。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554480"/>
            <a:ext cx="5212080" cy="448056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691640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</a:rPr>
              <a:t>▎游戏空间 / 应用助手（系统级）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148840"/>
            <a:ext cx="475488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性能模式 / 散热调度（智能释放 CPU/GPU、温控）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97480"/>
            <a:ext cx="475488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游戏加速（网络加速、内存释放、防打扰）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246120"/>
            <a:ext cx="475488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插帧 / 高帧率（120Hz 插帧、MEMC 类技术）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94760"/>
            <a:ext cx="475488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触控采样率优化（高触控响应）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343400"/>
            <a:ext cx="475488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GPU Turbo 图形加速栈（华为图形技术延续）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892040"/>
            <a:ext cx="4754880" cy="49377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⚠ 具体参数随芯片平台（Kirin）与机型变化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8/24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7C3AED"/>
                </a:solidFill>
                <a:latin typeface="Microsoft YaHei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7C3AED"/>
                </a:solidFill>
                <a:latin typeface="Microsoft YaHei"/>
              </a:rPr>
              <a:t>HUAWEI THEMES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华为主题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全场景个性化装扮 · 交互主题引擎 · 设计师生态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9/24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03 · 华为主题  |  业务定位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全场景个性化装扮平台（官方截图）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6583680" cy="22860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h_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746" y="1627632"/>
            <a:ext cx="3150108" cy="213969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589520" y="1554480"/>
            <a:ext cx="3794760" cy="228600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90688" y="1664208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7C3AED"/>
                </a:solidFill>
                <a:latin typeface="Microsoft YaHei"/>
              </a:rPr>
              <a:t>▎官方定位（原文）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90688" y="2057400"/>
            <a:ext cx="3383280" cy="1691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汇聚主题、表盘、字体、百变卡片、熄屏显示、壁纸、耳机弹窗等精品内容，持续带来更好看、更好玩、更好用的全场景个性化装扮体验。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023360"/>
            <a:ext cx="10561320" cy="20116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4114800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7C3AED"/>
                </a:solidFill>
                <a:latin typeface="Microsoft YaHei"/>
              </a:rPr>
              <a:t>▎内容矩阵（官方页验证）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4526280"/>
            <a:ext cx="1627632" cy="841248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97280" y="4526280"/>
            <a:ext cx="1627632" cy="64008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81728"/>
            <a:ext cx="16276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主题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983480"/>
            <a:ext cx="162763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6B7280"/>
                </a:solidFill>
                <a:latin typeface="Microsoft YaHei"/>
              </a:rPr>
              <a:t>艺术主题/IP联动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43784" y="4526280"/>
            <a:ext cx="1627632" cy="841248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843784" y="4526280"/>
            <a:ext cx="1627632" cy="6400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43784" y="4681728"/>
            <a:ext cx="16276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表盘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3784" y="4983480"/>
            <a:ext cx="162763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6B7280"/>
                </a:solidFill>
                <a:latin typeface="Microsoft YaHei"/>
              </a:rPr>
              <a:t>手表海量表盘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90288" y="4526280"/>
            <a:ext cx="1627632" cy="841248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90288" y="4526280"/>
            <a:ext cx="1627632" cy="6400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4681728"/>
            <a:ext cx="16276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D9488"/>
                </a:solidFill>
                <a:latin typeface="Microsoft YaHei"/>
              </a:rPr>
              <a:t>字体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90288" y="4983480"/>
            <a:ext cx="162763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6B7280"/>
                </a:solidFill>
                <a:latin typeface="Microsoft YaHei"/>
              </a:rPr>
              <a:t>HarmonyOS Sans 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36792" y="4526280"/>
            <a:ext cx="1627632" cy="841248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336792" y="4526280"/>
            <a:ext cx="1627632" cy="64008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4681728"/>
            <a:ext cx="16276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百变卡片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4983480"/>
            <a:ext cx="162763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6B7280"/>
                </a:solidFill>
                <a:latin typeface="Microsoft YaHei"/>
              </a:rPr>
              <a:t>桌面小组件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83296" y="4526280"/>
            <a:ext cx="1627632" cy="841248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83296" y="4526280"/>
            <a:ext cx="1627632" cy="64008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83296" y="4681728"/>
            <a:ext cx="16276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EA580C"/>
                </a:solidFill>
                <a:latin typeface="Microsoft YaHei"/>
              </a:rPr>
              <a:t>熄屏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3296" y="4983480"/>
            <a:ext cx="162763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6B7280"/>
                </a:solidFill>
                <a:latin typeface="Microsoft YaHei"/>
              </a:rPr>
              <a:t>AOD 万象息屏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29800" y="4526280"/>
            <a:ext cx="1627632" cy="841248"/>
          </a:xfrm>
          <a:prstGeom prst="roundRect">
            <a:avLst>
              <a:gd name="adj" fmla="val 10000"/>
            </a:avLst>
          </a:prstGeom>
          <a:solidFill>
            <a:srgbClr val="EFF3F9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829800" y="4526280"/>
            <a:ext cx="1627632" cy="64008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9800" y="4681728"/>
            <a:ext cx="1627632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壁纸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29800" y="4983480"/>
            <a:ext cx="1627632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6B7280"/>
                </a:solidFill>
                <a:latin typeface="Microsoft YaHei"/>
              </a:rPr>
              <a:t>3D/简约/摄影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504688"/>
            <a:ext cx="100584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80" b="0">
                <a:solidFill>
                  <a:srgbClr val="6B7280"/>
                </a:solidFill>
                <a:latin typeface="Microsoft YaHei"/>
              </a:rPr>
              <a:t>会员模式：会员专享主题，独家定制内容，每月上新（订阅制）。设计师生态：设“创作者故事”专区，已建立设计师入驻 + 内容分成机制。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10/24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7C3AED"/>
                </a:solidFill>
                <a:latin typeface="Microsoft YaHei"/>
              </a:rPr>
              <a:t>03 · 华为主题  |  交互主题 + 场景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超越静态：多模态交互主题引擎（官方截图）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2011680" cy="3291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h_w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44" y="1627632"/>
            <a:ext cx="1475911" cy="31455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4892040"/>
            <a:ext cx="20116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B7280"/>
                </a:solidFill>
                <a:latin typeface="Microsoft YaHei"/>
              </a:rPr>
              <a:t>壁纸手机框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71800" y="1554480"/>
            <a:ext cx="1828800" cy="3291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h_w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4952" y="1817014"/>
            <a:ext cx="1682496" cy="276677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971800" y="4892040"/>
            <a:ext cx="1828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B7280"/>
                </a:solidFill>
                <a:latin typeface="Microsoft YaHei"/>
              </a:rPr>
              <a:t>手表表盘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83480" y="1554480"/>
            <a:ext cx="6400800" cy="361188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1664208"/>
            <a:ext cx="59436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7C3AED"/>
                </a:solidFill>
                <a:latin typeface="Microsoft YaHei"/>
              </a:rPr>
              <a:t>▎更好用：创意交互（官方关键技术卖点）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57800" y="2148840"/>
            <a:ext cx="5943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C3AED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语音互动主题（如“试着和小毛球语音互动”）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606040"/>
            <a:ext cx="5943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C3AED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长按交互（情绪检测：“你今天开心吗？长按测测看”）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3063240"/>
            <a:ext cx="5943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C3AED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锁屏小游戏赢装扮（主题内嵌轻交互/小游戏）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520440"/>
            <a:ext cx="5943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C3AED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锁屏桌面联动（视觉连贯）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977639"/>
            <a:ext cx="5943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C3AED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充电趣味动画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4434840"/>
            <a:ext cx="594360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C3AED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百变卡片搭配桌面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83480" y="5257800"/>
            <a:ext cx="6400800" cy="77724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12080" y="5330952"/>
            <a:ext cx="59436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7C3AED"/>
                </a:solidFill>
                <a:latin typeface="Microsoft YaHei"/>
              </a:rPr>
              <a:t>💡 </a:t>
            </a:r>
            <a:r>
              <a:rPr sz="980" b="0">
                <a:solidFill>
                  <a:srgbClr val="6B7280"/>
                </a:solidFill>
                <a:latin typeface="Microsoft YaHei"/>
              </a:rPr>
              <a:t>主题引擎已超越静态图片，支持“逻辑脚本 + 动效引擎”——语音/触控/充电/情绪多模态交互，是华为主题的差异化护城河。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11/24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C2820A"/>
                </a:solidFill>
                <a:latin typeface="Microsoft YaHe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C2820A"/>
                </a:solidFill>
                <a:latin typeface="Microsoft YaHei"/>
              </a:rPr>
              <a:t>HUAWEI VIDEO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华为视频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聚合分发 + AiMax 自有内容 · AI 画质引擎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12/24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04 · 华为视频  |  业务定位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全网影视聚合分发 + AiMax 自有内容（官方截图）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6217920" cy="21031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d_k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328" y="1627632"/>
            <a:ext cx="3813183" cy="195681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554480"/>
            <a:ext cx="4160520" cy="210312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7" y="1664208"/>
            <a:ext cx="374903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C2820A"/>
                </a:solidFill>
                <a:latin typeface="Microsoft YaHei"/>
              </a:rPr>
              <a:t>▎核心商业模式（官方原文）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7" y="2057400"/>
            <a:ext cx="3749039" cy="1508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一站式汇聚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芒果TV、优酷、腾讯视频、爱奇艺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等主流平台影剧综，无需单独下载多方应用，热门影视一键直达。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叠加自有 AiMax 影院高品质内容订阅。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840480"/>
            <a:ext cx="10561320" cy="2194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931920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2820A"/>
                </a:solidFill>
                <a:latin typeface="Microsoft YaHei"/>
              </a:rPr>
              <a:t>▎多端无缝流转（官方验证）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4315968"/>
            <a:ext cx="5120640" cy="1554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覆盖华为手机、平板、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鸿蒙电脑、智慧屏、鸿蒙智行（车机）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多终端，内容无缝流转。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6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跨端黑科技：“一碰一抓”——两台设备顶部轻碰，或隔空做“一抓一放”手势即可瞬时分享（近场通信 + 手势识别）。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886200"/>
            <a:ext cx="4846320" cy="20574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vd_kv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8100" y="3959352"/>
            <a:ext cx="3611718" cy="191109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0" y="5897880"/>
            <a:ext cx="484632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9AA5BC"/>
                </a:solidFill>
                <a:latin typeface="Microsoft YaHei"/>
              </a:rPr>
              <a:t>AiMax 多端观影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13/24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2820A"/>
                </a:solidFill>
                <a:latin typeface="Microsoft YaHei"/>
              </a:rPr>
              <a:t>04 · 华为视频  |  AiMax 技术引擎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AiMax 影院：AI 逐帧优化 + HDR/Audio Vivid（官方截图）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2103120" cy="3657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d_as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584" y="1627632"/>
            <a:ext cx="1653871" cy="35112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285232"/>
            <a:ext cx="21031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B7280"/>
                </a:solidFill>
                <a:latin typeface="Microsoft YaHei"/>
              </a:rPr>
              <a:t>AI 影视助手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1554480"/>
            <a:ext cx="3931920" cy="36576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10128" y="1664208"/>
            <a:ext cx="35661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C2820A"/>
                </a:solidFill>
                <a:latin typeface="Microsoft YaHei"/>
              </a:rPr>
              <a:t>▎AiMax 影院四大技术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2148840"/>
            <a:ext cx="3566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▶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4K 高清画质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441448"/>
            <a:ext cx="3291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6B7280"/>
                </a:solidFill>
                <a:latin typeface="Microsoft YaHei"/>
              </a:rPr>
              <a:t>最高 4K 分辨率播放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862072"/>
            <a:ext cx="3566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▶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HDR Vivid 菁彩影像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154679"/>
            <a:ext cx="3291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6B7280"/>
                </a:solidFill>
                <a:latin typeface="Microsoft YaHei"/>
              </a:rPr>
              <a:t>UWA 联盟 HDR 标准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575304"/>
            <a:ext cx="3566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▶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Audio Vivid 菁彩声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867912"/>
            <a:ext cx="3291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6B7280"/>
                </a:solidFill>
                <a:latin typeface="Microsoft YaHei"/>
              </a:rPr>
              <a:t>基于 Audio Vivid 编码的空间音频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4288536"/>
            <a:ext cx="35661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C2820A"/>
                </a:solidFill>
                <a:latin typeface="Microsoft YaHei"/>
              </a:rPr>
              <a:t>▶ </a:t>
            </a:r>
            <a:r>
              <a:rPr sz="1050" b="1">
                <a:solidFill>
                  <a:srgbClr val="161B2E"/>
                </a:solidFill>
                <a:latin typeface="Microsoft YaHei"/>
              </a:rPr>
              <a:t>AI 逐帧优化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4581144"/>
            <a:ext cx="32918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6B7280"/>
                </a:solidFill>
                <a:latin typeface="Microsoft YaHei"/>
              </a:rPr>
              <a:t>逐帧还原音画细节与创作本色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1554480"/>
            <a:ext cx="4160520" cy="365760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24927" y="1664208"/>
            <a:ext cx="374903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C2820A"/>
                </a:solidFill>
                <a:latin typeface="Microsoft YaHei"/>
              </a:rPr>
              <a:t>▎AI 能力底座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148840"/>
            <a:ext cx="3749039" cy="54315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影视助手：语音唤起，品质片单个性推荐，可对剧情互动问答。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52360" y="2752344"/>
            <a:ext cx="3749039" cy="54315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AI 画质增强引擎：超分辨率（低清→高清）、SDR 转 HDR、动态补偿（MEMC 类插帧）。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355848"/>
            <a:ext cx="3749039" cy="54315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空间音频：Audio Vivid + AI 空间渲染（与华为音乐同源）。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959352"/>
            <a:ext cx="3749039" cy="54315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>
                <a:solidFill>
                  <a:srgbClr val="C2820A"/>
                </a:solidFill>
                <a:latin typeface="Microsoft YaHei"/>
              </a:rPr>
              <a:t>●  </a:t>
            </a:r>
            <a:r>
              <a:rPr sz="1000" b="0">
                <a:solidFill>
                  <a:srgbClr val="374151"/>
                </a:solidFill>
                <a:latin typeface="Microsoft YaHei"/>
              </a:rPr>
              <a:t>底座：Harmony Intelligence（盘古大模型 5.0、端侧 NPU、MindSpore Lite）。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4617720"/>
            <a:ext cx="3749039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DC2626"/>
                </a:solidFill>
                <a:latin typeface="Microsoft YaHei"/>
              </a:rPr>
              <a:t>⚠ “AI 逐帧优化”为官方统称，超分/SDR→HDR/插帧等术语官方页未逐一展开，标注待核验。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14/24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2563EB"/>
                </a:solidFill>
                <a:latin typeface="Microsoft YaHe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563EB"/>
                </a:solidFill>
                <a:latin typeface="Microsoft YaHei"/>
              </a:rPr>
              <a:t>HUAWEI BROWSER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华为浏览器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Chromium 内核 · 隐私安全引擎 · 信息流资讯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15/24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05 · 华为浏览器  |  业务定位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搜索 + 智能资讯 + 导航（官方截图）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6217920" cy="201168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r_k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3808" y="1627632"/>
            <a:ext cx="3316224" cy="18653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554480"/>
            <a:ext cx="4160520" cy="201168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7" y="1664208"/>
            <a:ext cx="3749039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▎官方定位（原文）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7" y="2057400"/>
            <a:ext cx="3749039" cy="1417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集搜索、智能资讯推荐、导航于一体，多设备提供安全、优质、高效上网体验；移动端汇聚众多权威媒体伙伴，呈现可信任、有价值、正能量的资讯。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500" b="0">
                <a:solidFill>
                  <a:srgbClr val="374151"/>
                </a:solidFill>
                <a:latin typeface="Microsoft YaHei"/>
              </a:rPr>
              <a:t/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内核：基于 Chromium（Wikipedia HMS 条目已验证）。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749039"/>
            <a:ext cx="10561320" cy="228600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840480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▎核心业务模块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1828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▶ </a:t>
            </a:r>
            <a:r>
              <a:rPr sz="1050" b="1">
                <a:solidFill>
                  <a:srgbClr val="2563EB"/>
                </a:solidFill>
                <a:latin typeface="Microsoft YaHei"/>
              </a:rPr>
              <a:t>信息流资讯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4315968"/>
            <a:ext cx="8229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携手权威媒体伙伴，品质资讯 + 个性化推荐 + 视频频道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28032"/>
            <a:ext cx="1828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D9488"/>
                </a:solidFill>
                <a:latin typeface="Microsoft YaHei"/>
              </a:rPr>
              <a:t>▶ </a:t>
            </a:r>
            <a:r>
              <a:rPr sz="1050" b="1">
                <a:solidFill>
                  <a:srgbClr val="0D9488"/>
                </a:solidFill>
                <a:latin typeface="Microsoft YaHei"/>
              </a:rPr>
              <a:t>搜索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4846320"/>
            <a:ext cx="8229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内置搜索能力，多终端一致体验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358384"/>
            <a:ext cx="18288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7C3AED"/>
                </a:solidFill>
                <a:latin typeface="Microsoft YaHei"/>
              </a:rPr>
              <a:t>▶ </a:t>
            </a:r>
            <a:r>
              <a:rPr sz="1050" b="1">
                <a:solidFill>
                  <a:srgbClr val="7C3AED"/>
                </a:solidFill>
                <a:latin typeface="Microsoft YaHei"/>
              </a:rPr>
              <a:t>多端同步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5376672"/>
            <a:ext cx="82296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手机/电脑/平板全场景畅览，轻松衔接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85216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9AA5BC"/>
                </a:solidFill>
                <a:latin typeface="Microsoft YaHei"/>
              </a:rPr>
              <a:t>注：快应用/元服务入口、书签历史跨端同步具体实现、AI 阅读摘要功能以 ⚠️ 标注待核验。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16/24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05 · 华为浏览器  |  隐私安全引擎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内置强大隐私保护（官方截图）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2468880" cy="365760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br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925240"/>
            <a:ext cx="2322576" cy="29160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285232"/>
            <a:ext cx="24688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6B7280"/>
                </a:solidFill>
                <a:latin typeface="Microsoft YaHei"/>
              </a:rPr>
              <a:t>隐私安全中心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1645920" cy="3291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r_priv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111" y="1810512"/>
            <a:ext cx="1461696" cy="3145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29000" y="5102352"/>
            <a:ext cx="164592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6B7280"/>
                </a:solidFill>
                <a:latin typeface="Microsoft YaHei"/>
              </a:rPr>
              <a:t>防跟踪报告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57800" y="1554480"/>
            <a:ext cx="612648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1664208"/>
            <a:ext cx="5669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563EB"/>
                </a:solidFill>
                <a:latin typeface="Microsoft YaHei"/>
              </a:rPr>
              <a:t>▎隐私保护六大能力（官方页验证）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194560"/>
            <a:ext cx="118872" cy="45720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15000" y="2212848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广告过滤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231136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280"/>
                </a:solidFill>
                <a:latin typeface="Microsoft YaHei"/>
              </a:rPr>
              <a:t>一键开关，显示“已过滤 X 条广告”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798064"/>
            <a:ext cx="118872" cy="45720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0" y="2816352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跟踪型 Cookie 拦截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834640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280"/>
                </a:solidFill>
                <a:latin typeface="Microsoft YaHei"/>
              </a:rPr>
              <a:t>智能防跟踪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0" y="3401568"/>
            <a:ext cx="118872" cy="45720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15000" y="3419856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自动下载应用拦截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3438144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280"/>
                </a:solidFill>
                <a:latin typeface="Microsoft YaHei"/>
              </a:rPr>
              <a:t>阻止静默下载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4005072"/>
            <a:ext cx="118872" cy="45720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15000" y="4023359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自动唤起应用拦截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041648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280"/>
                </a:solidFill>
                <a:latin typeface="Microsoft YaHei"/>
              </a:rPr>
              <a:t>阻止强制跳转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0" y="4608576"/>
            <a:ext cx="118872" cy="45720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15000" y="4626864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恶意网址拦截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645152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280"/>
                </a:solidFill>
                <a:latin typeface="Microsoft YaHei"/>
              </a:rPr>
              <a:t>云端实时查杀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5212080"/>
            <a:ext cx="118872" cy="45720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5230368"/>
            <a:ext cx="23774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161B2E"/>
                </a:solidFill>
                <a:latin typeface="Microsoft YaHei"/>
              </a:rPr>
              <a:t>隐私安全报告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5248656"/>
            <a:ext cx="329184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280"/>
                </a:solidFill>
                <a:latin typeface="Microsoft YaHei"/>
              </a:rPr>
              <a:t>防护数据实时统计反馈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5852160"/>
            <a:ext cx="5897880" cy="18288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17/24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05 · 华为浏览器  |  技术点与适老无障碍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Chromium 内核 · 跨端 · 科技致善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5166360" cy="448056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2563EB"/>
                </a:solidFill>
                <a:latin typeface="Microsoft YaHei"/>
              </a:rPr>
              <a:t>▎技术架构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4754880" cy="54315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内核：基于 Chromium（已验证）；鸿蒙原生时代底层对应 ArkWeb/nweb 渲染组件。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52344"/>
            <a:ext cx="4754880" cy="54315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隐私引擎：广告过滤规则库 + Cookie 拦截 + 恶意网址云查 + 智能防跟踪。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355848"/>
            <a:ext cx="4754880" cy="54315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跨端同步：书签/历史/标签基于华为云空间多端同步（机制待核验）。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59352"/>
            <a:ext cx="4754880" cy="543153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2563EB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AI 阅读/智能摘要：⚠️ 官方本次页面未明确，需结合小艺能力核验。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554480"/>
            <a:ext cx="5212080" cy="4480560"/>
          </a:xfrm>
          <a:prstGeom prst="roundRect">
            <a:avLst>
              <a:gd name="adj" fmla="val 5000"/>
            </a:avLst>
          </a:prstGeom>
          <a:solidFill>
            <a:srgbClr val="EFF3F9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91640"/>
            <a:ext cx="4754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2563EB"/>
                </a:solidFill>
                <a:latin typeface="Microsoft YaHei"/>
              </a:rPr>
              <a:t>▎科技致善：无障碍/适老/儿童保护（官方专章）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94560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无障碍：适配系统级无障碍，资讯可语音播放（服务视障人士）。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852928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适老体验：网页字体调整，多种字号选择。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511296"/>
            <a:ext cx="4754880" cy="592531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59669"/>
                </a:solidFill>
                <a:latin typeface="Microsoft YaHei"/>
              </a:rPr>
              <a:t>●  </a:t>
            </a:r>
            <a:r>
              <a:rPr sz="1050" b="0">
                <a:solidFill>
                  <a:srgbClr val="374151"/>
                </a:solidFill>
                <a:latin typeface="Microsoft YaHei"/>
              </a:rPr>
              <a:t>儿童保护：儿童账号/孩子使用模式首页转“纯净模式”，智能屏蔽恶意网址 + 家长黑白名单。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4572000"/>
            <a:ext cx="4754880" cy="1371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563EB"/>
                </a:solidFill>
                <a:latin typeface="Microsoft YaHei"/>
              </a:rPr>
              <a:t>💡 浏览器是隐私安全与信息流变现的双重阵地——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</a:rPr>
              <a:t>“看得见的安全感”（实时拦截统计）是面向用户的核心信任建设，信息流则面向权威媒体的商业分发。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18/24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28600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34840"/>
            <a:ext cx="12191695" cy="36576"/>
          </a:xfrm>
          <a:prstGeom prst="rect">
            <a:avLst/>
          </a:prstGeom>
          <a:solidFill>
            <a:srgbClr val="C4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468880"/>
            <a:ext cx="45720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0" b="1">
                <a:solidFill>
                  <a:srgbClr val="059669"/>
                </a:solidFill>
                <a:latin typeface="Microsoft YaHe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2697480"/>
            <a:ext cx="8686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059669"/>
                </a:solidFill>
                <a:latin typeface="Microsoft YaHei"/>
              </a:rPr>
              <a:t>COMPARISON &amp; INSIGHT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3108960"/>
            <a:ext cx="914400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161B2E"/>
                </a:solidFill>
                <a:latin typeface="Microsoft YaHei"/>
              </a:rPr>
              <a:t>综合对比与启示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3886200"/>
            <a:ext cx="8412480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>
                <a:solidFill>
                  <a:srgbClr val="374151"/>
                </a:solidFill>
                <a:latin typeface="Microsoft YaHei"/>
              </a:rPr>
              <a:t>四产品能力矩阵 · 趋势研判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19/24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06 · 综合对比  |  能力矩阵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四大终端云服务能力对比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08760"/>
            <a:ext cx="10561320" cy="457200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 w="12700">
            <a:solidFill>
              <a:srgbClr val="C4C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581912"/>
            <a:ext cx="12801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产品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39" y="1581912"/>
            <a:ext cx="19202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商业模式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581912"/>
            <a:ext cx="24231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核心技术引擎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581912"/>
            <a:ext cx="16916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AI能力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80" y="1581912"/>
            <a:ext cx="13258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多端协同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0" y="1581912"/>
            <a:ext cx="146304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161B2E"/>
                </a:solidFill>
                <a:latin typeface="Microsoft YaHei"/>
              </a:rPr>
              <a:t>来源核验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020824"/>
            <a:ext cx="10561320" cy="813815"/>
          </a:xfrm>
          <a:prstGeom prst="roundRect">
            <a:avLst>
              <a:gd name="adj" fmla="val 0"/>
            </a:avLst>
          </a:prstGeom>
          <a:solidFill>
            <a:srgbClr val="F7F9FC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130552"/>
            <a:ext cx="12801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>
                <a:solidFill>
                  <a:srgbClr val="C7000B"/>
                </a:solidFill>
                <a:latin typeface="Microsoft YaHei"/>
              </a:rPr>
              <a:t>游戏中心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39" y="2130552"/>
            <a:ext cx="1920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分发+联运+社区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69080" y="2130552"/>
            <a:ext cx="24231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HMS Game Kit+游戏空间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30552"/>
            <a:ext cx="16916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智能推荐算法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80" y="2130552"/>
            <a:ext cx="13258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华为设备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130552"/>
            <a:ext cx="14630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官方页+⚠Kit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2889504"/>
            <a:ext cx="10561320" cy="8138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2999232"/>
            <a:ext cx="12801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>
                <a:solidFill>
                  <a:srgbClr val="7C3AED"/>
                </a:solidFill>
                <a:latin typeface="Microsoft YaHei"/>
              </a:rPr>
              <a:t>华为主题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39" y="2999232"/>
            <a:ext cx="1920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内容订阅+创作者分成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80" y="2999232"/>
            <a:ext cx="24231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交互主题引擎+HarmonyOS Sans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999232"/>
            <a:ext cx="16916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交互/情绪主题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999232"/>
            <a:ext cx="13258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手机+手表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999232"/>
            <a:ext cx="14630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官方页详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758184"/>
            <a:ext cx="10561320" cy="813815"/>
          </a:xfrm>
          <a:prstGeom prst="roundRect">
            <a:avLst>
              <a:gd name="adj" fmla="val 0"/>
            </a:avLst>
          </a:prstGeom>
          <a:solidFill>
            <a:srgbClr val="F7F9FC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3867912"/>
            <a:ext cx="12801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>
                <a:solidFill>
                  <a:srgbClr val="C2820A"/>
                </a:solidFill>
                <a:latin typeface="Microsoft YaHei"/>
              </a:rPr>
              <a:t>华为视频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48839" y="3867912"/>
            <a:ext cx="1920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聚合分发+AiMax自有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3867912"/>
            <a:ext cx="24231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AI逐帧+HDR/Audio Vivid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3867912"/>
            <a:ext cx="16916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画质优化+影视助手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3867912"/>
            <a:ext cx="13258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手机/平板/PC/屏/车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3867912"/>
            <a:ext cx="14630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官方页+合作方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4626864"/>
            <a:ext cx="10561320" cy="813815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8680" y="4736592"/>
            <a:ext cx="12801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1">
                <a:solidFill>
                  <a:srgbClr val="2563EB"/>
                </a:solidFill>
                <a:latin typeface="Microsoft YaHei"/>
              </a:rPr>
              <a:t>华为浏览器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48839" y="4736592"/>
            <a:ext cx="19202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信息流+搜索+入口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80" y="4736592"/>
            <a:ext cx="242316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Chromium内核+隐私引擎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4736592"/>
            <a:ext cx="16916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信息流推荐(⚠摘要)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4736592"/>
            <a:ext cx="132588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手机/PC/平板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09760" y="4736592"/>
            <a:ext cx="1463040" cy="6400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>
                <a:solidFill>
                  <a:srgbClr val="374151"/>
                </a:solidFill>
                <a:latin typeface="Microsoft YaHei"/>
              </a:rPr>
              <a:t>官方页+Wiki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22960" y="5541264"/>
            <a:ext cx="10561320" cy="566928"/>
          </a:xfrm>
          <a:prstGeom prst="roundRect">
            <a:avLst>
              <a:gd name="adj" fmla="val 6000"/>
            </a:avLst>
          </a:prstGeom>
          <a:solidFill>
            <a:srgbClr val="EFF3F9"/>
          </a:solidFill>
          <a:ln w="12700">
            <a:solidFill>
              <a:srgbClr val="0596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8" y="5586984"/>
            <a:ext cx="1024128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59669"/>
                </a:solidFill>
                <a:latin typeface="Microsoft YaHei"/>
              </a:rPr>
              <a:t>📌 </a:t>
            </a:r>
            <a:r>
              <a:rPr sz="930" b="0">
                <a:solidFill>
                  <a:srgbClr val="6B7280"/>
                </a:solidFill>
                <a:latin typeface="Microsoft YaHei"/>
              </a:rPr>
              <a:t>四产品共享 HarmonyOS 底座（Harmony Intelligence/端侧NPU/超级终端流转），形成“底座统一 + 业务分化”的协同生态。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20/24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059669"/>
                </a:solidFill>
                <a:latin typeface="Microsoft YaHei"/>
              </a:rPr>
              <a:t>06 · 综合对比  |  趋势与启示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五大趋势与对华为的启示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61320" cy="84124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82296" cy="841248"/>
          </a:xfrm>
          <a:prstGeom prst="roundRect">
            <a:avLst>
              <a:gd name="adj" fmla="val 20000"/>
            </a:avLst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45920"/>
            <a:ext cx="219456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C2820A"/>
                </a:solidFill>
                <a:latin typeface="Microsoft YaHei"/>
              </a:rPr>
              <a:t>01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E"/>
                </a:solidFill>
                <a:latin typeface="Microsoft YaHei"/>
              </a:rPr>
              <a:t>AI 渗透全业务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1673352"/>
            <a:ext cx="78638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游戏推荐、交互主题、视频画质、浏览器信息流——AI 成四产品公共能力底座。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87168"/>
            <a:ext cx="10561320" cy="84124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487168"/>
            <a:ext cx="82296" cy="841248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219456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2563EB"/>
                </a:solidFill>
                <a:latin typeface="Microsoft YaHei"/>
              </a:rPr>
              <a:t>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E"/>
                </a:solidFill>
                <a:latin typeface="Microsoft YaHei"/>
              </a:rPr>
              <a:t>多端流转成标配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06039"/>
            <a:ext cx="78638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超级终端让视频/浏览器/主题跨手机/平板/PC/车机/手表无缝流转。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419856"/>
            <a:ext cx="10561320" cy="84124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419856"/>
            <a:ext cx="82296" cy="8412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511296"/>
            <a:ext cx="219456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0D9488"/>
                </a:solidFill>
                <a:latin typeface="Microsoft YaHei"/>
              </a:rPr>
              <a:t>03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E"/>
                </a:solidFill>
                <a:latin typeface="Microsoft YaHei"/>
              </a:rPr>
              <a:t>HarmonyOS NEXT 重构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538727"/>
            <a:ext cx="78638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纯鸿蒙去 AOSP，HMS Core 转为系统内置 Kits，四产品技术架构全面原生化。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352544"/>
            <a:ext cx="10561320" cy="84124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352544"/>
            <a:ext cx="82296" cy="841248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443983"/>
            <a:ext cx="219456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C7000B"/>
                </a:solidFill>
                <a:latin typeface="Microsoft YaHei"/>
              </a:rPr>
              <a:t>04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E"/>
                </a:solidFill>
                <a:latin typeface="Microsoft YaHei"/>
              </a:rPr>
              <a:t>内容生态是护城河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4471416"/>
            <a:ext cx="78638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游戏联运、主题设计师、视频聚合四平台、浏览器权威媒体——内容分发是变现核心。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285231"/>
            <a:ext cx="10561320" cy="841248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5285231"/>
            <a:ext cx="82296" cy="841248"/>
          </a:xfrm>
          <a:prstGeom prst="roundRect">
            <a:avLst>
              <a:gd name="adj" fmla="val 2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376671"/>
            <a:ext cx="2194560" cy="685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>
                <a:solidFill>
                  <a:srgbClr val="DC2626"/>
                </a:solidFill>
                <a:latin typeface="Microsoft YaHei"/>
              </a:rPr>
              <a:t>05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1B2E"/>
                </a:solidFill>
                <a:latin typeface="Microsoft YaHei"/>
              </a:rPr>
              <a:t>隐私安全成信任入口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5404103"/>
            <a:ext cx="7863840" cy="6400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374151"/>
                </a:solidFill>
                <a:latin typeface="Microsoft YaHei"/>
              </a:rPr>
              <a:t>浏览器隐私引擎 + 游戏安全检测，“看得见的安全”是华为信任建设主线。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21/24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SCREENSHOTS &amp;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场景截图与数据来源说明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1056132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64208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</a:rPr>
              <a:t>▎场景截图来源（华为官网 CDN 真实产品图）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48840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</a:rPr>
              <a:t>游戏中心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148840"/>
            <a:ext cx="8229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280"/>
                </a:solidFill>
                <a:latin typeface="Microsoft YaHei"/>
              </a:rPr>
              <a:t>gc_kv/kv · gc_recommend/explore · gc_rewards · gc_security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496312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</a:rPr>
              <a:t>华为主题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496312"/>
            <a:ext cx="8229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280"/>
                </a:solidFill>
                <a:latin typeface="Microsoft YaHei"/>
              </a:rPr>
              <a:t>th_art 艺术主题 · th_wall 壁纸手机框 · th_watch 手表表盘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843784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</a:rPr>
              <a:t>华为视频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843784"/>
            <a:ext cx="8229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280"/>
                </a:solidFill>
                <a:latin typeface="Microsoft YaHei"/>
              </a:rPr>
              <a:t>vd_kv hero · vd_kv1 AiMax · vd_asst AI影视助手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191256"/>
            <a:ext cx="1371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</a:rPr>
              <a:t>华为浏览器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3191256"/>
            <a:ext cx="822960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6B7280"/>
                </a:solidFill>
                <a:latin typeface="Microsoft YaHei"/>
              </a:rPr>
              <a:t>br_kv hero · br_security 隐私中心 · br_privacy 防跟踪报告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840480"/>
            <a:ext cx="10561320" cy="2194560"/>
          </a:xfrm>
          <a:prstGeom prst="roundRect">
            <a:avLst>
              <a:gd name="adj" fmla="val 4000"/>
            </a:avLst>
          </a:prstGeom>
          <a:solidFill>
            <a:srgbClr val="EFF3F9"/>
          </a:solidFill>
          <a:ln w="12700">
            <a:solidFill>
              <a:srgbClr val="0D94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950208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0D9488"/>
                </a:solidFill>
                <a:latin typeface="Microsoft YaHei"/>
              </a:rPr>
              <a:t>▎数据来源（均已访问核验）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4434840"/>
            <a:ext cx="1645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官方产品页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4434840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6B7280"/>
                </a:solidFill>
                <a:latin typeface="Microsoft YaHei"/>
              </a:rPr>
              <a:t>consumer.huawei.com/cn/mobileservices/{game-center,themes,video,browser}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782312"/>
            <a:ext cx="1645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HarmonyOS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4782312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6B7280"/>
                </a:solidFill>
                <a:latin typeface="Microsoft YaHei"/>
              </a:rPr>
              <a:t>Wikipedia(en) HarmonyOS —— 版本/鸿蒙内核/ArkWeb/HDR Vivid/Audio Vivid/HarmonyOS Sans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129783"/>
            <a:ext cx="1645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HMS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5129783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6B7280"/>
                </a:solidFill>
                <a:latin typeface="Microsoft YaHei"/>
              </a:rPr>
              <a:t>Wikipedia(en) Huawei Mobile Services —— 七大服务/Chromium内核验证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5477255"/>
            <a:ext cx="16459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D9488"/>
                </a:solidFill>
                <a:latin typeface="Microsoft YaHei"/>
              </a:rPr>
              <a:t>超链接图片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34640" y="5477255"/>
            <a:ext cx="8046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19" b="0">
                <a:solidFill>
                  <a:srgbClr val="6B7280"/>
                </a:solidFill>
                <a:latin typeface="Microsoft YaHei"/>
              </a:rPr>
              <a:t>华为官网 content/dam CDN 资源，经浏览器 DOM 提取 URL 后直接下载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585216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930" b="0">
                <a:solidFill>
                  <a:srgbClr val="DC2626"/>
                </a:solidFill>
                <a:latin typeface="Microsoft YaHei"/>
              </a:rPr>
              <a:t>⚠ 待核实项：HMS Game Service Kit 具体API、视频AI画质技术术语、浏览器AI摘要/快应用入口、主题.hwt格式与设计师分成——已在正文标注。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22/24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384048"/>
            <a:ext cx="118872" cy="868680"/>
          </a:xfrm>
          <a:prstGeom prst="roundRect">
            <a:avLst>
              <a:gd name="adj" fmla="val 20000"/>
            </a:avLst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C7000B"/>
                </a:solidFill>
                <a:latin typeface="Microsoft YaHei"/>
              </a:rPr>
              <a:t>SCENE GALLERY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504" y="658368"/>
            <a:ext cx="10972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300" b="1">
                <a:solidFill>
                  <a:srgbClr val="161B2E"/>
                </a:solidFill>
                <a:latin typeface="Microsoft YaHei"/>
              </a:rPr>
              <a:t>四产品场景截图墙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2615184" cy="21031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c_recomm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88" y="1627632"/>
            <a:ext cx="2352527" cy="19568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3675887"/>
            <a:ext cx="2615184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7000B"/>
                </a:solidFill>
                <a:latin typeface="Microsoft YaHei"/>
              </a:rPr>
              <a:t>游戏中心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2736" y="1554480"/>
            <a:ext cx="2615184" cy="21031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th_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5887" y="1767552"/>
            <a:ext cx="2468879" cy="1676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02736" y="3675887"/>
            <a:ext cx="2615184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7C3AED"/>
                </a:solidFill>
                <a:latin typeface="Microsoft YaHei"/>
              </a:rPr>
              <a:t>华为主题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554480"/>
            <a:ext cx="2615184" cy="21031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vd_kv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1952851"/>
            <a:ext cx="2468879" cy="130637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382512" y="3675887"/>
            <a:ext cx="2615184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2820A"/>
                </a:solidFill>
                <a:latin typeface="Microsoft YaHei"/>
              </a:rPr>
              <a:t>华为视频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62288" y="1554480"/>
            <a:ext cx="2615184" cy="21031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br_scenario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7388" y="1627632"/>
            <a:ext cx="1744982" cy="195681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162288" y="3675887"/>
            <a:ext cx="2615184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</a:rPr>
              <a:t>华为浏览器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977639"/>
            <a:ext cx="2615184" cy="21031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700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gc_reward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235" y="4050791"/>
            <a:ext cx="1854632" cy="195681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22960" y="6099047"/>
            <a:ext cx="2615184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7000B"/>
                </a:solidFill>
                <a:latin typeface="Microsoft YaHei"/>
              </a:rPr>
              <a:t>游戏福利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02736" y="3977639"/>
            <a:ext cx="2615184" cy="21031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h_watc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15350" y="4050791"/>
            <a:ext cx="1189955" cy="195681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602736" y="6099047"/>
            <a:ext cx="2615184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7C3AED"/>
                </a:solidFill>
                <a:latin typeface="Microsoft YaHei"/>
              </a:rPr>
              <a:t>手表表盘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2512" y="3977639"/>
            <a:ext cx="2615184" cy="21031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C282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vd_asst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9259" y="4050791"/>
            <a:ext cx="921688" cy="195681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82512" y="6099047"/>
            <a:ext cx="2615184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C2820A"/>
                </a:solidFill>
                <a:latin typeface="Microsoft YaHei"/>
              </a:rPr>
              <a:t>影视助手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62288" y="3977639"/>
            <a:ext cx="2615184" cy="21031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br_privac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015224" y="4050791"/>
            <a:ext cx="909311" cy="1956815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162288" y="6099047"/>
            <a:ext cx="2615184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>
                <a:solidFill>
                  <a:srgbClr val="2563EB"/>
                </a:solidFill>
                <a:latin typeface="Microsoft YaHei"/>
              </a:rPr>
              <a:t>隐私报告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6080760"/>
            <a:ext cx="10561320" cy="27432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635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089904"/>
            <a:ext cx="105613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以上截图均采集自华为官网 consumer.huawei.com 产品页 CDN 真实资源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23/24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"/>
            <a:ext cx="3840480" cy="36576"/>
          </a:xfrm>
          <a:prstGeom prst="rect">
            <a:avLst/>
          </a:prstGeom>
          <a:solidFill>
            <a:srgbClr val="C2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972800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10972800" cy="11887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61B2E"/>
                </a:solidFill>
                <a:latin typeface="Microsoft YaHei"/>
              </a:rPr>
              <a:t>华为四大业务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>
                <a:solidFill>
                  <a:srgbClr val="161B2E"/>
                </a:solidFill>
                <a:latin typeface="Microsoft YaHei"/>
              </a:rPr>
              <a:t>业务说明与技术点洞察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154680"/>
            <a:ext cx="100584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0">
                <a:solidFill>
                  <a:srgbClr val="6B7280"/>
                </a:solidFill>
                <a:latin typeface="Microsoft YaHei"/>
              </a:rPr>
              <a:t>游戏中心 · 主题 · 视频 · 浏览器 —— 四大终端云服务的底座统一与业务分化。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977639"/>
            <a:ext cx="10561320" cy="141732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12700">
            <a:solidFill>
              <a:srgbClr val="D8E0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087368"/>
            <a:ext cx="1005840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C7000B"/>
                </a:solidFill>
                <a:latin typeface="Microsoft YaHei"/>
              </a:rPr>
              <a:t>▎关于本报告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480560"/>
            <a:ext cx="10058400" cy="868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• 出品：xhyha/insight · 含华为官网 CDN 真实场景截图，覆盖游戏中心/主题/视频/浏览器四大业务。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• 流程：官方页+Wiki 多源抓取 → 逐条交叉核验 → 截图采集(DOM提取URL) → 多轮内部审查 → 上传 main。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374151"/>
                </a:solidFill>
                <a:latin typeface="Microsoft YaHei"/>
              </a:rPr>
              <a:t>• 待核实项已在正文与来源页显式标注。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760720"/>
            <a:ext cx="1097280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>
                <a:solidFill>
                  <a:srgbClr val="9AA5BC"/>
                </a:solidFill>
                <a:latin typeface="Microsoft YaHei"/>
              </a:rPr>
              <a:t>xhyha/insight  |  华为终端云服务业务与技术洞察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77724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24/24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6473952"/>
            <a:ext cx="640080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9AA5BC"/>
                </a:solidFill>
                <a:latin typeface="Microsoft YaHei"/>
              </a:rPr>
              <a:t>华为终端云服务业务与技术洞察 · xhyha/insight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