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HUAWEI GAME CENTER · 华为游戏中心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9728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华为游戏中心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61B2E"/>
                </a:solidFill>
                <a:latin typeface="Microsoft YaHei"/>
              </a:rPr>
              <a:t>AI时代战略洞察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3定5看方法论 · 结合业界现状与AI能力 · 系统化识别华为游戏中心的AI战略机会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3644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23644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8608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3572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3572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43500" y="3611880"/>
            <a:ext cx="566928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3500" y="3630168"/>
            <a:ext cx="566928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5020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5020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9983" y="3611880"/>
            <a:ext cx="690372" cy="402336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9983" y="3630168"/>
            <a:ext cx="690372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61320" cy="77724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919472"/>
            <a:ext cx="1024128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核心判断：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华为游戏中心的唯一独占优势是「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端侧AI（NPU + 盘古E Series）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」。以端侧AI原生体验差异化，是绕过字节/腾讯流量壁垒的唯一路径。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94360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出品：xhyha/insight · 数据源：Huawei官方/Games One/Newzoo/Crunchbase · 2026.06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目录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58191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58191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58191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游戏行业AI化浪潮 · AI能力成熟度地图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9456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2199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22199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看市场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22199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手游市场规模 · 渠道演变 · 用户与开发者生态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34639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834639"/>
            <a:ext cx="82296" cy="56692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86207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A580C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86207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看竞争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86207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分发平台格局2D地图 · 6家竞品5维度AI评分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7472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502151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7C3AED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02151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看自己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02151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华为游戏中心6维能力盘点 · 端侧AI是唯一5★优势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1480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11480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14223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59669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14223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五看 · 看机会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14223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6大方向+10新增AI方向 · 全景扩展 · 优先级矩阵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75488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75488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78231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DC2626"/>
                </a:solidFill>
                <a:latin typeface="Microsoft Ya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78231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三定 · 定位+目标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78231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端侧AI原生游戏平台 · 三阶段量化目标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94960"/>
            <a:ext cx="10561320" cy="566928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0" y="5394960"/>
            <a:ext cx="82296" cy="566928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422392"/>
            <a:ext cx="7315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7000B"/>
                </a:solidFill>
                <a:latin typeface="Microsoft YaHei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5422392"/>
            <a:ext cx="3474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E"/>
                </a:solidFill>
                <a:latin typeface="Microsoft YaHei"/>
              </a:rPr>
              <a:t>三定 · 定策略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422392"/>
            <a:ext cx="576072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12月路线图 · 资源配置 · 风险应对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2/24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3定5看 · 战略洞察方法论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420624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38404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D9488"/>
                </a:solidFill>
                <a:latin typeface="Microsoft YaHei"/>
              </a:rPr>
              <a:t>五看 · 输入分析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92807"/>
            <a:ext cx="384047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业界现状扫描 + AI能力审视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22199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22199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258568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3288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游戏行业AI化 · 能力成熟度地图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95351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295351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9008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6440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手游~3000亿 · 渠道演变 · 用户开发者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68503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68503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72160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9592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抖音/腾讯/TapTap · AI能力对标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41655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441655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45312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72744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华为6维盘点 · 端侧AI唯一5★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5148071"/>
            <a:ext cx="3840479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148071"/>
            <a:ext cx="64008" cy="65836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18464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58967"/>
            <a:ext cx="365759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6大AI创新方向 · 优先级排序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474720"/>
            <a:ext cx="1371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C7000B"/>
                </a:solidFill>
                <a:latin typeface="Microsoft YaHe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8620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7000B"/>
                </a:solidFill>
                <a:latin typeface="Microsoft YaHei"/>
              </a:rPr>
              <a:t>洞察整合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1508760"/>
            <a:ext cx="4206240" cy="4572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905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1600200"/>
            <a:ext cx="384047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</a:rPr>
              <a:t>三定 · 输出决策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1892807"/>
            <a:ext cx="384047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战略定位 + 量化目标 + 执行策略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2221991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0" y="2221991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59" y="2276856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59" y="2587751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「端侧AI原生游戏平台」差异化战略选择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3483863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0" y="3483863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3538727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849624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三阶段：速赢(Q1-2) → 攻坚(Q3-4) → 突破(Y2)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745736"/>
            <a:ext cx="3840479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0" y="4745736"/>
            <a:ext cx="64008" cy="1170432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5159" y="4800599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</a:rPr>
              <a:t>定策略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5111496"/>
            <a:ext cx="3657599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路线图 + 资源配置 + 风险应对 + 行动节奏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3/24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D9488"/>
                </a:solidFill>
                <a:latin typeface="Microsoft YaHei"/>
              </a:rPr>
              <a:t>FIVE LOOKS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五看 · 业界现状与AI能力审视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看趋势 · 看市场 · 看竞争 · 看自己 · 看机会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4/24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游戏行业 AI 化浪潮 · 全链路渗透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63040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研发端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AI美术生成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原画/3D/材质/动画
Midjourney/SD/TripoSR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AI代码辅助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Copilot/Tabnine
游戏逻辑/Shader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AI测试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自动化探索测试
异常检测/性能分析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63040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1463040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1463040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发行端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AI智能推荐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个性化分发
内容理解+用户画像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AI素材生成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商店页/广告创意
A/B测试自动化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73768" y="1901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1938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AI定价策略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212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动态定价
LTV预测优化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49039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3749039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3749039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运营端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AI客服/社区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LLM对话机器人
社区内容审核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7860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AI反作弊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行为分析/异常检测
实时拦截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52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AI数据分析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用户流失预测
付费转化模型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749039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72200" y="3749039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749039"/>
            <a:ext cx="49377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体验端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8192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 NPC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LLM驱动的智能NPC
开放对话/情绪感知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2784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AI游戏助手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实时攻略/提示
不打断游戏流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73768" y="4187952"/>
            <a:ext cx="16002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20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AI动态难度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4498848"/>
            <a:ext cx="1463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0">
                <a:solidFill>
                  <a:srgbClr val="374151"/>
                </a:solidFill>
                <a:latin typeface="Microsoft YaHei"/>
              </a:rPr>
              <a:t>端侧学习玩家行为
实时调整关卡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6080760"/>
            <a:ext cx="10561320" cy="45720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6099048"/>
            <a:ext cx="102412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趋势：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AI正从「单点辅助」走向「全链路渗透」。谁能把AI能力内建为平台基础设施，谁就能重新定义游戏分发的价值链。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5/24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· 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游戏生产全流程 · AI赋能全景管线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概念策划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D9488"/>
                </a:solidFill>
                <a:latin typeface="Microsoft YaHei"/>
              </a:rPr>
              <a:t>关键活动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世界观/角色设定
GDD/关卡/数值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D9488"/>
                </a:solidFill>
                <a:latin typeface="Microsoft YaHei"/>
              </a:rPr>
              <a:t>AI赋能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LLM辅助策划
世界观生成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盘古内容辅助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485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3172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美术制作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658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关键活动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658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原画/3D建模
材质/动画/特效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8658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AIGC美术生成
SD/TripoSR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658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ModelArts工具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程序开发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9534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3AED"/>
                </a:solidFill>
                <a:latin typeface="Microsoft YaHei"/>
              </a:rPr>
              <a:t>关键活动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引擎/逻辑
UI/网络/性能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C3AED"/>
                </a:solidFill>
                <a:latin typeface="Microsoft YaHei"/>
              </a:rPr>
              <a:t>AI赋能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Copilot代码
Shader辅助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9534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DevEco/鸿蒙SDK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237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4924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音频制作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0410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2820A"/>
                </a:solidFill>
                <a:latin typeface="Microsoft YaHei"/>
              </a:rPr>
              <a:t>关键活动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0410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BGM/音效
语音/配音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0410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4068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2820A"/>
                </a:solidFill>
                <a:latin typeface="Microsoft YaHei"/>
              </a:rPr>
              <a:t>AI赋能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AI音乐合成
语音克隆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0410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068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端侧TTS引擎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7113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85800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测试QA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1286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EA580C"/>
                </a:solidFill>
                <a:latin typeface="Microsoft YaHei"/>
              </a:rPr>
              <a:t>关键活动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1286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功能/性能
兼容/安全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1286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944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EA580C"/>
                </a:solidFill>
                <a:latin typeface="Microsoft YaHei"/>
              </a:rPr>
              <a:t>AI赋能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自动化探索
异常检测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1286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4944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4944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云测+AI测试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989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6676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36676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6676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发行分发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2162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关键活动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2162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上架/推广
渠道/买量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2162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5820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AI赋能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5820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AI智能推荐
素材A/B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2162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5820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华为机会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DC2626"/>
                </a:solidFill>
                <a:latin typeface="Microsoft YaHei"/>
              </a:rPr>
              <a:t>★核心战场★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88652" y="1554480"/>
            <a:ext cx="82296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75520" y="1417320"/>
            <a:ext cx="1417320" cy="4114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875520" y="1417320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5520" y="1435608"/>
            <a:ext cx="1417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75520" y="164592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运营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30384" y="2011680"/>
            <a:ext cx="130759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关键活动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30384" y="2212848"/>
            <a:ext cx="130759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374151"/>
                </a:solidFill>
                <a:latin typeface="Microsoft YaHei"/>
              </a:rPr>
              <a:t>活动/更新
数据/社区/客服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30384" y="2907792"/>
            <a:ext cx="1307592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66960" y="292608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AI赋能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66960" y="3127248"/>
            <a:ext cx="12344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AI运营预测
社区管理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30384" y="3730752"/>
            <a:ext cx="130759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0" y="3749039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华为机会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66960" y="3950208"/>
            <a:ext cx="12344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AI数据平台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" y="5669280"/>
            <a:ext cx="10561320" cy="54864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4128" y="5687568"/>
            <a:ext cx="102412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管线洞察：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华为在</a:t>
            </a:r>
            <a:r>
              <a:rPr sz="950" b="1">
                <a:solidFill>
                  <a:srgbClr val="FBBF24"/>
                </a:solidFill>
                <a:latin typeface="Microsoft YaHei"/>
              </a:rPr>
              <a:t>发行分发(★)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和</a:t>
            </a:r>
            <a:r>
              <a:rPr sz="950" b="1">
                <a:solidFill>
                  <a:srgbClr val="4ADE80"/>
                </a:solidFill>
                <a:latin typeface="Microsoft YaHei"/>
              </a:rPr>
              <a:t>运营环节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有直接平台优势。向上游延伸(AIGC工具/AI测试)赋能开发者，向下游(端侧AI体验)差异化用户感知，构建全链路壁垒。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6/24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看趋势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AI能力成熟度地图 · 游戏场景应用判断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生产级可用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已大规模部署，ROI明确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AI推荐算法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抖音/腾讯已验证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分发/广告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2D美术生成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SD/Midjourney成熟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商店页/广告素材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268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AI客服/社区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LLM对话生产级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社区运营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AI反作弊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行为分析成熟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安全/公平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2044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近期可用 (6-12月)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试点→产品化过渡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016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3016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160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3D生成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160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TripoSR/InstantMesh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2160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游戏内3D素材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3016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016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2160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 NPC对话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2160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端侧LLM推理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2160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游戏交互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3016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3016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2160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AI动画生成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2160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MotionGPT等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160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角色动画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016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63016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2160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AI测试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2160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自动化探索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2160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游戏QA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21792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中期突破 (1-2年)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研究→试点阶段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2764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2764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1908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AI关卡设计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1908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程序化生成+ML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内容扩展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2764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32764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1908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AI平衡性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强化学习调参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908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数值调整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2764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32764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908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AI语音翻译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实时跨语言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1908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社交/国际化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27648" y="5056632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27648" y="5056632"/>
            <a:ext cx="54864" cy="9144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19088" y="5093208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AI数据预测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19088" y="53309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LTV/流失预测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56235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精细化运营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15400" y="1463040"/>
            <a:ext cx="256032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915400" y="1463040"/>
            <a:ext cx="2560320" cy="59436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1481328"/>
            <a:ext cx="23774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前沿探索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6840" y="1773936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概念验证阶段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25128" y="2148840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25128" y="2148840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16568" y="2185416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完全AI生成游戏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16568" y="242316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多模态AI导演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16568" y="271576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新形态游戏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25128" y="3118104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9025128" y="3118104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16568" y="3154680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AI游戏导演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16568" y="3392424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实时剧情生成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6568" y="368503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动态叙事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025128" y="4087368"/>
            <a:ext cx="234086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025128" y="4087368"/>
            <a:ext cx="54864" cy="9144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16568" y="4123944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AI情感计算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16568" y="4361688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2563EB"/>
                </a:solidFill>
                <a:latin typeface="Microsoft YaHei"/>
              </a:rPr>
              <a:t>玩家情绪响应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16568" y="4654296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20" b="1">
                <a:solidFill>
                  <a:srgbClr val="059669"/>
                </a:solidFill>
                <a:latin typeface="Microsoft YaHei"/>
              </a:rPr>
              <a:t>→ 体验优化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7/24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中国手游市场规模与渠道费演变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120640" cy="841248"/>
          </a:xfrm>
          <a:prstGeom prst="roundRect">
            <a:avLst>
              <a:gd name="adj" fmla="val 6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TAM · 全球游戏市场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19656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~$200B+/年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93976"/>
            <a:ext cx="4846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全球游戏总收入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441448"/>
            <a:ext cx="4297679" cy="841248"/>
          </a:xfrm>
          <a:prstGeom prst="roundRect">
            <a:avLst>
              <a:gd name="adj" fmla="val 6000"/>
            </a:avLst>
          </a:prstGeom>
          <a:solidFill>
            <a:srgbClr val="FFA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459736"/>
            <a:ext cx="402335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SAM · 中国游戏市场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752344"/>
            <a:ext cx="402335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~$45B+/年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26664"/>
            <a:ext cx="402335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6.68亿玩家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374136"/>
            <a:ext cx="3474720" cy="841248"/>
          </a:xfrm>
          <a:prstGeom prst="roundRect">
            <a:avLst>
              <a:gd name="adj" fmla="val 6000"/>
            </a:avLst>
          </a:prstGeom>
          <a:solidFill>
            <a:srgbClr val="4DA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79" y="3392424"/>
            <a:ext cx="3200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SAM · 手游分发收入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79" y="3685032"/>
            <a:ext cx="3200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~$10-15B/年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79" y="3959352"/>
            <a:ext cx="3200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渠道分成(30-50%)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4306824"/>
            <a:ext cx="2651759" cy="841248"/>
          </a:xfrm>
          <a:prstGeom prst="roundRect">
            <a:avLst>
              <a:gd name="adj" fmla="val 6000"/>
            </a:avLst>
          </a:prstGeom>
          <a:solidFill>
            <a:srgbClr val="4D9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4325112"/>
            <a:ext cx="237743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SOM · 华为可获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17720"/>
            <a:ext cx="237743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~$2-5B/年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892040"/>
            <a:ext cx="2377439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Microsoft YaHei"/>
              </a:rPr>
              <a:t>HMS设备7亿+·国内份额~15%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508760"/>
            <a:ext cx="4983480" cy="4526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600200"/>
            <a:ext cx="4617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▎渠道费演变 · 开发者出走趋势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2011680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0" y="2011680"/>
            <a:ext cx="54864" cy="5943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2029968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2020前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29968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传统硬核渠道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6528" y="2029968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50%分成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2029968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开发者被迫接受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2670048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83680" y="2670048"/>
            <a:ext cx="54864" cy="5943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8" y="2688336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3488" y="2688336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米哈游《原神》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2688336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绕过硬核渠道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2688336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仅上架官网+B站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3328415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83680" y="3328415"/>
            <a:ext cx="54864" cy="5943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3346703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2021+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3488" y="3346703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TapTap模式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6528" y="3346703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0%渠道费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48672" y="3346703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社区驱动·心动网络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986783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0" y="3986783"/>
            <a:ext cx="54864" cy="5943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93408" y="4005071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D9488"/>
                </a:solidFill>
                <a:latin typeface="Microsoft YaHei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3488" y="4005071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苹果调整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4005071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30%→15%(小开发)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48672" y="4005071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Small Business计划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4645151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4645151"/>
            <a:ext cx="54864" cy="59436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93408" y="4663439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2024+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3488" y="4663439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硬核联盟让步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96528" y="4663439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50%→30%趋势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8672" y="4663439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开发者话语权增强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5303519"/>
            <a:ext cx="461772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583680" y="5303519"/>
            <a:ext cx="54864" cy="59436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93408" y="5321807"/>
            <a:ext cx="594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7C3AED"/>
                </a:solidFill>
                <a:latin typeface="Microsoft YaHei"/>
              </a:rPr>
              <a:t>趋势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3488" y="5321807"/>
            <a:ext cx="14173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渠道价值=AI赋能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96528" y="5321807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不是流量而是服务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48672" y="5321807"/>
            <a:ext cx="1188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6B7280"/>
                </a:solidFill>
                <a:latin typeface="Microsoft YaHei"/>
              </a:rPr>
              <a:t>工具/数据/AI成新壁垒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8/24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看市场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华为游戏中心 · 用户画像与开发者生态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</a:rPr>
              <a:t>▎华为设备用户画像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1920240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920240"/>
            <a:ext cx="54864" cy="74980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956816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设备基数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212848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HMS全球7亿+月活·170国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432304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国内安卓份额~15-17%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724912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2724912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2761488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用户特征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017520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中高端为主(Mate/Pura系列)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236976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付费能力强·ARPU高于行业均值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29584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3529584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3566160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HarmonyOS 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822191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2024.10发布纯血鸿蒙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041648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30%性能提升·原生游戏加速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334256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4128" y="4334256"/>
            <a:ext cx="54864" cy="74980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370832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鸿蒙游戏缺口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4626864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多数主流游戏尚未原生适配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4846320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《原神》等少数已适配·缺口=机会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38928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" y="5138928"/>
            <a:ext cx="54864" cy="74980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" y="5175504"/>
            <a:ext cx="12801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用户行为变化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5431536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短视频→游戏转化成主流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5650992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华为缺内容生态·需补齐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1463040"/>
            <a:ext cx="5212080" cy="4572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▎开发者生态与痛点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82512" y="1920240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82512" y="1920240"/>
            <a:ext cx="54864" cy="74980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956816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HMS开发者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212848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500万+注册开发者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2432304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但游戏开发者渗透率待提升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82512" y="2724912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82512" y="2724912"/>
            <a:ext cx="54864" cy="74980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2761488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开发者痛点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3017520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多平台适配成本高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236976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Android+iOS+HarmonyOS三端开发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2512" y="3529584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82512" y="3529584"/>
            <a:ext cx="54864" cy="749808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56616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580C"/>
                </a:solidFill>
                <a:latin typeface="Microsoft YaHei"/>
              </a:rPr>
              <a:t>开发者痛点 #2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822191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获客成本飙升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4041648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CPA $5-20+·ROI压力大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82512" y="4334256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82512" y="4334256"/>
            <a:ext cx="54864" cy="749808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370832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开发者痛点 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626864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测试/QA成本高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20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机型适配+性能优化耗时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82512" y="5138928"/>
            <a:ext cx="47548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82512" y="5138928"/>
            <a:ext cx="54864" cy="74980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5175504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华为机会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5431536"/>
            <a:ext cx="4480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提供AIGC工具+AI测试服务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650992"/>
            <a:ext cx="448056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降低鸿蒙适配门槛=生态杠杆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9/24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游戏分发平台竞争格局全景地图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1554480"/>
            <a:ext cx="9052560" cy="393192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0760" y="1554480"/>
            <a:ext cx="18288" cy="3931920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54480" y="3520439"/>
            <a:ext cx="9052560" cy="18288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532120"/>
            <a:ext cx="9052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</a:rPr>
              <a:t>← 流量规模/用户基数（低）                              流量规模/用户基数（高）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591056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Microsoft YaHei"/>
              </a:rPr>
              <a:t>↑ 高AI化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5212080"/>
            <a:ext cx="9144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AA5BC"/>
                </a:solidFill>
                <a:latin typeface="Microsoft YaHei"/>
              </a:rPr>
              <a:t>↓ 低AI化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6582" y="1828800"/>
            <a:ext cx="13716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6B7280"/>
                </a:solidFill>
                <a:latin typeface="Microsoft YaHei"/>
              </a:rPr>
              <a:t>传统渠道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7067" y="498348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2820A"/>
                </a:solidFill>
                <a:latin typeface="Microsoft YaHei"/>
              </a:rPr>
              <a:t>高流量·低AI化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56555" y="1627632"/>
            <a:ext cx="1991563" cy="1179575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7606" y="1664207"/>
            <a:ext cx="16294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🎯 华为目标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DC2626"/>
                </a:solidFill>
                <a:latin typeface="Microsoft YaHei"/>
              </a:rPr>
              <a:t>中高流量+端侧AI</a:t>
            </a:r>
          </a:p>
        </p:txBody>
      </p:sp>
      <p:sp>
        <p:nvSpPr>
          <p:cNvPr id="15" name="Oval 14"/>
          <p:cNvSpPr/>
          <p:nvPr/>
        </p:nvSpPr>
        <p:spPr>
          <a:xfrm>
            <a:off x="8837676" y="1837943"/>
            <a:ext cx="146304" cy="1463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02268" y="1801367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2268" y="1819655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2563EB"/>
                </a:solidFill>
                <a:latin typeface="Microsoft YaHei"/>
              </a:rPr>
              <a:t>抖音游戏</a:t>
            </a:r>
          </a:p>
        </p:txBody>
      </p:sp>
      <p:sp>
        <p:nvSpPr>
          <p:cNvPr id="18" name="Oval 17"/>
          <p:cNvSpPr/>
          <p:nvPr/>
        </p:nvSpPr>
        <p:spPr>
          <a:xfrm>
            <a:off x="9471355" y="2545689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35947" y="2509113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5947" y="2527401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7C3AED"/>
                </a:solidFill>
                <a:latin typeface="Microsoft YaHei"/>
              </a:rPr>
              <a:t>腾讯(微信/QQ)</a:t>
            </a:r>
          </a:p>
        </p:txBody>
      </p:sp>
      <p:sp>
        <p:nvSpPr>
          <p:cNvPr id="21" name="Oval 20"/>
          <p:cNvSpPr/>
          <p:nvPr/>
        </p:nvSpPr>
        <p:spPr>
          <a:xfrm>
            <a:off x="4945075" y="3489350"/>
            <a:ext cx="146304" cy="146304"/>
          </a:xfrm>
          <a:prstGeom prst="ellipse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09667" y="3452774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9667" y="347106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华为游戏中心</a:t>
            </a:r>
          </a:p>
        </p:txBody>
      </p:sp>
      <p:sp>
        <p:nvSpPr>
          <p:cNvPr id="24" name="Oval 23"/>
          <p:cNvSpPr/>
          <p:nvPr/>
        </p:nvSpPr>
        <p:spPr>
          <a:xfrm>
            <a:off x="3858768" y="4786883"/>
            <a:ext cx="146304" cy="14630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23359" y="4750307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59" y="476859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59669"/>
                </a:solidFill>
                <a:latin typeface="Microsoft YaHei"/>
              </a:rPr>
              <a:t>TapTap</a:t>
            </a:r>
          </a:p>
        </p:txBody>
      </p:sp>
      <p:sp>
        <p:nvSpPr>
          <p:cNvPr id="27" name="Oval 26"/>
          <p:cNvSpPr/>
          <p:nvPr/>
        </p:nvSpPr>
        <p:spPr>
          <a:xfrm>
            <a:off x="4582972" y="4590288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47564" y="4553712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47564" y="457200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7C3AED"/>
                </a:solidFill>
                <a:latin typeface="Microsoft YaHei"/>
              </a:rPr>
              <a:t>B站游戏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0" y="4904841"/>
            <a:ext cx="146304" cy="146304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33872" y="4868265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4886553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EA580C"/>
                </a:solidFill>
                <a:latin typeface="Microsoft YaHei"/>
              </a:rPr>
              <a:t>OPPO/vivo</a:t>
            </a:r>
          </a:p>
        </p:txBody>
      </p:sp>
      <p:sp>
        <p:nvSpPr>
          <p:cNvPr id="33" name="Oval 32"/>
          <p:cNvSpPr/>
          <p:nvPr/>
        </p:nvSpPr>
        <p:spPr>
          <a:xfrm>
            <a:off x="4311396" y="4983480"/>
            <a:ext cx="146304" cy="146304"/>
          </a:xfrm>
          <a:prstGeom prst="ellipse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75988" y="4946904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5988" y="496519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2820A"/>
                </a:solidFill>
                <a:latin typeface="Microsoft YaHei"/>
              </a:rPr>
              <a:t>小米游戏</a:t>
            </a:r>
          </a:p>
        </p:txBody>
      </p:sp>
      <p:sp>
        <p:nvSpPr>
          <p:cNvPr id="36" name="Oval 35"/>
          <p:cNvSpPr/>
          <p:nvPr/>
        </p:nvSpPr>
        <p:spPr>
          <a:xfrm>
            <a:off x="8203996" y="4275734"/>
            <a:ext cx="146304" cy="146304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68588" y="4239158"/>
            <a:ext cx="1463040" cy="25603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62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8588" y="425744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6B7280"/>
                </a:solidFill>
                <a:latin typeface="Microsoft YaHei"/>
              </a:rPr>
              <a:t>App Store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15000"/>
            <a:ext cx="10561320" cy="54864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8" y="5742432"/>
            <a:ext cx="102412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洞察：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华为处于「中流量·中AI化」的中间地带。字节和腾讯占据「高流量+高AI」制高点。华为的突破口是</a:t>
            </a:r>
            <a:r>
              <a:rPr sz="950" b="1">
                <a:solidFill>
                  <a:srgbClr val="DC2626"/>
                </a:solidFill>
                <a:latin typeface="Microsoft YaHei"/>
              </a:rPr>
              <a:t>端侧AI差异化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——云端AI打不过字节，但端侧AI无人能及。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10/24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看竞争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竞品AI能力 5 维度评分表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508760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竞品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智能推荐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0208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AIGC工具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22976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2976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95744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95744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端侧AI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8512" y="1463040"/>
            <a:ext cx="1527048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8512" y="14630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开发者服务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1463040"/>
            <a:ext cx="1828800" cy="54864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146304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定位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01168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201168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抖音游戏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563EB"/>
                </a:solidFill>
                <a:latin typeface="Microsoft YaHei"/>
              </a:rPr>
              <a:t>★★★★★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0208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22976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2976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95744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68512" y="201168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8512" y="201168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0" y="201168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201168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内容驱动分发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256032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256032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腾讯(微信)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77440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50208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0208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2976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2976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95744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95744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68512" y="256032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256032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41280" y="256032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0" y="256032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社交生态分发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310896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1905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310896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7000B"/>
                </a:solidFill>
                <a:latin typeface="Microsoft YaHei"/>
              </a:rPr>
              <a:t>华为游戏中心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7440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50208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50208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522976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22976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95744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95744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563EB"/>
                </a:solidFill>
                <a:latin typeface="Microsoft YaHei"/>
              </a:rPr>
              <a:t>★★★★★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68512" y="310896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68512" y="310896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41280" y="310896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41280" y="310896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硬件+OS分发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960" y="365760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" y="365760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TapTap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77440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77440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50208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50208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22976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22976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095744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95744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68512" y="365760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68512" y="365760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241280" y="365760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41280" y="365760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社区驱动(0%费)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22960" y="4206240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" y="4206240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OPPO/vivo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377440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950208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50208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522976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22976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95744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95744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68512" y="4206240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68512" y="4206240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4206240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41280" y="4206240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硬件渠道分发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2960" y="4754879"/>
            <a:ext cx="150876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41248" y="4754879"/>
            <a:ext cx="1508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Apple Store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77440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77440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★★★☆☆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950208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50208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AA5BC"/>
                </a:solidFill>
                <a:latin typeface="Microsoft YaHei"/>
              </a:rPr>
              <a:t>★☆☆☆☆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522976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522976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★★☆☆☆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095744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95744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668512" y="4754879"/>
            <a:ext cx="1527048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68512" y="4754879"/>
            <a:ext cx="1527048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★★★★☆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241280" y="4754879"/>
            <a:ext cx="1828800" cy="54864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41280" y="4754879"/>
            <a:ext cx="18288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高端生态分发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2960" y="5577840"/>
            <a:ext cx="10561320" cy="64008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4128" y="5605272"/>
            <a:ext cx="1024128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关键发现：</a:t>
            </a:r>
            <a:r>
              <a:rPr sz="950" b="1">
                <a:solidFill>
                  <a:srgbClr val="C7000B"/>
                </a:solidFill>
                <a:latin typeface="Microsoft YaHei"/>
              </a:rPr>
              <a:t>华为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在「端侧AI」是</a:t>
            </a:r>
            <a:r>
              <a:rPr sz="950" b="1">
                <a:solidFill>
                  <a:srgbClr val="DC2626"/>
                </a:solidFill>
                <a:latin typeface="Microsoft YaHei"/>
              </a:rPr>
              <a:t>唯一5★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（NPU+盘古E Series），但推荐/AIGC/运营全面落后于字节腾讯。</a:t>
            </a:r>
            <a:r>
              <a:rPr sz="950" b="1">
                <a:solidFill>
                  <a:srgbClr val="2563EB"/>
                </a:solidFill>
                <a:latin typeface="Microsoft YaHei"/>
              </a:rPr>
              <a:t>放大端侧AI优势 + 补齐推荐算法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是核心策略。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11/24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Microsoft YaHei"/>
              </a:rPr>
              <a:t>看自己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华为游戏中心 · 能力盘点与差距分析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分发流量规模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国内安卓~15-17%
HMS全球7亿+月活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当前 3/5 → 目标 5/5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788920"/>
            <a:ext cx="1865376" cy="128016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2688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EA580C"/>
                </a:solidFill>
                <a:latin typeface="Microsoft YaHei"/>
              </a:rPr>
              <a:t>鸿蒙增长+跨设备分发
补齐内容生态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AI算法能力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基础推荐算法
无AIGC工具链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当前 2/5 → 目标 5/5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98848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8848" y="2788920"/>
            <a:ext cx="1243584" cy="12801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98848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98848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98848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推荐精度vs字节差距大
需引入/自研大模型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508760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1508760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7" y="1508760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端侧AI/硬件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7" y="1920240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麒麟NPU+盘古E Series
MindSpore推理框架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7" y="251460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当前 5/5 → 目标 5/5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7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65007" y="278892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5007" y="2953512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2953512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65007" y="3081528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59" y="3099815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✅ 核心独占优势
业界无人可及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HarmonyOS原生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鸿蒙NEXT发布
Ark Engine原生图形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当前 4/5 → 目标 5/5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" y="5120640"/>
            <a:ext cx="2487168" cy="128016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2688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32688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2688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2563EB"/>
                </a:solidFill>
                <a:latin typeface="Microsoft YaHei"/>
              </a:rPr>
              <a:t>原生游戏加速中
缺口=机会窗口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89120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389120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8848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开发者生态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HMS 500万+开发者
游戏SDK持续完善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C2820A"/>
                </a:solidFill>
                <a:latin typeface="Microsoft YaHei"/>
              </a:rPr>
              <a:t>当前 3/5 → 目标 5/5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98848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498848" y="5120640"/>
            <a:ext cx="1865376" cy="128016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498848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98848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98848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0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C2820A"/>
                </a:solidFill>
                <a:latin typeface="Microsoft YaHei"/>
              </a:rPr>
              <a:t>游戏开发者渗透率低
需降低适配门槛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79" y="3840479"/>
            <a:ext cx="33832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55279" y="3840479"/>
            <a:ext cx="3383280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65007" y="3840479"/>
            <a:ext cx="3200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内容/社区运营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5007" y="4251959"/>
            <a:ext cx="3200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弱于TapTap/B站/抖音
缺UGC内容生态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65007" y="4846319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当前 2/5 → 目标 5/5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65007" y="5120640"/>
            <a:ext cx="3108960" cy="128016"/>
          </a:xfrm>
          <a:prstGeom prst="roundRect">
            <a:avLst>
              <a:gd name="adj" fmla="val 30000"/>
            </a:avLst>
          </a:prstGeom>
          <a:solidFill>
            <a:srgbClr val="D8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065007" y="5120640"/>
            <a:ext cx="1243584" cy="12801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65007" y="5285231"/>
            <a:ext cx="3108960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065007" y="5285231"/>
            <a:ext cx="3108960" cy="3657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65007" y="5413247"/>
            <a:ext cx="310896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38159" y="5431536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核心短板
需社区+内容双驱动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12/24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 · 扩展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AI创新方向全景 · 20个方向(10已有+10新增)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5166360" cy="2286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4946904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① 端侧AI独占（华为壁垒）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59669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764792"/>
            <a:ext cx="4617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已规划方向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993392"/>
            <a:ext cx="4663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 NPC对话 / AI游戏助手 / HarmonyOS原生AI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95728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2377440"/>
            <a:ext cx="4617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新增方向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2606040"/>
            <a:ext cx="46634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画质增强(NPU超分·插帧) / 未成年人保护(OS级)
跨设备AI游戏协同(分布式) / 端侧AI语音交互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5212080" cy="347472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71600"/>
            <a:ext cx="4992624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② 用户增长与商业化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783080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59669"/>
                </a:solidFill>
                <a:latin typeface="Microsoft Ya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1764792"/>
            <a:ext cx="4663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已规划方向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1993392"/>
            <a:ext cx="47091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AI智能推荐(个性化分发)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395728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2377440"/>
            <a:ext cx="4663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新增方向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06040"/>
            <a:ext cx="47091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预测式获客(全场景触达) / 流失预警与智能召回
付费转化预测(LTV) / AI游戏订阅制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749039"/>
            <a:ext cx="516636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3749039"/>
            <a:ext cx="5166360" cy="34747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749039"/>
            <a:ext cx="4946904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③ 社区与社交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60520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59669"/>
                </a:solidFill>
                <a:latin typeface="Microsoft YaHe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" y="4142231"/>
            <a:ext cx="4617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已规划方向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70831"/>
            <a:ext cx="4663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—（当前空白）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73168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754879"/>
            <a:ext cx="46177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新增方向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7008" y="4983479"/>
            <a:ext cx="46634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AI社交匹配(队友·公会·跨游戏)
AI内容社区(攻略·评测自动生成)
AI精彩时刻自动剪辑(UGC短视频)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3749039"/>
            <a:ext cx="52120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72200" y="3749039"/>
            <a:ext cx="5212080" cy="347472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81928" y="3749039"/>
            <a:ext cx="4992624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④ 开发者与平台服务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60520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59669"/>
                </a:solidFill>
                <a:latin typeface="Microsoft YaHe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4142231"/>
            <a:ext cx="4663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已规划方向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091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AIGC工具 / AI反作弊 / AI数据分析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773168"/>
            <a:ext cx="27432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6248" y="4754879"/>
            <a:ext cx="4663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新增方向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6248" y="4983479"/>
            <a:ext cx="47091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AI游戏自动审核(质量·合规)
AI性能优化(帧率·内存·发热)
AI本地化(翻译·文化适配)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035040"/>
            <a:ext cx="10561320" cy="384048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6053328"/>
            <a:ext cx="102412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</a:rPr>
              <a:t>扩展洞察：</a:t>
            </a:r>
            <a:r>
              <a:rPr sz="900" b="0">
                <a:solidFill>
                  <a:srgbClr val="FFFFFF"/>
                </a:solidFill>
                <a:latin typeface="Microsoft YaHei"/>
              </a:rPr>
              <a:t>新增</a:t>
            </a:r>
            <a:r>
              <a:rPr sz="900" b="1">
                <a:solidFill>
                  <a:srgbClr val="FBBF24"/>
                </a:solidFill>
                <a:latin typeface="Microsoft YaHei"/>
              </a:rPr>
              <a:t>10个AI方向</a:t>
            </a:r>
            <a:r>
              <a:rPr sz="900" b="0">
                <a:solidFill>
                  <a:srgbClr val="FFFFFF"/>
                </a:solidFill>
                <a:latin typeface="Microsoft YaHei"/>
              </a:rPr>
              <a:t>。其中</a:t>
            </a:r>
            <a:r>
              <a:rPr sz="900" b="1">
                <a:solidFill>
                  <a:srgbClr val="4ADE80"/>
                </a:solidFill>
                <a:latin typeface="Microsoft YaHei"/>
              </a:rPr>
              <a:t>端侧画质增强+跨设备协同+未成年人保护</a:t>
            </a:r>
            <a:r>
              <a:rPr sz="900" b="0">
                <a:solidFill>
                  <a:srgbClr val="FFFFFF"/>
                </a:solidFill>
                <a:latin typeface="Microsoft YaHei"/>
              </a:rPr>
              <a:t>是华为独占级壁垒——NPU+OS+分发全栈控制，竞品无法复制。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13/24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 · 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Top 6 新增AI方向 · 深度评估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988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端侧AI画质增强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NPU超分·插帧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59669"/>
                </a:solidFill>
                <a:latin typeface="Microsoft YaHei"/>
              </a:rPr>
              <a:t>▎价值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低端设备也能高清高帧
覆盖华为60%+中低端用户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麒麟NPU独占·OS驱动级
唯一NPU+OS+分发全栈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2724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6382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技术路径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46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NPU推理超分模型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40156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41985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059669"/>
                </a:solidFill>
                <a:latin typeface="Microsoft YaHei"/>
              </a:rPr>
              <a:t>可行性高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137160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137160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138988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跨设备AI游戏协同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158191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鸿蒙分布式·多设备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182880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D9488"/>
                </a:solidFill>
                <a:latin typeface="Microsoft YaHei"/>
              </a:rPr>
              <a:t>▎价值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201168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手机→平板→车机→智慧屏
最强生态锁定·新玩法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24688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6517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HarmonyOS分布式软总线
唯一原生分布式OS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312724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16382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D9488"/>
                </a:solidFill>
                <a:latin typeface="Microsoft YaHei"/>
              </a:rPr>
              <a:t>技术路径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346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分布式任务迁移+渲染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340156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341985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0D9488"/>
                </a:solidFill>
                <a:latin typeface="Microsoft YaHei"/>
              </a:rPr>
              <a:t>可行性中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137160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55279" y="137160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138988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端侧AI未成年人保护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158191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OS级·隐私优先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182880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59669"/>
                </a:solidFill>
                <a:latin typeface="Microsoft YaHei"/>
              </a:rPr>
              <a:t>▎价值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19" y="201168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防沉迷法规刚需
家长信任→购机决策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19" y="24688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9" y="26517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OS级强制(不可绕过)
TEE+端侧推理·零泄露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19" y="312724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316382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技术路径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3346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NPU人脸+行为分析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9880" y="340156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69880" y="341985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059669"/>
                </a:solidFill>
                <a:latin typeface="Microsoft YaHei"/>
              </a:rPr>
              <a:t>可行性高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384048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22960" y="384048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385876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AI预测式全场景获客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05079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跨华为生态触达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42976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2563EB"/>
                </a:solidFill>
                <a:latin typeface="Microsoft YaHei"/>
              </a:rPr>
              <a:t>▎价值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4805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CPA降低30%+·开发者刚需
从渠道变为增长引擎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493776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120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8+独占触点(浏览器/负一屏
/Celia/推送/车机/智慧屏)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" y="559612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5632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2563EB"/>
                </a:solidFill>
                <a:latin typeface="Microsoft YaHei"/>
              </a:rPr>
              <a:t>技术路径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81558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端侧兴趣建模+RL编排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87044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37560" y="588873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2563EB"/>
                </a:solidFill>
                <a:latin typeface="Microsoft YaHei"/>
              </a:rPr>
              <a:t>可行性中高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89120" y="384048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89120" y="384048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80559" y="385876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AI流失预警与智能召回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59" y="405079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跨游戏行为分析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0559" y="42976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059669"/>
                </a:solidFill>
                <a:latin typeface="Microsoft YaHei"/>
              </a:rPr>
              <a:t>▎价值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80559" y="44805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D30留存+10%→LTV+25-95%
开发者最高ROI服务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59" y="493776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59" y="5120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跨游戏行为数据(独占)
HMS Push高到达率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80559" y="559612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26280" y="5632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59669"/>
                </a:solidFill>
                <a:latin typeface="Microsoft YaHei"/>
              </a:rPr>
              <a:t>技术路径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26280" y="581558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XGBoost预测+AIGC召回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903720" y="587044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03720" y="588873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059669"/>
                </a:solidFill>
                <a:latin typeface="Microsoft YaHei"/>
              </a:rPr>
              <a:t>可行性高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55279" y="3840480"/>
            <a:ext cx="3429000" cy="23317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55279" y="3840480"/>
            <a:ext cx="3429000" cy="384048"/>
          </a:xfrm>
          <a:prstGeom prst="roundRect">
            <a:avLst>
              <a:gd name="adj" fmla="val 6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19" y="3858768"/>
            <a:ext cx="3246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AI精彩时刻自动剪辑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19" y="4050792"/>
            <a:ext cx="324612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Microsoft YaHei"/>
              </a:rPr>
              <a:t>端侧高光识别·UGC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46719" y="429768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C2820A"/>
                </a:solidFill>
                <a:latin typeface="Microsoft YaHei"/>
              </a:rPr>
              <a:t>▎价值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46719" y="448056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0">
                <a:solidFill>
                  <a:srgbClr val="374151"/>
                </a:solidFill>
                <a:latin typeface="Microsoft YaHei"/>
              </a:rPr>
              <a:t>UGC内容增长10-100x
病毒传播→免费获客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19" y="4937760"/>
            <a:ext cx="324612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DC2626"/>
                </a:solidFill>
                <a:latin typeface="Microsoft YaHei"/>
              </a:rPr>
              <a:t>▎华为独占优势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19" y="5120640"/>
            <a:ext cx="32461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2563EB"/>
                </a:solidFill>
                <a:latin typeface="Microsoft YaHei"/>
              </a:rPr>
              <a:t>OS级录屏(无需适配)
NPU端侧推理·低成本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046719" y="5596128"/>
            <a:ext cx="3246120" cy="457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508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563270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C2820A"/>
                </a:solidFill>
                <a:latin typeface="Microsoft YaHei"/>
              </a:rPr>
              <a:t>技术路径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815584"/>
            <a:ext cx="3154680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B7280"/>
                </a:solidFill>
                <a:latin typeface="Microsoft YaHei"/>
              </a:rPr>
              <a:t>端侧动作识别+事件检测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469880" y="5870448"/>
            <a:ext cx="777240" cy="2011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69880" y="5888736"/>
            <a:ext cx="777240" cy="2011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1">
                <a:solidFill>
                  <a:srgbClr val="C2820A"/>
                </a:solidFill>
                <a:latin typeface="Microsoft YaHei"/>
              </a:rPr>
              <a:t>可行性中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6217920"/>
            <a:ext cx="10561320" cy="32004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" y="6236208"/>
            <a:ext cx="102412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优先级：</a:t>
            </a:r>
            <a:r>
              <a:rPr sz="850" b="0">
                <a:solidFill>
                  <a:srgbClr val="FFFFFF"/>
                </a:solidFill>
                <a:latin typeface="Microsoft YaHei"/>
              </a:rPr>
              <a:t>端侧画质增强(速赢) → 未成年人保护(合规) → 精彩时刻(品牌) → 预测获客+流失召回(增长) → 跨设备协同(战略)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14/24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看机会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核心方向 · 优先级矩阵(10已有+新增)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828800"/>
            <a:ext cx="685800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3749039"/>
            <a:ext cx="6858000" cy="18288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828800"/>
            <a:ext cx="18288" cy="3840480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1847088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059669"/>
                </a:solidFill>
                <a:latin typeface="Microsoft YaHei"/>
              </a:rPr>
              <a:t>速赢区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高影响·低门槛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47088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战略制高点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6B7280"/>
                </a:solidFill>
                <a:latin typeface="Microsoft YaHei"/>
              </a:rPr>
              <a:t>高影响·高门槛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5184" y="5358384"/>
            <a:ext cx="914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Microsoft YaHei"/>
              </a:rPr>
              <a:t>补位区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低影响·低门槛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5358384"/>
            <a:ext cx="960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9AA5BC"/>
                </a:solidFill>
                <a:latin typeface="Microsoft YaHei"/>
              </a:rPr>
              <a:t>暂缓区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50" b="0">
                <a:solidFill>
                  <a:srgbClr val="9AA5BC"/>
                </a:solidFill>
                <a:latin typeface="Microsoft YaHei"/>
              </a:rPr>
              <a:t>低影响·高门槛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554480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影响力（高 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5696712"/>
            <a:ext cx="6858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技术门槛/投入（低 ← → 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2286000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2295144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AI智能分发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9220" y="2785262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9220" y="2794406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AIGC开发者工具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6620" y="201716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6620" y="2026310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端侧AI游戏体验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01214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10358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HarmonyOS原生AI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79" y="3937406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79" y="3946550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AI反作弊/安全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3438144"/>
            <a:ext cx="914400" cy="237744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3447287"/>
            <a:ext cx="914400" cy="21945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1463040"/>
            <a:ext cx="1600200" cy="43891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1536192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方向速览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1920240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#1 AI智能分发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推荐升级·速赢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2542032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#2 AIGC工具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降低开发门槛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3163824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#3 端侧AI体验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AI NPC·独占壁垒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785616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#4 鸿蒙原生AI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生态锁定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407408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#5 AI反作弊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公平性·补位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029200"/>
            <a:ext cx="14630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#6 AI数据分析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开发者增值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1463040"/>
            <a:ext cx="1691640" cy="438912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4352" y="1536192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59669"/>
                </a:solidFill>
                <a:latin typeface="Microsoft YaHei"/>
              </a:rPr>
              <a:t>行动建议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74352" y="192024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195681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Q1 速赢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224942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AI推荐+反作弊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74352" y="278892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47504" y="282549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icrosoft YaHei"/>
              </a:rPr>
              <a:t>Q2 攻坚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7504" y="3118103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AIGC工具链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74352" y="365760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7504" y="369417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Q3 试点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47504" y="398678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端侧AI NPC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74352" y="4526280"/>
            <a:ext cx="155448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47504" y="45628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icrosoft YaHei"/>
              </a:rPr>
              <a:t>Q4 突破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47504" y="4855464"/>
            <a:ext cx="1417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鸿蒙AI生态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15/24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34840"/>
            <a:ext cx="12191695" cy="36576"/>
          </a:xfrm>
          <a:prstGeom prst="rect">
            <a:avLst/>
          </a:prstGeom>
          <a:solidFill>
            <a:srgbClr val="C4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5720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0" b="1">
                <a:solidFill>
                  <a:srgbClr val="C7000B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97480"/>
            <a:ext cx="8686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7000B"/>
                </a:solidFill>
                <a:latin typeface="Microsoft YaHei"/>
              </a:rPr>
              <a:t>THREE DEFINES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108960"/>
            <a:ext cx="9144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B2E"/>
                </a:solidFill>
                <a:latin typeface="Microsoft YaHei"/>
              </a:rPr>
              <a:t>三定 · 战略定位与执行策略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886200"/>
            <a:ext cx="84124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74151"/>
                </a:solidFill>
                <a:latin typeface="Microsoft YaHei"/>
              </a:rPr>
              <a:t>定位 · 定目标 · 定策略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16/24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差异化战略定位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0561320" cy="114300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149840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战略定位：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「端侧AI原生游戏平台」</a:t>
            </a:r>
            <a:r>
              <a:rPr sz="1000" b="0">
                <a:solidFill>
                  <a:srgbClr val="FFE0E0"/>
                </a:solidFill>
                <a:latin typeface="Microsoft YaHei"/>
              </a:rPr>
              <a:t> — 不是流量渠道(字节)，不是社交生态(腾讯)，不是社区评价(TapTap)，</a:t>
            </a:r>
            <a:r>
              <a:rPr sz="1000" b="1">
                <a:solidFill>
                  <a:srgbClr val="FBBF24"/>
                </a:solidFill>
                <a:latin typeface="Microsoft YaHei"/>
              </a:rPr>
              <a:t>而是以端侧AI推理为核心的游戏体验平台。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43200"/>
            <a:ext cx="10561320" cy="320040"/>
          </a:xfrm>
          <a:prstGeom prst="roundRect">
            <a:avLst>
              <a:gd name="adj" fmla="val 3000"/>
            </a:avLst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61488"/>
            <a:ext cx="102412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Microsoft YaHei"/>
              </a:rPr>
              <a:t>▎差异化对比：华为 vs 竞品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2724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12724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3744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抖音游戏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腾讯(微信)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1272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31272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TapTap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12724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C7000B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3104" y="312724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</a:rPr>
              <a:t>华为(目标)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53872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核心驱动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8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3744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内容算法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社交关系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5387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9983" y="35387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社区评价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353872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353872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5020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395020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推荐模式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6888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23744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云端算法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6864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云端算法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95020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9983" y="395020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用户评分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395020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95020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端侧+云端协同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36168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" y="436168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隐私保护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6888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23744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26864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436168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9983" y="436168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云端依赖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778240" y="436168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3104" y="436168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端侧优先·数据不出端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477316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77316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响应延迟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6888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3744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26864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75120" y="477316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29983" y="477316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200ms+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78240" y="477316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33104" y="477316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&lt;50ms端侧推理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518464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" y="518464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离线AI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6888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23744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26864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75120" y="518464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29983" y="518464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78240" y="518464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33104" y="518464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端侧可用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" y="5596128"/>
            <a:ext cx="16459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7824" y="5596128"/>
            <a:ext cx="1554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1B2E"/>
                </a:solidFill>
                <a:latin typeface="Microsoft YaHei"/>
              </a:rPr>
              <a:t>开发者赋能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46888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23744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流量分发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26864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流量+社交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75120" y="5596128"/>
            <a:ext cx="2103120" cy="384048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29983" y="5596128"/>
            <a:ext cx="2011679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374151"/>
                </a:solidFill>
                <a:latin typeface="Microsoft YaHei"/>
              </a:rPr>
              <a:t>0%费率社区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78240" y="5596128"/>
            <a:ext cx="2606040" cy="384048"/>
          </a:xfrm>
          <a:prstGeom prst="roundRect">
            <a:avLst>
              <a:gd name="adj" fmla="val 2000"/>
            </a:avLst>
          </a:prstGeom>
          <a:solidFill>
            <a:srgbClr val="FFF3E0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33104" y="5596128"/>
            <a:ext cx="251460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DC2626"/>
                </a:solidFill>
                <a:latin typeface="Microsoft YaHei"/>
              </a:rPr>
              <a:t>AIGC工具+AI测试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17/24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定目标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三阶段量化目标 · 从速赢到突破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1 · 速赢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Q1-Q2 · 3-6个月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证明价值 · 快速验证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AI推荐升级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CTR +20%·转化率 +15%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AIGC工具MVP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2D美术+音效生成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AI反作弊上线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行为分析+实时拦截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59669"/>
                </a:solidFill>
                <a:latin typeface="Microsoft YaHei"/>
              </a:rPr>
              <a:t>鸿蒙AI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游戏AI接口开放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推荐CTR+20%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89120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98848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2 · 攻坚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Q3-Q4 · 6-12个月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端侧AI体验 · 生态扩展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98848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498848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857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端侧AI NPC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857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Series推理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8848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98848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0857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开发者工具链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0857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测试+优化+适配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98848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498848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0857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鸿蒙AI游戏引擎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857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Ark Engine AI扩展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98848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98848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0857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57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开发者数据看板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98848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8848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端侧AI游戏Demo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55279" y="1463040"/>
            <a:ext cx="338328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955279" y="1463040"/>
            <a:ext cx="3383280" cy="777240"/>
          </a:xfrm>
          <a:prstGeom prst="roundRect">
            <a:avLst>
              <a:gd name="adj" fmla="val 6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5007" y="1481328"/>
            <a:ext cx="31638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Phase 3 · 突破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65007" y="1755648"/>
            <a:ext cx="3163824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Microsoft YaHei"/>
              </a:rPr>
              <a:t>Y2 · 12-24个月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65007" y="2029968"/>
            <a:ext cx="3163824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AI原生生态 · 跨设备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65007" y="2377440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065007" y="2377440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74736" y="241401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端侧AI游戏生态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74736" y="2706624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10+端侧AI原生游戏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5007" y="3255264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065007" y="3255264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29184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跨设备AI协同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3584448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手机/平板/车机/智慧屏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65007" y="4133087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065007" y="4133087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4169663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端侧大模型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4462272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Series迭代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65007" y="5010912"/>
            <a:ext cx="3163824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65007" y="5010912"/>
            <a:ext cx="54864" cy="804672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74736" y="5047488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商业化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5340096"/>
            <a:ext cx="30175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SaaS+分润+增值服务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65007" y="5907023"/>
            <a:ext cx="3163824" cy="41148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65007" y="5907023"/>
            <a:ext cx="316382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目标: 10+AI原生游戏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18/24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 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12个月技术路线图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239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239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438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38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637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637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836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2836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1035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035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Q2.3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234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234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433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433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632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632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Q3.3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8310" y="1554480"/>
            <a:ext cx="681990" cy="274320"/>
          </a:xfrm>
          <a:prstGeom prst="rect">
            <a:avLst/>
          </a:prstGeom>
          <a:solidFill>
            <a:srgbClr val="EFF3F9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831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02290" y="1554480"/>
            <a:ext cx="681990" cy="274320"/>
          </a:xfrm>
          <a:prstGeom prst="rect">
            <a:avLst/>
          </a:prstGeom>
          <a:solidFill>
            <a:srgbClr val="F7F9FC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02290" y="1554480"/>
            <a:ext cx="68199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B7280"/>
                </a:solidFill>
                <a:latin typeface="Microsoft YaHei"/>
              </a:rPr>
              <a:t>Q4.3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1847088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AI推荐算法升级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1847088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18688" y="1883664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139696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AIGC美术工具MVP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2139696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00678" y="2176272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2432303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AI反作弊系统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2432303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18688" y="2468879"/>
            <a:ext cx="2009394" cy="18288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2724911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鸿蒙AI SDK开放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724911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82668" y="2761487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17519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端侧AI NPC Demo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3017519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46648" y="3054095"/>
            <a:ext cx="3373374" cy="18288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3310127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开发者工具链(测试)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3310127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28638" y="3346703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3602735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鸿蒙AI游戏引擎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0" y="3602735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92618" y="3639311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3895343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AI数据分析平台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3895343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10628" y="3931919"/>
            <a:ext cx="2691384" cy="182880"/>
          </a:xfrm>
          <a:prstGeom prst="roundRect">
            <a:avLst>
              <a:gd name="adj" fmla="val 3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187951"/>
            <a:ext cx="2286000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61B2E"/>
                </a:solidFill>
                <a:latin typeface="Microsoft YaHei"/>
              </a:rPr>
              <a:t>跨设备AI协同探索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4187951"/>
            <a:ext cx="818388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356598" y="4224527"/>
            <a:ext cx="2009394" cy="182880"/>
          </a:xfrm>
          <a:prstGeom prst="roundRect">
            <a:avLst>
              <a:gd name="adj" fmla="val 3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22960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22960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59669"/>
                </a:solidFill>
                <a:latin typeface="Microsoft YaHei"/>
              </a:rPr>
              <a:t>M3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推荐升级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CTR +20%·反作弊上线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56432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456432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93591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820A"/>
                </a:solidFill>
                <a:latin typeface="Microsoft YaHei"/>
              </a:rPr>
              <a:t>M6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3591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AIGC工具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3591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开发者可用·SDK开放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89904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9904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27064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</a:rPr>
              <a:t>M9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27064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端侧AI Demo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27064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AI NPC可交互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723376" y="4846320"/>
            <a:ext cx="25146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723376" y="4846320"/>
            <a:ext cx="64008" cy="77724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60536" y="48828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Microsoft YaHei"/>
              </a:rPr>
              <a:t>M12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0536" y="5120640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1B2E"/>
                </a:solidFill>
                <a:latin typeface="Microsoft YaHei"/>
              </a:rPr>
              <a:t>生态构建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0536" y="5340096"/>
            <a:ext cx="22860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6B7280"/>
                </a:solidFill>
                <a:latin typeface="Microsoft YaHei"/>
              </a:rPr>
              <a:t>鸿蒙AI游戏引擎+数据平台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2960" y="5760720"/>
            <a:ext cx="10561320" cy="50292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4128" y="5788152"/>
            <a:ext cx="102412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节奏原则：</a:t>
            </a:r>
            <a:r>
              <a:rPr sz="950" b="0">
                <a:solidFill>
                  <a:srgbClr val="374151"/>
                </a:solidFill>
                <a:latin typeface="Microsoft YaHei"/>
              </a:rPr>
              <a:t>Q1速赢(推荐+反作弊)→Q2工具(AIGC+SDK)→Q3攻坚(端侧AI NPC)→Q4生态(引擎+数据+跨设备)。每季度有可交付。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19/24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定策略 #2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资源配置与技术选型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166360" cy="4572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▎技术选型（华为AI栈 + 开源生态）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1920240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1920240"/>
            <a:ext cx="54864" cy="60350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94767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推荐算法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47672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盘古大模型 + 自研排序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231136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游戏内容理解+CTR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578608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2578608"/>
            <a:ext cx="54864" cy="603504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2606040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AIGC工具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606040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SD微调 + 华为云ModelArts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2889504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美术/音效/商店页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236976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4128" y="3236976"/>
            <a:ext cx="54864" cy="603504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3264408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端侧AI推理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264408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盘古E Series(1B) + MindSpore 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3547872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AI NPC/助手/翻译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3895344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24128" y="3895344"/>
            <a:ext cx="54864" cy="603504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3922776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AI反作弊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922776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行为分析 + 异常检测模型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4206240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实时拦截·公平保障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4553712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" y="4553712"/>
            <a:ext cx="54864" cy="603504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6" y="4581144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鸿蒙AI接口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581144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NNRt + Ark Engine AI扩展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4864607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游戏内AI能力调用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212079"/>
            <a:ext cx="475488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24128" y="5212079"/>
            <a:ext cx="54864" cy="603504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C2820A"/>
                </a:solidFill>
                <a:latin typeface="Microsoft YaHei"/>
              </a:rPr>
              <a:t>数据分析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239512"/>
            <a:ext cx="24688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2563EB"/>
                </a:solidFill>
                <a:latin typeface="Microsoft YaHei"/>
              </a:rPr>
              <a:t>HMS Analytics + 数据看板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5522975"/>
            <a:ext cx="3566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1">
                <a:solidFill>
                  <a:srgbClr val="059669"/>
                </a:solidFill>
                <a:latin typeface="Microsoft YaHei"/>
              </a:rPr>
              <a:t>→ 开发者增值服务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1463040"/>
            <a:ext cx="5212080" cy="2148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536192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▎团队配置与合作伙伴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19202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内部协同: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2012实验室(AI算法) + 终端BG(产品) + 华为云(算力)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239572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游戏厂商: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头部CP(原神/网易/腾讯) → 鸿蒙原生适配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87121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0D9488"/>
                </a:solidFill>
                <a:latin typeface="Microsoft YaHei"/>
              </a:rPr>
              <a:t>AI生态: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MindSpore开源社区 + openPangu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334670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高校合作: </a:t>
            </a:r>
            <a:r>
              <a:rPr sz="800" b="0">
                <a:solidFill>
                  <a:srgbClr val="374151"/>
                </a:solidFill>
                <a:latin typeface="Microsoft YaHei"/>
              </a:rPr>
              <a:t>AI实验室联合研究 → 推荐算法/端侧优化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3749039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EFF3F9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3822191"/>
            <a:ext cx="4754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▎投入重点（优先级排序）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82512" y="4187952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82512" y="4187952"/>
            <a:ext cx="54864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4187952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DC2626"/>
                </a:solidFill>
                <a:latin typeface="Microsoft YaHei"/>
              </a:rPr>
              <a:t>#1 端侧AI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187952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盘古E Series + NPU优化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4187952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最高优先·独占壁垒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2512" y="4608576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382512" y="4608576"/>
            <a:ext cx="54864" cy="384048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4608576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59669"/>
                </a:solidFill>
                <a:latin typeface="Microsoft YaHei"/>
              </a:rPr>
              <a:t>#2 推荐算法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08576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CTR提升 + 内容理解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4608576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速赢·直接收入影响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82512" y="5029200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82512" y="5029200"/>
            <a:ext cx="54864" cy="38404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5029200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Microsoft YaHei"/>
              </a:rPr>
              <a:t>#3 开发者工具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029200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AIGC + 测试 + SDK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029200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生态杠杆·长期价值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82512" y="5449824"/>
            <a:ext cx="4754880" cy="384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81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82512" y="5449824"/>
            <a:ext cx="54864" cy="384048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449824"/>
            <a:ext cx="8229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Microsoft YaHei"/>
              </a:rPr>
              <a:t>#4 鸿蒙原生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5449824"/>
            <a:ext cx="20116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80" b="0">
                <a:solidFill>
                  <a:srgbClr val="374151"/>
                </a:solidFill>
                <a:latin typeface="Microsoft YaHei"/>
              </a:rPr>
              <a:t>游戏引擎AI + 跨设备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5449824"/>
            <a:ext cx="173736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6B7280"/>
                </a:solidFill>
                <a:latin typeface="Microsoft YaHei"/>
              </a:rPr>
              <a:t>生态锁定·战略投资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20/24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定策略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风险识别与应对策略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536192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554480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C2626"/>
                </a:solidFill>
                <a:latin typeface="Microsoft YaHei"/>
              </a:rPr>
              <a:t>生态风险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47088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DC2626"/>
                </a:solidFill>
                <a:latin typeface="Microsoft YaHei"/>
              </a:rPr>
              <a:t>等级: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066544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DC2626"/>
                </a:solidFill>
                <a:latin typeface="Microsoft YaHei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517904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鸿蒙游戏缺口持续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810512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多数主流游戏未原生适配
鸿蒙生态可能边缘化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17904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17904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47088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降低适配成本(AIGC+自动转换) / 游戏扶持计划(流量+资金) / 标杆案例打造(原神先行)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670048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670048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2743200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2761488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EA580C"/>
                </a:solidFill>
                <a:latin typeface="Microsoft YaHei"/>
              </a:rPr>
              <a:t>竞争风险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054096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DC2626"/>
                </a:solidFill>
                <a:latin typeface="Microsoft YaHei"/>
              </a:rPr>
              <a:t>等级: 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273552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EA580C"/>
                </a:solidFill>
                <a:latin typeface="Microsoft YaHei"/>
              </a:rPr>
              <a:t>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24912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字节/腾讯AI碾压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017520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推荐算法+流量双优势
华为难以正面竞争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724912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24912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054096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差异化路线(端侧AI) / 避开内容竞争 / 聚焦硬件优势场景(车机/智慧屏/IoT)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877056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3877056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5840" y="3950208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968496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2820A"/>
                </a:solidFill>
                <a:latin typeface="Microsoft YaHei"/>
              </a:rPr>
              <a:t>技术风险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261104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C2820A"/>
                </a:solidFill>
                <a:latin typeface="Microsoft YaHei"/>
              </a:rPr>
              <a:t>等级: 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480560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C2820A"/>
                </a:solidFill>
                <a:latin typeface="Microsoft YaHei"/>
              </a:rPr>
              <a:t>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393192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端侧AI能力不足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4224528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1B参数模型效果有限
复杂场景推理不可行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931920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93192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261104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持续迭代盘古E Series / 云端+端侧混合推理 / 聚焦轻量场景(NPC对话/翻译)优先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084064"/>
            <a:ext cx="10561320" cy="109728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" y="5084064"/>
            <a:ext cx="82296" cy="109728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05840" y="5157216"/>
            <a:ext cx="137160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" y="5175504"/>
            <a:ext cx="13258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icrosoft YaHei"/>
              </a:rPr>
              <a:t>人才风险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468112"/>
            <a:ext cx="1325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C2820A"/>
                </a:solidFill>
                <a:latin typeface="Microsoft YaHei"/>
              </a:rPr>
              <a:t>等级: 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687568"/>
            <a:ext cx="132588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C3AED"/>
                </a:solidFill>
                <a:latin typeface="Microsoft YaHei"/>
              </a:rPr>
              <a:t>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5138928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61B2E"/>
                </a:solidFill>
                <a:latin typeface="Microsoft YaHei"/>
              </a:rPr>
              <a:t>游戏AI人才稀缺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4600" y="5431536"/>
            <a:ext cx="3657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</a:rPr>
              <a:t>游戏+AI交叉领域人才少
华为游戏基因薄弱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5138928"/>
            <a:ext cx="4937760" cy="27432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513892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应对策略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5468112"/>
            <a:ext cx="489204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374151"/>
                </a:solidFill>
                <a:latin typeface="Microsoft YaHei"/>
              </a:rPr>
              <a:t>内部转岗培训(2012实验室) / 收购游戏AI团队 / 开源社区+高校联合培养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21/24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7000B"/>
                </a:solidFill>
                <a:latin typeface="Microsoft YaHe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核心结论与行动建议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8191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趋势判断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9280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AI正渗透游戏全链路(研发→发行→运营→体验)。2025-2026是AI从「辅助」到「原生」的关键窗口期。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50876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8191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Microsoft YaHei"/>
              </a:rPr>
              <a:t>市场机会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9280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中国手游~3000亿市场·渠道费从50%→0%演变。渠道价值从「流量分发」转向「AI赋能服务」。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1752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01752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9067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</a:rPr>
              <a:t>竞争格局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01568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字节(算法+流量)和腾讯(社交+生态)占据制高点。华为处于中间地带，需差异化突围。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1752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017520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090672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59669"/>
                </a:solidFill>
                <a:latin typeface="Microsoft YaHei"/>
              </a:rPr>
              <a:t>核心优势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01568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端侧AI(NPU+盘古E Series)是华为唯一独占优势。云端AI打不过字节，但端侧AI无人能及。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26279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4526279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599431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C2626"/>
                </a:solidFill>
                <a:latin typeface="Microsoft YaHei"/>
              </a:rPr>
              <a:t>战略定位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1032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「端侧AI原生游戏平台」——以端侧AI推理(隐私+低延迟+离线)为核心差异化。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26279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C282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79"/>
            <a:ext cx="82296" cy="1371600"/>
          </a:xfrm>
          <a:prstGeom prst="roundRect">
            <a:avLst>
              <a:gd name="adj" fmla="val 20000"/>
            </a:avLst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599431"/>
            <a:ext cx="4846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C2820A"/>
                </a:solidFill>
                <a:latin typeface="Microsoft YaHei"/>
              </a:rPr>
              <a:t>行动节奏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10327"/>
            <a:ext cx="4846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374151"/>
                </a:solidFill>
                <a:latin typeface="Microsoft YaHei"/>
              </a:rPr>
              <a:t>Q1速赢(推荐+反作弊)→Q2工具(AIGC+SDK)→Q3攻坚(端侧AI NPC)→Q4生态(引擎+跨设备)。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6080760"/>
            <a:ext cx="10561320" cy="457200"/>
          </a:xfrm>
          <a:prstGeom prst="roundRect">
            <a:avLst>
              <a:gd name="adj" fmla="val 500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6099048"/>
            <a:ext cx="1024128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立即行动：</a:t>
            </a:r>
            <a:r>
              <a:rPr sz="950" b="0">
                <a:solidFill>
                  <a:srgbClr val="FFFFFF"/>
                </a:solidFill>
                <a:latin typeface="Microsoft YaHei"/>
              </a:rPr>
              <a:t>启动AI推荐算法升级(Q1交付) + 盘古E Series游戏场景适配预研 + 鸿蒙游戏AIGC工具MVP立项。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22/24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84048"/>
            <a:ext cx="118872" cy="8686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D9488"/>
                </a:solidFill>
                <a:latin typeface="Microsoft YaHei"/>
              </a:rPr>
              <a:t>METHODOLOGY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58368"/>
            <a:ext cx="10972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61B2E"/>
                </a:solidFill>
                <a:latin typeface="Microsoft YaHei"/>
              </a:rPr>
              <a:t>分析方法论与数据来源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5166360" cy="4572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17904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▎3定5看分析方法论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五看·看趋势: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游戏全链路AI化 + 能力成熟度4级分类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9631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五看·看市场: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TAM/SAM/SOM漏斗 + 渠道费演变(50→0%)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8094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五看·看竞争: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2D格局地图(流量×AI) + 6家5维度评分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6557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五看·看自己: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6维能力盘点 + 端侧AI唯一5★识别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5020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五看·看机会: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影响力×可行性优先级矩阵(6方向)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348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三定·定位: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端侧AI原生 vs 4家竞品7维度对比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1947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三定·定目标: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3阶段×4KPI量化目标体系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三定·定策略: </a:t>
            </a:r>
            <a:r>
              <a:rPr sz="850" b="0">
                <a:solidFill>
                  <a:srgbClr val="374151"/>
                </a:solidFill>
                <a:latin typeface="Microsoft YaHei"/>
              </a:rPr>
              <a:t>路线图+技术选型+资源配置+风险应对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212080" cy="4572000"/>
          </a:xfrm>
          <a:prstGeom prst="roundRect">
            <a:avLst>
              <a:gd name="adj" fmla="val 5000"/>
            </a:avLst>
          </a:prstGeom>
          <a:solidFill>
            <a:srgbClr val="EFF3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17904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D9488"/>
                </a:solidFill>
                <a:latin typeface="Microsoft YaHei"/>
              </a:rPr>
              <a:t>▎数据来源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华为官方: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HDC大会/HMS文档/鸿蒙发布会/盘古大模型文档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9631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行业数据: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Newzoo全球游戏报告/Games One/CNG中国游戏产业报告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80944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竞品信息: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TapTap官网/抖音游戏/腾讯财报/App Annie/B站游戏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65576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AI能力: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arXiv论文/MindSpore文档/PanGu技术报告/GitHub开源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50208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融资/市场: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Crunchbase/IT桔子/Sensor Tower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434840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市场规模: </a:t>
            </a:r>
            <a:r>
              <a:rPr sz="850" b="0">
                <a:solidFill>
                  <a:srgbClr val="6B7280"/>
                </a:solidFill>
                <a:latin typeface="Microsoft YaHei"/>
              </a:rPr>
              <a:t>公开行业报告 + 合理推演估算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19472"/>
            <a:ext cx="4754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D9488"/>
                </a:solidFill>
                <a:latin typeface="Microsoft YaHei"/>
              </a:rPr>
              <a:t>●  </a:t>
            </a:r>
            <a:r>
              <a:rPr sz="900" b="1">
                <a:solidFill>
                  <a:srgbClr val="0D9488"/>
                </a:solidFill>
                <a:latin typeface="Microsoft YaHei"/>
              </a:rPr>
              <a:t>⚠ 声明: </a:t>
            </a:r>
            <a:r>
              <a:rPr sz="850" b="0">
                <a:solidFill>
                  <a:srgbClr val="DC2626"/>
                </a:solidFill>
                <a:latin typeface="Microsoft YaHei"/>
              </a:rPr>
              <a:t>市场数据为基于公开信息的推演估算；AI能力评分为基于公开信息的合理判断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23/24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4572000" cy="36576"/>
          </a:xfrm>
          <a:prstGeom prst="rect">
            <a:avLst/>
          </a:prstGeom>
          <a:solidFill>
            <a:srgbClr val="C2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972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华为游戏中心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161B2E"/>
                </a:solidFill>
                <a:latin typeface="Microsoft YaHei"/>
              </a:rPr>
              <a:t>AI时代战略洞察 · 3定5看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10058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Microsoft YaHei"/>
              </a:rPr>
              <a:t>五看(趋势/市场/竞争/自己/机会) → 三定(定位/目标/策略) · 端侧AI原生差异化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10561320" cy="18288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630168"/>
            <a:ext cx="10058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</a:rPr>
              <a:t>▎核心结论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1005840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059669"/>
                </a:solidFill>
                <a:latin typeface="Microsoft YaHei"/>
              </a:rPr>
              <a:t>独占优势：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端侧AI(NPU+盘古)是唯一无人可及的壁垒。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DC2626"/>
                </a:solidFill>
                <a:latin typeface="Microsoft YaHei"/>
              </a:rPr>
              <a:t>核心短板：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推荐算法+AIGC+内容生态全面落后于字节/腾讯。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2563EB"/>
                </a:solidFill>
                <a:latin typeface="Microsoft YaHei"/>
              </a:rPr>
              <a:t>差异化路径：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不打流量战，打端侧AI体验战——隐私+低延迟+离线。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059669"/>
                </a:solidFill>
                <a:latin typeface="Microsoft YaHei"/>
              </a:rPr>
              <a:t>速赢：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AI推荐升级(Q1)——直接提升分发效率与收入。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</a:rPr>
              <a:t>• </a:t>
            </a:r>
            <a:r>
              <a:rPr sz="1000" b="1">
                <a:solidFill>
                  <a:srgbClr val="C7000B"/>
                </a:solidFill>
                <a:latin typeface="Microsoft YaHei"/>
              </a:rPr>
              <a:t>节奏：</a:t>
            </a:r>
            <a:r>
              <a:rPr sz="1000" b="0">
                <a:solidFill>
                  <a:srgbClr val="374151"/>
                </a:solidFill>
                <a:latin typeface="Microsoft YaHei"/>
              </a:rPr>
              <a:t>Q1推荐 → Q2工具 → Q3端侧AI → Q4生态构建。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9AA5BC"/>
                </a:solidFill>
                <a:latin typeface="Microsoft YaHei"/>
              </a:rPr>
              <a:t>xhyha/insight  |  华为游戏中心 · AI时代战略洞察(3定5看) · 2026.06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24/24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473952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AA5BC"/>
                </a:solidFill>
                <a:latin typeface="Microsoft YaHei"/>
              </a:rPr>
              <a:t>华为游戏中心 · AI战略洞察(3定5看) · xhyha/insight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