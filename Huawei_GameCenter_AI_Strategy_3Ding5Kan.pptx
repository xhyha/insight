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4572000" cy="36576"/>
          </a:xfrm>
          <a:prstGeom prst="rect">
            <a:avLst/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868680"/>
            <a:ext cx="100584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C7000B"/>
                </a:solidFill>
                <a:latin typeface="Microsoft YaHei"/>
              </a:rPr>
              <a:t>HUAWEI GAME CENTER · 华为游戏中心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97280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161B2E"/>
                </a:solidFill>
                <a:latin typeface="Microsoft YaHei"/>
              </a:rPr>
              <a:t>华为游戏中心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161B2E"/>
                </a:solidFill>
                <a:latin typeface="Microsoft YaHei"/>
              </a:rPr>
              <a:t>AI时代战略洞察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80360"/>
            <a:ext cx="100584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6B7280"/>
                </a:solidFill>
                <a:latin typeface="Microsoft YaHei"/>
              </a:rPr>
              <a:t>3定5看方法论 · 结合业界现状与AI能力 · 系统化识别华为游戏中心的AI战略机会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3611880"/>
            <a:ext cx="690372" cy="402336"/>
          </a:xfrm>
          <a:prstGeom prst="roundRect">
            <a:avLst>
              <a:gd name="adj" fmla="val 30000"/>
            </a:avLst>
          </a:prstGeom>
          <a:solidFill>
            <a:srgbClr val="F7F9FC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630168"/>
            <a:ext cx="690372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D9488"/>
                </a:solidFill>
                <a:latin typeface="Microsoft YaHei"/>
              </a:rPr>
              <a:t>看趋势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23644" y="3611880"/>
            <a:ext cx="690372" cy="402336"/>
          </a:xfrm>
          <a:prstGeom prst="roundRect">
            <a:avLst>
              <a:gd name="adj" fmla="val 30000"/>
            </a:avLst>
          </a:prstGeom>
          <a:solidFill>
            <a:srgbClr val="F7F9FC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23644" y="3630168"/>
            <a:ext cx="690372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2563EB"/>
                </a:solidFill>
                <a:latin typeface="Microsoft YaHei"/>
              </a:rPr>
              <a:t>看市场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78608" y="3611880"/>
            <a:ext cx="690372" cy="402336"/>
          </a:xfrm>
          <a:prstGeom prst="roundRect">
            <a:avLst>
              <a:gd name="adj" fmla="val 30000"/>
            </a:avLst>
          </a:prstGeom>
          <a:solidFill>
            <a:srgbClr val="F7F9F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78608" y="3630168"/>
            <a:ext cx="690372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A580C"/>
                </a:solidFill>
                <a:latin typeface="Microsoft YaHei"/>
              </a:rPr>
              <a:t>看竞争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3572" y="3611880"/>
            <a:ext cx="690372" cy="402336"/>
          </a:xfrm>
          <a:prstGeom prst="roundRect">
            <a:avLst>
              <a:gd name="adj" fmla="val 30000"/>
            </a:avLst>
          </a:prstGeom>
          <a:solidFill>
            <a:srgbClr val="F7F9FC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33572" y="3630168"/>
            <a:ext cx="690372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7C3AED"/>
                </a:solidFill>
                <a:latin typeface="Microsoft YaHei"/>
              </a:rPr>
              <a:t>看自己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8536" y="3611880"/>
            <a:ext cx="690372" cy="402336"/>
          </a:xfrm>
          <a:prstGeom prst="roundRect">
            <a:avLst>
              <a:gd name="adj" fmla="val 30000"/>
            </a:avLst>
          </a:prstGeom>
          <a:solidFill>
            <a:srgbClr val="F7F9FC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88536" y="3630168"/>
            <a:ext cx="690372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59669"/>
                </a:solidFill>
                <a:latin typeface="Microsoft YaHei"/>
              </a:rPr>
              <a:t>看机会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43500" y="3611880"/>
            <a:ext cx="566928" cy="402336"/>
          </a:xfrm>
          <a:prstGeom prst="roundRect">
            <a:avLst>
              <a:gd name="adj" fmla="val 30000"/>
            </a:avLst>
          </a:prstGeom>
          <a:solidFill>
            <a:srgbClr val="F7F9FC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43500" y="3630168"/>
            <a:ext cx="566928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DC2626"/>
                </a:solidFill>
                <a:latin typeface="Microsoft YaHei"/>
              </a:rPr>
              <a:t>定位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75020" y="3611880"/>
            <a:ext cx="690372" cy="402336"/>
          </a:xfrm>
          <a:prstGeom prst="roundRect">
            <a:avLst>
              <a:gd name="adj" fmla="val 30000"/>
            </a:avLst>
          </a:prstGeom>
          <a:solidFill>
            <a:srgbClr val="F7F9FC"/>
          </a:solidFill>
          <a:ln w="1270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75020" y="3630168"/>
            <a:ext cx="690372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2820A"/>
                </a:solidFill>
                <a:latin typeface="Microsoft YaHei"/>
              </a:rPr>
              <a:t>定目标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9983" y="3611880"/>
            <a:ext cx="690372" cy="402336"/>
          </a:xfrm>
          <a:prstGeom prst="roundRect">
            <a:avLst>
              <a:gd name="adj" fmla="val 30000"/>
            </a:avLst>
          </a:prstGeom>
          <a:solidFill>
            <a:srgbClr val="F7F9FC"/>
          </a:solidFill>
          <a:ln w="1270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9983" y="3630168"/>
            <a:ext cx="690372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7000B"/>
                </a:solidFill>
                <a:latin typeface="Microsoft YaHei"/>
              </a:rPr>
              <a:t>定策略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846320"/>
            <a:ext cx="10561320" cy="777240"/>
          </a:xfrm>
          <a:prstGeom prst="roundRect">
            <a:avLst>
              <a:gd name="adj" fmla="val 5000"/>
            </a:avLst>
          </a:prstGeom>
          <a:solidFill>
            <a:srgbClr val="EFF3F9"/>
          </a:solidFill>
          <a:ln w="1270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" y="4919472"/>
            <a:ext cx="1024128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7000B"/>
                </a:solidFill>
                <a:latin typeface="Microsoft YaHei"/>
              </a:rPr>
              <a:t>核心判断：</a:t>
            </a:r>
            <a:r>
              <a:rPr sz="1000" b="0">
                <a:solidFill>
                  <a:srgbClr val="374151"/>
                </a:solidFill>
                <a:latin typeface="Microsoft YaHei"/>
              </a:rPr>
              <a:t>华为游戏中心的唯一独占优势是「</a:t>
            </a:r>
            <a:r>
              <a:rPr sz="1000" b="1">
                <a:solidFill>
                  <a:srgbClr val="DC2626"/>
                </a:solidFill>
                <a:latin typeface="Microsoft YaHei"/>
              </a:rPr>
              <a:t>端侧AI（NPU + 盘古E Series）</a:t>
            </a:r>
            <a:r>
              <a:rPr sz="1000" b="0">
                <a:solidFill>
                  <a:srgbClr val="374151"/>
                </a:solidFill>
                <a:latin typeface="Microsoft YaHei"/>
              </a:rPr>
              <a:t>」。以端侧AI原生体验差异化，是绕过字节/腾讯流量壁垒的唯一路径。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943600"/>
            <a:ext cx="10972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出品：xhyha/insight · 数据源：Huawei官方/Games One/Newzoo/Crunchbase · 2026.06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1/22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7000B"/>
                </a:solidFill>
                <a:latin typeface="Microsoft YaHei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目录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54480"/>
            <a:ext cx="10561320" cy="566928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554480"/>
            <a:ext cx="82296" cy="566928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581912"/>
            <a:ext cx="7315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0D9488"/>
                </a:solidFill>
                <a:latin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581912"/>
            <a:ext cx="34747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E"/>
                </a:solidFill>
                <a:latin typeface="Microsoft YaHei"/>
              </a:rPr>
              <a:t>五看 · 看趋势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1581912"/>
            <a:ext cx="57607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游戏行业AI化浪潮 · AI能力成熟度地图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194560"/>
            <a:ext cx="10561320" cy="566928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194560"/>
            <a:ext cx="82296" cy="566928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221991"/>
            <a:ext cx="7315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2563EB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221991"/>
            <a:ext cx="34747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E"/>
                </a:solidFill>
                <a:latin typeface="Microsoft YaHei"/>
              </a:rPr>
              <a:t>五看 · 看市场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221991"/>
            <a:ext cx="57607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手游市场规模 · 渠道演变 · 用户与开发者生态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2834639"/>
            <a:ext cx="10561320" cy="566928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2834639"/>
            <a:ext cx="82296" cy="566928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862071"/>
            <a:ext cx="7315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EA580C"/>
                </a:solidFill>
                <a:latin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2862071"/>
            <a:ext cx="34747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E"/>
                </a:solidFill>
                <a:latin typeface="Microsoft YaHei"/>
              </a:rPr>
              <a:t>五看 · 看竞争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862071"/>
            <a:ext cx="57607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分发平台格局2D地图 · 6家竞品5维度AI评分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474720"/>
            <a:ext cx="10561320" cy="566928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" y="3474720"/>
            <a:ext cx="82296" cy="566928"/>
          </a:xfrm>
          <a:prstGeom prst="roundRect">
            <a:avLst>
              <a:gd name="adj" fmla="val 2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3502151"/>
            <a:ext cx="7315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7C3AED"/>
                </a:solidFill>
                <a:latin typeface="Microsoft Ya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3502151"/>
            <a:ext cx="34747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E"/>
                </a:solidFill>
                <a:latin typeface="Microsoft YaHei"/>
              </a:rPr>
              <a:t>五看 · 看自己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502151"/>
            <a:ext cx="57607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华为游戏中心6维能力盘点 · 端侧AI是唯一5★优势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4114800"/>
            <a:ext cx="10561320" cy="566928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" y="4114800"/>
            <a:ext cx="82296" cy="566928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142232"/>
            <a:ext cx="7315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059669"/>
                </a:solidFill>
                <a:latin typeface="Microsoft YaHei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4142232"/>
            <a:ext cx="34747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E"/>
                </a:solidFill>
                <a:latin typeface="Microsoft YaHei"/>
              </a:rPr>
              <a:t>五看 · 看机会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0" y="4142232"/>
            <a:ext cx="57607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6大AI创新方向 · 优先级矩阵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4754880"/>
            <a:ext cx="10561320" cy="566928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22960" y="4754880"/>
            <a:ext cx="82296" cy="566928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782312"/>
            <a:ext cx="7315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DC2626"/>
                </a:solidFill>
                <a:latin typeface="Microsoft YaHei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20240" y="4782312"/>
            <a:ext cx="34747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E"/>
                </a:solidFill>
                <a:latin typeface="Microsoft YaHei"/>
              </a:rPr>
              <a:t>三定 · 定位+目标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0" y="4782312"/>
            <a:ext cx="57607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端侧AI原生游戏平台 · 三阶段量化目标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5394960"/>
            <a:ext cx="10561320" cy="566928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22960" y="5394960"/>
            <a:ext cx="82296" cy="566928"/>
          </a:xfrm>
          <a:prstGeom prst="roundRect">
            <a:avLst>
              <a:gd name="adj" fmla="val 20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560" y="5422392"/>
            <a:ext cx="7315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C7000B"/>
                </a:solidFill>
                <a:latin typeface="Microsoft YaHei"/>
              </a:rPr>
              <a:t>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20240" y="5422392"/>
            <a:ext cx="34747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E"/>
                </a:solidFill>
                <a:latin typeface="Microsoft YaHei"/>
              </a:rPr>
              <a:t>三定 · 定策略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5422392"/>
            <a:ext cx="57607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12月路线图 · 资源配置 · 风险应对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2/22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7000B"/>
                </a:solidFill>
                <a:latin typeface="Microsoft YaHe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3定5看 · 战略洞察方法论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08760"/>
            <a:ext cx="4206240" cy="4572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00200"/>
            <a:ext cx="3840479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D9488"/>
                </a:solidFill>
                <a:latin typeface="Microsoft YaHei"/>
              </a:rPr>
              <a:t>五看 · 输入分析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892807"/>
            <a:ext cx="3840479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业界现状扫描 + AI能力审视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2221991"/>
            <a:ext cx="3840479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05840" y="2221991"/>
            <a:ext cx="64008" cy="658368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258568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D9488"/>
                </a:solidFill>
                <a:latin typeface="Microsoft YaHei"/>
              </a:rPr>
              <a:t>看趋势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32887"/>
            <a:ext cx="3657599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374151"/>
                </a:solidFill>
                <a:latin typeface="Microsoft YaHei"/>
              </a:rPr>
              <a:t>游戏行业AI化 · 能力成熟度地图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2953511"/>
            <a:ext cx="3840479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5840" y="2953511"/>
            <a:ext cx="64008" cy="658368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2990087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2563EB"/>
                </a:solidFill>
                <a:latin typeface="Microsoft YaHei"/>
              </a:rPr>
              <a:t>看市场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264407"/>
            <a:ext cx="3657599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374151"/>
                </a:solidFill>
                <a:latin typeface="Microsoft YaHei"/>
              </a:rPr>
              <a:t>手游~3000亿 · 渠道演变 · 用户开发者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3685031"/>
            <a:ext cx="3840479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5840" y="3685031"/>
            <a:ext cx="64008" cy="658368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721607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A580C"/>
                </a:solidFill>
                <a:latin typeface="Microsoft YaHei"/>
              </a:rPr>
              <a:t>看竞争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995927"/>
            <a:ext cx="3657599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374151"/>
                </a:solidFill>
                <a:latin typeface="Microsoft YaHei"/>
              </a:rPr>
              <a:t>抖音/腾讯/TapTap · AI能力对标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" y="4416551"/>
            <a:ext cx="3840479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5840" y="4416551"/>
            <a:ext cx="64008" cy="658368"/>
          </a:xfrm>
          <a:prstGeom prst="roundRect">
            <a:avLst>
              <a:gd name="adj" fmla="val 2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453127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7C3AED"/>
                </a:solidFill>
                <a:latin typeface="Microsoft YaHei"/>
              </a:rPr>
              <a:t>看自己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727447"/>
            <a:ext cx="3657599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374151"/>
                </a:solidFill>
                <a:latin typeface="Microsoft YaHei"/>
              </a:rPr>
              <a:t>华为6维盘点 · 端侧AI唯一5★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5840" y="5148071"/>
            <a:ext cx="3840479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05840" y="5148071"/>
            <a:ext cx="64008" cy="658368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5184647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59669"/>
                </a:solidFill>
                <a:latin typeface="Microsoft YaHei"/>
              </a:rPr>
              <a:t>看机会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458967"/>
            <a:ext cx="3657599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374151"/>
                </a:solidFill>
                <a:latin typeface="Microsoft YaHei"/>
              </a:rPr>
              <a:t>6大AI创新方向 · 优先级排序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3474720"/>
            <a:ext cx="13716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C7000B"/>
                </a:solidFill>
                <a:latin typeface="Microsoft YaHei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3886200"/>
            <a:ext cx="1554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7000B"/>
                </a:solidFill>
                <a:latin typeface="Microsoft YaHei"/>
              </a:rPr>
              <a:t>洞察整合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0" y="1508760"/>
            <a:ext cx="4206240" cy="4572000"/>
          </a:xfrm>
          <a:prstGeom prst="roundRect">
            <a:avLst>
              <a:gd name="adj" fmla="val 4000"/>
            </a:avLst>
          </a:prstGeom>
          <a:solidFill>
            <a:srgbClr val="EFF3F9"/>
          </a:solidFill>
          <a:ln w="1905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0" y="1600200"/>
            <a:ext cx="3840479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</a:rPr>
              <a:t>三定 · 输出决策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1892807"/>
            <a:ext cx="3840479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战略定位 + 量化目标 + 执行策略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0" y="2221991"/>
            <a:ext cx="3840479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858000" y="2221991"/>
            <a:ext cx="64008" cy="1170432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5159" y="2276856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DC2626"/>
                </a:solidFill>
                <a:latin typeface="Microsoft YaHei"/>
              </a:rPr>
              <a:t>定位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95159" y="2587751"/>
            <a:ext cx="3657599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</a:rPr>
              <a:t>「端侧AI原生游戏平台」差异化战略选择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0" y="3483863"/>
            <a:ext cx="3840479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858000" y="3483863"/>
            <a:ext cx="64008" cy="1170432"/>
          </a:xfrm>
          <a:prstGeom prst="roundRect">
            <a:avLst>
              <a:gd name="adj" fmla="val 2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95159" y="3538727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C2820A"/>
                </a:solidFill>
                <a:latin typeface="Microsoft YaHei"/>
              </a:rPr>
              <a:t>定目标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95159" y="3849624"/>
            <a:ext cx="3657599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</a:rPr>
              <a:t>三阶段：速赢(Q1-2) → 攻坚(Q3-4) → 突破(Y2)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0" y="4745736"/>
            <a:ext cx="3840479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858000" y="4745736"/>
            <a:ext cx="64008" cy="1170432"/>
          </a:xfrm>
          <a:prstGeom prst="roundRect">
            <a:avLst>
              <a:gd name="adj" fmla="val 20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95159" y="4800599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</a:rPr>
              <a:t>定策略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95159" y="5111496"/>
            <a:ext cx="3657599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</a:rPr>
              <a:t>路线图 + 资源配置 + 风险应对 + 行动节奏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3/22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434840"/>
            <a:ext cx="12191695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468880"/>
            <a:ext cx="457200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0" b="1">
                <a:solidFill>
                  <a:srgbClr val="0D9488"/>
                </a:solidFill>
                <a:latin typeface="Microsoft YaHe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2697480"/>
            <a:ext cx="86868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D9488"/>
                </a:solidFill>
                <a:latin typeface="Microsoft YaHei"/>
              </a:rPr>
              <a:t>FIVE LOOKS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3108960"/>
            <a:ext cx="91440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61B2E"/>
                </a:solidFill>
                <a:latin typeface="Microsoft YaHei"/>
              </a:rPr>
              <a:t>五看 · 业界现状与AI能力审视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3886200"/>
            <a:ext cx="841248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74151"/>
                </a:solidFill>
                <a:latin typeface="Microsoft YaHei"/>
              </a:rPr>
              <a:t>看趋势 · 看市场 · 看竞争 · 看自己 · 看机会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4/22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D9488"/>
                </a:solidFill>
                <a:latin typeface="Microsoft YaHei"/>
              </a:rPr>
              <a:t>看趋势 #1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游戏行业 AI 化浪潮 · 全链路渗透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63040"/>
            <a:ext cx="5166360" cy="21488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463040"/>
            <a:ext cx="5166360" cy="347472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463040"/>
            <a:ext cx="49377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研发端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" y="1901952"/>
            <a:ext cx="160020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3852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2563EB"/>
                </a:solidFill>
                <a:latin typeface="Microsoft YaHei"/>
              </a:rPr>
              <a:t>AI美术生成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12848"/>
            <a:ext cx="14630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>
                <a:solidFill>
                  <a:srgbClr val="374151"/>
                </a:solidFill>
                <a:latin typeface="Microsoft YaHei"/>
              </a:rPr>
              <a:t>原画/3D/材质/动画
Midjourney/SD/TripoSR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78608" y="1901952"/>
            <a:ext cx="160020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0" y="193852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2563EB"/>
                </a:solidFill>
                <a:latin typeface="Microsoft YaHei"/>
              </a:rPr>
              <a:t>AI代码辅助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212848"/>
            <a:ext cx="14630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>
                <a:solidFill>
                  <a:srgbClr val="374151"/>
                </a:solidFill>
                <a:latin typeface="Microsoft YaHei"/>
              </a:rPr>
              <a:t>Copilot/Tabnine
游戏逻辑/Shader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1901952"/>
            <a:ext cx="160020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193852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2563EB"/>
                </a:solidFill>
                <a:latin typeface="Microsoft YaHei"/>
              </a:rPr>
              <a:t>AI测试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212848"/>
            <a:ext cx="14630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>
                <a:solidFill>
                  <a:srgbClr val="374151"/>
                </a:solidFill>
                <a:latin typeface="Microsoft YaHei"/>
              </a:rPr>
              <a:t>自动化探索测试
异常检测/性能分析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463040"/>
            <a:ext cx="5166360" cy="21488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72200" y="1463040"/>
            <a:ext cx="5166360" cy="347472"/>
          </a:xfrm>
          <a:prstGeom prst="roundRect">
            <a:avLst>
              <a:gd name="adj" fmla="val 8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81928" y="1463040"/>
            <a:ext cx="49377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发行端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81928" y="1901952"/>
            <a:ext cx="160020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193852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EA580C"/>
                </a:solidFill>
                <a:latin typeface="Microsoft YaHei"/>
              </a:rPr>
              <a:t>AI智能推荐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212848"/>
            <a:ext cx="14630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>
                <a:solidFill>
                  <a:srgbClr val="374151"/>
                </a:solidFill>
                <a:latin typeface="Microsoft YaHei"/>
              </a:rPr>
              <a:t>个性化分发
内容理解+用户画像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1901952"/>
            <a:ext cx="160020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1000" y="193852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EA580C"/>
                </a:solidFill>
                <a:latin typeface="Microsoft YaHei"/>
              </a:rPr>
              <a:t>AI素材生成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2212848"/>
            <a:ext cx="14630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>
                <a:solidFill>
                  <a:srgbClr val="374151"/>
                </a:solidFill>
                <a:latin typeface="Microsoft YaHei"/>
              </a:rPr>
              <a:t>商店页/广告创意
A/B测试自动化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73768" y="1901952"/>
            <a:ext cx="160020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46920" y="193852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EA580C"/>
                </a:solidFill>
                <a:latin typeface="Microsoft YaHei"/>
              </a:rPr>
              <a:t>AI定价策略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6920" y="2212848"/>
            <a:ext cx="14630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>
                <a:solidFill>
                  <a:srgbClr val="374151"/>
                </a:solidFill>
                <a:latin typeface="Microsoft YaHei"/>
              </a:rPr>
              <a:t>动态定价
LTV预测优化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3749039"/>
            <a:ext cx="5166360" cy="21488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2960" y="3749039"/>
            <a:ext cx="5166360" cy="347472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3749039"/>
            <a:ext cx="49377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运营端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2688" y="4187952"/>
            <a:ext cx="160020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22452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0D9488"/>
                </a:solidFill>
                <a:latin typeface="Microsoft YaHei"/>
              </a:rPr>
              <a:t>AI客服/社区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4498848"/>
            <a:ext cx="14630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>
                <a:solidFill>
                  <a:srgbClr val="374151"/>
                </a:solidFill>
                <a:latin typeface="Microsoft YaHei"/>
              </a:rPr>
              <a:t>LLM对话机器人
社区内容审核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578608" y="4187952"/>
            <a:ext cx="160020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51760" y="422452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0D9488"/>
                </a:solidFill>
                <a:latin typeface="Microsoft YaHei"/>
              </a:rPr>
              <a:t>AI反作弊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51760" y="4498848"/>
            <a:ext cx="14630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>
                <a:solidFill>
                  <a:srgbClr val="374151"/>
                </a:solidFill>
                <a:latin typeface="Microsoft YaHei"/>
              </a:rPr>
              <a:t>行为分析/异常检测
实时拦截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24528" y="4187952"/>
            <a:ext cx="160020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7680" y="422452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0D9488"/>
                </a:solidFill>
                <a:latin typeface="Microsoft YaHei"/>
              </a:rPr>
              <a:t>AI数据分析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7680" y="4498848"/>
            <a:ext cx="14630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>
                <a:solidFill>
                  <a:srgbClr val="374151"/>
                </a:solidFill>
                <a:latin typeface="Microsoft YaHei"/>
              </a:rPr>
              <a:t>用户流失预测
付费转化模型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72200" y="3749039"/>
            <a:ext cx="5166360" cy="21488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172200" y="3749039"/>
            <a:ext cx="5166360" cy="347472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81928" y="3749039"/>
            <a:ext cx="49377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体验端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81928" y="4187952"/>
            <a:ext cx="160020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55080" y="422452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059669"/>
                </a:solidFill>
                <a:latin typeface="Microsoft YaHei"/>
              </a:rPr>
              <a:t>AI NPC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4498848"/>
            <a:ext cx="14630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>
                <a:solidFill>
                  <a:srgbClr val="374151"/>
                </a:solidFill>
                <a:latin typeface="Microsoft YaHei"/>
              </a:rPr>
              <a:t>LLM驱动的智能NPC
开放对话/情绪感知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927848" y="4187952"/>
            <a:ext cx="160020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01000" y="422452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059669"/>
                </a:solidFill>
                <a:latin typeface="Microsoft YaHei"/>
              </a:rPr>
              <a:t>AI游戏助手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01000" y="4498848"/>
            <a:ext cx="14630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>
                <a:solidFill>
                  <a:srgbClr val="374151"/>
                </a:solidFill>
                <a:latin typeface="Microsoft YaHei"/>
              </a:rPr>
              <a:t>实时攻略/提示
不打断游戏流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73768" y="4187952"/>
            <a:ext cx="160020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46920" y="422452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059669"/>
                </a:solidFill>
                <a:latin typeface="Microsoft YaHei"/>
              </a:rPr>
              <a:t>AI动态难度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4498848"/>
            <a:ext cx="14630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>
                <a:solidFill>
                  <a:srgbClr val="374151"/>
                </a:solidFill>
                <a:latin typeface="Microsoft YaHei"/>
              </a:rPr>
              <a:t>端侧学习玩家行为
实时调整关卡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22960" y="6080760"/>
            <a:ext cx="10561320" cy="457200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24128" y="6099048"/>
            <a:ext cx="1024128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趋势：</a:t>
            </a:r>
            <a:r>
              <a:rPr sz="950" b="0">
                <a:solidFill>
                  <a:srgbClr val="FFFFFF"/>
                </a:solidFill>
                <a:latin typeface="Microsoft YaHei"/>
              </a:rPr>
              <a:t>AI正从「单点辅助」走向「全链路渗透」。谁能把AI能力内建为平台基础设施，谁就能重新定义游戏分发的价值链。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5/22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D9488"/>
                </a:solidFill>
                <a:latin typeface="Microsoft YaHei"/>
              </a:rPr>
              <a:t>看趋势 · 补充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游戏生产全流程 · AI赋能全景管线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17320"/>
            <a:ext cx="1417320" cy="41148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1417320" cy="50292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35608"/>
            <a:ext cx="14173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概念策划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011680"/>
            <a:ext cx="1307592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0D9488"/>
                </a:solidFill>
                <a:latin typeface="Microsoft YaHei"/>
              </a:rPr>
              <a:t>关键活动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212848"/>
            <a:ext cx="130759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374151"/>
                </a:solidFill>
                <a:latin typeface="Microsoft YaHei"/>
              </a:rPr>
              <a:t>世界观/角色设定
GDD/关卡/数值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" y="2907792"/>
            <a:ext cx="1307592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92608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0D9488"/>
                </a:solidFill>
                <a:latin typeface="Microsoft YaHei"/>
              </a:rPr>
              <a:t>AI赋能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27248"/>
            <a:ext cx="12344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2563EB"/>
                </a:solidFill>
                <a:latin typeface="Microsoft YaHei"/>
              </a:rPr>
              <a:t>LLM辅助策划
世界观生成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7824" y="3730752"/>
            <a:ext cx="1307592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749039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华为机会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950208"/>
            <a:ext cx="12344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盘古内容辅助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4852" y="1554480"/>
            <a:ext cx="82296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B7280"/>
                </a:solidFill>
                <a:latin typeface="Microsoft Ya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1417320"/>
            <a:ext cx="1417320" cy="41148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331720" y="1417320"/>
            <a:ext cx="1417320" cy="502920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31720" y="1435608"/>
            <a:ext cx="14173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1645920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美术制作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86584" y="2011680"/>
            <a:ext cx="1307592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2563EB"/>
                </a:solidFill>
                <a:latin typeface="Microsoft YaHei"/>
              </a:rPr>
              <a:t>关键活动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86584" y="2212848"/>
            <a:ext cx="130759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374151"/>
                </a:solidFill>
                <a:latin typeface="Microsoft YaHei"/>
              </a:rPr>
              <a:t>原画/3D建模
材质/动画/特效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86584" y="2907792"/>
            <a:ext cx="1307592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23160" y="292608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2563EB"/>
                </a:solidFill>
                <a:latin typeface="Microsoft YaHei"/>
              </a:rPr>
              <a:t>AI赋能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3160" y="3127248"/>
            <a:ext cx="12344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2563EB"/>
                </a:solidFill>
                <a:latin typeface="Microsoft YaHei"/>
              </a:rPr>
              <a:t>AIGC美术生成
SD/TripoSR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86584" y="3730752"/>
            <a:ext cx="1307592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23160" y="3749039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华为机会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3950208"/>
            <a:ext cx="12344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ModelArts工具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53612" y="1554480"/>
            <a:ext cx="82296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B7280"/>
                </a:solidFill>
                <a:latin typeface="Microsoft YaHei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40480" y="1417320"/>
            <a:ext cx="1417320" cy="41148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840480" y="1417320"/>
            <a:ext cx="1417320" cy="502920"/>
          </a:xfrm>
          <a:prstGeom prst="roundRect">
            <a:avLst>
              <a:gd name="adj" fmla="val 6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40480" y="1435608"/>
            <a:ext cx="14173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1645920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程序开发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95344" y="2011680"/>
            <a:ext cx="1307592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7C3AED"/>
                </a:solidFill>
                <a:latin typeface="Microsoft YaHei"/>
              </a:rPr>
              <a:t>关键活动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95344" y="2212848"/>
            <a:ext cx="130759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374151"/>
                </a:solidFill>
                <a:latin typeface="Microsoft YaHei"/>
              </a:rPr>
              <a:t>引擎/逻辑
UI/网络/性能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95344" y="2907792"/>
            <a:ext cx="1307592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31920" y="292608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7C3AED"/>
                </a:solidFill>
                <a:latin typeface="Microsoft YaHei"/>
              </a:rPr>
              <a:t>AI赋能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127248"/>
            <a:ext cx="12344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2563EB"/>
                </a:solidFill>
                <a:latin typeface="Microsoft YaHei"/>
              </a:rPr>
              <a:t>Copilot代码
Shader辅助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95344" y="3730752"/>
            <a:ext cx="1307592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31920" y="3749039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华为机会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31920" y="3950208"/>
            <a:ext cx="12344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DevEco/鸿蒙SDK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62372" y="1554480"/>
            <a:ext cx="82296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B7280"/>
                </a:solidFill>
                <a:latin typeface="Microsoft YaHei"/>
              </a:rPr>
              <a:t>→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349240" y="1417320"/>
            <a:ext cx="1417320" cy="41148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349240" y="1417320"/>
            <a:ext cx="1417320" cy="502920"/>
          </a:xfrm>
          <a:prstGeom prst="roundRect">
            <a:avLst>
              <a:gd name="adj" fmla="val 6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49240" y="1435608"/>
            <a:ext cx="14173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49240" y="1645920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音频制作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04104" y="2011680"/>
            <a:ext cx="1307592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C2820A"/>
                </a:solidFill>
                <a:latin typeface="Microsoft YaHei"/>
              </a:rPr>
              <a:t>关键活动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04104" y="2212848"/>
            <a:ext cx="130759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374151"/>
                </a:solidFill>
                <a:latin typeface="Microsoft YaHei"/>
              </a:rPr>
              <a:t>BGM/音效
语音/配音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04104" y="2907792"/>
            <a:ext cx="1307592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40680" y="292608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C2820A"/>
                </a:solidFill>
                <a:latin typeface="Microsoft YaHei"/>
              </a:rPr>
              <a:t>AI赋能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0680" y="3127248"/>
            <a:ext cx="12344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2563EB"/>
                </a:solidFill>
                <a:latin typeface="Microsoft YaHei"/>
              </a:rPr>
              <a:t>AI音乐合成
语音克隆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404104" y="3730752"/>
            <a:ext cx="1307592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40680" y="3749039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华为机会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40680" y="3950208"/>
            <a:ext cx="12344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端侧TTS引擎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71132" y="1554480"/>
            <a:ext cx="82296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B7280"/>
                </a:solidFill>
                <a:latin typeface="Microsoft YaHei"/>
              </a:rPr>
              <a:t>→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858000" y="1417320"/>
            <a:ext cx="1417320" cy="41148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858000" y="1417320"/>
            <a:ext cx="1417320" cy="502920"/>
          </a:xfrm>
          <a:prstGeom prst="roundRect">
            <a:avLst>
              <a:gd name="adj" fmla="val 6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58000" y="1435608"/>
            <a:ext cx="14173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0" y="1645920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测试QA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912864" y="2011680"/>
            <a:ext cx="1307592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EA580C"/>
                </a:solidFill>
                <a:latin typeface="Microsoft YaHei"/>
              </a:rPr>
              <a:t>关键活动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12864" y="2212848"/>
            <a:ext cx="130759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374151"/>
                </a:solidFill>
                <a:latin typeface="Microsoft YaHei"/>
              </a:rPr>
              <a:t>功能/性能
兼容/安全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912864" y="2907792"/>
            <a:ext cx="1307592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949440" y="292608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EA580C"/>
                </a:solidFill>
                <a:latin typeface="Microsoft YaHei"/>
              </a:rPr>
              <a:t>AI赋能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127248"/>
            <a:ext cx="12344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2563EB"/>
                </a:solidFill>
                <a:latin typeface="Microsoft YaHei"/>
              </a:rPr>
              <a:t>自动化探索
异常检测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912864" y="3730752"/>
            <a:ext cx="1307592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949440" y="3749039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华为机会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49440" y="3950208"/>
            <a:ext cx="12344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云测+AI测试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79892" y="1554480"/>
            <a:ext cx="82296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B7280"/>
                </a:solidFill>
                <a:latin typeface="Microsoft YaHei"/>
              </a:rPr>
              <a:t>→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366760" y="1417320"/>
            <a:ext cx="1417320" cy="41148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8366760" y="1417320"/>
            <a:ext cx="1417320" cy="502920"/>
          </a:xfrm>
          <a:prstGeom prst="roundRect">
            <a:avLst>
              <a:gd name="adj" fmla="val 6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366760" y="1435608"/>
            <a:ext cx="14173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66760" y="1645920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发行分发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21624" y="2011680"/>
            <a:ext cx="1307592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DC2626"/>
                </a:solidFill>
                <a:latin typeface="Microsoft YaHei"/>
              </a:rPr>
              <a:t>关键活动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421624" y="2212848"/>
            <a:ext cx="130759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374151"/>
                </a:solidFill>
                <a:latin typeface="Microsoft YaHei"/>
              </a:rPr>
              <a:t>上架/推广
渠道/买量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421624" y="2907792"/>
            <a:ext cx="1307592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458200" y="292608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DC2626"/>
                </a:solidFill>
                <a:latin typeface="Microsoft YaHei"/>
              </a:rPr>
              <a:t>AI赋能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458200" y="3127248"/>
            <a:ext cx="12344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2563EB"/>
                </a:solidFill>
                <a:latin typeface="Microsoft YaHei"/>
              </a:rPr>
              <a:t>AI智能推荐
素材A/B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421624" y="3730752"/>
            <a:ext cx="1307592" cy="777240"/>
          </a:xfrm>
          <a:prstGeom prst="roundRect">
            <a:avLst>
              <a:gd name="adj" fmla="val 4000"/>
            </a:avLst>
          </a:prstGeom>
          <a:solidFill>
            <a:srgbClr val="FFF3E0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458200" y="3749039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DC2626"/>
                </a:solidFill>
                <a:latin typeface="Microsoft YaHei"/>
              </a:rPr>
              <a:t>华为机会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58200" y="3950208"/>
            <a:ext cx="12344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DC2626"/>
                </a:solidFill>
                <a:latin typeface="Microsoft YaHei"/>
              </a:rPr>
              <a:t>★核心战场★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788652" y="1554480"/>
            <a:ext cx="82296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B7280"/>
                </a:solidFill>
                <a:latin typeface="Microsoft YaHei"/>
              </a:rPr>
              <a:t>→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875520" y="1417320"/>
            <a:ext cx="1417320" cy="41148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9875520" y="1417320"/>
            <a:ext cx="1417320" cy="502920"/>
          </a:xfrm>
          <a:prstGeom prst="roundRect">
            <a:avLst>
              <a:gd name="adj" fmla="val 6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875520" y="1435608"/>
            <a:ext cx="14173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875520" y="1645920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运营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930384" y="2011680"/>
            <a:ext cx="1307592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059669"/>
                </a:solidFill>
                <a:latin typeface="Microsoft YaHei"/>
              </a:rPr>
              <a:t>关键活动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930384" y="2212848"/>
            <a:ext cx="130759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374151"/>
                </a:solidFill>
                <a:latin typeface="Microsoft YaHei"/>
              </a:rPr>
              <a:t>活动/更新
数据/社区/客服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930384" y="2907792"/>
            <a:ext cx="1307592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966960" y="292608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059669"/>
                </a:solidFill>
                <a:latin typeface="Microsoft YaHei"/>
              </a:rPr>
              <a:t>AI赋能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966960" y="3127248"/>
            <a:ext cx="12344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2563EB"/>
                </a:solidFill>
                <a:latin typeface="Microsoft YaHei"/>
              </a:rPr>
              <a:t>AI运营预测
社区管理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930384" y="3730752"/>
            <a:ext cx="1307592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66960" y="3749039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华为机会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966960" y="3950208"/>
            <a:ext cx="12344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AI数据平台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22960" y="5669280"/>
            <a:ext cx="10561320" cy="548640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24128" y="5687568"/>
            <a:ext cx="1024128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管线洞察：</a:t>
            </a:r>
            <a:r>
              <a:rPr sz="950" b="0">
                <a:solidFill>
                  <a:srgbClr val="FFFFFF"/>
                </a:solidFill>
                <a:latin typeface="Microsoft YaHei"/>
              </a:rPr>
              <a:t>华为在</a:t>
            </a:r>
            <a:r>
              <a:rPr sz="950" b="1">
                <a:solidFill>
                  <a:srgbClr val="FBBF24"/>
                </a:solidFill>
                <a:latin typeface="Microsoft YaHei"/>
              </a:rPr>
              <a:t>发行分发(★)</a:t>
            </a:r>
            <a:r>
              <a:rPr sz="950" b="0">
                <a:solidFill>
                  <a:srgbClr val="FFFFFF"/>
                </a:solidFill>
                <a:latin typeface="Microsoft YaHei"/>
              </a:rPr>
              <a:t>和</a:t>
            </a:r>
            <a:r>
              <a:rPr sz="950" b="1">
                <a:solidFill>
                  <a:srgbClr val="4ADE80"/>
                </a:solidFill>
                <a:latin typeface="Microsoft YaHei"/>
              </a:rPr>
              <a:t>运营环节</a:t>
            </a:r>
            <a:r>
              <a:rPr sz="950" b="0">
                <a:solidFill>
                  <a:srgbClr val="FFFFFF"/>
                </a:solidFill>
                <a:latin typeface="Microsoft YaHei"/>
              </a:rPr>
              <a:t>有直接平台优势。向上游延伸(AIGC工具/AI测试)赋能开发者，向下游(端侧AI体验)差异化用户感知，构建全链路壁垒。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6/22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D9488"/>
                </a:solidFill>
                <a:latin typeface="Microsoft YaHei"/>
              </a:rPr>
              <a:t>看趋势 #2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AI能力成熟度地图 · 游戏场景应用判断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63040"/>
            <a:ext cx="2560320" cy="4572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463040"/>
            <a:ext cx="2560320" cy="594360"/>
          </a:xfrm>
          <a:prstGeom prst="roundRect">
            <a:avLst>
              <a:gd name="adj" fmla="val 6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81328"/>
            <a:ext cx="2377439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</a:rPr>
              <a:t>生产级可用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73936"/>
            <a:ext cx="2377439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Microsoft YaHei"/>
              </a:rPr>
              <a:t>已大规模部署，ROI明确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" y="2148840"/>
            <a:ext cx="234086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2148840"/>
            <a:ext cx="54864" cy="91440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185416"/>
            <a:ext cx="2194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AI推荐算法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42316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2563EB"/>
                </a:solidFill>
                <a:latin typeface="Microsoft YaHei"/>
              </a:rPr>
              <a:t>抖音/腾讯已验证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2715768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059669"/>
                </a:solidFill>
                <a:latin typeface="Microsoft YaHei"/>
              </a:rPr>
              <a:t>→ 分发/广告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" y="3118104"/>
            <a:ext cx="234086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32688" y="3118104"/>
            <a:ext cx="54864" cy="91440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3154680"/>
            <a:ext cx="2194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2D美术生成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3392424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2563EB"/>
                </a:solidFill>
                <a:latin typeface="Microsoft YaHei"/>
              </a:rPr>
              <a:t>SD/Midjourney成熟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685032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059669"/>
                </a:solidFill>
                <a:latin typeface="Microsoft YaHei"/>
              </a:rPr>
              <a:t>→ 商店页/广告素材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2688" y="4087368"/>
            <a:ext cx="234086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32688" y="4087368"/>
            <a:ext cx="54864" cy="91440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123944"/>
            <a:ext cx="2194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AI客服/社区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4361688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2563EB"/>
                </a:solidFill>
                <a:latin typeface="Microsoft YaHei"/>
              </a:rPr>
              <a:t>LLM对话生产级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654296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059669"/>
                </a:solidFill>
                <a:latin typeface="Microsoft YaHei"/>
              </a:rPr>
              <a:t>→ 社区运营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688" y="5056632"/>
            <a:ext cx="234086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32688" y="5056632"/>
            <a:ext cx="54864" cy="91440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4128" y="5093208"/>
            <a:ext cx="2194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AI反作弊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5330952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2563EB"/>
                </a:solidFill>
                <a:latin typeface="Microsoft YaHei"/>
              </a:rPr>
              <a:t>行为分析成熟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" y="562356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059669"/>
                </a:solidFill>
                <a:latin typeface="Microsoft YaHei"/>
              </a:rPr>
              <a:t>→ 安全/公平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20440" y="1463040"/>
            <a:ext cx="2560320" cy="4572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520440" y="1463040"/>
            <a:ext cx="2560320" cy="5943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1880" y="1481328"/>
            <a:ext cx="2377439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</a:rPr>
              <a:t>近期可用 (6-12月)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1773936"/>
            <a:ext cx="2377439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Microsoft YaHei"/>
              </a:rPr>
              <a:t>试点→产品化过渡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30168" y="2148840"/>
            <a:ext cx="234086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630168" y="2148840"/>
            <a:ext cx="54864" cy="91440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21608" y="2185416"/>
            <a:ext cx="2194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3D生成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21608" y="242316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2563EB"/>
                </a:solidFill>
                <a:latin typeface="Microsoft YaHei"/>
              </a:rPr>
              <a:t>TripoSR/InstantMesh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21608" y="2715768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059669"/>
                </a:solidFill>
                <a:latin typeface="Microsoft YaHei"/>
              </a:rPr>
              <a:t>→ 游戏内3D素材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30168" y="3118104"/>
            <a:ext cx="234086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630168" y="3118104"/>
            <a:ext cx="54864" cy="91440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21608" y="3154680"/>
            <a:ext cx="2194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AI NPC对话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21608" y="3392424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2563EB"/>
                </a:solidFill>
                <a:latin typeface="Microsoft YaHei"/>
              </a:rPr>
              <a:t>端侧LLM推理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21608" y="3685032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059669"/>
                </a:solidFill>
                <a:latin typeface="Microsoft YaHei"/>
              </a:rPr>
              <a:t>→ 游戏交互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630168" y="4087368"/>
            <a:ext cx="234086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630168" y="4087368"/>
            <a:ext cx="54864" cy="91440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721608" y="4123944"/>
            <a:ext cx="2194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AI动画生成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21608" y="4361688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2563EB"/>
                </a:solidFill>
                <a:latin typeface="Microsoft YaHei"/>
              </a:rPr>
              <a:t>MotionGPT等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21608" y="4654296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059669"/>
                </a:solidFill>
                <a:latin typeface="Microsoft YaHei"/>
              </a:rPr>
              <a:t>→ 角色动画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30168" y="5056632"/>
            <a:ext cx="234086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630168" y="5056632"/>
            <a:ext cx="54864" cy="91440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721608" y="5093208"/>
            <a:ext cx="2194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AI测试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721608" y="5330952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2563EB"/>
                </a:solidFill>
                <a:latin typeface="Microsoft YaHei"/>
              </a:rPr>
              <a:t>自动化探索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21608" y="562356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059669"/>
                </a:solidFill>
                <a:latin typeface="Microsoft YaHei"/>
              </a:rPr>
              <a:t>→ 游戏QA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217920" y="1463040"/>
            <a:ext cx="2560320" cy="4572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217920" y="1463040"/>
            <a:ext cx="2560320" cy="594360"/>
          </a:xfrm>
          <a:prstGeom prst="roundRect">
            <a:avLst>
              <a:gd name="adj" fmla="val 6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09360" y="1481328"/>
            <a:ext cx="2377439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</a:rPr>
              <a:t>中期突破 (1-2年)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0" y="1773936"/>
            <a:ext cx="2377439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Microsoft YaHei"/>
              </a:rPr>
              <a:t>研究→试点阶段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327648" y="2148840"/>
            <a:ext cx="234086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327648" y="2148840"/>
            <a:ext cx="54864" cy="914400"/>
          </a:xfrm>
          <a:prstGeom prst="roundRect">
            <a:avLst>
              <a:gd name="adj" fmla="val 2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19088" y="2185416"/>
            <a:ext cx="2194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AI关卡设计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19088" y="242316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2563EB"/>
                </a:solidFill>
                <a:latin typeface="Microsoft YaHei"/>
              </a:rPr>
              <a:t>程序化生成+ML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19088" y="2715768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059669"/>
                </a:solidFill>
                <a:latin typeface="Microsoft YaHei"/>
              </a:rPr>
              <a:t>→ 内容扩展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327648" y="3118104"/>
            <a:ext cx="234086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6327648" y="3118104"/>
            <a:ext cx="54864" cy="914400"/>
          </a:xfrm>
          <a:prstGeom prst="roundRect">
            <a:avLst>
              <a:gd name="adj" fmla="val 2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19088" y="3154680"/>
            <a:ext cx="2194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AI平衡性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19088" y="3392424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2563EB"/>
                </a:solidFill>
                <a:latin typeface="Microsoft YaHei"/>
              </a:rPr>
              <a:t>强化学习调参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19088" y="3685032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059669"/>
                </a:solidFill>
                <a:latin typeface="Microsoft YaHei"/>
              </a:rPr>
              <a:t>→ 数值调整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327648" y="4087368"/>
            <a:ext cx="234086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327648" y="4087368"/>
            <a:ext cx="54864" cy="914400"/>
          </a:xfrm>
          <a:prstGeom prst="roundRect">
            <a:avLst>
              <a:gd name="adj" fmla="val 2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19088" y="4123944"/>
            <a:ext cx="2194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AI语音翻译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19088" y="4361688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2563EB"/>
                </a:solidFill>
                <a:latin typeface="Microsoft YaHei"/>
              </a:rPr>
              <a:t>实时跨语言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19088" y="4654296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059669"/>
                </a:solidFill>
                <a:latin typeface="Microsoft YaHei"/>
              </a:rPr>
              <a:t>→ 社交/国际化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327648" y="5056632"/>
            <a:ext cx="234086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6327648" y="5056632"/>
            <a:ext cx="54864" cy="914400"/>
          </a:xfrm>
          <a:prstGeom prst="roundRect">
            <a:avLst>
              <a:gd name="adj" fmla="val 2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19088" y="5093208"/>
            <a:ext cx="2194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AI数据预测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19088" y="5330952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2563EB"/>
                </a:solidFill>
                <a:latin typeface="Microsoft YaHei"/>
              </a:rPr>
              <a:t>LTV/流失预测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19088" y="562356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059669"/>
                </a:solidFill>
                <a:latin typeface="Microsoft YaHei"/>
              </a:rPr>
              <a:t>→ 精细化运营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915400" y="1463040"/>
            <a:ext cx="2560320" cy="4572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8915400" y="1463040"/>
            <a:ext cx="2560320" cy="594360"/>
          </a:xfrm>
          <a:prstGeom prst="roundRect">
            <a:avLst>
              <a:gd name="adj" fmla="val 6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006840" y="1481328"/>
            <a:ext cx="2377439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</a:rPr>
              <a:t>前沿探索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006840" y="1773936"/>
            <a:ext cx="2377439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Microsoft YaHei"/>
              </a:rPr>
              <a:t>概念验证阶段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025128" y="2148840"/>
            <a:ext cx="234086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9025128" y="2148840"/>
            <a:ext cx="54864" cy="91440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116568" y="2185416"/>
            <a:ext cx="2194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完全AI生成游戏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116568" y="242316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2563EB"/>
                </a:solidFill>
                <a:latin typeface="Microsoft YaHei"/>
              </a:rPr>
              <a:t>多模态AI导演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16568" y="2715768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059669"/>
                </a:solidFill>
                <a:latin typeface="Microsoft YaHei"/>
              </a:rPr>
              <a:t>→ 新形态游戏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025128" y="3118104"/>
            <a:ext cx="234086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9025128" y="3118104"/>
            <a:ext cx="54864" cy="91440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116568" y="3154680"/>
            <a:ext cx="2194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AI游戏导演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16568" y="3392424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2563EB"/>
                </a:solidFill>
                <a:latin typeface="Microsoft YaHei"/>
              </a:rPr>
              <a:t>实时剧情生成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16568" y="3685032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059669"/>
                </a:solidFill>
                <a:latin typeface="Microsoft YaHei"/>
              </a:rPr>
              <a:t>→ 动态叙事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025128" y="4087368"/>
            <a:ext cx="234086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9025128" y="4087368"/>
            <a:ext cx="54864" cy="91440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116568" y="4123944"/>
            <a:ext cx="2194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AI情感计算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116568" y="4361688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2563EB"/>
                </a:solidFill>
                <a:latin typeface="Microsoft YaHei"/>
              </a:rPr>
              <a:t>玩家情绪响应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116568" y="4654296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059669"/>
                </a:solidFill>
                <a:latin typeface="Microsoft YaHei"/>
              </a:rPr>
              <a:t>→ 体验优化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7/22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2563EB"/>
                </a:solidFill>
                <a:latin typeface="Microsoft YaHei"/>
              </a:rPr>
              <a:t>看市场 #1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中国手游市场规模与渠道费演变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08760"/>
            <a:ext cx="5120640" cy="841248"/>
          </a:xfrm>
          <a:prstGeom prst="roundRect">
            <a:avLst>
              <a:gd name="adj" fmla="val 6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527048"/>
            <a:ext cx="4846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TAM · 全球游戏市场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819656"/>
            <a:ext cx="4846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~$200B+/年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93976"/>
            <a:ext cx="48463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Microsoft YaHei"/>
              </a:rPr>
              <a:t>全球游戏总收入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2441448"/>
            <a:ext cx="4297679" cy="841248"/>
          </a:xfrm>
          <a:prstGeom prst="roundRect">
            <a:avLst>
              <a:gd name="adj" fmla="val 6000"/>
            </a:avLst>
          </a:prstGeom>
          <a:solidFill>
            <a:srgbClr val="FFA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459736"/>
            <a:ext cx="4023359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SAM · 中国游戏市场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752344"/>
            <a:ext cx="4023359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~$45B+/年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026664"/>
            <a:ext cx="4023359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Microsoft YaHei"/>
              </a:rPr>
              <a:t>6.68亿玩家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45919" y="3374136"/>
            <a:ext cx="3474720" cy="841248"/>
          </a:xfrm>
          <a:prstGeom prst="roundRect">
            <a:avLst>
              <a:gd name="adj" fmla="val 6000"/>
            </a:avLst>
          </a:prstGeom>
          <a:solidFill>
            <a:srgbClr val="4DA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79" y="3392424"/>
            <a:ext cx="3200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SAM · 手游分发收入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79" y="3685032"/>
            <a:ext cx="3200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~$10-15B/年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79" y="3959352"/>
            <a:ext cx="32004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Microsoft YaHei"/>
              </a:rPr>
              <a:t>渠道分成(30-50%)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57400" y="4306824"/>
            <a:ext cx="2651759" cy="841248"/>
          </a:xfrm>
          <a:prstGeom prst="roundRect">
            <a:avLst>
              <a:gd name="adj" fmla="val 6000"/>
            </a:avLst>
          </a:prstGeom>
          <a:solidFill>
            <a:srgbClr val="4D9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4325112"/>
            <a:ext cx="2377439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SOM · 华为可获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4617720"/>
            <a:ext cx="2377439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~$2-5B/年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4892040"/>
            <a:ext cx="2377439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Microsoft YaHei"/>
              </a:rPr>
              <a:t>HMS设备7亿+·国内份额~15%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1508760"/>
            <a:ext cx="4983480" cy="452628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1600200"/>
            <a:ext cx="46177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</a:rPr>
              <a:t>▎渠道费演变 · 开发者出走趋势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0" y="2011680"/>
            <a:ext cx="461772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83680" y="2011680"/>
            <a:ext cx="54864" cy="59436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93408" y="2029968"/>
            <a:ext cx="594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DC2626"/>
                </a:solidFill>
                <a:latin typeface="Microsoft YaHei"/>
              </a:rPr>
              <a:t>2020前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3488" y="2029968"/>
            <a:ext cx="14173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传统硬核渠道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96528" y="2029968"/>
            <a:ext cx="10972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059669"/>
                </a:solidFill>
                <a:latin typeface="Microsoft YaHei"/>
              </a:rPr>
              <a:t>50%分成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48672" y="2029968"/>
            <a:ext cx="11887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0">
                <a:solidFill>
                  <a:srgbClr val="6B7280"/>
                </a:solidFill>
                <a:latin typeface="Microsoft YaHei"/>
              </a:rPr>
              <a:t>开发者被迫接受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0" y="2670048"/>
            <a:ext cx="461772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583680" y="2670048"/>
            <a:ext cx="54864" cy="594360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93408" y="2688336"/>
            <a:ext cx="594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EA580C"/>
                </a:solidFill>
                <a:latin typeface="Microsoft YaHei"/>
              </a:rPr>
              <a:t>2020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33488" y="2688336"/>
            <a:ext cx="14173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米哈游《原神》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96528" y="2688336"/>
            <a:ext cx="10972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059669"/>
                </a:solidFill>
                <a:latin typeface="Microsoft YaHei"/>
              </a:rPr>
              <a:t>绕过硬核渠道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48672" y="2688336"/>
            <a:ext cx="11887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0">
                <a:solidFill>
                  <a:srgbClr val="6B7280"/>
                </a:solidFill>
                <a:latin typeface="Microsoft YaHei"/>
              </a:rPr>
              <a:t>仅上架官网+B站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0" y="3328415"/>
            <a:ext cx="461772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583680" y="3328415"/>
            <a:ext cx="54864" cy="59436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93408" y="3346703"/>
            <a:ext cx="594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059669"/>
                </a:solidFill>
                <a:latin typeface="Microsoft YaHei"/>
              </a:rPr>
              <a:t>2021+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33488" y="3346703"/>
            <a:ext cx="14173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TapTap模式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96528" y="3346703"/>
            <a:ext cx="10972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059669"/>
                </a:solidFill>
                <a:latin typeface="Microsoft YaHei"/>
              </a:rPr>
              <a:t>0%渠道费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48672" y="3346703"/>
            <a:ext cx="11887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0">
                <a:solidFill>
                  <a:srgbClr val="6B7280"/>
                </a:solidFill>
                <a:latin typeface="Microsoft YaHei"/>
              </a:rPr>
              <a:t>社区驱动·心动网络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0" y="3986783"/>
            <a:ext cx="461772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583680" y="3986783"/>
            <a:ext cx="54864" cy="5943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93408" y="4005071"/>
            <a:ext cx="594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0D9488"/>
                </a:solidFill>
                <a:latin typeface="Microsoft YaHei"/>
              </a:rPr>
              <a:t>2023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33488" y="4005071"/>
            <a:ext cx="14173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苹果调整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96528" y="4005071"/>
            <a:ext cx="10972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059669"/>
                </a:solidFill>
                <a:latin typeface="Microsoft YaHei"/>
              </a:rPr>
              <a:t>30%→15%(小开发)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48672" y="4005071"/>
            <a:ext cx="11887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0">
                <a:solidFill>
                  <a:srgbClr val="6B7280"/>
                </a:solidFill>
                <a:latin typeface="Microsoft YaHei"/>
              </a:rPr>
              <a:t>Small Business计划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83680" y="4645151"/>
            <a:ext cx="461772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583680" y="4645151"/>
            <a:ext cx="54864" cy="59436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93408" y="4663439"/>
            <a:ext cx="594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2563EB"/>
                </a:solidFill>
                <a:latin typeface="Microsoft YaHei"/>
              </a:rPr>
              <a:t>2024+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33488" y="4663439"/>
            <a:ext cx="14173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硬核联盟让步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96528" y="4663439"/>
            <a:ext cx="10972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059669"/>
                </a:solidFill>
                <a:latin typeface="Microsoft YaHei"/>
              </a:rPr>
              <a:t>50%→30%趋势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48672" y="4663439"/>
            <a:ext cx="11887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0">
                <a:solidFill>
                  <a:srgbClr val="6B7280"/>
                </a:solidFill>
                <a:latin typeface="Microsoft YaHei"/>
              </a:rPr>
              <a:t>开发者话语权增强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583680" y="5303519"/>
            <a:ext cx="461772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583680" y="5303519"/>
            <a:ext cx="54864" cy="594360"/>
          </a:xfrm>
          <a:prstGeom prst="roundRect">
            <a:avLst>
              <a:gd name="adj" fmla="val 2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93408" y="5321807"/>
            <a:ext cx="594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7C3AED"/>
                </a:solidFill>
                <a:latin typeface="Microsoft YaHei"/>
              </a:rPr>
              <a:t>趋势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33488" y="5321807"/>
            <a:ext cx="14173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渠道价值=AI赋能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96528" y="5321807"/>
            <a:ext cx="10972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059669"/>
                </a:solidFill>
                <a:latin typeface="Microsoft YaHei"/>
              </a:rPr>
              <a:t>不是流量而是服务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48672" y="5321807"/>
            <a:ext cx="11887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0">
                <a:solidFill>
                  <a:srgbClr val="6B7280"/>
                </a:solidFill>
                <a:latin typeface="Microsoft YaHei"/>
              </a:rPr>
              <a:t>工具/数据/AI成新壁垒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8/22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2563EB"/>
                </a:solidFill>
                <a:latin typeface="Microsoft YaHei"/>
              </a:rPr>
              <a:t>看市场 #2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华为游戏中心 · 用户画像与开发者生态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63040"/>
            <a:ext cx="5166360" cy="4572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536192"/>
            <a:ext cx="47548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</a:rPr>
              <a:t>▎华为设备用户画像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4128" y="1920240"/>
            <a:ext cx="4754880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24128" y="1920240"/>
            <a:ext cx="54864" cy="749808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1956816"/>
            <a:ext cx="12801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2563EB"/>
                </a:solidFill>
                <a:latin typeface="Microsoft YaHei"/>
              </a:rPr>
              <a:t>设备基数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2212848"/>
            <a:ext cx="4480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HMS全球7亿+月活·170国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2432304"/>
            <a:ext cx="448056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国内安卓份额~15-17%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2724912"/>
            <a:ext cx="4754880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24128" y="2724912"/>
            <a:ext cx="54864" cy="749808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3856" y="2761488"/>
            <a:ext cx="12801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059669"/>
                </a:solidFill>
                <a:latin typeface="Microsoft YaHei"/>
              </a:rPr>
              <a:t>用户特征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3017520"/>
            <a:ext cx="4480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中高端为主(Mate/Pura系列)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3236976"/>
            <a:ext cx="448056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付费能力强·ARPU高于行业均值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3529584"/>
            <a:ext cx="4754880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24128" y="3529584"/>
            <a:ext cx="54864" cy="749808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856" y="3566160"/>
            <a:ext cx="12801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0D9488"/>
                </a:solidFill>
                <a:latin typeface="Microsoft YaHei"/>
              </a:rPr>
              <a:t>HarmonyOS NEXT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3822191"/>
            <a:ext cx="4480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2024.10发布纯血鸿蒙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" y="4041648"/>
            <a:ext cx="448056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30%性能提升·原生游戏加速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334256"/>
            <a:ext cx="4754880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24128" y="4334256"/>
            <a:ext cx="54864" cy="749808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33856" y="4370832"/>
            <a:ext cx="12801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DC2626"/>
                </a:solidFill>
                <a:latin typeface="Microsoft YaHei"/>
              </a:rPr>
              <a:t>鸿蒙游戏缺口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" y="4626864"/>
            <a:ext cx="4480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多数主流游戏尚未原生适配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" y="4846320"/>
            <a:ext cx="448056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《原神》等少数已适配·缺口=机会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4128" y="5138928"/>
            <a:ext cx="4754880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24128" y="5138928"/>
            <a:ext cx="54864" cy="749808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33856" y="5175504"/>
            <a:ext cx="12801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EA580C"/>
                </a:solidFill>
                <a:latin typeface="Microsoft YaHei"/>
              </a:rPr>
              <a:t>用户行为变化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" y="5431536"/>
            <a:ext cx="4480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短视频→游戏转化成主流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" y="5650992"/>
            <a:ext cx="448056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华为缺内容生态·需补齐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1463040"/>
            <a:ext cx="5212080" cy="4572000"/>
          </a:xfrm>
          <a:prstGeom prst="roundRect">
            <a:avLst>
              <a:gd name="adj" fmla="val 4000"/>
            </a:avLst>
          </a:prstGeom>
          <a:solidFill>
            <a:srgbClr val="EFF3F9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82512" y="1536192"/>
            <a:ext cx="47548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A580C"/>
                </a:solidFill>
                <a:latin typeface="Microsoft YaHei"/>
              </a:rPr>
              <a:t>▎开发者生态与痛点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82512" y="1920240"/>
            <a:ext cx="4754880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382512" y="1920240"/>
            <a:ext cx="54864" cy="749808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1956816"/>
            <a:ext cx="16459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2563EB"/>
                </a:solidFill>
                <a:latin typeface="Microsoft YaHei"/>
              </a:rPr>
              <a:t>HMS开发者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2212848"/>
            <a:ext cx="4480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500万+注册开发者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2432304"/>
            <a:ext cx="448056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但游戏开发者渗透率待提升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82512" y="2724912"/>
            <a:ext cx="4754880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382512" y="2724912"/>
            <a:ext cx="54864" cy="749808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92240" y="2761488"/>
            <a:ext cx="16459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DC2626"/>
                </a:solidFill>
                <a:latin typeface="Microsoft YaHei"/>
              </a:rPr>
              <a:t>开发者痛点 #1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3017520"/>
            <a:ext cx="4480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多平台适配成本高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236976"/>
            <a:ext cx="448056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Android+iOS+HarmonyOS三端开发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82512" y="3529584"/>
            <a:ext cx="4754880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382512" y="3529584"/>
            <a:ext cx="54864" cy="749808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92240" y="3566160"/>
            <a:ext cx="16459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EA580C"/>
                </a:solidFill>
                <a:latin typeface="Microsoft YaHei"/>
              </a:rPr>
              <a:t>开发者痛点 #2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3822191"/>
            <a:ext cx="4480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获客成本飙升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4041648"/>
            <a:ext cx="448056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CPA $5-20+·ROI压力大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82512" y="4334256"/>
            <a:ext cx="4754880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382512" y="4334256"/>
            <a:ext cx="54864" cy="749808"/>
          </a:xfrm>
          <a:prstGeom prst="roundRect">
            <a:avLst>
              <a:gd name="adj" fmla="val 2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92240" y="4370832"/>
            <a:ext cx="16459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C2820A"/>
                </a:solidFill>
                <a:latin typeface="Microsoft YaHei"/>
              </a:rPr>
              <a:t>开发者痛点 #3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92240" y="4626864"/>
            <a:ext cx="4480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测试/QA成本高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20"/>
            <a:ext cx="448056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机型适配+性能优化耗时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382512" y="5138928"/>
            <a:ext cx="4754880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382512" y="5138928"/>
            <a:ext cx="54864" cy="749808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92240" y="5175504"/>
            <a:ext cx="16459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059669"/>
                </a:solidFill>
                <a:latin typeface="Microsoft YaHei"/>
              </a:rPr>
              <a:t>华为机会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92240" y="5431536"/>
            <a:ext cx="4480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提供AIGC工具+AI测试服务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650992"/>
            <a:ext cx="448056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降低鸿蒙适配门槛=生态杠杆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9/22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A580C"/>
                </a:solidFill>
                <a:latin typeface="Microsoft YaHei"/>
              </a:rPr>
              <a:t>看竞争 #1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游戏分发平台竞争格局全景地图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54480" y="1554480"/>
            <a:ext cx="9052560" cy="393192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80760" y="1554480"/>
            <a:ext cx="18288" cy="3931920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54480" y="3520439"/>
            <a:ext cx="9052560" cy="18288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5532120"/>
            <a:ext cx="9052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← 流量规模/用户基数（低）                              流量规模/用户基数（高）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44" y="1591056"/>
            <a:ext cx="9144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6B7280"/>
                </a:solidFill>
                <a:latin typeface="Microsoft YaHei"/>
              </a:rPr>
              <a:t>↑ 高AI化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4" y="5212080"/>
            <a:ext cx="9144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AA5BC"/>
                </a:solidFill>
                <a:latin typeface="Microsoft YaHei"/>
              </a:rPr>
              <a:t>↓ 低AI化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16582" y="1828800"/>
            <a:ext cx="13716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6B7280"/>
                </a:solidFill>
                <a:latin typeface="Microsoft YaHei"/>
              </a:rPr>
              <a:t>传统渠道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67067" y="4983480"/>
            <a:ext cx="2286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C2820A"/>
                </a:solidFill>
                <a:latin typeface="Microsoft YaHei"/>
              </a:rPr>
              <a:t>高流量·低AI化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56555" y="1627632"/>
            <a:ext cx="1991563" cy="1179575"/>
          </a:xfrm>
          <a:prstGeom prst="roundRect">
            <a:avLst>
              <a:gd name="adj" fmla="val 4000"/>
            </a:avLst>
          </a:prstGeom>
          <a:solidFill>
            <a:srgbClr val="FFF3E0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37606" y="1664207"/>
            <a:ext cx="16294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DC2626"/>
                </a:solidFill>
                <a:latin typeface="Microsoft YaHei"/>
              </a:rPr>
              <a:t>🎯 华为目标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DC2626"/>
                </a:solidFill>
                <a:latin typeface="Microsoft YaHei"/>
              </a:rPr>
              <a:t>中高流量+端侧AI</a:t>
            </a:r>
          </a:p>
        </p:txBody>
      </p:sp>
      <p:sp>
        <p:nvSpPr>
          <p:cNvPr id="15" name="Oval 14"/>
          <p:cNvSpPr/>
          <p:nvPr/>
        </p:nvSpPr>
        <p:spPr>
          <a:xfrm>
            <a:off x="8837676" y="1837943"/>
            <a:ext cx="146304" cy="1463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002268" y="1801367"/>
            <a:ext cx="1463040" cy="2560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762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2268" y="1819655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2563EB"/>
                </a:solidFill>
                <a:latin typeface="Microsoft YaHei"/>
              </a:rPr>
              <a:t>抖音游戏</a:t>
            </a:r>
          </a:p>
        </p:txBody>
      </p:sp>
      <p:sp>
        <p:nvSpPr>
          <p:cNvPr id="18" name="Oval 17"/>
          <p:cNvSpPr/>
          <p:nvPr/>
        </p:nvSpPr>
        <p:spPr>
          <a:xfrm>
            <a:off x="9471355" y="2545689"/>
            <a:ext cx="146304" cy="14630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35947" y="2509113"/>
            <a:ext cx="1463040" cy="2560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762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35947" y="2527401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7C3AED"/>
                </a:solidFill>
                <a:latin typeface="Microsoft YaHei"/>
              </a:rPr>
              <a:t>腾讯(微信/QQ)</a:t>
            </a:r>
          </a:p>
        </p:txBody>
      </p:sp>
      <p:sp>
        <p:nvSpPr>
          <p:cNvPr id="21" name="Oval 20"/>
          <p:cNvSpPr/>
          <p:nvPr/>
        </p:nvSpPr>
        <p:spPr>
          <a:xfrm>
            <a:off x="4945075" y="3489350"/>
            <a:ext cx="146304" cy="146304"/>
          </a:xfrm>
          <a:prstGeom prst="ellipse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109667" y="3452774"/>
            <a:ext cx="1463040" cy="2560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762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09667" y="3471062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C7000B"/>
                </a:solidFill>
                <a:latin typeface="Microsoft YaHei"/>
              </a:rPr>
              <a:t>华为游戏中心</a:t>
            </a:r>
          </a:p>
        </p:txBody>
      </p:sp>
      <p:sp>
        <p:nvSpPr>
          <p:cNvPr id="24" name="Oval 23"/>
          <p:cNvSpPr/>
          <p:nvPr/>
        </p:nvSpPr>
        <p:spPr>
          <a:xfrm>
            <a:off x="3858768" y="4786883"/>
            <a:ext cx="146304" cy="146304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023359" y="4750307"/>
            <a:ext cx="1463040" cy="2560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76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23359" y="4768596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059669"/>
                </a:solidFill>
                <a:latin typeface="Microsoft YaHei"/>
              </a:rPr>
              <a:t>TapTap</a:t>
            </a:r>
          </a:p>
        </p:txBody>
      </p:sp>
      <p:sp>
        <p:nvSpPr>
          <p:cNvPr id="27" name="Oval 26"/>
          <p:cNvSpPr/>
          <p:nvPr/>
        </p:nvSpPr>
        <p:spPr>
          <a:xfrm>
            <a:off x="4582972" y="4590288"/>
            <a:ext cx="146304" cy="14630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47564" y="4553712"/>
            <a:ext cx="1463040" cy="2560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762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47564" y="4572000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7C3AED"/>
                </a:solidFill>
                <a:latin typeface="Microsoft YaHei"/>
              </a:rPr>
              <a:t>B站游戏</a:t>
            </a:r>
          </a:p>
        </p:txBody>
      </p:sp>
      <p:sp>
        <p:nvSpPr>
          <p:cNvPr id="30" name="Oval 29"/>
          <p:cNvSpPr/>
          <p:nvPr/>
        </p:nvSpPr>
        <p:spPr>
          <a:xfrm>
            <a:off x="5669280" y="4904841"/>
            <a:ext cx="146304" cy="146304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833872" y="4868265"/>
            <a:ext cx="1463040" cy="2560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762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33872" y="4886553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EA580C"/>
                </a:solidFill>
                <a:latin typeface="Microsoft YaHei"/>
              </a:rPr>
              <a:t>OPPO/vivo</a:t>
            </a:r>
          </a:p>
        </p:txBody>
      </p:sp>
      <p:sp>
        <p:nvSpPr>
          <p:cNvPr id="33" name="Oval 32"/>
          <p:cNvSpPr/>
          <p:nvPr/>
        </p:nvSpPr>
        <p:spPr>
          <a:xfrm>
            <a:off x="4311396" y="4983480"/>
            <a:ext cx="146304" cy="146304"/>
          </a:xfrm>
          <a:prstGeom prst="ellipse">
            <a:avLst/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475988" y="4946904"/>
            <a:ext cx="1463040" cy="2560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762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75988" y="4965192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C2820A"/>
                </a:solidFill>
                <a:latin typeface="Microsoft YaHei"/>
              </a:rPr>
              <a:t>小米游戏</a:t>
            </a:r>
          </a:p>
        </p:txBody>
      </p:sp>
      <p:sp>
        <p:nvSpPr>
          <p:cNvPr id="36" name="Oval 35"/>
          <p:cNvSpPr/>
          <p:nvPr/>
        </p:nvSpPr>
        <p:spPr>
          <a:xfrm>
            <a:off x="8203996" y="4275734"/>
            <a:ext cx="146304" cy="146304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368588" y="4239158"/>
            <a:ext cx="1463040" cy="2560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762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8588" y="4257446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6B7280"/>
                </a:solidFill>
                <a:latin typeface="Microsoft YaHei"/>
              </a:rPr>
              <a:t>App Store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15000"/>
            <a:ext cx="10561320" cy="548640"/>
          </a:xfrm>
          <a:prstGeom prst="roundRect">
            <a:avLst>
              <a:gd name="adj" fmla="val 4000"/>
            </a:avLst>
          </a:prstGeom>
          <a:solidFill>
            <a:srgbClr val="EFF3F9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4128" y="5742432"/>
            <a:ext cx="1024128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洞察：</a:t>
            </a:r>
            <a:r>
              <a:rPr sz="950" b="0">
                <a:solidFill>
                  <a:srgbClr val="374151"/>
                </a:solidFill>
                <a:latin typeface="Microsoft YaHei"/>
              </a:rPr>
              <a:t>华为处于「中流量·中AI化」的中间地带。字节和腾讯占据「高流量+高AI」制高点。华为的突破口是</a:t>
            </a:r>
            <a:r>
              <a:rPr sz="950" b="1">
                <a:solidFill>
                  <a:srgbClr val="DC2626"/>
                </a:solidFill>
                <a:latin typeface="Microsoft YaHei"/>
              </a:rPr>
              <a:t>端侧AI差异化</a:t>
            </a:r>
            <a:r>
              <a:rPr sz="950" b="0">
                <a:solidFill>
                  <a:srgbClr val="374151"/>
                </a:solidFill>
                <a:latin typeface="Microsoft YaHei"/>
              </a:rPr>
              <a:t>——云端AI打不过字节，但端侧AI无人能及。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10/22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A580C"/>
                </a:solidFill>
                <a:latin typeface="Microsoft YaHei"/>
              </a:rPr>
              <a:t>看竞争 #2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竞品AI能力 5 维度评分表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63040"/>
            <a:ext cx="1508760" cy="548640"/>
          </a:xfrm>
          <a:prstGeom prst="roundRect">
            <a:avLst>
              <a:gd name="adj" fmla="val 5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463040"/>
            <a:ext cx="1508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竞品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7440" y="1463040"/>
            <a:ext cx="1527048" cy="548640"/>
          </a:xfrm>
          <a:prstGeom prst="roundRect">
            <a:avLst>
              <a:gd name="adj" fmla="val 5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77440" y="146304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智能推荐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50208" y="1463040"/>
            <a:ext cx="1527048" cy="548640"/>
          </a:xfrm>
          <a:prstGeom prst="roundRect">
            <a:avLst>
              <a:gd name="adj" fmla="val 5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50208" y="146304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AIGC工具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22976" y="1463040"/>
            <a:ext cx="1527048" cy="548640"/>
          </a:xfrm>
          <a:prstGeom prst="roundRect">
            <a:avLst>
              <a:gd name="adj" fmla="val 5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22976" y="146304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AI运营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95744" y="1463040"/>
            <a:ext cx="1527048" cy="548640"/>
          </a:xfrm>
          <a:prstGeom prst="roundRect">
            <a:avLst>
              <a:gd name="adj" fmla="val 5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95744" y="146304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端侧AI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68512" y="1463040"/>
            <a:ext cx="1527048" cy="548640"/>
          </a:xfrm>
          <a:prstGeom prst="roundRect">
            <a:avLst>
              <a:gd name="adj" fmla="val 5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68512" y="146304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开发者服务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0" y="1463040"/>
            <a:ext cx="1828800" cy="548640"/>
          </a:xfrm>
          <a:prstGeom prst="roundRect">
            <a:avLst>
              <a:gd name="adj" fmla="val 5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0" y="1463040"/>
            <a:ext cx="18288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定位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2011680"/>
            <a:ext cx="1508760" cy="54864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2011680"/>
            <a:ext cx="1508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抖音游戏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7440" y="201168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77440" y="201168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2563EB"/>
                </a:solidFill>
                <a:latin typeface="Microsoft YaHei"/>
              </a:rPr>
              <a:t>★★★★★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50208" y="201168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50208" y="201168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59669"/>
                </a:solidFill>
                <a:latin typeface="Microsoft YaHei"/>
              </a:rPr>
              <a:t>★★★★☆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22976" y="201168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22976" y="201168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59669"/>
                </a:solidFill>
                <a:latin typeface="Microsoft YaHei"/>
              </a:rPr>
              <a:t>★★★★☆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95744" y="201168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95744" y="201168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2820A"/>
                </a:solidFill>
                <a:latin typeface="Microsoft YaHei"/>
              </a:rPr>
              <a:t>★★☆☆☆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68512" y="201168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201168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A580C"/>
                </a:solidFill>
                <a:latin typeface="Microsoft YaHei"/>
              </a:rPr>
              <a:t>★★★☆☆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241280" y="2011680"/>
            <a:ext cx="1828800" cy="54864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41280" y="2011680"/>
            <a:ext cx="18288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内容驱动分发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" y="2560320"/>
            <a:ext cx="1508760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2560320"/>
            <a:ext cx="1508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腾讯(微信)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377440" y="256032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77440" y="256032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59669"/>
                </a:solidFill>
                <a:latin typeface="Microsoft YaHei"/>
              </a:rPr>
              <a:t>★★★★☆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950208" y="256032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50208" y="256032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A580C"/>
                </a:solidFill>
                <a:latin typeface="Microsoft YaHei"/>
              </a:rPr>
              <a:t>★★★☆☆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22976" y="256032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22976" y="256032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59669"/>
                </a:solidFill>
                <a:latin typeface="Microsoft YaHei"/>
              </a:rPr>
              <a:t>★★★★☆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095744" y="256032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95744" y="256032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2820A"/>
                </a:solidFill>
                <a:latin typeface="Microsoft YaHei"/>
              </a:rPr>
              <a:t>★★☆☆☆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68512" y="256032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68512" y="256032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59669"/>
                </a:solidFill>
                <a:latin typeface="Microsoft YaHei"/>
              </a:rPr>
              <a:t>★★★★☆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241280" y="2560320"/>
            <a:ext cx="1828800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41280" y="2560320"/>
            <a:ext cx="18288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社交生态分发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2960" y="3108960"/>
            <a:ext cx="1508760" cy="548640"/>
          </a:xfrm>
          <a:prstGeom prst="roundRect">
            <a:avLst>
              <a:gd name="adj" fmla="val 2000"/>
            </a:avLst>
          </a:prstGeom>
          <a:solidFill>
            <a:srgbClr val="FFF3E0"/>
          </a:solidFill>
          <a:ln w="1905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8" y="3108960"/>
            <a:ext cx="1508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C7000B"/>
                </a:solidFill>
                <a:latin typeface="Microsoft YaHei"/>
              </a:rPr>
              <a:t>华为游戏中心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377440" y="310896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FFF3E0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377440" y="310896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A580C"/>
                </a:solidFill>
                <a:latin typeface="Microsoft YaHei"/>
              </a:rPr>
              <a:t>★★★☆☆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950208" y="310896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FFF3E0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950208" y="310896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2820A"/>
                </a:solidFill>
                <a:latin typeface="Microsoft YaHei"/>
              </a:rPr>
              <a:t>★★☆☆☆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522976" y="310896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FFF3E0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522976" y="310896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A580C"/>
                </a:solidFill>
                <a:latin typeface="Microsoft YaHei"/>
              </a:rPr>
              <a:t>★★★☆☆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095744" y="310896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FFF3E0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95744" y="310896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2563EB"/>
                </a:solidFill>
                <a:latin typeface="Microsoft YaHei"/>
              </a:rPr>
              <a:t>★★★★★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668512" y="310896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FFF3E0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68512" y="310896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A580C"/>
                </a:solidFill>
                <a:latin typeface="Microsoft YaHei"/>
              </a:rPr>
              <a:t>★★★☆☆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241280" y="3108960"/>
            <a:ext cx="1828800" cy="548640"/>
          </a:xfrm>
          <a:prstGeom prst="roundRect">
            <a:avLst>
              <a:gd name="adj" fmla="val 2000"/>
            </a:avLst>
          </a:prstGeom>
          <a:solidFill>
            <a:srgbClr val="FFF3E0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241280" y="3108960"/>
            <a:ext cx="18288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硬件+OS分发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22960" y="3657600"/>
            <a:ext cx="1508760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1248" y="3657600"/>
            <a:ext cx="1508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TapTap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377440" y="365760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377440" y="365760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2820A"/>
                </a:solidFill>
                <a:latin typeface="Microsoft YaHei"/>
              </a:rPr>
              <a:t>★★☆☆☆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950208" y="365760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950208" y="365760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AA5BC"/>
                </a:solidFill>
                <a:latin typeface="Microsoft YaHei"/>
              </a:rPr>
              <a:t>★☆☆☆☆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522976" y="365760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522976" y="365760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2820A"/>
                </a:solidFill>
                <a:latin typeface="Microsoft YaHei"/>
              </a:rPr>
              <a:t>★★☆☆☆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095744" y="365760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95744" y="365760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AA5BC"/>
                </a:solidFill>
                <a:latin typeface="Microsoft YaHei"/>
              </a:rPr>
              <a:t>★☆☆☆☆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668512" y="365760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668512" y="365760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A580C"/>
                </a:solidFill>
                <a:latin typeface="Microsoft YaHei"/>
              </a:rPr>
              <a:t>★★★☆☆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241280" y="3657600"/>
            <a:ext cx="1828800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241280" y="3657600"/>
            <a:ext cx="18288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社区驱动(0%费)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22960" y="4206240"/>
            <a:ext cx="1508760" cy="54864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41248" y="4206240"/>
            <a:ext cx="1508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OPPO/vivo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377440" y="420624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377440" y="420624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2820A"/>
                </a:solidFill>
                <a:latin typeface="Microsoft YaHei"/>
              </a:rPr>
              <a:t>★★☆☆☆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950208" y="420624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950208" y="420624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AA5BC"/>
                </a:solidFill>
                <a:latin typeface="Microsoft YaHei"/>
              </a:rPr>
              <a:t>★☆☆☆☆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522976" y="420624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522976" y="420624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2820A"/>
                </a:solidFill>
                <a:latin typeface="Microsoft YaHei"/>
              </a:rPr>
              <a:t>★★☆☆☆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095744" y="420624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095744" y="420624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2820A"/>
                </a:solidFill>
                <a:latin typeface="Microsoft YaHei"/>
              </a:rPr>
              <a:t>★★☆☆☆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668512" y="420624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668512" y="420624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2820A"/>
                </a:solidFill>
                <a:latin typeface="Microsoft YaHei"/>
              </a:rPr>
              <a:t>★★☆☆☆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241280" y="4206240"/>
            <a:ext cx="1828800" cy="54864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241280" y="4206240"/>
            <a:ext cx="18288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硬件渠道分发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22960" y="4754879"/>
            <a:ext cx="1508760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41248" y="4754879"/>
            <a:ext cx="1508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Apple Store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377440" y="4754879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377440" y="4754879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A580C"/>
                </a:solidFill>
                <a:latin typeface="Microsoft YaHei"/>
              </a:rPr>
              <a:t>★★★☆☆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950208" y="4754879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950208" y="4754879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AA5BC"/>
                </a:solidFill>
                <a:latin typeface="Microsoft YaHei"/>
              </a:rPr>
              <a:t>★☆☆☆☆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522976" y="4754879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522976" y="4754879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2820A"/>
                </a:solidFill>
                <a:latin typeface="Microsoft YaHei"/>
              </a:rPr>
              <a:t>★★☆☆☆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095744" y="4754879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095744" y="4754879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59669"/>
                </a:solidFill>
                <a:latin typeface="Microsoft YaHei"/>
              </a:rPr>
              <a:t>★★★★☆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8668512" y="4754879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668512" y="4754879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59669"/>
                </a:solidFill>
                <a:latin typeface="Microsoft YaHei"/>
              </a:rPr>
              <a:t>★★★★☆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0241280" y="4754879"/>
            <a:ext cx="1828800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241280" y="4754879"/>
            <a:ext cx="18288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高端生态分发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822960" y="5577840"/>
            <a:ext cx="10561320" cy="640080"/>
          </a:xfrm>
          <a:prstGeom prst="roundRect">
            <a:avLst>
              <a:gd name="adj" fmla="val 4000"/>
            </a:avLst>
          </a:prstGeom>
          <a:solidFill>
            <a:srgbClr val="EFF3F9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24128" y="5605272"/>
            <a:ext cx="1024128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关键发现：</a:t>
            </a:r>
            <a:r>
              <a:rPr sz="950" b="1">
                <a:solidFill>
                  <a:srgbClr val="C7000B"/>
                </a:solidFill>
                <a:latin typeface="Microsoft YaHei"/>
              </a:rPr>
              <a:t>华为</a:t>
            </a:r>
            <a:r>
              <a:rPr sz="950" b="0">
                <a:solidFill>
                  <a:srgbClr val="374151"/>
                </a:solidFill>
                <a:latin typeface="Microsoft YaHei"/>
              </a:rPr>
              <a:t>在「端侧AI」是</a:t>
            </a:r>
            <a:r>
              <a:rPr sz="950" b="1">
                <a:solidFill>
                  <a:srgbClr val="DC2626"/>
                </a:solidFill>
                <a:latin typeface="Microsoft YaHei"/>
              </a:rPr>
              <a:t>唯一5★</a:t>
            </a:r>
            <a:r>
              <a:rPr sz="950" b="0">
                <a:solidFill>
                  <a:srgbClr val="374151"/>
                </a:solidFill>
                <a:latin typeface="Microsoft YaHei"/>
              </a:rPr>
              <a:t>（NPU+盘古E Series），但推荐/AIGC/运营全面落后于字节腾讯。</a:t>
            </a:r>
            <a:r>
              <a:rPr sz="950" b="1">
                <a:solidFill>
                  <a:srgbClr val="2563EB"/>
                </a:solidFill>
                <a:latin typeface="Microsoft YaHei"/>
              </a:rPr>
              <a:t>放大端侧AI优势 + 补齐推荐算法</a:t>
            </a:r>
            <a:r>
              <a:rPr sz="950" b="0">
                <a:solidFill>
                  <a:srgbClr val="374151"/>
                </a:solidFill>
                <a:latin typeface="Microsoft YaHei"/>
              </a:rPr>
              <a:t>是核心策略。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11/22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7C3AED"/>
                </a:solidFill>
                <a:latin typeface="Microsoft YaHei"/>
              </a:rPr>
              <a:t>看自己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华为游戏中心 · 能力盘点与差距分析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08760"/>
            <a:ext cx="3383280" cy="21488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508760"/>
            <a:ext cx="3383280" cy="347472"/>
          </a:xfrm>
          <a:prstGeom prst="roundRect">
            <a:avLst>
              <a:gd name="adj" fmla="val 8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508760"/>
            <a:ext cx="3200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</a:rPr>
              <a:t>分发流量规模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920240"/>
            <a:ext cx="3200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国内安卓~15-17%
HMS全球7亿+月活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EA580C"/>
                </a:solidFill>
                <a:latin typeface="Microsoft YaHei"/>
              </a:rPr>
              <a:t>当前 3/5 → 目标 5/5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788920"/>
            <a:ext cx="3108960" cy="128016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2688" y="2788920"/>
            <a:ext cx="1865376" cy="128016"/>
          </a:xfrm>
          <a:prstGeom prst="roundRect">
            <a:avLst>
              <a:gd name="adj" fmla="val 3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32688" y="2953512"/>
            <a:ext cx="3108960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32688" y="2953512"/>
            <a:ext cx="3108960" cy="36576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32688" y="3081528"/>
            <a:ext cx="310896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099815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EA580C"/>
                </a:solidFill>
                <a:latin typeface="Microsoft YaHei"/>
              </a:rPr>
              <a:t>鸿蒙增长+跨设备分发
补齐内容生态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1508760"/>
            <a:ext cx="3383280" cy="21488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0" y="1508760"/>
            <a:ext cx="3383280" cy="347472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8848" y="1508760"/>
            <a:ext cx="3200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</a:rPr>
              <a:t>AI算法能力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8848" y="1920240"/>
            <a:ext cx="3200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基础推荐算法
无AIGC工具链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8848" y="251460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DC2626"/>
                </a:solidFill>
                <a:latin typeface="Microsoft YaHei"/>
              </a:rPr>
              <a:t>当前 2/5 → 目标 5/5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98848" y="2788920"/>
            <a:ext cx="3108960" cy="128016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498848" y="2788920"/>
            <a:ext cx="1243584" cy="128016"/>
          </a:xfrm>
          <a:prstGeom prst="roundRect">
            <a:avLst>
              <a:gd name="adj" fmla="val 3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98848" y="2953512"/>
            <a:ext cx="3108960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498848" y="2953512"/>
            <a:ext cx="3108960" cy="36576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498848" y="3081528"/>
            <a:ext cx="310896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3099815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DC2626"/>
                </a:solidFill>
                <a:latin typeface="Microsoft YaHei"/>
              </a:rPr>
              <a:t>推荐精度vs字节差距大
需引入/自研大模型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79" y="1508760"/>
            <a:ext cx="3383280" cy="21488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55279" y="1508760"/>
            <a:ext cx="3383280" cy="347472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65007" y="1508760"/>
            <a:ext cx="3200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</a:rPr>
              <a:t>端侧AI/硬件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65007" y="1920240"/>
            <a:ext cx="3200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麒麟NPU+盘古E Series
MindSpore推理框架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65007" y="251460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059669"/>
                </a:solidFill>
                <a:latin typeface="Microsoft YaHei"/>
              </a:rPr>
              <a:t>当前 5/5 → 目标 5/5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5007" y="2788920"/>
            <a:ext cx="3108960" cy="128016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065007" y="2788920"/>
            <a:ext cx="3108960" cy="128016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65007" y="2953512"/>
            <a:ext cx="3108960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65007" y="2953512"/>
            <a:ext cx="3108960" cy="36576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065007" y="3081528"/>
            <a:ext cx="310896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59" y="3099815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059669"/>
                </a:solidFill>
                <a:latin typeface="Microsoft YaHei"/>
              </a:rPr>
              <a:t>✅ 核心独占优势
业界无人可及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2960" y="3840479"/>
            <a:ext cx="3383280" cy="21488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22960" y="3840479"/>
            <a:ext cx="3383280" cy="347472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3840479"/>
            <a:ext cx="3200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</a:rPr>
              <a:t>HarmonyOS原生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4251959"/>
            <a:ext cx="3200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鸿蒙NEXT发布
Ark Engine原生图形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846319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2563EB"/>
                </a:solidFill>
                <a:latin typeface="Microsoft YaHei"/>
              </a:rPr>
              <a:t>当前 4/5 → 目标 5/5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2688" y="5120640"/>
            <a:ext cx="3108960" cy="128016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32688" y="5120640"/>
            <a:ext cx="2487168" cy="128016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32688" y="5285231"/>
            <a:ext cx="3108960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32688" y="5285231"/>
            <a:ext cx="3108960" cy="36576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32688" y="5413247"/>
            <a:ext cx="310896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5840" y="5431536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2563EB"/>
                </a:solidFill>
                <a:latin typeface="Microsoft YaHei"/>
              </a:rPr>
              <a:t>原生游戏加速中
缺口=机会窗口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89120" y="3840479"/>
            <a:ext cx="3383280" cy="21488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389120" y="3840479"/>
            <a:ext cx="3383280" cy="347472"/>
          </a:xfrm>
          <a:prstGeom prst="roundRect">
            <a:avLst>
              <a:gd name="adj" fmla="val 8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98848" y="3840479"/>
            <a:ext cx="3200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</a:rPr>
              <a:t>开发者生态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98848" y="4251959"/>
            <a:ext cx="3200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HMS 500万+开发者
游戏SDK持续完善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98848" y="4846319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C2820A"/>
                </a:solidFill>
                <a:latin typeface="Microsoft YaHei"/>
              </a:rPr>
              <a:t>当前 3/5 → 目标 5/5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498848" y="5120640"/>
            <a:ext cx="3108960" cy="128016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498848" y="5120640"/>
            <a:ext cx="1865376" cy="128016"/>
          </a:xfrm>
          <a:prstGeom prst="roundRect">
            <a:avLst>
              <a:gd name="adj" fmla="val 3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498848" y="5285231"/>
            <a:ext cx="3108960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498848" y="5285231"/>
            <a:ext cx="3108960" cy="36576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498848" y="5413247"/>
            <a:ext cx="310896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0" y="5431536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C2820A"/>
                </a:solidFill>
                <a:latin typeface="Microsoft YaHei"/>
              </a:rPr>
              <a:t>游戏开发者渗透率低
需降低适配门槛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955279" y="3840479"/>
            <a:ext cx="3383280" cy="21488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955279" y="3840479"/>
            <a:ext cx="3383280" cy="347472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65007" y="3840479"/>
            <a:ext cx="3200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</a:rPr>
              <a:t>内容/社区运营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65007" y="4251959"/>
            <a:ext cx="3200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弱于TapTap/B站/抖音
缺UGC内容生态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65007" y="4846319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DC2626"/>
                </a:solidFill>
                <a:latin typeface="Microsoft YaHei"/>
              </a:rPr>
              <a:t>当前 2/5 → 目标 5/5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065007" y="5120640"/>
            <a:ext cx="3108960" cy="128016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8065007" y="5120640"/>
            <a:ext cx="1243584" cy="128016"/>
          </a:xfrm>
          <a:prstGeom prst="roundRect">
            <a:avLst>
              <a:gd name="adj" fmla="val 3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065007" y="5285231"/>
            <a:ext cx="3108960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8065007" y="5285231"/>
            <a:ext cx="3108960" cy="36576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8065007" y="5413247"/>
            <a:ext cx="310896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138159" y="5431536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DC2626"/>
                </a:solidFill>
                <a:latin typeface="Microsoft YaHei"/>
              </a:rPr>
              <a:t>核心短板
需社区+内容双驱动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12/22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59669"/>
                </a:solidFill>
                <a:latin typeface="Microsoft YaHei"/>
              </a:rPr>
              <a:t>看机会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6大AI创新方向 · 优先级矩阵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2560320" y="1828800"/>
            <a:ext cx="6858000" cy="3840480"/>
          </a:xfrm>
          <a:prstGeom prst="rect">
            <a:avLst/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3749039"/>
            <a:ext cx="6858000" cy="18288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89320" y="1828800"/>
            <a:ext cx="18288" cy="3840480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15184" y="1847088"/>
            <a:ext cx="914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059669"/>
                </a:solidFill>
                <a:latin typeface="Microsoft YaHei"/>
              </a:rPr>
              <a:t>速赢区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0">
                <a:solidFill>
                  <a:srgbClr val="6B7280"/>
                </a:solidFill>
                <a:latin typeface="Microsoft YaHei"/>
              </a:rPr>
              <a:t>高影响·低门槛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847088"/>
            <a:ext cx="9601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DC2626"/>
                </a:solidFill>
                <a:latin typeface="Microsoft YaHei"/>
              </a:rPr>
              <a:t>战略制高点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0">
                <a:solidFill>
                  <a:srgbClr val="6B7280"/>
                </a:solidFill>
                <a:latin typeface="Microsoft YaHei"/>
              </a:rPr>
              <a:t>高影响·高门槛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5184" y="5358384"/>
            <a:ext cx="914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6B7280"/>
                </a:solidFill>
                <a:latin typeface="Microsoft YaHei"/>
              </a:rPr>
              <a:t>补位区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0">
                <a:solidFill>
                  <a:srgbClr val="9AA5BC"/>
                </a:solidFill>
                <a:latin typeface="Microsoft YaHei"/>
              </a:rPr>
              <a:t>低影响·低门槛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5358384"/>
            <a:ext cx="9601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AA5BC"/>
                </a:solidFill>
                <a:latin typeface="Microsoft YaHei"/>
              </a:rPr>
              <a:t>暂缓区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0">
                <a:solidFill>
                  <a:srgbClr val="9AA5BC"/>
                </a:solidFill>
                <a:latin typeface="Microsoft YaHei"/>
              </a:rPr>
              <a:t>低影响·高门槛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1554480"/>
            <a:ext cx="6858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</a:rPr>
              <a:t>影响力（高 ↑）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5696712"/>
            <a:ext cx="6858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</a:rPr>
              <a:t>技术门槛/投入（低 ← → 高）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3360" y="2286000"/>
            <a:ext cx="914400" cy="237744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0" y="2295144"/>
            <a:ext cx="914400" cy="21945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Microsoft YaHei"/>
              </a:rPr>
              <a:t>AI智能分发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89220" y="2785262"/>
            <a:ext cx="914400" cy="237744"/>
          </a:xfrm>
          <a:prstGeom prst="roundRect">
            <a:avLst>
              <a:gd name="adj" fmla="val 3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89220" y="2794406"/>
            <a:ext cx="914400" cy="21945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Microsoft YaHei"/>
              </a:rPr>
              <a:t>AIGC开发者工具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46620" y="2017166"/>
            <a:ext cx="914400" cy="237744"/>
          </a:xfrm>
          <a:prstGeom prst="roundRect">
            <a:avLst>
              <a:gd name="adj" fmla="val 3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46620" y="2026310"/>
            <a:ext cx="914400" cy="21945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Microsoft YaHei"/>
              </a:rPr>
              <a:t>端侧AI游戏体验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2401214"/>
            <a:ext cx="914400" cy="237744"/>
          </a:xfrm>
          <a:prstGeom prst="roundRect">
            <a:avLst>
              <a:gd name="adj" fmla="val 3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03720" y="2410358"/>
            <a:ext cx="914400" cy="21945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Microsoft YaHei"/>
              </a:rPr>
              <a:t>HarmonyOS原生AI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11879" y="3937406"/>
            <a:ext cx="914400" cy="237744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11879" y="3946550"/>
            <a:ext cx="914400" cy="21945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Microsoft YaHei"/>
              </a:rPr>
              <a:t>AI反作弊/安全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32120" y="3438144"/>
            <a:ext cx="914400" cy="237744"/>
          </a:xfrm>
          <a:prstGeom prst="roundRect">
            <a:avLst>
              <a:gd name="adj" fmla="val 3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32120" y="3447287"/>
            <a:ext cx="914400" cy="21945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Microsoft YaHei"/>
              </a:rPr>
              <a:t>AI数据分析平台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1463040"/>
            <a:ext cx="1600200" cy="438912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1536192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59669"/>
                </a:solidFill>
                <a:latin typeface="Microsoft YaHei"/>
              </a:rPr>
              <a:t>方向速览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" y="1920240"/>
            <a:ext cx="14630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059669"/>
                </a:solidFill>
                <a:latin typeface="Microsoft YaHei"/>
              </a:rPr>
              <a:t>#1 AI智能分发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推荐升级·速赢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" y="2542032"/>
            <a:ext cx="14630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0D9488"/>
                </a:solidFill>
                <a:latin typeface="Microsoft YaHei"/>
              </a:rPr>
              <a:t>#2 AIGC工具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降低开发门槛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3163824"/>
            <a:ext cx="14630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DC2626"/>
                </a:solidFill>
                <a:latin typeface="Microsoft YaHei"/>
              </a:rPr>
              <a:t>#3 端侧AI体验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AI NPC·独占壁垒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" y="3785616"/>
            <a:ext cx="14630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7C3AED"/>
                </a:solidFill>
                <a:latin typeface="Microsoft YaHei"/>
              </a:rPr>
              <a:t>#4 鸿蒙原生AI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生态锁定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4407408"/>
            <a:ext cx="14630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2563EB"/>
                </a:solidFill>
                <a:latin typeface="Microsoft YaHei"/>
              </a:rPr>
              <a:t>#5 AI反作弊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公平性·补位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" y="5029200"/>
            <a:ext cx="14630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C2820A"/>
                </a:solidFill>
                <a:latin typeface="Microsoft YaHei"/>
              </a:rPr>
              <a:t>#6 AI数据分析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开发者增值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01200" y="1463040"/>
            <a:ext cx="1691640" cy="4389120"/>
          </a:xfrm>
          <a:prstGeom prst="roundRect">
            <a:avLst>
              <a:gd name="adj" fmla="val 4000"/>
            </a:avLst>
          </a:prstGeom>
          <a:solidFill>
            <a:srgbClr val="EFF3F9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74352" y="1536192"/>
            <a:ext cx="1554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59669"/>
                </a:solidFill>
                <a:latin typeface="Microsoft YaHei"/>
              </a:rPr>
              <a:t>行动建议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74352" y="1920240"/>
            <a:ext cx="155448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47504" y="195681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59669"/>
                </a:solidFill>
                <a:latin typeface="Microsoft YaHei"/>
              </a:rPr>
              <a:t>Q1 速赢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47504" y="2249424"/>
            <a:ext cx="1417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AI推荐+反作弊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74352" y="2788920"/>
            <a:ext cx="155448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47504" y="282549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icrosoft YaHei"/>
              </a:rPr>
              <a:t>Q2 攻坚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47504" y="3118103"/>
            <a:ext cx="1417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AIGC工具链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674352" y="3657600"/>
            <a:ext cx="155448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47504" y="369417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DC2626"/>
                </a:solidFill>
                <a:latin typeface="Microsoft YaHei"/>
              </a:rPr>
              <a:t>Q3 试点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47504" y="3986784"/>
            <a:ext cx="1417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端侧AI NPC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674352" y="4526280"/>
            <a:ext cx="155448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747504" y="45628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icrosoft YaHei"/>
              </a:rPr>
              <a:t>Q4 突破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47504" y="4855464"/>
            <a:ext cx="1417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鸿蒙AI生态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13/22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434840"/>
            <a:ext cx="12191695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468880"/>
            <a:ext cx="457200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0" b="1">
                <a:solidFill>
                  <a:srgbClr val="C7000B"/>
                </a:solidFill>
                <a:latin typeface="Microsoft YaHe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2697480"/>
            <a:ext cx="86868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C7000B"/>
                </a:solidFill>
                <a:latin typeface="Microsoft YaHei"/>
              </a:rPr>
              <a:t>THREE DEFINES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3108960"/>
            <a:ext cx="91440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61B2E"/>
                </a:solidFill>
                <a:latin typeface="Microsoft YaHei"/>
              </a:rPr>
              <a:t>三定 · 战略定位与执行策略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3886200"/>
            <a:ext cx="841248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74151"/>
                </a:solidFill>
                <a:latin typeface="Microsoft YaHei"/>
              </a:rPr>
              <a:t>定位 · 定目标 · 定策略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14/22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DC2626"/>
                </a:solidFill>
                <a:latin typeface="Microsoft YaHei"/>
              </a:rPr>
              <a:t>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差异化战略定位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63040"/>
            <a:ext cx="10561320" cy="1143000"/>
          </a:xfrm>
          <a:prstGeom prst="roundRect">
            <a:avLst>
              <a:gd name="adj" fmla="val 5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554480"/>
            <a:ext cx="10149840" cy="9601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战略定位：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「端侧AI原生游戏平台」</a:t>
            </a:r>
            <a:r>
              <a:rPr sz="1000" b="0">
                <a:solidFill>
                  <a:srgbClr val="FFE0E0"/>
                </a:solidFill>
                <a:latin typeface="Microsoft YaHei"/>
              </a:rPr>
              <a:t> — 不是流量渠道(字节)，不是社交生态(腾讯)，不是社区评价(TapTap)，</a:t>
            </a:r>
            <a:r>
              <a:rPr sz="1000" b="1">
                <a:solidFill>
                  <a:srgbClr val="FBBF24"/>
                </a:solidFill>
                <a:latin typeface="Microsoft YaHei"/>
              </a:rPr>
              <a:t>而是以端侧AI推理为核心的游戏体验平台。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743200"/>
            <a:ext cx="10561320" cy="320040"/>
          </a:xfrm>
          <a:prstGeom prst="roundRect">
            <a:avLst>
              <a:gd name="adj" fmla="val 3000"/>
            </a:avLst>
          </a:prstGeom>
          <a:solidFill>
            <a:srgbClr val="EF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761488"/>
            <a:ext cx="1024128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C2626"/>
                </a:solidFill>
                <a:latin typeface="Microsoft YaHei"/>
              </a:rPr>
              <a:t>▎差异化对比：华为 vs 竞品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127248"/>
            <a:ext cx="1645920" cy="384048"/>
          </a:xfrm>
          <a:prstGeom prst="roundRect">
            <a:avLst>
              <a:gd name="adj" fmla="val 2000"/>
            </a:avLst>
          </a:prstGeom>
          <a:solidFill>
            <a:srgbClr val="C7000B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127248"/>
            <a:ext cx="1554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维度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312724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C7000B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3744" y="312724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Microsoft YaHei"/>
              </a:rPr>
              <a:t>抖音游戏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312724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C7000B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312724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Microsoft YaHei"/>
              </a:rPr>
              <a:t>腾讯(微信)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0" y="312724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C7000B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9983" y="312724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Microsoft YaHei"/>
              </a:rPr>
              <a:t>TapTap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78240" y="3127248"/>
            <a:ext cx="2606040" cy="384048"/>
          </a:xfrm>
          <a:prstGeom prst="roundRect">
            <a:avLst>
              <a:gd name="adj" fmla="val 2000"/>
            </a:avLst>
          </a:prstGeom>
          <a:solidFill>
            <a:srgbClr val="C7000B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33104" y="3127248"/>
            <a:ext cx="251460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Microsoft YaHei"/>
              </a:rPr>
              <a:t>华为(目标)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538728"/>
            <a:ext cx="1645920" cy="384048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538728"/>
            <a:ext cx="1554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核心驱动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468880" y="353872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23744" y="353872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内容算法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0" y="353872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353872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社交关系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0" y="353872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9983" y="353872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社区评价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78240" y="3538728"/>
            <a:ext cx="2606040" cy="384048"/>
          </a:xfrm>
          <a:prstGeom prst="roundRect">
            <a:avLst>
              <a:gd name="adj" fmla="val 2000"/>
            </a:avLst>
          </a:prstGeom>
          <a:solidFill>
            <a:srgbClr val="FFF3E0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33104" y="3538728"/>
            <a:ext cx="251460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DC2626"/>
                </a:solidFill>
                <a:latin typeface="Microsoft YaHei"/>
              </a:rPr>
              <a:t>端侧AI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3950208"/>
            <a:ext cx="164592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7824" y="3950208"/>
            <a:ext cx="1554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推荐模式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468880" y="395020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523744" y="395020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云端算法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0" y="395020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26864" y="395020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云端算法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0" y="395020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29983" y="395020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用户评分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78240" y="3950208"/>
            <a:ext cx="2606040" cy="384048"/>
          </a:xfrm>
          <a:prstGeom prst="roundRect">
            <a:avLst>
              <a:gd name="adj" fmla="val 2000"/>
            </a:avLst>
          </a:prstGeom>
          <a:solidFill>
            <a:srgbClr val="FFF3E0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950208"/>
            <a:ext cx="251460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DC2626"/>
                </a:solidFill>
                <a:latin typeface="Microsoft YaHei"/>
              </a:rPr>
              <a:t>端侧+云端协同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4361688"/>
            <a:ext cx="1645920" cy="384048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7824" y="4361688"/>
            <a:ext cx="1554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隐私保护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468880" y="436168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523744" y="436168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云端依赖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0" y="436168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26864" y="436168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云端依赖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0" y="436168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29983" y="436168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云端依赖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778240" y="4361688"/>
            <a:ext cx="2606040" cy="384048"/>
          </a:xfrm>
          <a:prstGeom prst="roundRect">
            <a:avLst>
              <a:gd name="adj" fmla="val 2000"/>
            </a:avLst>
          </a:prstGeom>
          <a:solidFill>
            <a:srgbClr val="FFF3E0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833104" y="4361688"/>
            <a:ext cx="251460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DC2626"/>
                </a:solidFill>
                <a:latin typeface="Microsoft YaHei"/>
              </a:rPr>
              <a:t>端侧优先·数据不出端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2960" y="4773168"/>
            <a:ext cx="164592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77824" y="4773168"/>
            <a:ext cx="1554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响应延迟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468880" y="477316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23744" y="477316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200ms+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0" y="477316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26864" y="477316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200ms+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675120" y="477316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729983" y="477316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200ms+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778240" y="4773168"/>
            <a:ext cx="2606040" cy="384048"/>
          </a:xfrm>
          <a:prstGeom prst="roundRect">
            <a:avLst>
              <a:gd name="adj" fmla="val 2000"/>
            </a:avLst>
          </a:prstGeom>
          <a:solidFill>
            <a:srgbClr val="FFF3E0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833104" y="4773168"/>
            <a:ext cx="251460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DC2626"/>
                </a:solidFill>
                <a:latin typeface="Microsoft YaHei"/>
              </a:rPr>
              <a:t>&lt;50ms端侧推理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22960" y="5184648"/>
            <a:ext cx="1645920" cy="384048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77824" y="5184648"/>
            <a:ext cx="1554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离线AI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468880" y="518464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23744" y="518464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无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572000" y="518464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626864" y="518464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无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675120" y="518464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729983" y="518464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无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778240" y="5184648"/>
            <a:ext cx="2606040" cy="384048"/>
          </a:xfrm>
          <a:prstGeom prst="roundRect">
            <a:avLst>
              <a:gd name="adj" fmla="val 2000"/>
            </a:avLst>
          </a:prstGeom>
          <a:solidFill>
            <a:srgbClr val="FFF3E0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833104" y="5184648"/>
            <a:ext cx="251460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DC2626"/>
                </a:solidFill>
                <a:latin typeface="Microsoft YaHei"/>
              </a:rPr>
              <a:t>端侧可用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22960" y="5596128"/>
            <a:ext cx="164592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7824" y="5596128"/>
            <a:ext cx="1554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开发者赋能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468880" y="559612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523744" y="559612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流量分发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572000" y="559612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626864" y="559612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流量+社交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675120" y="559612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729983" y="559612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0%费率社区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778240" y="5596128"/>
            <a:ext cx="2606040" cy="384048"/>
          </a:xfrm>
          <a:prstGeom prst="roundRect">
            <a:avLst>
              <a:gd name="adj" fmla="val 2000"/>
            </a:avLst>
          </a:prstGeom>
          <a:solidFill>
            <a:srgbClr val="FFF3E0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833104" y="5596128"/>
            <a:ext cx="251460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DC2626"/>
                </a:solidFill>
                <a:latin typeface="Microsoft YaHei"/>
              </a:rPr>
              <a:t>AIGC工具+AI测试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15/22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2820A"/>
                </a:solidFill>
                <a:latin typeface="Microsoft YaHei"/>
              </a:rPr>
              <a:t>定目标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三阶段量化目标 · 从速赢到突破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63040"/>
            <a:ext cx="3383280" cy="4572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463040"/>
            <a:ext cx="3383280" cy="777240"/>
          </a:xfrm>
          <a:prstGeom prst="roundRect">
            <a:avLst>
              <a:gd name="adj" fmla="val 6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481328"/>
            <a:ext cx="31638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Phase 1 · 速赢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3163824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Microsoft YaHei"/>
              </a:rPr>
              <a:t>Q1-Q2 · 3-6个月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029968"/>
            <a:ext cx="3163824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证明价值 · 快速验证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377440"/>
            <a:ext cx="3163824" cy="804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2688" y="2377440"/>
            <a:ext cx="54864" cy="804672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2414016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59669"/>
                </a:solidFill>
                <a:latin typeface="Microsoft YaHei"/>
              </a:rPr>
              <a:t>AI推荐升级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2706624"/>
            <a:ext cx="30175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CTR +20%·转化率 +15%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" y="3255264"/>
            <a:ext cx="3163824" cy="804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32688" y="3255264"/>
            <a:ext cx="54864" cy="804672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3291840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59669"/>
                </a:solidFill>
                <a:latin typeface="Microsoft YaHei"/>
              </a:rPr>
              <a:t>AIGC工具MVP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" y="3584448"/>
            <a:ext cx="30175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2D美术+音效生成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2688" y="4133087"/>
            <a:ext cx="3163824" cy="804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2688" y="4133087"/>
            <a:ext cx="54864" cy="804672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" y="4169663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59669"/>
                </a:solidFill>
                <a:latin typeface="Microsoft YaHei"/>
              </a:rPr>
              <a:t>AI反作弊上线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" y="4462272"/>
            <a:ext cx="30175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行为分析+实时拦截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2688" y="5010912"/>
            <a:ext cx="3163824" cy="804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2688" y="5010912"/>
            <a:ext cx="54864" cy="804672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6" y="5047488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59669"/>
                </a:solidFill>
                <a:latin typeface="Microsoft YaHei"/>
              </a:rPr>
              <a:t>鸿蒙AI SDK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" y="5340096"/>
            <a:ext cx="30175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游戏AI接口开放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2688" y="5907023"/>
            <a:ext cx="3163824" cy="411480"/>
          </a:xfrm>
          <a:prstGeom prst="roundRect">
            <a:avLst>
              <a:gd name="adj" fmla="val 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5907023"/>
            <a:ext cx="3163824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目标: 推荐CTR+20%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89120" y="1463040"/>
            <a:ext cx="3383280" cy="4572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389120" y="1463040"/>
            <a:ext cx="3383280" cy="777240"/>
          </a:xfrm>
          <a:prstGeom prst="roundRect">
            <a:avLst>
              <a:gd name="adj" fmla="val 6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98848" y="1481328"/>
            <a:ext cx="31638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Phase 2 · 攻坚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8848" y="1755648"/>
            <a:ext cx="3163824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Microsoft YaHei"/>
              </a:rPr>
              <a:t>Q3-Q4 · 6-12个月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98848" y="2029968"/>
            <a:ext cx="3163824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端侧AI体验 · 生态扩展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98848" y="2377440"/>
            <a:ext cx="3163824" cy="804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498848" y="2377440"/>
            <a:ext cx="54864" cy="804672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08576" y="2414016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A580C"/>
                </a:solidFill>
                <a:latin typeface="Microsoft YaHei"/>
              </a:rPr>
              <a:t>端侧AI NPC Demo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08576" y="2706624"/>
            <a:ext cx="30175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盘古E Series推理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98848" y="3255264"/>
            <a:ext cx="3163824" cy="804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498848" y="3255264"/>
            <a:ext cx="54864" cy="804672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08576" y="3291840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A580C"/>
                </a:solidFill>
                <a:latin typeface="Microsoft YaHei"/>
              </a:rPr>
              <a:t>开发者工具链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08576" y="3584448"/>
            <a:ext cx="30175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测试+优化+适配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498848" y="4133087"/>
            <a:ext cx="3163824" cy="804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498848" y="4133087"/>
            <a:ext cx="54864" cy="804672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08576" y="4169663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A580C"/>
                </a:solidFill>
                <a:latin typeface="Microsoft YaHei"/>
              </a:rPr>
              <a:t>鸿蒙AI游戏引擎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8576" y="4462272"/>
            <a:ext cx="30175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Ark Engine AI扩展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498848" y="5010912"/>
            <a:ext cx="3163824" cy="804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498848" y="5010912"/>
            <a:ext cx="54864" cy="804672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08576" y="5047488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A580C"/>
                </a:solidFill>
                <a:latin typeface="Microsoft YaHei"/>
              </a:rPr>
              <a:t>AI数据分析平台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08576" y="5340096"/>
            <a:ext cx="30175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开发者数据看板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498848" y="5907023"/>
            <a:ext cx="3163824" cy="411480"/>
          </a:xfrm>
          <a:prstGeom prst="roundRect">
            <a:avLst>
              <a:gd name="adj" fmla="val 5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98848" y="5907023"/>
            <a:ext cx="3163824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目标: 端侧AI游戏Demo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955279" y="1463040"/>
            <a:ext cx="3383280" cy="4572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955279" y="1463040"/>
            <a:ext cx="3383280" cy="777240"/>
          </a:xfrm>
          <a:prstGeom prst="roundRect">
            <a:avLst>
              <a:gd name="adj" fmla="val 6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065007" y="1481328"/>
            <a:ext cx="31638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Phase 3 · 突破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65007" y="1755648"/>
            <a:ext cx="3163824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Microsoft YaHei"/>
              </a:rPr>
              <a:t>Y2 · 12-24个月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65007" y="2029968"/>
            <a:ext cx="3163824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AI原生生态 · 跨设备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65007" y="2377440"/>
            <a:ext cx="3163824" cy="804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065007" y="2377440"/>
            <a:ext cx="54864" cy="804672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174736" y="2414016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DC2626"/>
                </a:solidFill>
                <a:latin typeface="Microsoft YaHei"/>
              </a:rPr>
              <a:t>端侧AI游戏生态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74736" y="2706624"/>
            <a:ext cx="30175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10+端侧AI原生游戏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065007" y="3255264"/>
            <a:ext cx="3163824" cy="804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8065007" y="3255264"/>
            <a:ext cx="54864" cy="804672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174736" y="3291840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DC2626"/>
                </a:solidFill>
                <a:latin typeface="Microsoft YaHei"/>
              </a:rPr>
              <a:t>跨设备AI协同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74736" y="3584448"/>
            <a:ext cx="30175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手机/平板/车机/智慧屏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065007" y="4133087"/>
            <a:ext cx="3163824" cy="804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065007" y="4133087"/>
            <a:ext cx="54864" cy="804672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174736" y="4169663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DC2626"/>
                </a:solidFill>
                <a:latin typeface="Microsoft YaHei"/>
              </a:rPr>
              <a:t>端侧大模型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174736" y="4462272"/>
            <a:ext cx="30175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盘古E Series迭代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065007" y="5010912"/>
            <a:ext cx="3163824" cy="804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8065007" y="5010912"/>
            <a:ext cx="54864" cy="804672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174736" y="5047488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DC2626"/>
                </a:solidFill>
                <a:latin typeface="Microsoft YaHei"/>
              </a:rPr>
              <a:t>商业化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74736" y="5340096"/>
            <a:ext cx="30175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SaaS+分润+增值服务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065007" y="5907023"/>
            <a:ext cx="3163824" cy="41148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065007" y="5907023"/>
            <a:ext cx="3163824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目标: 10+AI原生游戏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16/22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7000B"/>
                </a:solidFill>
                <a:latin typeface="Microsoft YaHei"/>
              </a:rPr>
              <a:t>定策略 #1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12个月技术路线图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2286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61B2E"/>
                </a:solidFill>
                <a:latin typeface="Microsoft YaHei"/>
              </a:rPr>
              <a:t>方向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1554480"/>
            <a:ext cx="681990" cy="274320"/>
          </a:xfrm>
          <a:prstGeom prst="rect">
            <a:avLst/>
          </a:prstGeom>
          <a:solidFill>
            <a:srgbClr val="EFF3F9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155448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Q1.1</a:t>
            </a:r>
          </a:p>
        </p:txBody>
      </p:sp>
      <p:sp>
        <p:nvSpPr>
          <p:cNvPr id="8" name="Rectangle 7"/>
          <p:cNvSpPr/>
          <p:nvPr/>
        </p:nvSpPr>
        <p:spPr>
          <a:xfrm>
            <a:off x="3882390" y="1554480"/>
            <a:ext cx="681990" cy="274320"/>
          </a:xfrm>
          <a:prstGeom prst="rect">
            <a:avLst/>
          </a:prstGeom>
          <a:solidFill>
            <a:srgbClr val="F7F9FC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82390" y="155448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Q1.2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64380" y="1554480"/>
            <a:ext cx="681990" cy="274320"/>
          </a:xfrm>
          <a:prstGeom prst="rect">
            <a:avLst/>
          </a:prstGeom>
          <a:solidFill>
            <a:srgbClr val="F7F9FC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4380" y="155448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Q1.3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6370" y="1554480"/>
            <a:ext cx="681990" cy="274320"/>
          </a:xfrm>
          <a:prstGeom prst="rect">
            <a:avLst/>
          </a:prstGeom>
          <a:solidFill>
            <a:srgbClr val="EFF3F9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46370" y="155448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Q2.1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8360" y="1554480"/>
            <a:ext cx="681990" cy="274320"/>
          </a:xfrm>
          <a:prstGeom prst="rect">
            <a:avLst/>
          </a:prstGeom>
          <a:solidFill>
            <a:srgbClr val="F7F9FC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28360" y="155448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Q2.2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10350" y="1554480"/>
            <a:ext cx="681990" cy="274320"/>
          </a:xfrm>
          <a:prstGeom prst="rect">
            <a:avLst/>
          </a:prstGeom>
          <a:solidFill>
            <a:srgbClr val="F7F9FC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10350" y="155448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Q2.3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92340" y="1554480"/>
            <a:ext cx="681990" cy="274320"/>
          </a:xfrm>
          <a:prstGeom prst="rect">
            <a:avLst/>
          </a:prstGeom>
          <a:solidFill>
            <a:srgbClr val="EFF3F9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92340" y="155448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Q3.1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74330" y="1554480"/>
            <a:ext cx="681990" cy="274320"/>
          </a:xfrm>
          <a:prstGeom prst="rect">
            <a:avLst/>
          </a:prstGeom>
          <a:solidFill>
            <a:srgbClr val="F7F9FC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74330" y="155448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Q3.2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56320" y="1554480"/>
            <a:ext cx="681990" cy="274320"/>
          </a:xfrm>
          <a:prstGeom prst="rect">
            <a:avLst/>
          </a:prstGeom>
          <a:solidFill>
            <a:srgbClr val="F7F9FC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56320" y="155448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Q3.3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38310" y="1554480"/>
            <a:ext cx="681990" cy="274320"/>
          </a:xfrm>
          <a:prstGeom prst="rect">
            <a:avLst/>
          </a:prstGeom>
          <a:solidFill>
            <a:srgbClr val="EFF3F9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38310" y="155448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Q4.1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20300" y="1554480"/>
            <a:ext cx="681990" cy="274320"/>
          </a:xfrm>
          <a:prstGeom prst="rect">
            <a:avLst/>
          </a:prstGeom>
          <a:solidFill>
            <a:srgbClr val="F7F9FC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155448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Q4.2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702290" y="1554480"/>
            <a:ext cx="681990" cy="274320"/>
          </a:xfrm>
          <a:prstGeom prst="rect">
            <a:avLst/>
          </a:prstGeom>
          <a:solidFill>
            <a:srgbClr val="F7F9FC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02290" y="155448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Q4.3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1847088"/>
            <a:ext cx="22860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AI推荐算法升级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0" y="1847088"/>
            <a:ext cx="81838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218688" y="1883664"/>
            <a:ext cx="2691384" cy="182880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2139696"/>
            <a:ext cx="22860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AIGC美术工具MVP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0" y="2139696"/>
            <a:ext cx="81838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900678" y="2176272"/>
            <a:ext cx="2691384" cy="182880"/>
          </a:xfrm>
          <a:prstGeom prst="roundRect">
            <a:avLst>
              <a:gd name="adj" fmla="val 3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2432303"/>
            <a:ext cx="22860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AI反作弊系统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0" y="2432303"/>
            <a:ext cx="81838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218688" y="2468879"/>
            <a:ext cx="2009394" cy="182880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2724911"/>
            <a:ext cx="22860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鸿蒙AI SDK开放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0" y="2724911"/>
            <a:ext cx="81838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82668" y="2761487"/>
            <a:ext cx="2691384" cy="182880"/>
          </a:xfrm>
          <a:prstGeom prst="roundRect">
            <a:avLst>
              <a:gd name="adj" fmla="val 3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3017519"/>
            <a:ext cx="22860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端侧AI NPC Demo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0" y="3017519"/>
            <a:ext cx="81838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946648" y="3054095"/>
            <a:ext cx="3373374" cy="182880"/>
          </a:xfrm>
          <a:prstGeom prst="roundRect">
            <a:avLst>
              <a:gd name="adj" fmla="val 3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960" y="3310127"/>
            <a:ext cx="22860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开发者工具链(测试)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0" y="3310127"/>
            <a:ext cx="81838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628638" y="3346703"/>
            <a:ext cx="2691384" cy="182880"/>
          </a:xfrm>
          <a:prstGeom prst="roundRect">
            <a:avLst>
              <a:gd name="adj" fmla="val 3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2960" y="3602735"/>
            <a:ext cx="22860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鸿蒙AI游戏引擎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00400" y="3602735"/>
            <a:ext cx="81838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7992618" y="3639311"/>
            <a:ext cx="2691384" cy="182880"/>
          </a:xfrm>
          <a:prstGeom prst="roundRect">
            <a:avLst>
              <a:gd name="adj" fmla="val 3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" y="3895343"/>
            <a:ext cx="22860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AI数据分析平台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0" y="3895343"/>
            <a:ext cx="81838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310628" y="3931919"/>
            <a:ext cx="2691384" cy="182880"/>
          </a:xfrm>
          <a:prstGeom prst="roundRect">
            <a:avLst>
              <a:gd name="adj" fmla="val 3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4187951"/>
            <a:ext cx="22860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跨设备AI协同探索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00400" y="4187951"/>
            <a:ext cx="81838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356598" y="4224527"/>
            <a:ext cx="2009394" cy="182880"/>
          </a:xfrm>
          <a:prstGeom prst="roundRect">
            <a:avLst>
              <a:gd name="adj" fmla="val 30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22960" y="4846320"/>
            <a:ext cx="2514600" cy="7772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822960" y="4846320"/>
            <a:ext cx="64008" cy="77724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0120" y="4882896"/>
            <a:ext cx="2286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59669"/>
                </a:solidFill>
                <a:latin typeface="Microsoft YaHei"/>
              </a:rPr>
              <a:t>M3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0120" y="5120640"/>
            <a:ext cx="2286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61B2E"/>
                </a:solidFill>
                <a:latin typeface="Microsoft YaHei"/>
              </a:rPr>
              <a:t>推荐升级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340096"/>
            <a:ext cx="2286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CTR +20%·反作弊上线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456432" y="4846320"/>
            <a:ext cx="2514600" cy="7772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3456432" y="4846320"/>
            <a:ext cx="64008" cy="777240"/>
          </a:xfrm>
          <a:prstGeom prst="roundRect">
            <a:avLst>
              <a:gd name="adj" fmla="val 2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593591" y="4882896"/>
            <a:ext cx="2286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820A"/>
                </a:solidFill>
                <a:latin typeface="Microsoft YaHei"/>
              </a:rPr>
              <a:t>M6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93591" y="5120640"/>
            <a:ext cx="2286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61B2E"/>
                </a:solidFill>
                <a:latin typeface="Microsoft YaHei"/>
              </a:rPr>
              <a:t>AIGC工具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593591" y="5340096"/>
            <a:ext cx="2286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开发者可用·SDK开放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089904" y="4846320"/>
            <a:ext cx="2514600" cy="7772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089904" y="4846320"/>
            <a:ext cx="64008" cy="777240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27064" y="4882896"/>
            <a:ext cx="2286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A580C"/>
                </a:solidFill>
                <a:latin typeface="Microsoft YaHei"/>
              </a:rPr>
              <a:t>M9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27064" y="5120640"/>
            <a:ext cx="2286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61B2E"/>
                </a:solidFill>
                <a:latin typeface="Microsoft YaHei"/>
              </a:rPr>
              <a:t>端侧AI Demo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27064" y="5340096"/>
            <a:ext cx="2286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AI NPC可交互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723376" y="4846320"/>
            <a:ext cx="2514600" cy="7772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8723376" y="4846320"/>
            <a:ext cx="64008" cy="77724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860536" y="4882896"/>
            <a:ext cx="2286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C2626"/>
                </a:solidFill>
                <a:latin typeface="Microsoft YaHei"/>
              </a:rPr>
              <a:t>M12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60536" y="5120640"/>
            <a:ext cx="2286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61B2E"/>
                </a:solidFill>
                <a:latin typeface="Microsoft YaHei"/>
              </a:rPr>
              <a:t>生态构建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860536" y="5340096"/>
            <a:ext cx="2286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鸿蒙AI游戏引擎+数据平台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22960" y="5760720"/>
            <a:ext cx="10561320" cy="502920"/>
          </a:xfrm>
          <a:prstGeom prst="roundRect">
            <a:avLst>
              <a:gd name="adj" fmla="val 4000"/>
            </a:avLst>
          </a:prstGeom>
          <a:solidFill>
            <a:srgbClr val="EFF3F9"/>
          </a:solidFill>
          <a:ln w="1270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24128" y="5788152"/>
            <a:ext cx="102412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</a:rPr>
              <a:t>节奏原则：</a:t>
            </a:r>
            <a:r>
              <a:rPr sz="950" b="0">
                <a:solidFill>
                  <a:srgbClr val="374151"/>
                </a:solidFill>
                <a:latin typeface="Microsoft YaHei"/>
              </a:rPr>
              <a:t>Q1速赢(推荐+反作弊)→Q2工具(AIGC+SDK)→Q3攻坚(端侧AI NPC)→Q4生态(引擎+数据+跨设备)。每季度有可交付。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17/22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7000B"/>
                </a:solidFill>
                <a:latin typeface="Microsoft YaHei"/>
              </a:rPr>
              <a:t>定策略 #2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资源配置与技术选型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63040"/>
            <a:ext cx="5166360" cy="4572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536192"/>
            <a:ext cx="47548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7000B"/>
                </a:solidFill>
                <a:latin typeface="Microsoft YaHei"/>
              </a:rPr>
              <a:t>▎技术选型（华为AI栈 + 开源生态）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4128" y="1920240"/>
            <a:ext cx="4754880" cy="603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24128" y="1920240"/>
            <a:ext cx="54864" cy="603504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1947672"/>
            <a:ext cx="10972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2563EB"/>
                </a:solidFill>
                <a:latin typeface="Microsoft YaHei"/>
              </a:rPr>
              <a:t>推荐算法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947672"/>
            <a:ext cx="24688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2563EB"/>
                </a:solidFill>
                <a:latin typeface="Microsoft YaHei"/>
              </a:rPr>
              <a:t>盘古大模型 + 自研排序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2231136"/>
            <a:ext cx="35661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059669"/>
                </a:solidFill>
                <a:latin typeface="Microsoft YaHei"/>
              </a:rPr>
              <a:t>→ 游戏内容理解+CTR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2578608"/>
            <a:ext cx="4754880" cy="603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24128" y="2578608"/>
            <a:ext cx="54864" cy="603504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3856" y="2606040"/>
            <a:ext cx="10972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0D9488"/>
                </a:solidFill>
                <a:latin typeface="Microsoft YaHei"/>
              </a:rPr>
              <a:t>AIGC工具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2606040"/>
            <a:ext cx="24688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2563EB"/>
                </a:solidFill>
                <a:latin typeface="Microsoft YaHei"/>
              </a:rPr>
              <a:t>SD微调 + 华为云ModelArts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2889504"/>
            <a:ext cx="35661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059669"/>
                </a:solidFill>
                <a:latin typeface="Microsoft YaHei"/>
              </a:rPr>
              <a:t>→ 美术/音效/商店页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3236976"/>
            <a:ext cx="4754880" cy="603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24128" y="3236976"/>
            <a:ext cx="54864" cy="603504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856" y="3264408"/>
            <a:ext cx="10972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DC2626"/>
                </a:solidFill>
                <a:latin typeface="Microsoft YaHei"/>
              </a:rPr>
              <a:t>端侧AI推理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3264408"/>
            <a:ext cx="24688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2563EB"/>
                </a:solidFill>
                <a:latin typeface="Microsoft YaHei"/>
              </a:rPr>
              <a:t>盘古E Series(1B) + MindSpore Lite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" y="3547872"/>
            <a:ext cx="35661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059669"/>
                </a:solidFill>
                <a:latin typeface="Microsoft YaHei"/>
              </a:rPr>
              <a:t>→ AI NPC/助手/翻译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3895344"/>
            <a:ext cx="4754880" cy="603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24128" y="3895344"/>
            <a:ext cx="54864" cy="603504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33856" y="3922776"/>
            <a:ext cx="10972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059669"/>
                </a:solidFill>
                <a:latin typeface="Microsoft YaHei"/>
              </a:rPr>
              <a:t>AI反作弊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922776"/>
            <a:ext cx="24688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2563EB"/>
                </a:solidFill>
                <a:latin typeface="Microsoft YaHei"/>
              </a:rPr>
              <a:t>行为分析 + 异常检测模型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" y="4206240"/>
            <a:ext cx="35661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059669"/>
                </a:solidFill>
                <a:latin typeface="Microsoft YaHei"/>
              </a:rPr>
              <a:t>→ 实时拦截·公平保障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4128" y="4553712"/>
            <a:ext cx="4754880" cy="603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24128" y="4553712"/>
            <a:ext cx="54864" cy="603504"/>
          </a:xfrm>
          <a:prstGeom prst="roundRect">
            <a:avLst>
              <a:gd name="adj" fmla="val 2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33856" y="4581144"/>
            <a:ext cx="10972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7C3AED"/>
                </a:solidFill>
                <a:latin typeface="Microsoft YaHei"/>
              </a:rPr>
              <a:t>鸿蒙AI接口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0" y="4581144"/>
            <a:ext cx="24688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2563EB"/>
                </a:solidFill>
                <a:latin typeface="Microsoft YaHei"/>
              </a:rPr>
              <a:t>NNRt + Ark Engine AI扩展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" y="4864607"/>
            <a:ext cx="35661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059669"/>
                </a:solidFill>
                <a:latin typeface="Microsoft YaHei"/>
              </a:rPr>
              <a:t>→ 游戏内AI能力调用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4128" y="5212079"/>
            <a:ext cx="4754880" cy="603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24128" y="5212079"/>
            <a:ext cx="54864" cy="603504"/>
          </a:xfrm>
          <a:prstGeom prst="roundRect">
            <a:avLst>
              <a:gd name="adj" fmla="val 2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33856" y="5239512"/>
            <a:ext cx="10972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C2820A"/>
                </a:solidFill>
                <a:latin typeface="Microsoft YaHei"/>
              </a:rPr>
              <a:t>数据分析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86000" y="5239512"/>
            <a:ext cx="24688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2563EB"/>
                </a:solidFill>
                <a:latin typeface="Microsoft YaHei"/>
              </a:rPr>
              <a:t>HMS Analytics + 数据看板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3856" y="5522975"/>
            <a:ext cx="35661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059669"/>
                </a:solidFill>
                <a:latin typeface="Microsoft YaHei"/>
              </a:rPr>
              <a:t>→ 开发者增值服务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72200" y="1463040"/>
            <a:ext cx="5212080" cy="21488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82512" y="1536192"/>
            <a:ext cx="47548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A580C"/>
                </a:solidFill>
                <a:latin typeface="Microsoft YaHei"/>
              </a:rPr>
              <a:t>▎团队配置与合作伙伴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82512" y="1920240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2563EB"/>
                </a:solidFill>
                <a:latin typeface="Microsoft YaHei"/>
              </a:rPr>
              <a:t>内部协同: </a:t>
            </a:r>
            <a:r>
              <a:rPr sz="800" b="0">
                <a:solidFill>
                  <a:srgbClr val="374151"/>
                </a:solidFill>
                <a:latin typeface="Microsoft YaHei"/>
              </a:rPr>
              <a:t>2012实验室(AI算法) + 终端BG(产品) + 华为云(算力)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2512" y="2395728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059669"/>
                </a:solidFill>
                <a:latin typeface="Microsoft YaHei"/>
              </a:rPr>
              <a:t>游戏厂商: </a:t>
            </a:r>
            <a:r>
              <a:rPr sz="800" b="0">
                <a:solidFill>
                  <a:srgbClr val="374151"/>
                </a:solidFill>
                <a:latin typeface="Microsoft YaHei"/>
              </a:rPr>
              <a:t>头部CP(原神/网易/腾讯) → 鸿蒙原生适配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2871216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0D9488"/>
                </a:solidFill>
                <a:latin typeface="Microsoft YaHei"/>
              </a:rPr>
              <a:t>AI生态: </a:t>
            </a:r>
            <a:r>
              <a:rPr sz="800" b="0">
                <a:solidFill>
                  <a:srgbClr val="374151"/>
                </a:solidFill>
                <a:latin typeface="Microsoft YaHei"/>
              </a:rPr>
              <a:t>MindSpore开源社区 + openPangu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82512" y="3346704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7C3AED"/>
                </a:solidFill>
                <a:latin typeface="Microsoft YaHei"/>
              </a:rPr>
              <a:t>高校合作: </a:t>
            </a:r>
            <a:r>
              <a:rPr sz="800" b="0">
                <a:solidFill>
                  <a:srgbClr val="374151"/>
                </a:solidFill>
                <a:latin typeface="Microsoft YaHei"/>
              </a:rPr>
              <a:t>AI实验室联合研究 → 推荐算法/端侧优化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72200" y="3749039"/>
            <a:ext cx="5212080" cy="2286000"/>
          </a:xfrm>
          <a:prstGeom prst="roundRect">
            <a:avLst>
              <a:gd name="adj" fmla="val 4000"/>
            </a:avLst>
          </a:prstGeom>
          <a:solidFill>
            <a:srgbClr val="EFF3F9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82512" y="3822191"/>
            <a:ext cx="47548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59669"/>
                </a:solidFill>
                <a:latin typeface="Microsoft YaHei"/>
              </a:rPr>
              <a:t>▎投入重点（优先级排序）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82512" y="4187952"/>
            <a:ext cx="4754880" cy="3840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382512" y="4187952"/>
            <a:ext cx="54864" cy="384048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92240" y="4187952"/>
            <a:ext cx="82296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DC2626"/>
                </a:solidFill>
                <a:latin typeface="Microsoft YaHei"/>
              </a:rPr>
              <a:t>#1 端侧AI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0" y="4187952"/>
            <a:ext cx="20116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盘古E Series + NPU优化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26880" y="4187952"/>
            <a:ext cx="173736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最高优先·独占壁垒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82512" y="4608576"/>
            <a:ext cx="4754880" cy="3840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382512" y="4608576"/>
            <a:ext cx="54864" cy="384048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92240" y="4608576"/>
            <a:ext cx="82296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059669"/>
                </a:solidFill>
                <a:latin typeface="Microsoft YaHei"/>
              </a:rPr>
              <a:t>#2 推荐算法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4608576"/>
            <a:ext cx="20116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CTR提升 + 内容理解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26880" y="4608576"/>
            <a:ext cx="173736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速赢·直接收入影响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382512" y="5029200"/>
            <a:ext cx="4754880" cy="3840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382512" y="5029200"/>
            <a:ext cx="54864" cy="384048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92240" y="5029200"/>
            <a:ext cx="82296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2563EB"/>
                </a:solidFill>
                <a:latin typeface="Microsoft YaHei"/>
              </a:rPr>
              <a:t>#3 开发者工具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0" y="5029200"/>
            <a:ext cx="20116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AIGC + 测试 + SDK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5029200"/>
            <a:ext cx="173736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生态杠杆·长期价值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382512" y="5449824"/>
            <a:ext cx="4754880" cy="3840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382512" y="5449824"/>
            <a:ext cx="54864" cy="384048"/>
          </a:xfrm>
          <a:prstGeom prst="roundRect">
            <a:avLst>
              <a:gd name="adj" fmla="val 2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92240" y="5449824"/>
            <a:ext cx="82296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7C3AED"/>
                </a:solidFill>
                <a:latin typeface="Microsoft YaHei"/>
              </a:rPr>
              <a:t>#4 鸿蒙原生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15200" y="5449824"/>
            <a:ext cx="20116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游戏引擎AI + 跨设备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326880" y="5449824"/>
            <a:ext cx="173736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生态锁定·战略投资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18/22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DC2626"/>
                </a:solidFill>
                <a:latin typeface="Microsoft YaHei"/>
              </a:rPr>
              <a:t>定策略 #3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风险识别与应对策略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63040"/>
            <a:ext cx="10561320" cy="109728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463040"/>
            <a:ext cx="82296" cy="109728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536192"/>
            <a:ext cx="137160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554480"/>
            <a:ext cx="13258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DC2626"/>
                </a:solidFill>
                <a:latin typeface="Microsoft YaHei"/>
              </a:rPr>
              <a:t>生态风险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847088"/>
            <a:ext cx="132588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DC2626"/>
                </a:solidFill>
                <a:latin typeface="Microsoft YaHei"/>
              </a:rPr>
              <a:t>等级: 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066544"/>
            <a:ext cx="132588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DC2626"/>
                </a:solidFill>
                <a:latin typeface="Microsoft YaHei"/>
              </a:rPr>
              <a:t>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1517904"/>
            <a:ext cx="3657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161B2E"/>
                </a:solidFill>
                <a:latin typeface="Microsoft YaHei"/>
              </a:rPr>
              <a:t>鸿蒙游戏缺口持续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1810512"/>
            <a:ext cx="3657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</a:rPr>
              <a:t>多数主流游戏未原生适配
鸿蒙生态可能边缘化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517904"/>
            <a:ext cx="4937760" cy="274320"/>
          </a:xfrm>
          <a:prstGeom prst="roundRect">
            <a:avLst>
              <a:gd name="adj" fmla="val 3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17904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应对策略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847088"/>
            <a:ext cx="489204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374151"/>
                </a:solidFill>
                <a:latin typeface="Microsoft YaHei"/>
              </a:rPr>
              <a:t>降低适配成本(AIGC+自动转换) / 游戏扶持计划(流量+资金) / 标杆案例打造(原神先行)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2670048"/>
            <a:ext cx="10561320" cy="109728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2960" y="2670048"/>
            <a:ext cx="82296" cy="1097280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05840" y="2743200"/>
            <a:ext cx="137160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28" y="2761488"/>
            <a:ext cx="13258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A580C"/>
                </a:solidFill>
                <a:latin typeface="Microsoft YaHei"/>
              </a:rPr>
              <a:t>竞争风险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3054096"/>
            <a:ext cx="132588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DC2626"/>
                </a:solidFill>
                <a:latin typeface="Microsoft YaHei"/>
              </a:rPr>
              <a:t>等级: 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273552"/>
            <a:ext cx="132588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EA580C"/>
                </a:solidFill>
                <a:latin typeface="Microsoft YaHei"/>
              </a:rPr>
              <a:t>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4600" y="2724912"/>
            <a:ext cx="3657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161B2E"/>
                </a:solidFill>
                <a:latin typeface="Microsoft YaHei"/>
              </a:rPr>
              <a:t>字节/腾讯AI碾压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3017520"/>
            <a:ext cx="3657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</a:rPr>
              <a:t>推荐算法+流量双优势
华为难以正面竞争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2724912"/>
            <a:ext cx="4937760" cy="274320"/>
          </a:xfrm>
          <a:prstGeom prst="roundRect">
            <a:avLst>
              <a:gd name="adj" fmla="val 3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2724912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应对策略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054096"/>
            <a:ext cx="489204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374151"/>
                </a:solidFill>
                <a:latin typeface="Microsoft YaHei"/>
              </a:rPr>
              <a:t>差异化路线(端侧AI) / 避开内容竞争 / 聚焦硬件优势场景(车机/智慧屏/IoT)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3877056"/>
            <a:ext cx="10561320" cy="109728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2960" y="3877056"/>
            <a:ext cx="82296" cy="1097280"/>
          </a:xfrm>
          <a:prstGeom prst="roundRect">
            <a:avLst>
              <a:gd name="adj" fmla="val 2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05840" y="3950208"/>
            <a:ext cx="137160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3968496"/>
            <a:ext cx="13258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2820A"/>
                </a:solidFill>
                <a:latin typeface="Microsoft YaHei"/>
              </a:rPr>
              <a:t>技术风险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261104"/>
            <a:ext cx="132588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C2820A"/>
                </a:solidFill>
                <a:latin typeface="Microsoft YaHei"/>
              </a:rPr>
              <a:t>等级: 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" y="4480560"/>
            <a:ext cx="132588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C2820A"/>
                </a:solidFill>
                <a:latin typeface="Microsoft YaHei"/>
              </a:rPr>
              <a:t>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14600" y="3931920"/>
            <a:ext cx="3657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161B2E"/>
                </a:solidFill>
                <a:latin typeface="Microsoft YaHei"/>
              </a:rPr>
              <a:t>端侧AI能力不足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14600" y="4224528"/>
            <a:ext cx="3657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</a:rPr>
              <a:t>1B参数模型效果有限
复杂场景推理不可行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09360" y="3931920"/>
            <a:ext cx="4937760" cy="274320"/>
          </a:xfrm>
          <a:prstGeom prst="roundRect">
            <a:avLst>
              <a:gd name="adj" fmla="val 3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931920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应对策略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4261104"/>
            <a:ext cx="489204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374151"/>
                </a:solidFill>
                <a:latin typeface="Microsoft YaHei"/>
              </a:rPr>
              <a:t>持续迭代盘古E Series / 云端+端侧混合推理 / 聚焦轻量场景(NPC对话/翻译)优先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2960" y="5084064"/>
            <a:ext cx="10561320" cy="109728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22960" y="5084064"/>
            <a:ext cx="82296" cy="1097280"/>
          </a:xfrm>
          <a:prstGeom prst="roundRect">
            <a:avLst>
              <a:gd name="adj" fmla="val 2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005840" y="5157216"/>
            <a:ext cx="137160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8" y="5175504"/>
            <a:ext cx="13258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icrosoft YaHei"/>
              </a:rPr>
              <a:t>人才风险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4128" y="5468112"/>
            <a:ext cx="132588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C2820A"/>
                </a:solidFill>
                <a:latin typeface="Microsoft YaHei"/>
              </a:rPr>
              <a:t>等级: 中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5687568"/>
            <a:ext cx="132588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7C3AED"/>
                </a:solidFill>
                <a:latin typeface="Microsoft YaHei"/>
              </a:rPr>
              <a:t>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14600" y="5138928"/>
            <a:ext cx="3657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161B2E"/>
                </a:solidFill>
                <a:latin typeface="Microsoft YaHei"/>
              </a:rPr>
              <a:t>游戏AI人才稀缺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14600" y="5431536"/>
            <a:ext cx="3657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</a:rPr>
              <a:t>游戏+AI交叉领域人才少
华为游戏基因薄弱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09360" y="5138928"/>
            <a:ext cx="4937760" cy="274320"/>
          </a:xfrm>
          <a:prstGeom prst="roundRect">
            <a:avLst>
              <a:gd name="adj" fmla="val 3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5138928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应对策略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5468112"/>
            <a:ext cx="489204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374151"/>
                </a:solidFill>
                <a:latin typeface="Microsoft YaHei"/>
              </a:rPr>
              <a:t>内部转岗培训(2012实验室) / 收购游戏AI团队 / 开源社区+高校联合培养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19/22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7000B"/>
                </a:solidFill>
                <a:latin typeface="Microsoft YaHe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核心结论与行动建议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08760"/>
            <a:ext cx="5166360" cy="13716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508760"/>
            <a:ext cx="82296" cy="137160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81912"/>
            <a:ext cx="4846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D9488"/>
                </a:solidFill>
                <a:latin typeface="Microsoft YaHei"/>
              </a:rPr>
              <a:t>趋势判断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892807"/>
            <a:ext cx="48463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</a:rPr>
              <a:t>AI正渗透游戏全链路(研发→发行→运营→体验)。2025-2026是AI从「辅助」到「原生」的关键窗口期。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508760"/>
            <a:ext cx="5166360" cy="13716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1508760"/>
            <a:ext cx="82296" cy="137160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581912"/>
            <a:ext cx="4846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2563EB"/>
                </a:solidFill>
                <a:latin typeface="Microsoft YaHei"/>
              </a:rPr>
              <a:t>市场机会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892807"/>
            <a:ext cx="48463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</a:rPr>
              <a:t>中国手游~3000亿市场·渠道费从50%→0%演变。渠道价值从「流量分发」转向「AI赋能服务」。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017520"/>
            <a:ext cx="5166360" cy="13716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3017520"/>
            <a:ext cx="82296" cy="1371600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090672"/>
            <a:ext cx="4846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A580C"/>
                </a:solidFill>
                <a:latin typeface="Microsoft YaHei"/>
              </a:rPr>
              <a:t>竞争格局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401568"/>
            <a:ext cx="48463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</a:rPr>
              <a:t>字节(算法+流量)和腾讯(社交+生态)占据制高点。华为处于中间地带，需差异化突围。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017520"/>
            <a:ext cx="5166360" cy="13716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72200" y="3017520"/>
            <a:ext cx="82296" cy="137160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090672"/>
            <a:ext cx="4846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59669"/>
                </a:solidFill>
                <a:latin typeface="Microsoft YaHei"/>
              </a:rPr>
              <a:t>核心优势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401568"/>
            <a:ext cx="48463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</a:rPr>
              <a:t>端侧AI(NPU+盘古E Series)是华为唯一独占优势。云端AI打不过字节，但端侧AI无人能及。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526279"/>
            <a:ext cx="5166360" cy="13716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2960" y="4526279"/>
            <a:ext cx="82296" cy="137160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599431"/>
            <a:ext cx="4846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DC2626"/>
                </a:solidFill>
                <a:latin typeface="Microsoft YaHei"/>
              </a:rPr>
              <a:t>战略定位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910327"/>
            <a:ext cx="48463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</a:rPr>
              <a:t>「端侧AI原生游戏平台」——以端侧AI推理(隐私+低延迟+离线)为核心差异化。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4526279"/>
            <a:ext cx="5166360" cy="13716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72200" y="4526279"/>
            <a:ext cx="82296" cy="1371600"/>
          </a:xfrm>
          <a:prstGeom prst="roundRect">
            <a:avLst>
              <a:gd name="adj" fmla="val 2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4599431"/>
            <a:ext cx="4846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2820A"/>
                </a:solidFill>
                <a:latin typeface="Microsoft YaHei"/>
              </a:rPr>
              <a:t>行动节奏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910327"/>
            <a:ext cx="48463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</a:rPr>
              <a:t>Q1速赢(推荐+反作弊)→Q2工具(AIGC+SDK)→Q3攻坚(端侧AI NPC)→Q4生态(引擎+跨设备)。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6080760"/>
            <a:ext cx="10561320" cy="457200"/>
          </a:xfrm>
          <a:prstGeom prst="roundRect">
            <a:avLst>
              <a:gd name="adj" fmla="val 5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6099048"/>
            <a:ext cx="1024128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立即行动：</a:t>
            </a:r>
            <a:r>
              <a:rPr sz="950" b="0">
                <a:solidFill>
                  <a:srgbClr val="FFFFFF"/>
                </a:solidFill>
                <a:latin typeface="Microsoft YaHei"/>
              </a:rPr>
              <a:t>启动AI推荐算法升级(Q1交付) + 盘古E Series游戏场景适配预研 + 鸿蒙游戏AIGC工具MVP立项。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20/22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D9488"/>
                </a:solidFill>
                <a:latin typeface="Microsoft YaHei"/>
              </a:rPr>
              <a:t>METHODOLOGY &amp;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分析方法论与数据来源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17320"/>
            <a:ext cx="5166360" cy="45720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517904"/>
            <a:ext cx="47548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D9488"/>
                </a:solidFill>
                <a:latin typeface="Microsoft YaHei"/>
              </a:rPr>
              <a:t>▎3定5看分析方法论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0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 </a:t>
            </a:r>
            <a:r>
              <a:rPr sz="900" b="1">
                <a:solidFill>
                  <a:srgbClr val="0D9488"/>
                </a:solidFill>
                <a:latin typeface="Microsoft YaHei"/>
              </a:rPr>
              <a:t>五看·看趋势: </a:t>
            </a:r>
            <a:r>
              <a:rPr sz="850" b="0">
                <a:solidFill>
                  <a:srgbClr val="374151"/>
                </a:solidFill>
                <a:latin typeface="Microsoft YaHei"/>
              </a:rPr>
              <a:t>游戏全链路AI化 + 能力成熟度4级分类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496312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 </a:t>
            </a:r>
            <a:r>
              <a:rPr sz="900" b="1">
                <a:solidFill>
                  <a:srgbClr val="0D9488"/>
                </a:solidFill>
                <a:latin typeface="Microsoft YaHei"/>
              </a:rPr>
              <a:t>五看·看市场: </a:t>
            </a:r>
            <a:r>
              <a:rPr sz="850" b="0">
                <a:solidFill>
                  <a:srgbClr val="374151"/>
                </a:solidFill>
                <a:latin typeface="Microsoft YaHei"/>
              </a:rPr>
              <a:t>TAM/SAM/SOM漏斗 + 渠道费演变(50→0%)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80944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 </a:t>
            </a:r>
            <a:r>
              <a:rPr sz="900" b="1">
                <a:solidFill>
                  <a:srgbClr val="0D9488"/>
                </a:solidFill>
                <a:latin typeface="Microsoft YaHei"/>
              </a:rPr>
              <a:t>五看·看竞争: </a:t>
            </a:r>
            <a:r>
              <a:rPr sz="850" b="0">
                <a:solidFill>
                  <a:srgbClr val="374151"/>
                </a:solidFill>
                <a:latin typeface="Microsoft YaHei"/>
              </a:rPr>
              <a:t>2D格局地图(流量×AI) + 6家5维度评分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465576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 </a:t>
            </a:r>
            <a:r>
              <a:rPr sz="900" b="1">
                <a:solidFill>
                  <a:srgbClr val="0D9488"/>
                </a:solidFill>
                <a:latin typeface="Microsoft YaHei"/>
              </a:rPr>
              <a:t>五看·看自己: </a:t>
            </a:r>
            <a:r>
              <a:rPr sz="850" b="0">
                <a:solidFill>
                  <a:srgbClr val="374151"/>
                </a:solidFill>
                <a:latin typeface="Microsoft YaHei"/>
              </a:rPr>
              <a:t>6维能力盘点 + 端侧AI唯一5★识别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950208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 </a:t>
            </a:r>
            <a:r>
              <a:rPr sz="900" b="1">
                <a:solidFill>
                  <a:srgbClr val="0D9488"/>
                </a:solidFill>
                <a:latin typeface="Microsoft YaHei"/>
              </a:rPr>
              <a:t>五看·看机会: </a:t>
            </a:r>
            <a:r>
              <a:rPr sz="850" b="0">
                <a:solidFill>
                  <a:srgbClr val="374151"/>
                </a:solidFill>
                <a:latin typeface="Microsoft YaHei"/>
              </a:rPr>
              <a:t>影响力×可行性优先级矩阵(6方向)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434840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 </a:t>
            </a:r>
            <a:r>
              <a:rPr sz="900" b="1">
                <a:solidFill>
                  <a:srgbClr val="0D9488"/>
                </a:solidFill>
                <a:latin typeface="Microsoft YaHei"/>
              </a:rPr>
              <a:t>三定·定位: </a:t>
            </a:r>
            <a:r>
              <a:rPr sz="850" b="0">
                <a:solidFill>
                  <a:srgbClr val="374151"/>
                </a:solidFill>
                <a:latin typeface="Microsoft YaHei"/>
              </a:rPr>
              <a:t>端侧AI原生 vs 4家竞品7维度对比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919472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 </a:t>
            </a:r>
            <a:r>
              <a:rPr sz="900" b="1">
                <a:solidFill>
                  <a:srgbClr val="0D9488"/>
                </a:solidFill>
                <a:latin typeface="Microsoft YaHei"/>
              </a:rPr>
              <a:t>三定·定目标: </a:t>
            </a:r>
            <a:r>
              <a:rPr sz="850" b="0">
                <a:solidFill>
                  <a:srgbClr val="374151"/>
                </a:solidFill>
                <a:latin typeface="Microsoft YaHei"/>
              </a:rPr>
              <a:t>3阶段×4KPI量化目标体系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404104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 </a:t>
            </a:r>
            <a:r>
              <a:rPr sz="900" b="1">
                <a:solidFill>
                  <a:srgbClr val="0D9488"/>
                </a:solidFill>
                <a:latin typeface="Microsoft YaHei"/>
              </a:rPr>
              <a:t>三定·定策略: </a:t>
            </a:r>
            <a:r>
              <a:rPr sz="850" b="0">
                <a:solidFill>
                  <a:srgbClr val="374151"/>
                </a:solidFill>
                <a:latin typeface="Microsoft YaHei"/>
              </a:rPr>
              <a:t>路线图+技术选型+资源配置+风险应对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417320"/>
            <a:ext cx="5212080" cy="4572000"/>
          </a:xfrm>
          <a:prstGeom prst="roundRect">
            <a:avLst>
              <a:gd name="adj" fmla="val 5000"/>
            </a:avLst>
          </a:prstGeom>
          <a:solidFill>
            <a:srgbClr val="EFF3F9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517904"/>
            <a:ext cx="47548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D9488"/>
                </a:solidFill>
                <a:latin typeface="Microsoft YaHei"/>
              </a:rPr>
              <a:t>▎数据来源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011680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 </a:t>
            </a:r>
            <a:r>
              <a:rPr sz="900" b="1">
                <a:solidFill>
                  <a:srgbClr val="0D9488"/>
                </a:solidFill>
                <a:latin typeface="Microsoft YaHei"/>
              </a:rPr>
              <a:t>华为官方: </a:t>
            </a:r>
            <a:r>
              <a:rPr sz="850" b="0">
                <a:solidFill>
                  <a:srgbClr val="6B7280"/>
                </a:solidFill>
                <a:latin typeface="Microsoft YaHei"/>
              </a:rPr>
              <a:t>HDC大会/HMS文档/鸿蒙发布会/盘古大模型文档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496312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 </a:t>
            </a:r>
            <a:r>
              <a:rPr sz="900" b="1">
                <a:solidFill>
                  <a:srgbClr val="0D9488"/>
                </a:solidFill>
                <a:latin typeface="Microsoft YaHei"/>
              </a:rPr>
              <a:t>行业数据: </a:t>
            </a:r>
            <a:r>
              <a:rPr sz="850" b="0">
                <a:solidFill>
                  <a:srgbClr val="6B7280"/>
                </a:solidFill>
                <a:latin typeface="Microsoft YaHei"/>
              </a:rPr>
              <a:t>Newzoo全球游戏报告/Games One/CNG中国游戏产业报告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80944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 </a:t>
            </a:r>
            <a:r>
              <a:rPr sz="900" b="1">
                <a:solidFill>
                  <a:srgbClr val="0D9488"/>
                </a:solidFill>
                <a:latin typeface="Microsoft YaHei"/>
              </a:rPr>
              <a:t>竞品信息: </a:t>
            </a:r>
            <a:r>
              <a:rPr sz="850" b="0">
                <a:solidFill>
                  <a:srgbClr val="6B7280"/>
                </a:solidFill>
                <a:latin typeface="Microsoft YaHei"/>
              </a:rPr>
              <a:t>TapTap官网/抖音游戏/腾讯财报/App Annie/B站游戏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465576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 </a:t>
            </a:r>
            <a:r>
              <a:rPr sz="900" b="1">
                <a:solidFill>
                  <a:srgbClr val="0D9488"/>
                </a:solidFill>
                <a:latin typeface="Microsoft YaHei"/>
              </a:rPr>
              <a:t>AI能力: </a:t>
            </a:r>
            <a:r>
              <a:rPr sz="850" b="0">
                <a:solidFill>
                  <a:srgbClr val="6B7280"/>
                </a:solidFill>
                <a:latin typeface="Microsoft YaHei"/>
              </a:rPr>
              <a:t>arXiv论文/MindSpore文档/PanGu技术报告/GitHub开源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950208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 </a:t>
            </a:r>
            <a:r>
              <a:rPr sz="900" b="1">
                <a:solidFill>
                  <a:srgbClr val="0D9488"/>
                </a:solidFill>
                <a:latin typeface="Microsoft YaHei"/>
              </a:rPr>
              <a:t>融资/市场: </a:t>
            </a:r>
            <a:r>
              <a:rPr sz="850" b="0">
                <a:solidFill>
                  <a:srgbClr val="6B7280"/>
                </a:solidFill>
                <a:latin typeface="Microsoft YaHei"/>
              </a:rPr>
              <a:t>Crunchbase/IT桔子/Sensor Tower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434840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 </a:t>
            </a:r>
            <a:r>
              <a:rPr sz="900" b="1">
                <a:solidFill>
                  <a:srgbClr val="0D9488"/>
                </a:solidFill>
                <a:latin typeface="Microsoft YaHei"/>
              </a:rPr>
              <a:t>市场规模: </a:t>
            </a:r>
            <a:r>
              <a:rPr sz="850" b="0">
                <a:solidFill>
                  <a:srgbClr val="6B7280"/>
                </a:solidFill>
                <a:latin typeface="Microsoft YaHei"/>
              </a:rPr>
              <a:t>公开行业报告 + 合理推演估算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919472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 </a:t>
            </a:r>
            <a:r>
              <a:rPr sz="900" b="1">
                <a:solidFill>
                  <a:srgbClr val="0D9488"/>
                </a:solidFill>
                <a:latin typeface="Microsoft YaHei"/>
              </a:rPr>
              <a:t>⚠ 声明: </a:t>
            </a:r>
            <a:r>
              <a:rPr sz="850" b="0">
                <a:solidFill>
                  <a:srgbClr val="DC2626"/>
                </a:solidFill>
                <a:latin typeface="Microsoft YaHei"/>
              </a:rPr>
              <a:t>市场数据为基于公开信息的推演估算；AI能力评分为基于公开信息的合理判断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21/22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4572000" cy="36576"/>
          </a:xfrm>
          <a:prstGeom prst="rect">
            <a:avLst/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097280"/>
            <a:ext cx="109728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972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>
                <a:solidFill>
                  <a:srgbClr val="161B2E"/>
                </a:solidFill>
                <a:latin typeface="Microsoft YaHei"/>
              </a:rPr>
              <a:t>华为游戏中心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>
                <a:solidFill>
                  <a:srgbClr val="161B2E"/>
                </a:solidFill>
                <a:latin typeface="Microsoft YaHei"/>
              </a:rPr>
              <a:t>AI时代战略洞察 · 3定5看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88920"/>
            <a:ext cx="100584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6B7280"/>
                </a:solidFill>
                <a:latin typeface="Microsoft YaHei"/>
              </a:rPr>
              <a:t>五看(趋势/市场/竞争/自己/机会) → 三定(定位/目标/策略) · 端侧AI原生差异化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520440"/>
            <a:ext cx="10561320" cy="18288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630168"/>
            <a:ext cx="100584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</a:rPr>
              <a:t>▎核心结论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023360"/>
            <a:ext cx="1005840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</a:rPr>
              <a:t>• </a:t>
            </a:r>
            <a:r>
              <a:rPr sz="1000" b="1">
                <a:solidFill>
                  <a:srgbClr val="059669"/>
                </a:solidFill>
                <a:latin typeface="Microsoft YaHei"/>
              </a:rPr>
              <a:t>独占优势：</a:t>
            </a:r>
            <a:r>
              <a:rPr sz="1000" b="0">
                <a:solidFill>
                  <a:srgbClr val="374151"/>
                </a:solidFill>
                <a:latin typeface="Microsoft YaHei"/>
              </a:rPr>
              <a:t>端侧AI(NPU+盘古)是唯一无人可及的壁垒。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</a:rPr>
              <a:t>• </a:t>
            </a:r>
            <a:r>
              <a:rPr sz="1000" b="1">
                <a:solidFill>
                  <a:srgbClr val="DC2626"/>
                </a:solidFill>
                <a:latin typeface="Microsoft YaHei"/>
              </a:rPr>
              <a:t>核心短板：</a:t>
            </a:r>
            <a:r>
              <a:rPr sz="1000" b="0">
                <a:solidFill>
                  <a:srgbClr val="374151"/>
                </a:solidFill>
                <a:latin typeface="Microsoft YaHei"/>
              </a:rPr>
              <a:t>推荐算法+AIGC+内容生态全面落后于字节/腾讯。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</a:rPr>
              <a:t>• </a:t>
            </a:r>
            <a:r>
              <a:rPr sz="1000" b="1">
                <a:solidFill>
                  <a:srgbClr val="2563EB"/>
                </a:solidFill>
                <a:latin typeface="Microsoft YaHei"/>
              </a:rPr>
              <a:t>差异化路径：</a:t>
            </a:r>
            <a:r>
              <a:rPr sz="1000" b="0">
                <a:solidFill>
                  <a:srgbClr val="374151"/>
                </a:solidFill>
                <a:latin typeface="Microsoft YaHei"/>
              </a:rPr>
              <a:t>不打流量战，打端侧AI体验战——隐私+低延迟+离线。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</a:rPr>
              <a:t>• </a:t>
            </a:r>
            <a:r>
              <a:rPr sz="1000" b="1">
                <a:solidFill>
                  <a:srgbClr val="059669"/>
                </a:solidFill>
                <a:latin typeface="Microsoft YaHei"/>
              </a:rPr>
              <a:t>速赢：</a:t>
            </a:r>
            <a:r>
              <a:rPr sz="1000" b="0">
                <a:solidFill>
                  <a:srgbClr val="374151"/>
                </a:solidFill>
                <a:latin typeface="Microsoft YaHei"/>
              </a:rPr>
              <a:t>AI推荐升级(Q1)——直接提升分发效率与收入。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</a:rPr>
              <a:t>• </a:t>
            </a:r>
            <a:r>
              <a:rPr sz="1000" b="1">
                <a:solidFill>
                  <a:srgbClr val="C7000B"/>
                </a:solidFill>
                <a:latin typeface="Microsoft YaHei"/>
              </a:rPr>
              <a:t>节奏：</a:t>
            </a:r>
            <a:r>
              <a:rPr sz="1000" b="0">
                <a:solidFill>
                  <a:srgbClr val="374151"/>
                </a:solidFill>
                <a:latin typeface="Microsoft YaHei"/>
              </a:rPr>
              <a:t>Q1推荐 → Q2工具 → Q3端侧AI → Q4生态构建。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760720"/>
            <a:ext cx="10972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9AA5BC"/>
                </a:solidFill>
                <a:latin typeface="Microsoft YaHei"/>
              </a:rPr>
              <a:t>xhyha/insight  |  华为游戏中心 · AI时代战略洞察(3定5看) · 2026.06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22/22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