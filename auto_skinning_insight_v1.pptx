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Auto-Skinning 业界洞察报告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价值分析 · 技术路线 · 市场机会</a:t>
            </a:r>
            <a:br/>
            <a:r>
              <a:t>2025年5月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核心发现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市场窗口：AI技术成熟+元宇宙需求双轮驱动，市场进入快速成长期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竞争空白：高精度+易用性的解决方案仍是市场空白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技术路线：DQS+程序化方案成熟，AI蒙皮2025-2027进入商用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用户刚需：蒙皮质量(25%)、处理速度(20%)是多类用户共同关注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风险可控：研发$300-500万，18-24个月可达商用水平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关键数据</a:t>
            </a:r>
          </a:p>
          <a:p>
            <a:pPr>
              <a:spcBef>
                <a:spcPts val="1200"/>
              </a:spcBef>
              <a:defRPr sz="1800" b="1"/>
            </a:pPr>
            <a:r>
              <a:t>TAM：$8-12亿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全球可触达市场</a:t>
            </a:r>
          </a:p>
          <a:p>
            <a:pPr>
              <a:spcBef>
                <a:spcPts val="1200"/>
              </a:spcBef>
              <a:defRPr sz="1800" b="1"/>
            </a:pPr>
            <a:r>
              <a:t>SAM：$2-4亿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可服务市场</a:t>
            </a:r>
          </a:p>
          <a:p>
            <a:pPr>
              <a:spcBef>
                <a:spcPts val="1200"/>
              </a:spcBef>
              <a:defRPr sz="1800" b="1"/>
            </a:pPr>
            <a:r>
              <a:t>效率提升：100-500x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vs 手工绑定</a:t>
            </a:r>
          </a:p>
          <a:p>
            <a:pPr>
              <a:spcBef>
                <a:spcPts val="1200"/>
              </a:spcBef>
              <a:defRPr sz="1800" b="1"/>
            </a:pPr>
            <a:r>
              <a:t>AI质量(VSI)：90-96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已达专业水准</a:t>
            </a:r>
          </a:p>
          <a:p>
            <a:pPr>
              <a:spcBef>
                <a:spcPts val="1200"/>
              </a:spcBef>
              <a:defRPr sz="1800" b="1"/>
            </a:pPr>
            <a:r>
              <a:t>研发周期：18-24月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达商用水平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01 市场机会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市场概览 - 应用行业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2004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游戏行业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/>
            </a:pPr>
            <a:r>
              <a:t>• 3A游戏角色骨骼动画</a:t>
            </a:r>
          </a:p>
          <a:p>
            <a:pPr>
              <a:spcAft>
                <a:spcPts val="600"/>
              </a:spcAft>
              <a:defRPr sz="1400" b="0"/>
            </a:pPr>
            <a:r>
              <a:t>• 手游批量NPC生产</a:t>
            </a:r>
          </a:p>
          <a:p>
            <a:pPr>
              <a:spcAft>
                <a:spcPts val="600"/>
              </a:spcAft>
              <a:defRPr sz="1400" b="0"/>
            </a:pPr>
            <a:r>
              <a:t>• 独立游戏快速原型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97280"/>
            <a:ext cx="32004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影视动画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/>
            </a:pPr>
            <a:r>
              <a:t>• 数字角色/虚拟演员</a:t>
            </a:r>
          </a:p>
          <a:p>
            <a:pPr>
              <a:spcAft>
                <a:spcPts val="600"/>
              </a:spcAft>
              <a:defRPr sz="1400" b="0"/>
            </a:pPr>
            <a:r>
              <a:t>• 电影特效</a:t>
            </a:r>
          </a:p>
          <a:p>
            <a:pPr>
              <a:spcAft>
                <a:spcPts val="600"/>
              </a:spcAft>
              <a:defRPr sz="1400" b="0"/>
            </a:pPr>
            <a:r>
              <a:t>• 广告虚拟形象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2004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元宇宙/虚拟人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/>
            </a:pPr>
            <a:r>
              <a:t>• 虚拟偶像/主播</a:t>
            </a:r>
          </a:p>
          <a:p>
            <a:pPr>
              <a:spcAft>
                <a:spcPts val="600"/>
              </a:spcAft>
              <a:defRPr sz="1400" b="0"/>
            </a:pPr>
            <a:r>
              <a:t>• 数字孪生</a:t>
            </a:r>
          </a:p>
          <a:p>
            <a:pPr>
              <a:spcAft>
                <a:spcPts val="600"/>
              </a:spcAft>
              <a:defRPr sz="1400" b="0"/>
            </a:pPr>
            <a:r>
              <a:t>• 数字资产批量创建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市场驱动因素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全球游戏市场$2000亿+ | 虚拟偶像年增速30%+ | AI技术成熟度★★★☆☆（趋势向好）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市场概览 - 规模与用户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市场规模测算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371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TAM</a:t>
            </a:r>
          </a:p>
          <a:p>
            <a:pPr>
              <a:spcBef>
                <a:spcPts val="800"/>
              </a:spcBef>
              <a:defRPr sz="1400"/>
            </a:pPr>
            <a:r>
              <a:t>$8-12亿  全球3D动画软件市场约$50亿，骨骼绑定占15-25%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371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SAM</a:t>
            </a:r>
          </a:p>
          <a:p>
            <a:pPr>
              <a:spcBef>
                <a:spcPts val="800"/>
              </a:spcBef>
              <a:defRPr sz="1400"/>
            </a:pPr>
            <a:r>
              <a:t>$2-4亿  考虑AI技术成熟度、地区差异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371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SOM</a:t>
            </a:r>
          </a:p>
          <a:p>
            <a:pPr>
              <a:spcBef>
                <a:spcPts val="800"/>
              </a:spcBef>
              <a:defRPr sz="1400"/>
            </a:pPr>
            <a:r>
              <a:t>$0.5-1亿  目标用户群体付费能力估算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目标用户画像</a:t>
            </a:r>
          </a:p>
          <a:p>
            <a:pPr>
              <a:spcBef>
                <a:spcPts val="1000"/>
              </a:spcBef>
              <a:defRPr sz="1400" b="1"/>
            </a:pPr>
            <a:r>
              <a:t>• 独立开发者：1-5人团队，$0-50/月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痛点：快速原型、低成本</a:t>
            </a:r>
          </a:p>
          <a:p>
            <a:pPr>
              <a:spcBef>
                <a:spcPts val="1000"/>
              </a:spcBef>
              <a:defRPr sz="1400" b="1"/>
            </a:pPr>
            <a:r>
              <a:t>• 外包动画团队：5-20人，$50-200/月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痛点：效率提升、接单能力</a:t>
            </a:r>
          </a:p>
          <a:p>
            <a:pPr>
              <a:spcBef>
                <a:spcPts val="1000"/>
              </a:spcBef>
              <a:defRPr sz="1400" b="1"/>
            </a:pPr>
            <a:r>
              <a:t>• AAA工作室：100-500人，$500+/月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痛点：管线自动化、质量一致性</a:t>
            </a:r>
          </a:p>
          <a:p>
            <a:pPr>
              <a:spcBef>
                <a:spcPts val="1000"/>
              </a:spcBef>
              <a:defRPr sz="1400" b="1"/>
            </a:pPr>
            <a:r>
              <a:t>• 虚拟偶像运营：规模不等，$200-1000/月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痛点：批量生产、快速迭代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02 竞品分析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竞品分析 - 格局总览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875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828800"/>
                <a:gridCol w="1371600"/>
                <a:gridCol w="36576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竞品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技术路线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定价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核心优势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Mixamo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Adobe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AI+模板匹配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免费+$19.9/月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生态完整、引擎原生集成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Character Creator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Reallusion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AccuRIG模板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$299起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完整管线、一站式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DeepMotion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AI视频动捕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$25-75/月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视频→动画、精度高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Rokoko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Rokoko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IMU+AI视觉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€10-50/月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硬件+软件结合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Maya HIK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Autodesk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规则引擎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包含在订阅中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行业标准、稳定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Blender Rigify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开源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程序化绑定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开源可定制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竞争格局洞察</a:t>
            </a:r>
          </a:p>
          <a:p>
            <a:pPr>
              <a:defRPr sz="1200"/>
            </a:pPr>
            <a:r>
              <a:t>• 高端市场：Autodesk、NVIDIA主导，技术壁垒高</a:t>
            </a:r>
          </a:p>
          <a:p>
            <a:pPr>
              <a:defRPr sz="1200"/>
            </a:pPr>
            <a:r>
              <a:t>• 消费级：Mixamo免费+Adobe订阅一家独大</a:t>
            </a:r>
          </a:p>
          <a:p>
            <a:pPr>
              <a:defRPr sz="1200"/>
            </a:pPr>
            <a:r>
              <a:t>• 空白地带：高精度+易用+合理价格的中间方案缺失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竞品分析 - 重点玩家详解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Mixamo (Adobe)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 b="0"/>
            </a:pPr>
            <a:r>
              <a:t>• AI自动骨骼检测+模板匹配</a:t>
            </a:r>
          </a:p>
          <a:p>
            <a:pPr>
              <a:spcAft>
                <a:spcPts val="600"/>
              </a:spcAft>
              <a:defRPr sz="1200" b="0"/>
            </a:pPr>
            <a:r>
              <a:t>• Web端无需安装</a:t>
            </a:r>
          </a:p>
          <a:p>
            <a:pPr>
              <a:spcAft>
                <a:spcPts val="600"/>
              </a:spcAft>
              <a:defRPr sz="1200" b="0"/>
            </a:pPr>
            <a:r>
              <a:t>• 导出至Unity/Unreal原生支持</a:t>
            </a:r>
          </a:p>
          <a:p>
            <a:pPr>
              <a:spcAft>
                <a:spcPts val="600"/>
              </a:spcAft>
              <a:defRPr sz="1200" b="0"/>
            </a:pPr>
            <a:r>
              <a:t>• 动画库丰富（1000+）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DeepMotion (NVIDIA)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 b="0"/>
            </a:pPr>
            <a:r>
              <a:t>• AI视频动作捕捉+骨骼绑定</a:t>
            </a:r>
          </a:p>
          <a:p>
            <a:pPr>
              <a:spcAft>
                <a:spcPts val="600"/>
              </a:spcAft>
              <a:defRPr sz="1200" b="0"/>
            </a:pPr>
            <a:r>
              <a:t>• Video-to-Animation端到端</a:t>
            </a:r>
          </a:p>
          <a:p>
            <a:pPr>
              <a:spcAft>
                <a:spcPts val="600"/>
              </a:spcAft>
              <a:defRPr sz="1200" b="0"/>
            </a:pPr>
            <a:r>
              <a:t>• 与MetaHuman深度集成</a:t>
            </a:r>
          </a:p>
          <a:p>
            <a:pPr>
              <a:spcAft>
                <a:spcPts val="600"/>
              </a:spcAft>
              <a:defRPr sz="1200" b="0"/>
            </a:pPr>
            <a:r>
              <a:t>• GitHub开源部分工具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Character Creator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97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 b="0"/>
            </a:pPr>
            <a:r>
              <a:t>• AccuRIG一键自动绑定</a:t>
            </a:r>
          </a:p>
          <a:p>
            <a:pPr>
              <a:spcAft>
                <a:spcPts val="600"/>
              </a:spcAft>
              <a:defRPr sz="1200" b="0"/>
            </a:pPr>
            <a:r>
              <a:t>• 支持hard-surface角色</a:t>
            </a:r>
          </a:p>
          <a:p>
            <a:pPr>
              <a:spcAft>
                <a:spcPts val="600"/>
              </a:spcAft>
              <a:defRPr sz="1200" b="0"/>
            </a:pPr>
            <a:r>
              <a:t>• 与iClone深度整合</a:t>
            </a:r>
          </a:p>
          <a:p>
            <a:pPr>
              <a:spcAft>
                <a:spcPts val="600"/>
              </a:spcAft>
              <a:defRPr sz="1200" b="0"/>
            </a:pPr>
            <a:r>
              <a:t>• $299标准版/$479豪华版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40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Rokoko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97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 b="0"/>
            </a:pPr>
            <a:r>
              <a:t>• IMU动捕套装+AI视觉</a:t>
            </a:r>
          </a:p>
          <a:p>
            <a:pPr>
              <a:spcAft>
                <a:spcPts val="600"/>
              </a:spcAft>
              <a:defRPr sz="1200" b="0"/>
            </a:pPr>
            <a:r>
              <a:t>• Sensor Fusion减少漂移</a:t>
            </a:r>
          </a:p>
          <a:p>
            <a:pPr>
              <a:spcAft>
                <a:spcPts val="600"/>
              </a:spcAft>
              <a:defRPr sz="1200" b="0"/>
            </a:pPr>
            <a:r>
              <a:t>• 多软件重定向支持</a:t>
            </a:r>
          </a:p>
          <a:p>
            <a:pPr>
              <a:spcAft>
                <a:spcPts val="600"/>
              </a:spcAft>
              <a:defRPr sz="1200" b="0"/>
            </a:pPr>
            <a:r>
              <a:t>• €10-50/月软件订阅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03 技术洞察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技术路线 - 三大方案对比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F5F5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t>LBS</a:t>
            </a:r>
            <a:br/>
            <a:r>
              <a:t>线性混合蒙皮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优点</a:t>
            </a:r>
          </a:p>
          <a:p>
            <a:pPr>
              <a:defRPr sz="1200"/>
            </a:pPr>
            <a:r>
              <a:t>计算简单、兼容性好</a:t>
            </a:r>
          </a:p>
          <a:p>
            <a:pPr>
              <a:spcBef>
                <a:spcPts val="1000"/>
              </a:spcBef>
              <a:defRPr sz="1200" b="1">
                <a:solidFill>
                  <a:srgbClr val="C85050"/>
                </a:solidFill>
              </a:defRPr>
            </a:pPr>
            <a:r>
              <a:t>缺点</a:t>
            </a:r>
          </a:p>
          <a:p>
            <a:pPr>
              <a:defRPr sz="1200"/>
            </a:pPr>
            <a:r>
              <a:t>椎体奇异性、关节扭曲</a:t>
            </a:r>
          </a:p>
          <a:p>
            <a:pPr>
              <a:spcBef>
                <a:spcPts val="1000"/>
              </a:spcBef>
              <a:defRPr sz="1200" b="1"/>
            </a:pPr>
            <a:r>
              <a:t>成熟度</a:t>
            </a:r>
          </a:p>
          <a:p>
            <a:pPr>
              <a:defRPr sz="1200"/>
            </a:pPr>
            <a:r>
              <a:t>成熟稳定 ★★★☆☆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097280"/>
            <a:ext cx="3657600" cy="5029200"/>
          </a:xfrm>
          <a:prstGeom prst="roundRect">
            <a:avLst/>
          </a:prstGeom>
          <a:solidFill>
            <a:srgbClr val="F5F5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801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64"/>
                </a:solidFill>
              </a:defRPr>
            </a:pPr>
            <a:r>
              <a:t>DQS</a:t>
            </a:r>
            <a:br/>
            <a:r>
              <a:t>双四元数蒙皮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优点</a:t>
            </a:r>
          </a:p>
          <a:p>
            <a:pPr>
              <a:defRPr sz="1200"/>
            </a:pPr>
            <a:r>
              <a:t>保形变换、避免扭曲</a:t>
            </a:r>
          </a:p>
          <a:p>
            <a:pPr>
              <a:spcBef>
                <a:spcPts val="1000"/>
              </a:spcBef>
              <a:defRPr sz="1200" b="1">
                <a:solidFill>
                  <a:srgbClr val="C85050"/>
                </a:solidFill>
              </a:defRPr>
            </a:pPr>
            <a:r>
              <a:t>缺点</a:t>
            </a:r>
          </a:p>
          <a:p>
            <a:pPr>
              <a:defRPr sz="1200"/>
            </a:pPr>
            <a:r>
              <a:t>~20%额外开销</a:t>
            </a:r>
          </a:p>
          <a:p>
            <a:pPr>
              <a:spcBef>
                <a:spcPts val="1000"/>
              </a:spcBef>
              <a:defRPr sz="1200" b="1"/>
            </a:pPr>
            <a:r>
              <a:t>成熟度</a:t>
            </a:r>
          </a:p>
          <a:p>
            <a:pPr>
              <a:defRPr sz="1200"/>
            </a:pPr>
            <a:r>
              <a:t>当前最优 ★★★★★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097280"/>
            <a:ext cx="3657600" cy="5029200"/>
          </a:xfrm>
          <a:prstGeom prst="roundRect">
            <a:avLst/>
          </a:prstGeom>
          <a:solidFill>
            <a:srgbClr val="F5F5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28016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</a:defRPr>
            </a:pPr>
            <a:r>
              <a:t>AI蒙皮</a:t>
            </a:r>
            <a:br/>
            <a:r>
              <a:t>(GNN+Attention)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优点</a:t>
            </a:r>
          </a:p>
          <a:p>
            <a:pPr>
              <a:defRPr sz="1200"/>
            </a:pPr>
            <a:r>
              <a:t>质量最高、自动学习</a:t>
            </a:r>
          </a:p>
          <a:p>
            <a:pPr>
              <a:spcBef>
                <a:spcPts val="1000"/>
              </a:spcBef>
              <a:defRPr sz="1200" b="1">
                <a:solidFill>
                  <a:srgbClr val="C85050"/>
                </a:solidFill>
              </a:defRPr>
            </a:pPr>
            <a:r>
              <a:t>缺点</a:t>
            </a:r>
          </a:p>
          <a:p>
            <a:pPr>
              <a:defRPr sz="1200"/>
            </a:pPr>
            <a:r>
              <a:t>GPU依赖、训练成本高</a:t>
            </a:r>
          </a:p>
          <a:p>
            <a:pPr>
              <a:spcBef>
                <a:spcPts val="1000"/>
              </a:spcBef>
              <a:defRPr sz="1200" b="1"/>
            </a:pPr>
            <a:r>
              <a:t>成熟度</a:t>
            </a:r>
          </a:p>
          <a:p>
            <a:pPr>
              <a:defRPr sz="1200"/>
            </a:pPr>
            <a:r>
              <a:t>趋势向好 ★★★☆☆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技术路线 - 发展路线图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0-6月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4572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DQS蒙皮+程序化骨骼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✓ 已成熟可用  |  效率提升100-500x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6-12月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17520"/>
            <a:ext cx="4572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AI蒙皮试点+GPU优化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进行中  |  验证可行性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12-18月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297679"/>
            <a:ext cx="4572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749039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AI蒙皮生产扩展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规划中  |  80%角色自动化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199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18-24月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029199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云边协同架构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规划中  |  边缘实时推理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69280"/>
            <a:ext cx="1097280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78D4"/>
                </a:solidFill>
              </a:defRPr>
            </a:pPr>
            <a:r>
              <a:t>✓ 推荐路线：DQS蒙皮 + 程序化骨骼生成（立即可落地）→ AI蒙皮渐进（2025-2027商用）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04 用户洞察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用户画像 - 5类典型用户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2011680"/>
                <a:gridCol w="3200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用户类型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团队规模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付费意愿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核心场景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决策驱动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A: 独立开发者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1-5人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$0-50/月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快速原型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效率优先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B: 技术美术(AAA)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100-500人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$500+/月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管线建设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质量稳定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C: 项目制动画师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5-20人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$50-200/月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多项目并行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"够用就好"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D: 技术总监/管线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50-500人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$2000+/月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自动化管线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API能力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E: 美术总监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20-100人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$200-1000/月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风格一致性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团队协作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用户洞察 - 痛点与需求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痛点优先级（出现频率排序）</a:t>
            </a:r>
          </a:p>
          <a:p>
            <a:pPr>
              <a:spcBef>
                <a:spcPts val="800"/>
              </a:spcBef>
              <a:defRPr sz="1400" b="1"/>
            </a:pPr>
            <a:r>
              <a:t>[P0] 关节处扭曲/畸形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  频率:极高 | 影响:全体用户</a:t>
            </a:r>
          </a:p>
          <a:p>
            <a:pPr>
              <a:spcBef>
                <a:spcPts val="800"/>
              </a:spcBef>
              <a:defRPr sz="1400" b="1"/>
            </a:pPr>
            <a:r>
              <a:t>[P0] 非人形角色支持差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  频率:高 | 影响:独立开发者/动画师</a:t>
            </a:r>
          </a:p>
          <a:p>
            <a:pPr>
              <a:spcBef>
                <a:spcPts val="800"/>
              </a:spcBef>
              <a:defRPr sz="1400" b="1"/>
            </a:pPr>
            <a:r>
              <a:t>[P1] 处理速度慢(&gt;10分钟)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  频率:高 | 影响:效率导向用户</a:t>
            </a:r>
          </a:p>
          <a:p>
            <a:pPr>
              <a:spcBef>
                <a:spcPts val="800"/>
              </a:spcBef>
              <a:defRPr sz="1400" b="1"/>
            </a:pPr>
            <a:r>
              <a:t>[P1] 与DCC工具流程割裂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  频率:中高 | 影响:管线TA/技术导演</a:t>
            </a:r>
          </a:p>
          <a:p>
            <a:pPr>
              <a:spcBef>
                <a:spcPts val="800"/>
              </a:spcBef>
              <a:defRPr sz="1400" b="1"/>
            </a:pPr>
            <a:r>
              <a:t>[P2] 学习曲线陡峭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    频率:中 | 影响:新用户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用户功能优先级（加权评分）</a:t>
            </a:r>
          </a:p>
          <a:p>
            <a:pPr>
              <a:spcBef>
                <a:spcPts val="1000"/>
              </a:spcBef>
              <a:defRPr sz="1400"/>
            </a:pPr>
            <a:r>
              <a:t>• 蒙皮质量/关节自然度</a:t>
            </a:r>
          </a:p>
          <a:p>
            <a:pPr>
              <a:defRPr sz="1200" b="1">
                <a:solidFill>
                  <a:srgbClr val="0078D4"/>
                </a:solidFill>
              </a:defRPr>
            </a:pPr>
            <a:r>
              <a:t>  权重: 25%</a:t>
            </a:r>
          </a:p>
          <a:p>
            <a:pPr>
              <a:spcBef>
                <a:spcPts val="1000"/>
              </a:spcBef>
              <a:defRPr sz="1400"/>
            </a:pPr>
            <a:r>
              <a:t>• 处理速度</a:t>
            </a:r>
          </a:p>
          <a:p>
            <a:pPr>
              <a:defRPr sz="1200" b="1">
                <a:solidFill>
                  <a:srgbClr val="0078D4"/>
                </a:solidFill>
              </a:defRPr>
            </a:pPr>
            <a:r>
              <a:t>  权重: 20%</a:t>
            </a:r>
          </a:p>
          <a:p>
            <a:pPr>
              <a:spcBef>
                <a:spcPts val="1000"/>
              </a:spcBef>
              <a:defRPr sz="1400"/>
            </a:pPr>
            <a:r>
              <a:t>• 多角色类型支持</a:t>
            </a:r>
          </a:p>
          <a:p>
            <a:pPr>
              <a:defRPr sz="1200" b="1">
                <a:solidFill>
                  <a:srgbClr val="0078D4"/>
                </a:solidFill>
              </a:defRPr>
            </a:pPr>
            <a:r>
              <a:t>  权重: 15%</a:t>
            </a:r>
          </a:p>
          <a:p>
            <a:pPr>
              <a:spcBef>
                <a:spcPts val="1000"/>
              </a:spcBef>
              <a:defRPr sz="1400"/>
            </a:pPr>
            <a:r>
              <a:t>• 与现有工具链集成</a:t>
            </a:r>
          </a:p>
          <a:p>
            <a:pPr>
              <a:defRPr sz="1200" b="1">
                <a:solidFill>
                  <a:srgbClr val="0078D4"/>
                </a:solidFill>
              </a:defRPr>
            </a:pPr>
            <a:r>
              <a:t>  权重: 12%</a:t>
            </a:r>
          </a:p>
          <a:p>
            <a:pPr>
              <a:spcBef>
                <a:spcPts val="1000"/>
              </a:spcBef>
              <a:defRPr sz="1400"/>
            </a:pPr>
            <a:r>
              <a:t>• 批量处理能力</a:t>
            </a:r>
          </a:p>
          <a:p>
            <a:pPr>
              <a:defRPr sz="1200" b="1">
                <a:solidFill>
                  <a:srgbClr val="0078D4"/>
                </a:solidFill>
              </a:defRPr>
            </a:pPr>
            <a:r>
              <a:t>  权重: 10%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05 风险与机会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风险与机会矩阵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85050"/>
                </a:solidFill>
              </a:defRPr>
            </a:pPr>
            <a:r>
              <a:t>风险矩阵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73152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垂直切入差异化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技术不成熟(AI)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渐进路线+技术验证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付费意愿不确定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MVP快速验证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研发周期长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核心团队+外包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人才稀缺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高校合作+招聘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664"/>
                </a:solidFill>
              </a:defRPr>
            </a:pPr>
            <a:r>
              <a:t>市场机会</a:t>
            </a:r>
          </a:p>
          <a:p>
            <a:pPr>
              <a:spcBef>
                <a:spcPts val="1000"/>
              </a:spcBef>
              <a:defRPr sz="1400"/>
            </a:pPr>
            <a:r>
              <a:t>✓ 市场空白：高精度+易用+合理价格</a:t>
            </a:r>
          </a:p>
          <a:p>
            <a:pPr>
              <a:spcBef>
                <a:spcPts val="1000"/>
              </a:spcBef>
              <a:defRPr sz="1400"/>
            </a:pPr>
            <a:r>
              <a:t>✓ 技术窗口：AI蒙皮2025-2027进入商用</a:t>
            </a:r>
          </a:p>
          <a:p>
            <a:pPr>
              <a:spcBef>
                <a:spcPts val="1000"/>
              </a:spcBef>
              <a:defRPr sz="1400"/>
            </a:pPr>
            <a:r>
              <a:t>✓ 生态机会：Blender插件生态不完善</a:t>
            </a:r>
          </a:p>
          <a:p>
            <a:pPr>
              <a:spcBef>
                <a:spcPts val="1000"/>
              </a:spcBef>
              <a:defRPr sz="1400"/>
            </a:pPr>
            <a:r>
              <a:t>✓ 垂直机会：手游/虚拟人专属方案</a:t>
            </a:r>
          </a:p>
          <a:p>
            <a:pPr>
              <a:spcBef>
                <a:spcPts val="1000"/>
              </a:spcBef>
              <a:defRPr sz="1400"/>
            </a:pPr>
            <a:r>
              <a:t>✓ 数据壁垒：训练数据集构建护城河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关键成功因素：准确率&gt;92%（一键可用）+ 处理速度&lt;2分钟 + 与主流引擎无缝集成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06 建议与下一步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建议 - 产品战略与MVP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产品战略建议</a:t>
            </a:r>
          </a:p>
          <a:p>
            <a:pPr>
              <a:spcBef>
                <a:spcPts val="1200"/>
              </a:spcBef>
              <a:defRPr sz="1600" b="1"/>
            </a:pPr>
            <a:r>
              <a:t>▸ 垂直切入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先专注文娱（游戏+影视），不做通用平台</a:t>
            </a:r>
          </a:p>
          <a:p>
            <a:pPr>
              <a:spcBef>
                <a:spcPts val="1200"/>
              </a:spcBef>
              <a:defRPr sz="1600" b="1"/>
            </a:pPr>
            <a:r>
              <a:t>▸ 开源策略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考虑部分代码开源，建立社区和技术影响力</a:t>
            </a:r>
          </a:p>
          <a:p>
            <a:pPr>
              <a:spcBef>
                <a:spcPts val="1200"/>
              </a:spcBef>
              <a:defRPr sz="1600" b="1"/>
            </a:pPr>
            <a:r>
              <a:t>▸ 数据壁垒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优先构建高质量训练数据集</a:t>
            </a:r>
          </a:p>
          <a:p>
            <a:pPr>
              <a:spcBef>
                <a:spcPts val="1200"/>
              </a:spcBef>
              <a:defRPr sz="1600" b="1"/>
            </a:pPr>
            <a:r>
              <a:t>▸ 订阅模式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年订阅锁定客户，避免价格战</a:t>
            </a:r>
          </a:p>
          <a:p>
            <a:pPr>
              <a:spcBef>
                <a:spcPts val="1200"/>
              </a:spcBef>
              <a:defRPr sz="1600" b="1"/>
            </a:pPr>
            <a:r>
              <a:t>▸ 生态整合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Maya/Blender/Unity/Unreal插件优先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MVP建议方案</a:t>
            </a:r>
          </a:p>
          <a:p>
            <a:pPr>
              <a:spcBef>
                <a:spcPts val="1000"/>
              </a:spcBef>
              <a:defRPr sz="1400" b="1"/>
            </a:pPr>
            <a:r>
              <a:t>• 目标用户：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独立游戏开发者、手游工作室</a:t>
            </a:r>
          </a:p>
          <a:p>
            <a:pPr>
              <a:spcBef>
                <a:spcPts val="1000"/>
              </a:spcBef>
              <a:defRPr sz="1400" b="1"/>
            </a:pPr>
            <a:r>
              <a:t>• 核心功能：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人形角色自动rig+FBX导出</a:t>
            </a:r>
          </a:p>
          <a:p>
            <a:pPr>
              <a:spcBef>
                <a:spcPts val="1000"/>
              </a:spcBef>
              <a:defRPr sz="1400" b="1"/>
            </a:pPr>
            <a:r>
              <a:t>• 技术规格：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处理&lt;5分钟，准确率&gt;85%</a:t>
            </a:r>
          </a:p>
          <a:p>
            <a:pPr>
              <a:spcBef>
                <a:spcPts val="1000"/>
              </a:spcBef>
              <a:defRPr sz="1400" b="1"/>
            </a:pPr>
            <a:r>
              <a:t>• 验证指标：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  DAU&gt;500，转化率&gt;3%，NPS&gt;30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建议 - 路线图与行动项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Phase 1 (0-6月)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MVP验证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/>
            </a:pPr>
            <a:r>
              <a:t>• 核心算法开发</a:t>
            </a:r>
          </a:p>
          <a:p>
            <a:pPr>
              <a:spcAft>
                <a:spcPts val="600"/>
              </a:spcAft>
              <a:defRPr sz="1400" b="0"/>
            </a:pPr>
            <a:r>
              <a:t>• Maya/Blender插件</a:t>
            </a:r>
          </a:p>
          <a:p>
            <a:pPr>
              <a:spcAft>
                <a:spcPts val="600"/>
              </a:spcAft>
              <a:defRPr sz="1400" b="0"/>
            </a:pPr>
            <a:r>
              <a:t>• 早期用户100人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5029200"/>
          </a:xfrm>
          <a:prstGeom prst="round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Phase 2 (6-12月)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产品化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/>
            </a:pPr>
            <a:r>
              <a:t>• 云端API发布</a:t>
            </a:r>
          </a:p>
          <a:p>
            <a:pPr>
              <a:spcAft>
                <a:spcPts val="600"/>
              </a:spcAft>
              <a:defRPr sz="1400" b="0"/>
            </a:pPr>
            <a:r>
              <a:t>• Unity/Unreal集成</a:t>
            </a:r>
          </a:p>
          <a:p>
            <a:pPr>
              <a:spcAft>
                <a:spcPts val="600"/>
              </a:spcAft>
              <a:defRPr sz="1400" b="0"/>
            </a:pPr>
            <a:r>
              <a:t>• 1000付费用户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657600" cy="5029200"/>
          </a:xfrm>
          <a:prstGeom prst="roundRect">
            <a:avLst/>
          </a:prstGeom>
          <a:solidFill>
            <a:srgbClr val="96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Phase 3 (12-24月)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规模扩展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/>
            </a:pPr>
            <a:r>
              <a:t>• 通用四足支持</a:t>
            </a:r>
          </a:p>
          <a:p>
            <a:pPr>
              <a:spcAft>
                <a:spcPts val="600"/>
              </a:spcAft>
              <a:defRPr sz="1400" b="0"/>
            </a:pPr>
            <a:r>
              <a:t>• 影视行业切入</a:t>
            </a:r>
          </a:p>
          <a:p>
            <a:pPr>
              <a:spcAft>
                <a:spcPts val="600"/>
              </a:spcAft>
              <a:defRPr sz="1400" b="0"/>
            </a:pPr>
            <a:r>
              <a:t>• 企业版+生态合作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下一步行动：本月完成市场数据验证 → 2周内完成竞品深度分析 → 启动会明确定义MVP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