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华为四大业务 · 战略与技术洞察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97280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61B2E"/>
                </a:solidFill>
                <a:latin typeface="Microsoft YaHei"/>
              </a:rPr>
              <a:t>业务现状 · 商业闭环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61B2E"/>
                </a:solidFill>
                <a:latin typeface="Microsoft YaHei"/>
              </a:rPr>
              <a:t>与技术路线图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现状研判 → 商业闭环逻辑 → 增长点与痛点 → 技术点目标定义/指标/时间/验收/场景 → 优先级与12个月路线图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023360"/>
            <a:ext cx="937259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041648"/>
            <a:ext cx="937259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现状与闭环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70531" y="4023360"/>
            <a:ext cx="690372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70531" y="4041648"/>
            <a:ext cx="690372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增长点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5496" y="4023360"/>
            <a:ext cx="566928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5496" y="4041648"/>
            <a:ext cx="566928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痛点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7015" y="4023360"/>
            <a:ext cx="1060704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5" y="4041648"/>
            <a:ext cx="106070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技术目标定义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82312" y="4023360"/>
            <a:ext cx="813816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4041648"/>
            <a:ext cx="81381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明确指标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4023360"/>
            <a:ext cx="937259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4041648"/>
            <a:ext cx="937259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周期与验收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62572" y="4023360"/>
            <a:ext cx="813816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2572" y="4041648"/>
            <a:ext cx="81381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应用场景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0979" y="4023360"/>
            <a:ext cx="937259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0979" y="4041648"/>
            <a:ext cx="937259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优先级矩阵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2832" y="4023360"/>
            <a:ext cx="1060704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4041648"/>
            <a:ext cx="106070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12月路线图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4360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出品：xhyha/insight · 基于上一版业务说明深化为战略分析 · 数据源：consumer.huawei.com 官方页 + Wikipedia + 行业研判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1/27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CONTENTS · 报告导航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六层分析 · 四大业务全景战略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91440" cy="74980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90472"/>
            <a:ext cx="914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50876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1B2E"/>
                </a:solidFill>
                <a:latin typeface="Microsoft YaHei"/>
              </a:rPr>
              <a:t>分析框架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47088"/>
            <a:ext cx="8412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五层模型：现状→闭环→增长→痛点→技术路线图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4028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240280"/>
            <a:ext cx="91440" cy="749808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13432"/>
            <a:ext cx="914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C7000B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33172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1B2E"/>
                </a:solidFill>
                <a:latin typeface="Microsoft YaHei"/>
              </a:rPr>
              <a:t>游戏中心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670048"/>
            <a:ext cx="8412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分发联运闭环 · 性能/AI推荐/云游戏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06324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063240"/>
            <a:ext cx="91440" cy="74980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136392"/>
            <a:ext cx="914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15468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1B2E"/>
                </a:solidFill>
                <a:latin typeface="Microsoft YaHei"/>
              </a:rPr>
              <a:t>华为主题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493008"/>
            <a:ext cx="8412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装扮闭环 · AI生成主题/取色/NEXT迁移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8620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886200"/>
            <a:ext cx="91440" cy="749808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959352"/>
            <a:ext cx="914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C2820A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77639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1B2E"/>
                </a:solidFill>
                <a:latin typeface="Microsoft YaHei"/>
              </a:rPr>
              <a:t>华为视频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315968"/>
            <a:ext cx="8412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聚合分发闭环 · 端侧超分/流转/AI助手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70916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709160"/>
            <a:ext cx="91440" cy="74980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782312"/>
            <a:ext cx="914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563EB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80060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1B2E"/>
                </a:solidFill>
                <a:latin typeface="Microsoft YaHei"/>
              </a:rPr>
              <a:t>华为浏览器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138928"/>
            <a:ext cx="8412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信息流闭环 · AI摘要/隐私沙盒/跨端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53212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5532120"/>
            <a:ext cx="91440" cy="74980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605272"/>
            <a:ext cx="914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59669"/>
                </a:solidFill>
                <a:latin typeface="Microsoft YaHe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62356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1B2E"/>
                </a:solidFill>
                <a:latin typeface="Microsoft YaHei"/>
              </a:rPr>
              <a:t>技术协同与规划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961888"/>
            <a:ext cx="8412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共享底座 · 优先级矩阵 · 12月路线图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2/27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0D9488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9488"/>
                </a:solidFill>
                <a:latin typeface="Microsoft YaHei"/>
              </a:rPr>
              <a:t>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分析框架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五层模型：现状 → 商业闭环 → 增长 → 痛点 → 技术路线图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3/27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01 · 分析框架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五层战略分析模型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0561320" cy="786384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91440" cy="786384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18488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618488"/>
            <a:ext cx="20116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业务现状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636776"/>
            <a:ext cx="4572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定位/规模/核心能力/生态阶段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618488"/>
            <a:ext cx="2468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280"/>
                </a:solidFill>
                <a:latin typeface="Microsoft YaHei"/>
              </a:rPr>
              <a:t>回答：现在在哪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77439"/>
            <a:ext cx="10561320" cy="786384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377439"/>
            <a:ext cx="91440" cy="786384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87168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487168"/>
            <a:ext cx="20116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商业闭环逻辑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505456"/>
            <a:ext cx="4572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用户/资金/数据/内容如何循环增值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487168"/>
            <a:ext cx="2468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280"/>
                </a:solidFill>
                <a:latin typeface="Microsoft YaHei"/>
              </a:rPr>
              <a:t>回答：钱与价值怎么转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46120"/>
            <a:ext cx="10561320" cy="786384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246120"/>
            <a:ext cx="91440" cy="786384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355848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59669"/>
                </a:solidFill>
                <a:latin typeface="Microsoft YaHei"/>
              </a:rPr>
              <a:t>L3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355848"/>
            <a:ext cx="20116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增长点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374136"/>
            <a:ext cx="4572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增量来自何处（人群/场景/技术/模式）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355848"/>
            <a:ext cx="2468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280"/>
                </a:solidFill>
                <a:latin typeface="Microsoft YaHei"/>
              </a:rPr>
              <a:t>回答：未来长在哪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114800"/>
            <a:ext cx="10561320" cy="786384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114800"/>
            <a:ext cx="91440" cy="786384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24528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DC2626"/>
                </a:solidFill>
                <a:latin typeface="Microsoft YaHei"/>
              </a:rPr>
              <a:t>L4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224528"/>
            <a:ext cx="20116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痛点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242816"/>
            <a:ext cx="4572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结构性瓶颈与短板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224528"/>
            <a:ext cx="2468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280"/>
                </a:solidFill>
                <a:latin typeface="Microsoft YaHei"/>
              </a:rPr>
              <a:t>回答：什么挡在路上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983480"/>
            <a:ext cx="10561320" cy="786384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4983480"/>
            <a:ext cx="91440" cy="786384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093208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7C3AED"/>
                </a:solidFill>
                <a:latin typeface="Microsoft YaHei"/>
              </a:rPr>
              <a:t>L5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5093208"/>
            <a:ext cx="20116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技术路线图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5111496"/>
            <a:ext cx="4572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目标→指标→时间→验收→场景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5093208"/>
            <a:ext cx="2468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280"/>
                </a:solidFill>
                <a:latin typeface="Microsoft YaHei"/>
              </a:rPr>
              <a:t>回答：怎么做、做到什么程度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897880"/>
            <a:ext cx="10561320" cy="566928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5943600"/>
            <a:ext cx="10241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📌 技术路线图标准格式：</a:t>
            </a:r>
            <a:r>
              <a:rPr sz="950" b="0">
                <a:solidFill>
                  <a:srgbClr val="6B7280"/>
                </a:solidFill>
                <a:latin typeface="Microsoft YaHei"/>
              </a:rPr>
              <a:t>每项技术均定义 目标(达成什么) + 指标(可量化KPI) + 周期(月) + 验收(如何证伪) + 场景(用户在什么情境用)。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4/27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C7000B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7000B"/>
                </a:solidFill>
                <a:latin typeface="Microsoft YaHei"/>
              </a:rPr>
              <a:t>GAME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华为游戏中心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分发联运闭环 · 性能引擎 / AI推荐 / 云游戏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5/27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02 · 游戏中心  |  现状 + 商业闭环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业务现状与价值流转闭环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c_recomm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92" y="1581912"/>
            <a:ext cx="2022734" cy="16824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46120" y="1508760"/>
            <a:ext cx="8138160" cy="18288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1609344"/>
            <a:ext cx="7772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▎业务现状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1993392"/>
            <a:ext cx="77724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华为游戏分发主入口，与 AppGallery 协同；联运分成模式（渠道典型 30%-50%）。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HMS Game Service Kit（成就/排行榜/云存档/防沉迷）+ 游戏空间（插帧/触控/GPU Turbo）。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鸿蒙原生应用超 35 万款，原生游戏生态建设中；防沉迷合规（实名/时段/充值/人脸）已落地。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▎商业闭环逻辑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发现游戏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智能推荐引擎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48686" y="4261104"/>
            <a:ext cx="219456" cy="164592"/>
          </a:xfrm>
          <a:prstGeom prst="rightArrow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86430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86430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2734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734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下载安装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2734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一键安装联运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12156" y="4261104"/>
            <a:ext cx="219456" cy="164592"/>
          </a:xfrm>
          <a:prstGeom prst="rightArrow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49900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49900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6204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6204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游戏内付费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96204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华为支付抽成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075627" y="4261104"/>
            <a:ext cx="219456" cy="164592"/>
          </a:xfrm>
          <a:prstGeom prst="rightArrow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3371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3371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9675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9675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福利留存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9675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礼包/返利特权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239097" y="4261104"/>
            <a:ext cx="219456" cy="164592"/>
          </a:xfrm>
          <a:prstGeom prst="rightArrow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76841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76841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23145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3145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UGC社区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23145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攻略/内容沉淀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1097280" y="4946904"/>
            <a:ext cx="10012680" cy="118872"/>
          </a:xfrm>
          <a:prstGeom prst="leftArrow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111496"/>
            <a:ext cx="10561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7000B"/>
                </a:solidFill>
                <a:latin typeface="Microsoft YaHei"/>
              </a:rPr>
              <a:t>内容沉淀反哺分发 → 推荐更准 → 发现更高效（正向飞轮）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6/27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02 · 游戏中心  |  增长点 + 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增量来源与结构性瓶颈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166360" cy="45262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934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Microsoft YaHei"/>
              </a:rPr>
              <a:t>▎增长点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鸿蒙原生游戏首发红利（独家优化/首发联运分成倾斜）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15768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云游戏（低配设备玩3A，订阅制变现）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74135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游戏社区内容化（攻略/短视频/直播，提升停留与分发效率）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32503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AI 推荐精准化（CTR↑ → 分发效率 → ARPU↑）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90871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跨端游戏场景（车机/智慧屏/折叠屏大屏）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5212080" cy="45262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934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</a:rPr>
              <a:t>▎痛点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开发者生态：Game Kit API 丰富度与全球认知弱于 Google/苹果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15768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原生适配成本：CP 需为鸿蒙额外投入研发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74135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海外 GMS 缺失，海外游戏分发受阻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3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云游戏带宽与端到端延迟体验瓶颈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690871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防沉迷对未成年人收入的刚性约束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7/27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02 · 游戏中心  |  技术路线图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三大技术点 · 目标/指标/时间/验收/场景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561320" cy="14813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91440" cy="1481328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54480"/>
            <a:ext cx="9281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端云协同游戏性能引擎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1572768"/>
            <a:ext cx="960120" cy="310896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0" y="1591056"/>
            <a:ext cx="9601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优先级·高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011680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7000B"/>
                </a:solidFill>
                <a:latin typeface="Microsoft YaHei"/>
              </a:rPr>
              <a:t>目标定义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011680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重载游戏长时间满帧不发热降帧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187244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时间周期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87244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6 个月（M1-M6）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362809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核心指标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362809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满帧运行时长占比≥90%；同场景功耗-15%；温升≤基线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2538374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验收方式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538374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实验室+100用户实机，帧率/温度/功耗对比基线机型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2713939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应用场景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713939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重载3A手游长时间游玩/团战高负载场景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035808"/>
            <a:ext cx="10561320" cy="14813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035808"/>
            <a:ext cx="91440" cy="1481328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127248"/>
            <a:ext cx="9281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2820A"/>
                </a:solidFill>
                <a:latin typeface="Microsoft YaHei"/>
              </a:rPr>
              <a:t>AI 游戏推荐与联运增长引擎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3145536"/>
            <a:ext cx="960120" cy="310896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3163824"/>
            <a:ext cx="9601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优先级·高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358444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目标定义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3584448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提升分发效率与付费转化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760012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时间周期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760012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4 个月（M1-M4）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3935577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核心指标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3935577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推荐 CTR +20%；下载转化 +15%；付费 ARPU +10%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4111142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验收方式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111142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A/B 测试对照组，统计显著 + 业务指标双达标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4286707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应用场景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4286707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首页为你推荐/详情页关联推荐/下载后运营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4608576"/>
            <a:ext cx="10561320" cy="14813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" y="4608576"/>
            <a:ext cx="91440" cy="148132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700016"/>
            <a:ext cx="9281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</a:rPr>
              <a:t>云游戏低延迟串流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0" y="4718304"/>
            <a:ext cx="960120" cy="310896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0" y="4736592"/>
            <a:ext cx="9601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2820A"/>
                </a:solidFill>
                <a:latin typeface="Microsoft YaHei"/>
              </a:rPr>
              <a:t>优先级·中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" y="5157216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目标定义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5157216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云端渲染3A到端，接近本地体验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" y="5332780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时间周期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5332780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9 个月（M4-M12）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" y="5508345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核心指标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48840" y="5508345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端到端延迟≤30ms(5G/Wi-Fi6)；首帧&lt;1s；自适应码率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" y="5683910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验收方式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48840" y="5683910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多网络抖动测试；主观 MOS≥4.0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" y="5859475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应用场景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5859475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低配/旧机型玩大型游戏；免下载即点即玩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8/27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7C3AED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C3AED"/>
                </a:solidFill>
                <a:latin typeface="Microsoft YaHei"/>
              </a:rPr>
              <a:t>HUAWEI THEMES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华为主题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装扮闭环 · AI生成主题 / 动态取色 / NEXT迁移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9/27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03 · 华为主题  |  现状 + 商业闭环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业务现状与价值流转闭环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55448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h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479" y="1581912"/>
            <a:ext cx="789440" cy="16824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14600" y="1508760"/>
            <a:ext cx="8869680" cy="18288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24912" y="1609344"/>
            <a:ext cx="8503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Microsoft YaHei"/>
              </a:rPr>
              <a:t>▎业务现状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4912" y="1993392"/>
            <a:ext cx="850392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全场景个性化装扮（主题/表盘/字体/卡片/AOD/壁纸/耳机弹窗），手机+手表跨端。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差异化：多模态交互主题（语音/触控/情绪/充电动画/锁屏小游戏），超越静态图片。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设计师生态（创作者入驻+分成）+ 会员订阅 + IP 联名，已建立内容创作者经济。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Microsoft YaHei"/>
              </a:rPr>
              <a:t>▎商业闭环逻辑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装扮需求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个性化/社交展示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48686" y="4261104"/>
            <a:ext cx="219456" cy="164592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86430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86430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2734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734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浏览主题商店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2734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会员/单买触达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12156" y="4261104"/>
            <a:ext cx="219456" cy="164592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49900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49900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6204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6204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付费购买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96204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单买+订阅分成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075627" y="4261104"/>
            <a:ext cx="219456" cy="164592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3371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3371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9675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9675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个性化满足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9675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即时换装反馈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239097" y="4261104"/>
            <a:ext cx="219456" cy="164592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76841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76841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23145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3145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社交分享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23145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展示欲/口碑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1097280" y="4946904"/>
            <a:ext cx="10012680" cy="118872"/>
          </a:xfrm>
          <a:prstGeom prst="lef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111496"/>
            <a:ext cx="10561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Microsoft YaHei"/>
              </a:rPr>
              <a:t>用户分享+创作者内容 → 丰富供给吸引更多浏览（内容飞轮）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10/27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03 · 华为主题  |  增长点 + 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增量来源与结构性瓶颈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166360" cy="45262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934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Microsoft YaHei"/>
              </a:rPr>
              <a:t>▎增长点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AI 生成主题（端侧 NPU 生成壁纸/配色/图标，降创作成本，长尾个性化）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15768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万象息屏深化（AOD=24h 品牌触点，动效+AI 呼吸感）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74135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手表表盘生态扩张（穿戴装机量增长红利）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32503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跨端一致性（平板/车机/穿戴统一主题）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90871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IP 联名爆款（动漫/明星/节日高下载量）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5212080" cy="45262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934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</a:rPr>
              <a:t>▎痛点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静态主题同质化，付费意愿存在天花板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15768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设计师创作成本高（手绘/动效），供给增速受限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74135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HarmonyOS NEXT 主题引擎需重构，.hwt 生态迁移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3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AI 主题的图标适配一致性难题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690871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万象息屏取色引擎与细节待完善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11/27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03 · 华为主题  |  技术路线图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三大技术点 · 目标/指标/时间/验收/场景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561320" cy="14813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91440" cy="148132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54480"/>
            <a:ext cx="9281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C3AED"/>
                </a:solidFill>
                <a:latin typeface="Microsoft YaHei"/>
              </a:rPr>
              <a:t>端侧 AI 生成主题引擎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1572768"/>
            <a:ext cx="960120" cy="310896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0" y="1591056"/>
            <a:ext cx="9601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优先级·高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011680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目标定义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011680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一句话/一张图生成完整主题（壁纸+配色+图标风格）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187244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时间周期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87244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8 个月（M1-M8）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362809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核心指标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362809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生成&lt;5s（端侧）；满意度≥80%；图标适配覆盖率≥95%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2538374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验收方式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538374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主观评测+适配率统计；与人工主题盲测对比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2713939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应用场景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713939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个性化定制/节日主题/情绪主题即时生成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035808"/>
            <a:ext cx="10561320" cy="14813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035808"/>
            <a:ext cx="91440" cy="148132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127248"/>
            <a:ext cx="9281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</a:rPr>
              <a:t>多场景动态取色与 AOD 引擎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3145536"/>
            <a:ext cx="960120" cy="310896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3163824"/>
            <a:ext cx="9601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2820A"/>
                </a:solidFill>
                <a:latin typeface="Microsoft YaHei"/>
              </a:rPr>
              <a:t>优先级·中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358444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目标定义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3584448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锁屏/息屏/多屏分场景取色，AOD“会呼吸”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760012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时间周期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760012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5 个月（M2-M6）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3935577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核心指标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3935577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取色准确率≥90%；AOD 功耗≤基线；动效60fps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4111142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验收方式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111142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多壁纸场景取色测试 + 功耗仪实测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4286707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应用场景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4286707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壁纸切换即时全局换色；AOD 动态呼应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4608576"/>
            <a:ext cx="10561320" cy="14813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" y="4608576"/>
            <a:ext cx="91440" cy="1481328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700016"/>
            <a:ext cx="9281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2820A"/>
                </a:solidFill>
                <a:latin typeface="Microsoft YaHei"/>
              </a:rPr>
              <a:t>HarmonyOS NEXT 主题引擎与迁移工具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0" y="4718304"/>
            <a:ext cx="960120" cy="310896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0" y="4736592"/>
            <a:ext cx="9601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优先级·高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" y="5157216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目标定义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5157216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纯鸿蒙主题引擎重建 + 老主题一键迁移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" y="5332780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时间周期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5332780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10 个月（M3-M12）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" y="5508345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核心指标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48840" y="5508345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迁移成功率≥98%；渲染性能持平或优于旧版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" y="5683910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验收方式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48840" y="5683910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存量主题抽样迁移 + 性能基准测试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" y="5859475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应用场景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5859475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开发者/设计师主题迁移；新主题开发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12/27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C2820A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2820A"/>
                </a:solidFill>
                <a:latin typeface="Microsoft YaHei"/>
              </a:rPr>
              <a:t>HUAWEI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华为视频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聚合分发闭环 · 端侧超分 / 多端流转 / AI助手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13/27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04 · 华为视频  |  现状 + 商业闭环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业务现状与价值流转闭环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d_k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874144"/>
            <a:ext cx="2139696" cy="1098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46120" y="1508760"/>
            <a:ext cx="8138160" cy="18288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1609344"/>
            <a:ext cx="7772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▎业务现状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1993392"/>
            <a:ext cx="77724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聚合分发（芒果/优酷/腾讯/爱奇艺）+ 自有 AiMax 影院，一站搜全网。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AiMax：4K + HDR Vivid + Audio Vivid 空间音频 + AI 逐帧优化。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多端流转（手机/平板/鸿蒙电脑/智慧屏/鸿蒙智行车机）；AI 影视助手+一碰一抓分享。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▎商业闭环逻辑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820A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观影需求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找片/追剧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48686" y="4261104"/>
            <a:ext cx="219456" cy="164592"/>
          </a:xfrm>
          <a:prstGeom prst="rightArrow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86430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86430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2734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820A"/>
                </a:solidFill>
                <a:latin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734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聚合入口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2734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一站搜全网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12156" y="4261104"/>
            <a:ext cx="219456" cy="164592"/>
          </a:xfrm>
          <a:prstGeom prst="rightArrow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49900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49900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6204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820A"/>
                </a:solidFill>
                <a:latin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6204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会员/单片付费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96204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联运分成+自有订阅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075627" y="4261104"/>
            <a:ext cx="219456" cy="164592"/>
          </a:xfrm>
          <a:prstGeom prst="rightArrow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3371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3371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9675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820A"/>
                </a:solidFill>
                <a:latin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9675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沉浸体验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9675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AiMax画质留人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239097" y="4261104"/>
            <a:ext cx="219456" cy="164592"/>
          </a:xfrm>
          <a:prstGeom prst="rightArrow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76841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76841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23145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820A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3145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多端流转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23145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提升总时长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1097280" y="4946904"/>
            <a:ext cx="10012680" cy="118872"/>
          </a:xfrm>
          <a:prstGeom prst="leftArrow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111496"/>
            <a:ext cx="10561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2820A"/>
                </a:solidFill>
                <a:latin typeface="Microsoft YaHei"/>
              </a:rPr>
              <a:t>观影数据 → 反哺推荐更准 → 找片更高效 → 时长与付费增长（数据飞轮）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14/27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04 · 华为视频  |  增长点 + 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增量来源与结构性瓶颈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166360" cy="45262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934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Microsoft YaHei"/>
              </a:rPr>
              <a:t>▎增长点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AiMax 自有内容池扩张（高品质差异化护城河）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15768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多端时长增长（车机/智慧屏大屏沉浸场景）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74135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AI 影视助手深化（智能找片/剧情陪伴/二创）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32503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4K/HDR 供给 + 超分老片修复（盘活长尾内容）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90871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鸿蒙智行车机影音场景（车内第二空间）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5212080" cy="45262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934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</a:rPr>
              <a:t>▎痛点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内容方议价权（四大平台联运，分成与排他博弈）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15768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自有内容薄弱，AiMax 片源有限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74135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端侧 AI 画质算力与功耗（移动端 4K 实时超分压力）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3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多端体验一致性（车机/智慧屏适配成本）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690871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版权与合规（聚合分发的版权边界）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15/27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04 · 华为视频  |  技术路线图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三大技术点 · 目标/指标/时间/验收/场景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561320" cy="14813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91440" cy="1481328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54480"/>
            <a:ext cx="9281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2820A"/>
                </a:solidFill>
                <a:latin typeface="Microsoft YaHei"/>
              </a:rPr>
              <a:t>端侧 AI 实时超分与 SDR→HDR 引擎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1572768"/>
            <a:ext cx="960120" cy="310896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0" y="1591056"/>
            <a:ext cx="9601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优先级·高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011680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目标定义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011680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低清片源实时提升至近 4K/HDR，移动端可用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187244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时间周期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87244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7 个月（M1-M7）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362809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核心指标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362809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超分实时≥30fps；功耗增量≤20%；PSNR/主观评分显著提升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2538374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验收方式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538374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多片源画质对比 + 功耗/帧率实测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2713939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应用场景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713939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老片/低码率内容移动端高清化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035808"/>
            <a:ext cx="10561320" cy="14813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035808"/>
            <a:ext cx="91440" cy="148132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127248"/>
            <a:ext cx="9281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</a:rPr>
              <a:t>多端无缝流转与秒级接力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3145536"/>
            <a:ext cx="960120" cy="310896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3163824"/>
            <a:ext cx="9601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优先级·高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358444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目标定义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3584448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跨设备观影0感知切换，进度/字幕/音轨同步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760012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时间周期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760012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6 个月（M2-M7）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3935577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核心指标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3935577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切换&lt;2s；断点续播准确率100%；多端音画同步&lt;50ms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4111142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验收方式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111142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跨5类设备（手机/平板/PC/屏/车）接力测试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4286707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应用场景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4286707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手机→车机→智慧屏观影接力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4608576"/>
            <a:ext cx="10561320" cy="14813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" y="4608576"/>
            <a:ext cx="91440" cy="148132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700016"/>
            <a:ext cx="9281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C3AED"/>
                </a:solidFill>
                <a:latin typeface="Microsoft YaHei"/>
              </a:rPr>
              <a:t>AI 影视助手（智能找片+剧情陪伴）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0" y="4718304"/>
            <a:ext cx="960120" cy="310896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0" y="4736592"/>
            <a:ext cx="9601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2820A"/>
                </a:solidFill>
                <a:latin typeface="Microsoft YaHei"/>
              </a:rPr>
              <a:t>优先级·中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" y="5157216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目标定义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5157216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自然语言找片/剧情问答/个性化片单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" y="5332780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时间周期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5332780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5 个月（M3-M7）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" y="5508345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核心指标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48840" y="5508345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找片准确率≥85%；问答满意度≥80%；片单点击+25%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" y="5683910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验收方式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48840" y="5683910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意图测试集 + A/B 测试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" y="5859475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应用场景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5859475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语音找片；看剧实时问答陪伴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16/27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2563EB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563EB"/>
                </a:solidFill>
                <a:latin typeface="Microsoft YaHei"/>
              </a:rPr>
              <a:t>HUAWEI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华为浏览器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信息流闭环 · AI摘要 / 隐私沙盒 / 跨端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17/27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05 · 华为浏览器  |  现状 + 商业闭环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业务现状与价值流转闭环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371600" cy="17830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_priv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463" y="1627632"/>
            <a:ext cx="760592" cy="16367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331720" y="1508760"/>
            <a:ext cx="9052560" cy="18288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42032" y="1609344"/>
            <a:ext cx="8686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▎业务现状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1993392"/>
            <a:ext cx="86868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Chromium 内核，集搜索+智能资讯推荐+导航；多端（手机/PC/平板）。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隐私安全引擎（广告过滤/Cookie拦截/恶意网址/防跟踪/安全报告），“看得见的安全感”。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信息流=权威媒体内容分发变现；无障碍/适老/儿童纯净模式（科技致善）。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▎商业闭环逻辑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上网需求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搜索/资讯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48686" y="4261104"/>
            <a:ext cx="219456" cy="164592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86430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86430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2734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734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浏览器入口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2734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信息流消费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12156" y="4261104"/>
            <a:ext cx="219456" cy="164592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49900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49900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6204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6204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停留时长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96204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广告/媒体变现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075627" y="4261104"/>
            <a:ext cx="219456" cy="164592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3371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3371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9675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9675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隐私信任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9675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安全留人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239097" y="4261104"/>
            <a:ext cx="219456" cy="164592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76841" y="3886200"/>
            <a:ext cx="1907438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76841" y="3886200"/>
            <a:ext cx="73152" cy="9144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23145" y="3977639"/>
            <a:ext cx="167883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3145" y="4251960"/>
            <a:ext cx="170627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61B2E"/>
                </a:solidFill>
                <a:latin typeface="Microsoft YaHei"/>
              </a:rPr>
              <a:t>个性化推荐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23145" y="4489704"/>
            <a:ext cx="170627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Microsoft YaHei"/>
              </a:rPr>
              <a:t>提升停留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1097280" y="4946904"/>
            <a:ext cx="10012680" cy="118872"/>
          </a:xfrm>
          <a:prstGeom prst="lef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111496"/>
            <a:ext cx="10561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</a:rPr>
              <a:t>停留+信任 → 推荐更准 → 时长与广告eCPM增长（信任飞轮）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18/27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05 · 华为浏览器  |  增长点 + 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增量来源与结构性瓶颈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166360" cy="45262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934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Microsoft YaHei"/>
              </a:rPr>
              <a:t>▎增长点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AI 智能摘要/阅读（长文一键总结，提效与留存）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15768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信息流 AI 个性化（分发效率与广告 eCPM↑）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74135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跨端无缝（手机↔PC 标签/书签/阅读进度）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32503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隐私安全差异化（看得见的安全=信任护城河）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90871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鸿蒙原生轻量化 + 快应用/元服务入口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5212080" cy="45262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934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</a:rPr>
              <a:t>▎痛点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浏览器入口地位被超级App侵蚀（微信/抖音内嵌浏览）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15768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信息流内容质量与版权合规压力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74135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AI 摘要的准确性与版权争议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3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跨端同步稳定性与冲突解决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690871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海外 Chromium 更新依赖与自主可控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19/27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05 · 华为浏览器  |  技术路线图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三大技术点 · 目标/指标/时间/验收/场景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561320" cy="14813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91440" cy="148132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54480"/>
            <a:ext cx="9281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</a:rPr>
              <a:t>AI 阅读摘要与智能问答引擎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1572768"/>
            <a:ext cx="960120" cy="310896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0" y="1591056"/>
            <a:ext cx="9601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优先级·高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011680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目标定义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011680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长文/网页一键摘要 + 追问理解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187244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时间周期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87244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5 个月（M1-M5）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362809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核心指标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362809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摘要准确率≥85%；生成&lt;3s；留存+8%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2538374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验收方式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538374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摘要质量评测集 + A/B 留存测试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2713939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应用场景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713939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资讯/长文/文档快速理解与追问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035808"/>
            <a:ext cx="10561320" cy="14813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035808"/>
            <a:ext cx="91440" cy="148132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127248"/>
            <a:ext cx="9281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59669"/>
                </a:solidFill>
                <a:latin typeface="Microsoft YaHei"/>
              </a:rPr>
              <a:t>智能防跟踪与隐私沙盒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3145536"/>
            <a:ext cx="960120" cy="310896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3163824"/>
            <a:ext cx="9601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2820A"/>
                </a:solidFill>
                <a:latin typeface="Microsoft YaHei"/>
              </a:rPr>
              <a:t>优先级·中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358444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目标定义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3584448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拦截率行业领先，不影响正常体验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760012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时间周期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760012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6 个月（M2-M7）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3935577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核心指标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3935577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跟踪拦截率≥95%；误拦率≤2%；页面加载影响≤5%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4111142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验收方式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111142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跟踪测试集 + 真实站点兼容性回归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4286707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应用场景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4286707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日常浏览全程隐私保护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4608576"/>
            <a:ext cx="10561320" cy="14813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" y="4608576"/>
            <a:ext cx="91440" cy="148132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700016"/>
            <a:ext cx="9281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C3AED"/>
                </a:solidFill>
                <a:latin typeface="Microsoft YaHei"/>
              </a:rPr>
              <a:t>跨端无缝浏览（标签/进度/书签）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0" y="4718304"/>
            <a:ext cx="960120" cy="310896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0" y="4736592"/>
            <a:ext cx="9601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2820A"/>
                </a:solidFill>
                <a:latin typeface="Microsoft YaHei"/>
              </a:rPr>
              <a:t>优先级·中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" y="5157216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目标定义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5157216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多设备浏览状态实时同步，无缝接力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" y="5332780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时间周期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5332780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5 个月（M3-M7）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" y="5508345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核心指标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48840" y="5508345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同步延迟&lt;3s；冲突解决准确率≥99%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" y="5683910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验收方式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48840" y="5683910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多端并发同步压力测试 + 冲突用例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" y="5859475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应用场景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5859475"/>
            <a:ext cx="9006840" cy="16678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手机看到一半 PC 继续，无缝接力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20/27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059669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59669"/>
                </a:solidFill>
                <a:latin typeface="Microsoft YaHei"/>
              </a:rPr>
              <a:t>TECH SYNERGY &amp;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技术协同与规划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共享底座 · 优先级矩阵 · 12个月路线图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21/27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06 · 技术协同  |  共享底座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四大业务共享的鸿蒙技术底座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0561320" cy="84124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91440" cy="841248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23774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Harmony Intelligence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盘古大模型5.0/端侧NPU/MindSpore 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627631"/>
            <a:ext cx="7589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AI公共能力：推荐/画质/摘要/生成都跑在这层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23160"/>
            <a:ext cx="10561320" cy="84124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91440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23774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超级终端/服务流转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Service Collaboration 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42032"/>
            <a:ext cx="7589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多端协同：视频/浏览器/主题跨端流转的统一管道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37560"/>
            <a:ext cx="10561320" cy="84124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337560"/>
            <a:ext cx="91440" cy="8412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429000"/>
            <a:ext cx="23774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鸿蒙内核/ArkWeb/ArkUI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HongMeng微内核/ArkWeb渲染/ArkUI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456432"/>
            <a:ext cx="7589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系统底座：所有App的运行与渲染基础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51960"/>
            <a:ext cx="10561320" cy="84124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251960"/>
            <a:ext cx="91440" cy="84124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43400"/>
            <a:ext cx="23774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Microsoft YaHei"/>
              </a:rPr>
              <a:t>华为云空间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云存储与同步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370832"/>
            <a:ext cx="7589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数据底座：存档/书签/进度/购买的多端一致性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66360"/>
            <a:ext cx="10561320" cy="84124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5166360"/>
            <a:ext cx="91440" cy="841248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257800"/>
            <a:ext cx="23774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HMS/HarmonyOS Kits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账号/支付/推送/广告/游戏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5285232"/>
            <a:ext cx="7589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开发者底座：四业务共用的高层API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22/27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06 · 技术协同  |  优先级矩阵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12项技术点的 影响×投入 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645920"/>
            <a:ext cx="6217920" cy="4023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17520" y="3657600"/>
            <a:ext cx="6217920" cy="18288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79" y="1645920"/>
            <a:ext cx="18288" cy="4023360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2384" y="1664208"/>
            <a:ext cx="914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速赢区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高影响·低投入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19" y="1664208"/>
            <a:ext cx="13716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战略区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高影响·高投入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5285232"/>
            <a:ext cx="914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280"/>
                </a:solidFill>
                <a:latin typeface="Microsoft YaHei"/>
              </a:rPr>
              <a:t>填充区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9AA5BC"/>
                </a:solidFill>
                <a:latin typeface="Microsoft YaHei"/>
              </a:rPr>
              <a:t>低影响·低投入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19" y="5285232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AA5BC"/>
                </a:solidFill>
                <a:latin typeface="Microsoft YaHei"/>
              </a:rPr>
              <a:t>暂缓区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9AA5BC"/>
                </a:solidFill>
                <a:latin typeface="Microsoft YaHei"/>
              </a:rPr>
              <a:t>低影响·高投入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353312"/>
            <a:ext cx="6217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影响度（高 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705856"/>
            <a:ext cx="6217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投入度（低 ← → 高）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76979" y="1982419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 w="6350">
            <a:solidFill>
              <a:srgbClr val="16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6979" y="2000707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AI推荐
(游戏/视频)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1337" y="2626156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 w="6350">
            <a:solidFill>
              <a:srgbClr val="16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1337" y="2644444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AI阅读摘要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74412" y="310896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 w="6350">
            <a:solidFill>
              <a:srgbClr val="16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4412" y="3127248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AI找片助手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5430" y="1901952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6350">
            <a:solidFill>
              <a:srgbClr val="16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5430" y="1920240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端侧超分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12863" y="210312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6350">
            <a:solidFill>
              <a:srgbClr val="16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12863" y="2121408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AI生成主题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6713" y="222382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6350">
            <a:solidFill>
              <a:srgbClr val="16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6713" y="2242108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多端流转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0176" y="2384755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6350">
            <a:solidFill>
              <a:srgbClr val="16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0176" y="2403043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性能引擎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59" y="2626156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6350">
            <a:solidFill>
              <a:srgbClr val="16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59" y="2644444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NEXT主题迁移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45551" y="2304287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 w="6350">
            <a:solidFill>
              <a:srgbClr val="16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5551" y="2322575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云游戏串流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74412" y="3430828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 w="6350">
            <a:solidFill>
              <a:srgbClr val="16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4412" y="3449116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防跟踪沙盒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25696" y="3591763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 w="6350">
            <a:solidFill>
              <a:srgbClr val="16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25696" y="3610051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跨端同步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76979" y="3994099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 w="6350">
            <a:solidFill>
              <a:srgbClr val="16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76979" y="4012387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动态取色AOD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60" y="1645920"/>
            <a:ext cx="1920240" cy="40233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20" y="1755648"/>
            <a:ext cx="1691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▎读图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2148840"/>
            <a:ext cx="1691640" cy="3383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59669"/>
                </a:solidFill>
                <a:latin typeface="Microsoft YaHei"/>
              </a:rPr>
              <a:t>速赢（绿）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AI推荐/摘要/找片：投入小、影响大，优先全量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战略（红）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端侧AI超分/生成主题/云游戏：高投入护城河，重点攻坚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C2820A"/>
                </a:solidFill>
                <a:latin typeface="Microsoft YaHei"/>
              </a:rPr>
              <a:t>填充（金）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防跟踪/跨端：稳健补位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23/27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06 · 技术协同  |  12个月路线图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四大业务技术点 · 季度排布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103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技术项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554480"/>
            <a:ext cx="697230" cy="292608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554480"/>
            <a:ext cx="69723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M1</a:t>
            </a:r>
          </a:p>
        </p:txBody>
      </p:sp>
      <p:sp>
        <p:nvSpPr>
          <p:cNvPr id="8" name="Rectangle 7"/>
          <p:cNvSpPr/>
          <p:nvPr/>
        </p:nvSpPr>
        <p:spPr>
          <a:xfrm>
            <a:off x="3714750" y="1554480"/>
            <a:ext cx="697230" cy="292608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4750" y="1554480"/>
            <a:ext cx="69723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M2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1980" y="1554480"/>
            <a:ext cx="697230" cy="292608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1980" y="1554480"/>
            <a:ext cx="69723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M3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09210" y="1554480"/>
            <a:ext cx="697230" cy="292608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9210" y="1554480"/>
            <a:ext cx="69723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M4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554480"/>
            <a:ext cx="697230" cy="292608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554480"/>
            <a:ext cx="69723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M5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3670" y="1554480"/>
            <a:ext cx="697230" cy="292608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3670" y="1554480"/>
            <a:ext cx="69723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M6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900" y="1554480"/>
            <a:ext cx="697230" cy="292608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900" y="1554480"/>
            <a:ext cx="69723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M7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8129" y="1554480"/>
            <a:ext cx="697230" cy="292608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8129" y="1554480"/>
            <a:ext cx="69723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M8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1554480"/>
            <a:ext cx="697230" cy="292608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554480"/>
            <a:ext cx="69723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M9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2590" y="1554480"/>
            <a:ext cx="697230" cy="292608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2590" y="1554480"/>
            <a:ext cx="69723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M10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89820" y="1554480"/>
            <a:ext cx="697230" cy="292608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89820" y="1554480"/>
            <a:ext cx="69723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M11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87050" y="1554480"/>
            <a:ext cx="697230" cy="292608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87050" y="1554480"/>
            <a:ext cx="69723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M12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1865376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AI推荐(游戏/视频/信息流)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1865376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044951" y="1901952"/>
            <a:ext cx="2734056" cy="201168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219456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AI阅读摘要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2194560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044951" y="2231136"/>
            <a:ext cx="3431286" cy="201168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2523744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端侧超分SDR→HDR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2523744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044951" y="2560320"/>
            <a:ext cx="4825746" cy="201168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2852927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多端无缝流转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2852927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742182" y="2889503"/>
            <a:ext cx="4128516" cy="201168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182111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防跟踪隐私沙盒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3182111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742182" y="3218687"/>
            <a:ext cx="4128516" cy="201168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3511295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AI生成主题引擎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17520" y="3511295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044951" y="3547871"/>
            <a:ext cx="5522976" cy="20116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3840479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游戏性能引擎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0" y="3840479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044951" y="3877055"/>
            <a:ext cx="4128516" cy="201168"/>
          </a:xfrm>
          <a:prstGeom prst="roundRect">
            <a:avLst>
              <a:gd name="adj" fmla="val 3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4169663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NEXT主题引擎迁移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17520" y="4169663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439412" y="4206240"/>
            <a:ext cx="6917436" cy="201168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498848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AI影视助手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17520" y="4498848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439412" y="4535424"/>
            <a:ext cx="3431286" cy="20116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4828032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跨端无缝浏览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17520" y="4828032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439412" y="4864608"/>
            <a:ext cx="3431286" cy="201168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5157216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云游戏低延迟串流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5157216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136642" y="5193792"/>
            <a:ext cx="6220206" cy="20116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548640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动态取色AOD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5486400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742182" y="5522976"/>
            <a:ext cx="3431286" cy="201168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2960" y="6355080"/>
            <a:ext cx="105613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" y="6053328"/>
            <a:ext cx="10561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6B7280"/>
                </a:solidFill>
                <a:latin typeface="Microsoft YaHei"/>
              </a:rPr>
              <a:t>Q1 聚焦AI推荐与摘要速赢 ｜ Q2 端侧超分+多端流转攻坚 ｜ Q3 AI生成主题+性能+NEXT迁移启动 ｜ Q4 云游戏串流收尾+NEXT迁移落地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24/27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06 · 技术协同  |  风险与启示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关键风险与战略启示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056132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91440" cy="71323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27432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C2626"/>
                </a:solidFill>
                <a:latin typeface="Microsoft YaHei"/>
              </a:rPr>
              <a:t>HarmonyOS NEXT 迁移风险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00200"/>
            <a:ext cx="7223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纯鸿蒙重构期生态断层，需迁移工具+激励降低CP/设计师成本。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95144"/>
            <a:ext cx="1056132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295144"/>
            <a:ext cx="91440" cy="71323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86584"/>
            <a:ext cx="27432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内容/版权合规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386584"/>
            <a:ext cx="7223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视频聚合与浏览器信息流版权边界，需法务+技术双保险。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81527"/>
            <a:ext cx="1056132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081527"/>
            <a:ext cx="91440" cy="713232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172968"/>
            <a:ext cx="27432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820A"/>
                </a:solidFill>
                <a:latin typeface="Microsoft YaHei"/>
              </a:rPr>
              <a:t>端侧AI算力/功耗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172968"/>
            <a:ext cx="7223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移动端实时超分/AI生成的功耗约束，需NPU+量化+云端协同。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67911"/>
            <a:ext cx="10561320" cy="7132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867911"/>
            <a:ext cx="91440" cy="713232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59351"/>
            <a:ext cx="27432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入口被侵蚀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959351"/>
            <a:ext cx="7223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超级App内嵌浏览/分发，浏览器/游戏中心需强化差异化入口价值。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672583"/>
            <a:ext cx="10561320" cy="86868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727448"/>
            <a:ext cx="1024128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💡 核心启示：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四业务的竞争壁垒 = </a:t>
            </a:r>
            <a:r>
              <a:rPr sz="1000" b="1">
                <a:solidFill>
                  <a:srgbClr val="059669"/>
                </a:solidFill>
                <a:latin typeface="Microsoft YaHei"/>
              </a:rPr>
              <a:t>鸿蒙统一底座（AI/流转/内核）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 × </a:t>
            </a:r>
            <a:r>
              <a:rPr sz="1000" b="1">
                <a:solidFill>
                  <a:srgbClr val="059669"/>
                </a:solidFill>
                <a:latin typeface="Microsoft YaHei"/>
              </a:rPr>
              <a:t>内容生态（游戏联运/设计师/影视聚合/媒体）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技术侧“速赢(AI推荐/摘要)+战略(端侧AI超分/生成主题/云游戏)”双轨并行；HarmonyOS NEXT 迁移是贯穿全程的底层工程。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25/27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METHODOLOGY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分析方法论与数据来源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166360" cy="45262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934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▎分析方法论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754880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现状：官方页定位+能力清单+Wikipedia交叉核验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60904"/>
            <a:ext cx="4754880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商业闭环：拆解用户/资金/数据/内容四流循环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64408"/>
            <a:ext cx="4754880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增长点：人群/场景/技术/模式四维增量推演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67912"/>
            <a:ext cx="4754880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痛点：生态/成本/合规/体验结构性瓶颈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71416"/>
            <a:ext cx="4754880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技术路线图：目标-指标-周期-验收-场景五要素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74920"/>
            <a:ext cx="4754880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优先级：影响×投入矩阵 + 12月Gantt排布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5212080" cy="452628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0934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▎数据来源（均已核验）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consumer.huawei.com/cn/mobileservices/{game-center,themes,video,browser}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24328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Wikipedia(en): HarmonyOS / Huawei Mobile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91256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上一版《华为四大业务业务说明与技术点》v1（已上传）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58184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行业研判：增长点/痛点/指标阈值基于公开行业惯例推演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25112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⚠ 部分KPI阈值为合理推演，非华为官方披露，落地需以内部数据校准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26/27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161B2E"/>
                </a:solidFill>
                <a:latin typeface="Microsoft YaHei"/>
              </a:rPr>
              <a:t>业务现状 · 商业闭环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161B2E"/>
                </a:solidFill>
                <a:latin typeface="Microsoft YaHei"/>
              </a:rPr>
              <a:t>与技术路线图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从“是什么”到“怎么赢”——现状闭环、增长痛点、技术目标与12个月路线图。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10561320" cy="14630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04164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▎关于本报告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34840"/>
            <a:ext cx="100584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• 出品：xhyha/insight · 上一版业务说明的深化战略版，含商业闭环图/技术路线图卡片/优先级矩阵/12月Gantt。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• 流程：框架设计 → 四业务逐项分析 → 技术点五要素定义 → 多轮团队审查 → 上传 main 分支。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• 后续：KPI阈值需以华为内部数据校准；可按季度更新路线图进展。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5BC"/>
                </a:solidFill>
                <a:latin typeface="Microsoft YaHei"/>
              </a:rPr>
              <a:t>xhyha/insight  |  华为四大业务 · 战略与技术洞察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27/27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华为四大业务 · 战略与技术洞察 v2 · xhyha/insight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